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84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279349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533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3406140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43300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028" y="2793492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082796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0584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3616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4533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3406140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43300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3028" y="3616452"/>
            <a:ext cx="228600" cy="228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82796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0584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568" y="4439412"/>
            <a:ext cx="228600" cy="2286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4533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3406140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43300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3028" y="4439412"/>
            <a:ext cx="228600" cy="2286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082796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Pericarditis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868680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1005840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5568" y="5262372"/>
            <a:ext cx="228600" cy="2286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1545336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250" dirty="0"/>
          </a:p>
        </p:txBody>
      </p:sp>
      <p:sp>
        <p:nvSpPr>
          <p:cNvPr id="36" name="Shape 26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6519672" y="2084832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651967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665683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0" y="2793492"/>
            <a:ext cx="228600" cy="22860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719632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250" dirty="0"/>
          </a:p>
        </p:txBody>
      </p:sp>
      <p:sp>
        <p:nvSpPr>
          <p:cNvPr id="42" name="Shape 31"/>
          <p:cNvSpPr/>
          <p:nvPr/>
        </p:nvSpPr>
        <p:spPr>
          <a:xfrm>
            <a:off x="9057132" y="254203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9194292" y="268833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4020" y="2793492"/>
            <a:ext cx="228600" cy="228600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9733788" y="254203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250" dirty="0"/>
          </a:p>
        </p:txBody>
      </p:sp>
      <p:sp>
        <p:nvSpPr>
          <p:cNvPr id="46" name="Shape 34"/>
          <p:cNvSpPr/>
          <p:nvPr/>
        </p:nvSpPr>
        <p:spPr>
          <a:xfrm>
            <a:off x="651967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665683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0" y="3616452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19632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250" dirty="0"/>
          </a:p>
        </p:txBody>
      </p:sp>
      <p:sp>
        <p:nvSpPr>
          <p:cNvPr id="50" name="Shape 37"/>
          <p:cNvSpPr/>
          <p:nvPr/>
        </p:nvSpPr>
        <p:spPr>
          <a:xfrm>
            <a:off x="9057132" y="336499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9194292" y="351129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04020" y="3616452"/>
            <a:ext cx="228600" cy="228600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9733788" y="336499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250" dirty="0"/>
          </a:p>
        </p:txBody>
      </p:sp>
      <p:sp>
        <p:nvSpPr>
          <p:cNvPr id="54" name="Shape 40"/>
          <p:cNvSpPr/>
          <p:nvPr/>
        </p:nvSpPr>
        <p:spPr>
          <a:xfrm>
            <a:off x="651967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665683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6560" y="4439412"/>
            <a:ext cx="228600" cy="228600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719632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250" dirty="0"/>
          </a:p>
        </p:txBody>
      </p:sp>
      <p:sp>
        <p:nvSpPr>
          <p:cNvPr id="58" name="Shape 43"/>
          <p:cNvSpPr/>
          <p:nvPr/>
        </p:nvSpPr>
        <p:spPr>
          <a:xfrm>
            <a:off x="9057132" y="418795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9" name="Shape 44"/>
          <p:cNvSpPr/>
          <p:nvPr/>
        </p:nvSpPr>
        <p:spPr>
          <a:xfrm>
            <a:off x="9194292" y="433425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04020" y="4439412"/>
            <a:ext cx="228600" cy="228600"/>
          </a:xfrm>
          <a:prstGeom prst="rect">
            <a:avLst/>
          </a:prstGeom>
        </p:spPr>
      </p:pic>
      <p:sp>
        <p:nvSpPr>
          <p:cNvPr id="61" name="Text 45"/>
          <p:cNvSpPr/>
          <p:nvPr/>
        </p:nvSpPr>
        <p:spPr>
          <a:xfrm>
            <a:off x="9733788" y="418795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</a:t>
            </a:r>
            <a:endParaRPr lang="en-US" sz="1250" dirty="0"/>
          </a:p>
        </p:txBody>
      </p:sp>
      <p:sp>
        <p:nvSpPr>
          <p:cNvPr id="62" name="Shape 46"/>
          <p:cNvSpPr/>
          <p:nvPr/>
        </p:nvSpPr>
        <p:spPr>
          <a:xfrm>
            <a:off x="6519672" y="5010912"/>
            <a:ext cx="22631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63" name="Shape 47"/>
          <p:cNvSpPr/>
          <p:nvPr/>
        </p:nvSpPr>
        <p:spPr>
          <a:xfrm>
            <a:off x="6656832" y="5157216"/>
            <a:ext cx="438912" cy="438912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6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66560" y="5262372"/>
            <a:ext cx="228600" cy="228600"/>
          </a:xfrm>
          <a:prstGeom prst="rect">
            <a:avLst/>
          </a:prstGeom>
        </p:spPr>
      </p:pic>
      <p:sp>
        <p:nvSpPr>
          <p:cNvPr id="65" name="Text 48"/>
          <p:cNvSpPr/>
          <p:nvPr/>
        </p:nvSpPr>
        <p:spPr>
          <a:xfrm>
            <a:off x="7196328" y="5010912"/>
            <a:ext cx="14950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age</a:t>
            </a:r>
            <a:endParaRPr lang="en-US" sz="1250" dirty="0"/>
          </a:p>
        </p:txBody>
      </p:sp>
      <p:sp>
        <p:nvSpPr>
          <p:cNvPr id="66" name="Text 4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7" name="Text 5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 · VALVULAR VS NONVALVULAR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Choice of Anticoagulant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1783080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Nonvalvular AF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68680" y="29443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Broadest choice of agents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914400" y="341985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8"/>
          <p:cNvSpPr/>
          <p:nvPr/>
        </p:nvSpPr>
        <p:spPr>
          <a:xfrm>
            <a:off x="1170432" y="33467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heparin / LMWH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Parenteral anticoagulation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14400" y="396849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10"/>
          <p:cNvSpPr/>
          <p:nvPr/>
        </p:nvSpPr>
        <p:spPr>
          <a:xfrm>
            <a:off x="1170432" y="3895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Vitamin-K antagonist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914400" y="4517136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2"/>
          <p:cNvSpPr/>
          <p:nvPr/>
        </p:nvSpPr>
        <p:spPr>
          <a:xfrm>
            <a:off x="1170432" y="4443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DOACs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New oral anticoagulants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22960" y="5175504"/>
            <a:ext cx="4892040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5175504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of these may be considered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53912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73952" y="2084832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04288"/>
            <a:ext cx="310896" cy="31089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434072" y="208483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Valvular AF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6519672" y="29443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depends on the valve lesion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6473952" y="3246120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20840" y="34107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Mitral stenosis + AF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720840" y="3758184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— the only proven oral anticoagulant to date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473952" y="4544568"/>
            <a:ext cx="489204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720840" y="47091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valve disease + AF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720840" y="5056632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Non-coumadin agents (DOACs) supported — ACC/AHA guidelines (registry data)</a:t>
            </a:r>
            <a:endParaRPr lang="en-US" sz="1300" dirty="0"/>
          </a:p>
        </p:txBody>
      </p:sp>
      <p:sp>
        <p:nvSpPr>
          <p:cNvPr id="29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in Pregnancy — Overview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572768"/>
            <a:ext cx="11183112" cy="914400"/>
          </a:xfrm>
          <a:prstGeom prst="roundRect">
            <a:avLst>
              <a:gd name="adj" fmla="val 12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572768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— ~60 / 100,000 pregnancies</a:t>
            </a:r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often congenital / valvular disease, thyrotoxicosis or electrolyte disturbance   ·   hypercoagulable, but no proven rise in AF-related thromboembolism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77240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081528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95528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3" name="Text 9"/>
          <p:cNvSpPr/>
          <p:nvPr/>
        </p:nvSpPr>
        <p:spPr>
          <a:xfrm>
            <a:off x="1033272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criteria as non-pregnant women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5" name="Text 11"/>
          <p:cNvSpPr/>
          <p:nvPr/>
        </p:nvSpPr>
        <p:spPr>
          <a:xfrm>
            <a:off x="1033272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(not DOAC) — 2nd trimester to 1 month before delivery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5528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LMWH (SC) — 1st trimester &amp; final month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288536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62856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3081528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340096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Acute Management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581144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3" name="Text 18"/>
          <p:cNvSpPr/>
          <p:nvPr/>
        </p:nvSpPr>
        <p:spPr>
          <a:xfrm>
            <a:off x="4818888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— safe at all stages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4581144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5" name="Text 20"/>
          <p:cNvSpPr/>
          <p:nvPr/>
        </p:nvSpPr>
        <p:spPr>
          <a:xfrm>
            <a:off x="4818888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metoprolol — rate control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581144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 or sotalol — conversion to sinus rhythm</a:t>
            </a:r>
            <a:endParaRPr lang="en-US" sz="1250" dirty="0"/>
          </a:p>
        </p:txBody>
      </p:sp>
      <p:sp>
        <p:nvSpPr>
          <p:cNvPr id="28" name="Shape 23"/>
          <p:cNvSpPr/>
          <p:nvPr/>
        </p:nvSpPr>
        <p:spPr>
          <a:xfrm>
            <a:off x="8074152" y="2670048"/>
            <a:ext cx="3611880" cy="3319272"/>
          </a:xfrm>
          <a:prstGeom prst="roundRect">
            <a:avLst>
              <a:gd name="adj" fmla="val 3306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348472" y="2926080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3081528"/>
            <a:ext cx="347472" cy="347472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25712" y="29260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Long-term Rhythm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8366760" y="382219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7"/>
          <p:cNvSpPr/>
          <p:nvPr/>
        </p:nvSpPr>
        <p:spPr>
          <a:xfrm>
            <a:off x="8604504" y="376732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disease — flecainide, sotalol</a:t>
            </a:r>
            <a:endParaRPr lang="en-US" sz="1250" dirty="0"/>
          </a:p>
        </p:txBody>
      </p:sp>
      <p:sp>
        <p:nvSpPr>
          <p:cNvPr id="34" name="Shape 28"/>
          <p:cNvSpPr/>
          <p:nvPr/>
        </p:nvSpPr>
        <p:spPr>
          <a:xfrm>
            <a:off x="8366760" y="455371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5" name="Text 29"/>
          <p:cNvSpPr/>
          <p:nvPr/>
        </p:nvSpPr>
        <p:spPr>
          <a:xfrm>
            <a:off x="8604504" y="449884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disease — amiodarone</a:t>
            </a:r>
            <a:endParaRPr lang="en-US" sz="1250" dirty="0"/>
          </a:p>
        </p:txBody>
      </p:sp>
      <p:sp>
        <p:nvSpPr>
          <p:cNvPr id="36" name="Shape 30"/>
          <p:cNvSpPr/>
          <p:nvPr/>
        </p:nvSpPr>
        <p:spPr>
          <a:xfrm>
            <a:off x="8366760" y="52852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7" name="Text 31"/>
          <p:cNvSpPr/>
          <p:nvPr/>
        </p:nvSpPr>
        <p:spPr>
          <a:xfrm>
            <a:off x="8604504" y="523036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digoxin; beta-blocker only after 1st trimester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39" name="Text 3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2026-07-26T03:55:44Z</dcterms:created>
  <dcterms:modified xsi:type="dcterms:W3CDTF">2026-07-26T03:55:44Z</dcterms:modified>
</cp:coreProperties>
</file>