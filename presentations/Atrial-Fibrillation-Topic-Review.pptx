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680960" y="100584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757123" y="1280160"/>
            <a:ext cx="163860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92098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121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06143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4336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flipV="1">
            <a:off x="126040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89156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517904" y="1280160"/>
            <a:ext cx="46817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1564721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634947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1705173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7103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flipV="1">
            <a:off x="1904147" y="1280160"/>
            <a:ext cx="12874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03289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10312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217334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5527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2372319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501067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flipV="1">
            <a:off x="2629814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58562" y="1257300"/>
            <a:ext cx="93635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285219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242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flipV="1">
            <a:off x="299264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074579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flipV="1">
            <a:off x="3191622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320369" y="1248156"/>
            <a:ext cx="175565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3495934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566160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 flipV="1">
            <a:off x="3636386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18316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V="1">
            <a:off x="3835359" y="1280160"/>
            <a:ext cx="158008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3993368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063594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4133820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15750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 flipV="1">
            <a:off x="4332793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4461540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 flipV="1">
            <a:off x="4590288" y="1257300"/>
            <a:ext cx="128748" cy="5029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719036" y="1257300"/>
            <a:ext cx="64374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 flipV="1">
            <a:off x="4783409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853635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flipV="1">
            <a:off x="4923861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005791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 flipV="1">
            <a:off x="512283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251582" y="1248156"/>
            <a:ext cx="128748" cy="59436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flipV="1">
            <a:off x="5380330" y="1280160"/>
            <a:ext cx="163860" cy="27432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5544190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14416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5684642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766572" y="1280160"/>
            <a:ext cx="117043" cy="2286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883615" y="1248156"/>
            <a:ext cx="128748" cy="5486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012363" y="1248156"/>
            <a:ext cx="117043" cy="32004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6129406" y="594360"/>
            <a:ext cx="70226" cy="68580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6199632" y="594360"/>
            <a:ext cx="70226" cy="7498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 flipV="1">
            <a:off x="6269858" y="1280160"/>
            <a:ext cx="81930" cy="64008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6351788" y="1280160"/>
            <a:ext cx="140452" cy="0"/>
          </a:xfrm>
          <a:prstGeom prst="line">
            <a:avLst/>
          </a:prstGeom>
          <a:noFill/>
          <a:ln w="30480">
            <a:solidFill>
              <a:srgbClr val="FF4D6D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685800" y="19659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  ·  CLINICAL TOPIC REVIEW</a:t>
            </a:r>
            <a:endParaRPr lang="en-US" sz="1400" dirty="0"/>
          </a:p>
        </p:txBody>
      </p:sp>
      <p:sp>
        <p:nvSpPr>
          <p:cNvPr id="63" name="Text 60"/>
          <p:cNvSpPr/>
          <p:nvPr/>
        </p:nvSpPr>
        <p:spPr>
          <a:xfrm>
            <a:off x="621792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7000" dirty="0"/>
          </a:p>
        </p:txBody>
      </p:sp>
      <p:sp>
        <p:nvSpPr>
          <p:cNvPr id="64" name="Text 61"/>
          <p:cNvSpPr/>
          <p:nvPr/>
        </p:nvSpPr>
        <p:spPr>
          <a:xfrm>
            <a:off x="685800" y="3703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 ·  Clinical Features  ·  Differential Diagnosis  ·  Management</a:t>
            </a:r>
            <a:endParaRPr lang="en-US" sz="1650" dirty="0"/>
          </a:p>
        </p:txBody>
      </p:sp>
      <p:sp>
        <p:nvSpPr>
          <p:cNvPr id="65" name="Shape 62"/>
          <p:cNvSpPr/>
          <p:nvPr/>
        </p:nvSpPr>
        <p:spPr>
          <a:xfrm>
            <a:off x="685800" y="4572000"/>
            <a:ext cx="59436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pic>
        <p:nvPicPr>
          <p:cNvPr id="6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73168"/>
            <a:ext cx="457200" cy="457200"/>
          </a:xfrm>
          <a:prstGeom prst="rect">
            <a:avLst/>
          </a:prstGeom>
        </p:spPr>
      </p:pic>
      <p:sp>
        <p:nvSpPr>
          <p:cNvPr id="67" name="Text 63"/>
          <p:cNvSpPr/>
          <p:nvPr/>
        </p:nvSpPr>
        <p:spPr>
          <a:xfrm>
            <a:off x="1600200" y="45720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sustained cardiac arrhythmia</a:t>
            </a:r>
            <a:endParaRPr lang="en-US" sz="1450" dirty="0"/>
          </a:p>
        </p:txBody>
      </p:sp>
      <p:sp>
        <p:nvSpPr>
          <p:cNvPr id="68" name="Text 6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9" name="Text 65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Atrial Fibrillation?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4937760" y="4709160"/>
            <a:ext cx="1463040" cy="1463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2148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68680" y="2560320"/>
            <a:ext cx="53492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supraventricular tachyarrhythmia with rapid, disorganised atrial electrical activity — producing uncoordinated, ineffective atrial contraction and an irregularly irregular ventricular response.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858000" y="178308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040880" y="200253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4000" dirty="0"/>
          </a:p>
        </p:txBody>
      </p:sp>
      <p:sp>
        <p:nvSpPr>
          <p:cNvPr id="12" name="Text 8"/>
          <p:cNvSpPr/>
          <p:nvPr/>
        </p:nvSpPr>
        <p:spPr>
          <a:xfrm>
            <a:off x="8823960" y="1783080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sustained cardiac arrhythmia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858000" y="3264408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040880" y="348386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~1–2%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8823960" y="3264408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general population — rises sharply with age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858000" y="4745736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040880" y="496519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5×</a:t>
            </a:r>
            <a:endParaRPr lang="en-US" sz="4000" dirty="0"/>
          </a:p>
        </p:txBody>
      </p:sp>
      <p:sp>
        <p:nvSpPr>
          <p:cNvPr id="18" name="Text 14"/>
          <p:cNvSpPr/>
          <p:nvPr/>
        </p:nvSpPr>
        <p:spPr>
          <a:xfrm>
            <a:off x="8823960" y="4745736"/>
            <a:ext cx="27432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Increased risk of ischaemic stroke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 of Atrial Fibrillation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289304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336" y="249631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Paroxysmal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04088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Self-terminating, usually within 48 h (≤ 7 days)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3346704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133088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49631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83864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Persistent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3547872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Sustained &gt; 7 days; needs cardioversion to stop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190488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76872" y="2240280"/>
            <a:ext cx="1097280" cy="10972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2904" y="249631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327648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Long-standing</a:t>
            </a:r>
            <a:endParaRPr lang="en-US" sz="2000" dirty="0"/>
          </a:p>
        </p:txBody>
      </p:sp>
      <p:sp>
        <p:nvSpPr>
          <p:cNvPr id="20" name="Text 14"/>
          <p:cNvSpPr/>
          <p:nvPr/>
        </p:nvSpPr>
        <p:spPr>
          <a:xfrm>
            <a:off x="6391656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&gt; 12 months, rhythm control still intended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9034272" y="1874520"/>
            <a:ext cx="2670048" cy="3291840"/>
          </a:xfrm>
          <a:prstGeom prst="roundRect">
            <a:avLst>
              <a:gd name="adj" fmla="val 4110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9820656" y="2240280"/>
            <a:ext cx="1097280" cy="10972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6688" y="2496312"/>
            <a:ext cx="585216" cy="58521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9171432" y="3502152"/>
            <a:ext cx="2395728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</a:t>
            </a:r>
            <a:endParaRPr lang="en-US" sz="2000" dirty="0"/>
          </a:p>
        </p:txBody>
      </p:sp>
      <p:sp>
        <p:nvSpPr>
          <p:cNvPr id="25" name="Text 18"/>
          <p:cNvSpPr/>
          <p:nvPr/>
        </p:nvSpPr>
        <p:spPr>
          <a:xfrm>
            <a:off x="9235440" y="3977640"/>
            <a:ext cx="22677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Accepted; no further attempts to restore sinus rhythm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502920" y="5440680"/>
            <a:ext cx="11183112" cy="658368"/>
          </a:xfrm>
          <a:prstGeom prst="roundRect">
            <a:avLst>
              <a:gd name="adj" fmla="val 13889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440680"/>
            <a:ext cx="10515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First-diagnosed AF  </a:t>
            </a:r>
            <a:pPr algn="l" indent="0" marL="0">
              <a:buNone/>
            </a:pPr>
            <a:r>
              <a:rPr lang="en-US" sz="14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detected for the first time, whatever its duration or symptom burden.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Text 22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AF Develops &amp; Sustains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68780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2633472"/>
            <a:ext cx="585216" cy="585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Triggers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777240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Ectopic foci — most often from the pulmonary veins — fire rapidly and initiate AF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379976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545836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868" y="2633472"/>
            <a:ext cx="585216" cy="58521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562856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Re-entry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54296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re-entrant wavelets &amp; rotors sustain disorganised atrial activity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257032" y="2057400"/>
            <a:ext cx="3429000" cy="2514600"/>
          </a:xfrm>
          <a:prstGeom prst="roundRect">
            <a:avLst>
              <a:gd name="adj" fmla="val 4364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9422892" y="2377440"/>
            <a:ext cx="1097280" cy="10972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78924" y="2633472"/>
            <a:ext cx="585216" cy="58521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39912" y="3611880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Remodelling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531352" y="3995928"/>
            <a:ext cx="2880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&amp; structural atrial remodelling — “AF begets AF”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 rot="5400000">
            <a:off x="3968496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2" name="Shape 16"/>
          <p:cNvSpPr/>
          <p:nvPr/>
        </p:nvSpPr>
        <p:spPr>
          <a:xfrm rot="5400000">
            <a:off x="7845552" y="3154680"/>
            <a:ext cx="329184" cy="384048"/>
          </a:xfrm>
          <a:prstGeom prst="triangle">
            <a:avLst/>
          </a:prstGeom>
          <a:solidFill>
            <a:srgbClr val="FF4D6D"/>
          </a:solidFill>
          <a:ln/>
        </p:spPr>
      </p:sp>
      <p:sp>
        <p:nvSpPr>
          <p:cNvPr id="23" name="Shape 17"/>
          <p:cNvSpPr/>
          <p:nvPr/>
        </p:nvSpPr>
        <p:spPr>
          <a:xfrm>
            <a:off x="502920" y="4892040"/>
            <a:ext cx="11183112" cy="1188720"/>
          </a:xfrm>
          <a:prstGeom prst="roundRect">
            <a:avLst>
              <a:gd name="adj" fmla="val 923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Text 18"/>
          <p:cNvSpPr/>
          <p:nvPr/>
        </p:nvSpPr>
        <p:spPr>
          <a:xfrm>
            <a:off x="914400" y="51023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14400" y="539496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“kick” + irregular AV conduction </a:t>
            </a:r>
            <a:pPr algn="l"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reduced cardiac output and blood stasis in the left atrial appendage → thrombus formation.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&amp; Risk Factors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6868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498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56" y="2907792"/>
            <a:ext cx="265176" cy="26517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1848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406140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552444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6" y="2907792"/>
            <a:ext cx="265176" cy="26517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155948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Ischaemic heart disease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86868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1498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3856" y="3931920"/>
            <a:ext cx="265176" cy="2651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1848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Valvular disease (mitral stenosis)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3406140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552444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1316" y="3931920"/>
            <a:ext cx="265176" cy="26517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155948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</a:t>
            </a:r>
            <a:endParaRPr lang="en-US" sz="1300" dirty="0"/>
          </a:p>
        </p:txBody>
      </p:sp>
      <p:sp>
        <p:nvSpPr>
          <p:cNvPr id="24" name="Shape 17"/>
          <p:cNvSpPr/>
          <p:nvPr/>
        </p:nvSpPr>
        <p:spPr>
          <a:xfrm>
            <a:off x="86868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101498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4956048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61848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Cardiomyopathy</a:t>
            </a:r>
            <a:endParaRPr lang="en-US" sz="1300" dirty="0"/>
          </a:p>
        </p:txBody>
      </p:sp>
      <p:sp>
        <p:nvSpPr>
          <p:cNvPr id="28" name="Shape 20"/>
          <p:cNvSpPr/>
          <p:nvPr/>
        </p:nvSpPr>
        <p:spPr>
          <a:xfrm>
            <a:off x="3406140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3552444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71316" y="4956048"/>
            <a:ext cx="265176" cy="265176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4155948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Post-cardiac surgery</a:t>
            </a:r>
            <a:endParaRPr lang="en-US" sz="1300" dirty="0"/>
          </a:p>
        </p:txBody>
      </p:sp>
      <p:sp>
        <p:nvSpPr>
          <p:cNvPr id="32" name="Shape 23"/>
          <p:cNvSpPr/>
          <p:nvPr/>
        </p:nvSpPr>
        <p:spPr>
          <a:xfrm>
            <a:off x="6153912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3" name="Text 24"/>
          <p:cNvSpPr/>
          <p:nvPr/>
        </p:nvSpPr>
        <p:spPr>
          <a:xfrm>
            <a:off x="6519672" y="2103120"/>
            <a:ext cx="4800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NON-CARDIAC / SYSTEMIC</a:t>
            </a:r>
            <a:endParaRPr lang="en-US" sz="1350" dirty="0"/>
          </a:p>
        </p:txBody>
      </p:sp>
      <p:sp>
        <p:nvSpPr>
          <p:cNvPr id="34" name="Shape 25"/>
          <p:cNvSpPr/>
          <p:nvPr/>
        </p:nvSpPr>
        <p:spPr>
          <a:xfrm>
            <a:off x="651967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Shape 26"/>
          <p:cNvSpPr/>
          <p:nvPr/>
        </p:nvSpPr>
        <p:spPr>
          <a:xfrm>
            <a:off x="666597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84848" y="2907792"/>
            <a:ext cx="265176" cy="265176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726948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Hyperthyroidism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9057132" y="2606040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9" name="Shape 29"/>
          <p:cNvSpPr/>
          <p:nvPr/>
        </p:nvSpPr>
        <p:spPr>
          <a:xfrm>
            <a:off x="9203436" y="2788920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22308" y="2907792"/>
            <a:ext cx="265176" cy="265176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9806940" y="2606040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(“holiday heart”)</a:t>
            </a:r>
            <a:endParaRPr lang="en-US" sz="1300" dirty="0"/>
          </a:p>
        </p:txBody>
      </p:sp>
      <p:sp>
        <p:nvSpPr>
          <p:cNvPr id="42" name="Shape 31"/>
          <p:cNvSpPr/>
          <p:nvPr/>
        </p:nvSpPr>
        <p:spPr>
          <a:xfrm>
            <a:off x="651967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3" name="Shape 32"/>
          <p:cNvSpPr/>
          <p:nvPr/>
        </p:nvSpPr>
        <p:spPr>
          <a:xfrm>
            <a:off x="666597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84848" y="3931920"/>
            <a:ext cx="265176" cy="265176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726948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 / sleep apnoea</a:t>
            </a:r>
            <a:endParaRPr lang="en-US" sz="1300" dirty="0"/>
          </a:p>
        </p:txBody>
      </p:sp>
      <p:sp>
        <p:nvSpPr>
          <p:cNvPr id="46" name="Shape 34"/>
          <p:cNvSpPr/>
          <p:nvPr/>
        </p:nvSpPr>
        <p:spPr>
          <a:xfrm>
            <a:off x="9057132" y="3630168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9203436" y="3813048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4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2308" y="3931920"/>
            <a:ext cx="265176" cy="265176"/>
          </a:xfrm>
          <a:prstGeom prst="rect">
            <a:avLst/>
          </a:prstGeom>
        </p:spPr>
      </p:pic>
      <p:sp>
        <p:nvSpPr>
          <p:cNvPr id="49" name="Text 36"/>
          <p:cNvSpPr/>
          <p:nvPr/>
        </p:nvSpPr>
        <p:spPr>
          <a:xfrm>
            <a:off x="9806940" y="3630168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Sepsis / infection</a:t>
            </a:r>
            <a:endParaRPr lang="en-US" sz="1300" dirty="0"/>
          </a:p>
        </p:txBody>
      </p:sp>
      <p:sp>
        <p:nvSpPr>
          <p:cNvPr id="50" name="Shape 37"/>
          <p:cNvSpPr/>
          <p:nvPr/>
        </p:nvSpPr>
        <p:spPr>
          <a:xfrm>
            <a:off x="651967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1" name="Shape 38"/>
          <p:cNvSpPr/>
          <p:nvPr/>
        </p:nvSpPr>
        <p:spPr>
          <a:xfrm>
            <a:off x="666597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84848" y="4956048"/>
            <a:ext cx="265176" cy="265176"/>
          </a:xfrm>
          <a:prstGeom prst="rect">
            <a:avLst/>
          </a:prstGeom>
        </p:spPr>
      </p:pic>
      <p:sp>
        <p:nvSpPr>
          <p:cNvPr id="53" name="Text 39"/>
          <p:cNvSpPr/>
          <p:nvPr/>
        </p:nvSpPr>
        <p:spPr>
          <a:xfrm>
            <a:off x="726948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— PE, COPD</a:t>
            </a:r>
            <a:endParaRPr lang="en-US" sz="1300" dirty="0"/>
          </a:p>
        </p:txBody>
      </p:sp>
      <p:sp>
        <p:nvSpPr>
          <p:cNvPr id="54" name="Shape 40"/>
          <p:cNvSpPr/>
          <p:nvPr/>
        </p:nvSpPr>
        <p:spPr>
          <a:xfrm>
            <a:off x="9057132" y="4654296"/>
            <a:ext cx="226314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55" name="Shape 41"/>
          <p:cNvSpPr/>
          <p:nvPr/>
        </p:nvSpPr>
        <p:spPr>
          <a:xfrm>
            <a:off x="9203436" y="4837176"/>
            <a:ext cx="502920" cy="502920"/>
          </a:xfrm>
          <a:prstGeom prst="ellipse">
            <a:avLst/>
          </a:prstGeom>
          <a:solidFill>
            <a:srgbClr val="FFF0F3"/>
          </a:solidFill>
          <a:ln/>
        </p:spPr>
      </p:sp>
      <p:pic>
        <p:nvPicPr>
          <p:cNvPr id="5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22308" y="4956048"/>
            <a:ext cx="265176" cy="265176"/>
          </a:xfrm>
          <a:prstGeom prst="rect">
            <a:avLst/>
          </a:prstGeom>
        </p:spPr>
      </p:pic>
      <p:sp>
        <p:nvSpPr>
          <p:cNvPr id="57" name="Text 42"/>
          <p:cNvSpPr/>
          <p:nvPr/>
        </p:nvSpPr>
        <p:spPr>
          <a:xfrm>
            <a:off x="9806940" y="4654296"/>
            <a:ext cx="14218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 / diabetes / age</a:t>
            </a:r>
            <a:endParaRPr lang="en-US" sz="1300" dirty="0"/>
          </a:p>
        </p:txBody>
      </p:sp>
      <p:sp>
        <p:nvSpPr>
          <p:cNvPr id="58" name="Text 4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59" name="Text 4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FEATURES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&amp; Signs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Racing / irregular heartbeat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36499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51129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Dyspnoea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Breathlessness on exertion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18795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33425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exercise tolerance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868680" y="501091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984" y="5157216"/>
            <a:ext cx="274320" cy="2743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61848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61848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Light-headedness, rarely syncope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68680" y="5532120"/>
            <a:ext cx="4800600" cy="384048"/>
          </a:xfrm>
          <a:prstGeom prst="roundRect">
            <a:avLst>
              <a:gd name="adj" fmla="val 50000"/>
            </a:avLst>
          </a:prstGeom>
          <a:solidFill>
            <a:srgbClr val="FBD8DF"/>
          </a:solidFill>
          <a:ln/>
        </p:spPr>
      </p:sp>
      <p:sp>
        <p:nvSpPr>
          <p:cNvPr id="25" name="Text 18"/>
          <p:cNvSpPr/>
          <p:nvPr/>
        </p:nvSpPr>
        <p:spPr>
          <a:xfrm>
            <a:off x="868680" y="5532120"/>
            <a:ext cx="4800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i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asymptomatic — found incidentally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6537960" y="208483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6537960" y="254203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4264" y="2688336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7287768" y="250545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 pulse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7287768" y="281635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clinical hallmark</a:t>
            </a:r>
            <a:endParaRPr lang="en-US" sz="1250" dirty="0"/>
          </a:p>
        </p:txBody>
      </p:sp>
      <p:sp>
        <p:nvSpPr>
          <p:cNvPr id="32" name="Shape 24"/>
          <p:cNvSpPr/>
          <p:nvPr/>
        </p:nvSpPr>
        <p:spPr>
          <a:xfrm>
            <a:off x="6537960" y="336499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4264" y="3511296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287768" y="332841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Apex–radial pulse deficit</a:t>
            </a:r>
            <a:endParaRPr lang="en-US" sz="1600" dirty="0"/>
          </a:p>
        </p:txBody>
      </p:sp>
      <p:sp>
        <p:nvSpPr>
          <p:cNvPr id="35" name="Text 26"/>
          <p:cNvSpPr/>
          <p:nvPr/>
        </p:nvSpPr>
        <p:spPr>
          <a:xfrm>
            <a:off x="7287768" y="363931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Apical rate &gt; radial rate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6537960" y="418795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4264" y="4334256"/>
            <a:ext cx="274320" cy="27432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287768" y="415137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heart sounds</a:t>
            </a:r>
            <a:endParaRPr lang="en-US" sz="1600" dirty="0"/>
          </a:p>
        </p:txBody>
      </p:sp>
      <p:sp>
        <p:nvSpPr>
          <p:cNvPr id="39" name="Text 29"/>
          <p:cNvSpPr/>
          <p:nvPr/>
        </p:nvSpPr>
        <p:spPr>
          <a:xfrm>
            <a:off x="7287768" y="446227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Varying S1 intensity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537960" y="5010912"/>
            <a:ext cx="566928" cy="566928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4264" y="5157216"/>
            <a:ext cx="274320" cy="27432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7287768" y="4974336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Signs of complications</a:t>
            </a:r>
            <a:endParaRPr lang="en-US" sz="1600" dirty="0"/>
          </a:p>
        </p:txBody>
      </p:sp>
      <p:sp>
        <p:nvSpPr>
          <p:cNvPr id="43" name="Text 32"/>
          <p:cNvSpPr/>
          <p:nvPr/>
        </p:nvSpPr>
        <p:spPr>
          <a:xfrm>
            <a:off x="7287768" y="5285232"/>
            <a:ext cx="4187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failure or embolic stroke</a:t>
            </a:r>
            <a:endParaRPr lang="en-US" sz="1250" dirty="0"/>
          </a:p>
        </p:txBody>
      </p:sp>
      <p:sp>
        <p:nvSpPr>
          <p:cNvPr id="44" name="Text 3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Hallmarks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11183112" cy="1965960"/>
          </a:xfrm>
          <a:prstGeom prst="roundRect">
            <a:avLst>
              <a:gd name="adj" fmla="val 558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14400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flipV="1">
            <a:off x="1121054" y="2743200"/>
            <a:ext cx="289316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141037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534363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flipV="1">
            <a:off x="1658356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803014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flipV="1">
            <a:off x="2009668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236988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2464308" y="2743200"/>
            <a:ext cx="82662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546970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67096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flipV="1">
            <a:off x="279495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3961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3146268" y="2743200"/>
            <a:ext cx="22732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flipV="1">
            <a:off x="337358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49758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362157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76623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flipV="1">
            <a:off x="3972885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00205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flipV="1">
            <a:off x="4427525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654845" y="2720340"/>
            <a:ext cx="16532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flipV="1">
            <a:off x="4820168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94416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flipV="1">
            <a:off x="50681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21281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541946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46786" y="2711196"/>
            <a:ext cx="309982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 flipV="1">
            <a:off x="5956767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080760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 flipV="1">
            <a:off x="6204753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349411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 flipV="1">
            <a:off x="6556065" y="2743200"/>
            <a:ext cx="278983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V="1">
            <a:off x="683504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959041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7083034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227692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 flipV="1">
            <a:off x="7434346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661666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 flipV="1">
            <a:off x="7888986" y="2720340"/>
            <a:ext cx="227320" cy="5029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116306" y="2720340"/>
            <a:ext cx="113660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 flipV="1">
            <a:off x="8229966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353958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 flipV="1">
            <a:off x="8477951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622609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 flipV="1">
            <a:off x="8829264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056583" y="2711196"/>
            <a:ext cx="227320" cy="59436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 flipV="1">
            <a:off x="9283903" y="2743200"/>
            <a:ext cx="289316" cy="27432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 flipV="1">
            <a:off x="9573219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697212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9821205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9965863" y="2743200"/>
            <a:ext cx="206654" cy="2286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10172517" y="2711196"/>
            <a:ext cx="227320" cy="5486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0399837" y="2711196"/>
            <a:ext cx="206654" cy="32004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10606491" y="2057400"/>
            <a:ext cx="123993" cy="68580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730484" y="2057400"/>
            <a:ext cx="123993" cy="7498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10854477" y="2743200"/>
            <a:ext cx="144658" cy="64008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999135" y="2743200"/>
            <a:ext cx="247985" cy="0"/>
          </a:xfrm>
          <a:prstGeom prst="line">
            <a:avLst/>
          </a:prstGeom>
          <a:noFill/>
          <a:ln w="33020">
            <a:solidFill>
              <a:srgbClr val="FF4D6D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340156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II — irregular R–R, no P waves, fibrillatory baseline</a:t>
            </a:r>
            <a:endParaRPr lang="en-US" sz="1150" dirty="0"/>
          </a:p>
        </p:txBody>
      </p:sp>
      <p:sp>
        <p:nvSpPr>
          <p:cNvPr id="66" name="Shape 63"/>
          <p:cNvSpPr/>
          <p:nvPr/>
        </p:nvSpPr>
        <p:spPr>
          <a:xfrm>
            <a:off x="502920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1380744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6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4471416"/>
            <a:ext cx="475488" cy="475488"/>
          </a:xfrm>
          <a:prstGeom prst="rect">
            <a:avLst/>
          </a:prstGeom>
        </p:spPr>
      </p:pic>
      <p:sp>
        <p:nvSpPr>
          <p:cNvPr id="69" name="Text 65"/>
          <p:cNvSpPr/>
          <p:nvPr/>
        </p:nvSpPr>
        <p:spPr>
          <a:xfrm>
            <a:off x="640080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Irregularly irregular</a:t>
            </a:r>
            <a:endParaRPr lang="en-US" sz="1550" dirty="0"/>
          </a:p>
        </p:txBody>
      </p:sp>
      <p:sp>
        <p:nvSpPr>
          <p:cNvPr id="70" name="Text 66"/>
          <p:cNvSpPr/>
          <p:nvPr/>
        </p:nvSpPr>
        <p:spPr>
          <a:xfrm>
            <a:off x="685800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R–R intervals vary with no pattern</a:t>
            </a:r>
            <a:endParaRPr lang="en-US" sz="1200" dirty="0"/>
          </a:p>
        </p:txBody>
      </p:sp>
      <p:sp>
        <p:nvSpPr>
          <p:cNvPr id="71" name="Shape 67"/>
          <p:cNvSpPr/>
          <p:nvPr/>
        </p:nvSpPr>
        <p:spPr>
          <a:xfrm>
            <a:off x="3346704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2" name="Shape 68"/>
          <p:cNvSpPr/>
          <p:nvPr/>
        </p:nvSpPr>
        <p:spPr>
          <a:xfrm>
            <a:off x="4224528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4471416"/>
            <a:ext cx="475488" cy="475488"/>
          </a:xfrm>
          <a:prstGeom prst="rect">
            <a:avLst/>
          </a:prstGeom>
        </p:spPr>
      </p:pic>
      <p:sp>
        <p:nvSpPr>
          <p:cNvPr id="74" name="Text 69"/>
          <p:cNvSpPr/>
          <p:nvPr/>
        </p:nvSpPr>
        <p:spPr>
          <a:xfrm>
            <a:off x="3483864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Absent P waves</a:t>
            </a:r>
            <a:endParaRPr lang="en-US" sz="1550" dirty="0"/>
          </a:p>
        </p:txBody>
      </p:sp>
      <p:sp>
        <p:nvSpPr>
          <p:cNvPr id="75" name="Text 70"/>
          <p:cNvSpPr/>
          <p:nvPr/>
        </p:nvSpPr>
        <p:spPr>
          <a:xfrm>
            <a:off x="3529584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organised atrial depolarisation</a:t>
            </a:r>
            <a:endParaRPr lang="en-US" sz="1200" dirty="0"/>
          </a:p>
        </p:txBody>
      </p:sp>
      <p:sp>
        <p:nvSpPr>
          <p:cNvPr id="76" name="Shape 71"/>
          <p:cNvSpPr/>
          <p:nvPr/>
        </p:nvSpPr>
        <p:spPr>
          <a:xfrm>
            <a:off x="6190488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7" name="Shape 72"/>
          <p:cNvSpPr/>
          <p:nvPr/>
        </p:nvSpPr>
        <p:spPr>
          <a:xfrm>
            <a:off x="7068312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7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4471416"/>
            <a:ext cx="475488" cy="475488"/>
          </a:xfrm>
          <a:prstGeom prst="rect">
            <a:avLst/>
          </a:prstGeom>
        </p:spPr>
      </p:pic>
      <p:sp>
        <p:nvSpPr>
          <p:cNvPr id="79" name="Text 73"/>
          <p:cNvSpPr/>
          <p:nvPr/>
        </p:nvSpPr>
        <p:spPr>
          <a:xfrm>
            <a:off x="6327648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Fibrillatory f-waves</a:t>
            </a:r>
            <a:endParaRPr lang="en-US" sz="1550" dirty="0"/>
          </a:p>
        </p:txBody>
      </p:sp>
      <p:sp>
        <p:nvSpPr>
          <p:cNvPr id="80" name="Text 74"/>
          <p:cNvSpPr/>
          <p:nvPr/>
        </p:nvSpPr>
        <p:spPr>
          <a:xfrm>
            <a:off x="6373368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baseline (~300–600/min)</a:t>
            </a:r>
            <a:endParaRPr lang="en-US" sz="1200" dirty="0"/>
          </a:p>
        </p:txBody>
      </p:sp>
      <p:sp>
        <p:nvSpPr>
          <p:cNvPr id="81" name="Shape 75"/>
          <p:cNvSpPr/>
          <p:nvPr/>
        </p:nvSpPr>
        <p:spPr>
          <a:xfrm>
            <a:off x="9034272" y="3977640"/>
            <a:ext cx="2670048" cy="2103120"/>
          </a:xfrm>
          <a:prstGeom prst="roundRect">
            <a:avLst>
              <a:gd name="adj" fmla="val 434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2" name="Shape 76"/>
          <p:cNvSpPr/>
          <p:nvPr/>
        </p:nvSpPr>
        <p:spPr>
          <a:xfrm>
            <a:off x="9912096" y="425196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31552" y="4471416"/>
            <a:ext cx="475488" cy="475488"/>
          </a:xfrm>
          <a:prstGeom prst="rect">
            <a:avLst/>
          </a:prstGeom>
        </p:spPr>
      </p:pic>
      <p:sp>
        <p:nvSpPr>
          <p:cNvPr id="84" name="Text 77"/>
          <p:cNvSpPr/>
          <p:nvPr/>
        </p:nvSpPr>
        <p:spPr>
          <a:xfrm>
            <a:off x="9171432" y="5276088"/>
            <a:ext cx="2395728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Narrow QRS</a:t>
            </a:r>
            <a:endParaRPr lang="en-US" sz="1550" dirty="0"/>
          </a:p>
        </p:txBody>
      </p:sp>
      <p:sp>
        <p:nvSpPr>
          <p:cNvPr id="85" name="Text 78"/>
          <p:cNvSpPr/>
          <p:nvPr/>
        </p:nvSpPr>
        <p:spPr>
          <a:xfrm>
            <a:off x="9217152" y="5605272"/>
            <a:ext cx="230428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Unless aberrancy / bundle branch block</a:t>
            </a:r>
            <a:endParaRPr lang="en-US" sz="1200" dirty="0"/>
          </a:p>
        </p:txBody>
      </p:sp>
      <p:sp>
        <p:nvSpPr>
          <p:cNvPr id="86" name="Text 7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87" name="Text 80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2377440"/>
            <a:ext cx="393192" cy="3931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09928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822960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diagnosis — first-line test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3168" y="2377440"/>
            <a:ext cx="393192" cy="3931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95544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Ambulatory / Holter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608576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paroxysmal or intermittent AF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854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8784" y="2377440"/>
            <a:ext cx="393192" cy="39319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281160" y="21854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8394192" y="30815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Structure, LA size, valves, LV; TOE for LA thrombus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4434840"/>
            <a:ext cx="393192" cy="39319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709928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tests</a:t>
            </a:r>
            <a:endParaRPr lang="en-US" sz="1800" dirty="0"/>
          </a:p>
        </p:txBody>
      </p:sp>
      <p:sp>
        <p:nvSpPr>
          <p:cNvPr id="25" name="Text 18"/>
          <p:cNvSpPr/>
          <p:nvPr/>
        </p:nvSpPr>
        <p:spPr>
          <a:xfrm>
            <a:off x="822960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TFTs, U&amp;E, FBC, glucose, coagulation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434840"/>
            <a:ext cx="393192" cy="39319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495544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Chest X-ray</a:t>
            </a:r>
            <a:endParaRPr lang="en-US" sz="1800" dirty="0"/>
          </a:p>
        </p:txBody>
      </p:sp>
      <p:sp>
        <p:nvSpPr>
          <p:cNvPr id="30" name="Text 22"/>
          <p:cNvSpPr/>
          <p:nvPr/>
        </p:nvSpPr>
        <p:spPr>
          <a:xfrm>
            <a:off x="4608576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size &amp; pulmonary causes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42816"/>
            <a:ext cx="777240" cy="777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8784" y="4434840"/>
            <a:ext cx="393192" cy="393192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281160" y="4242816"/>
            <a:ext cx="2240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the cause</a:t>
            </a:r>
            <a:endParaRPr lang="en-US" sz="1800" dirty="0"/>
          </a:p>
        </p:txBody>
      </p:sp>
      <p:sp>
        <p:nvSpPr>
          <p:cNvPr id="35" name="Text 26"/>
          <p:cNvSpPr/>
          <p:nvPr/>
        </p:nvSpPr>
        <p:spPr>
          <a:xfrm>
            <a:off x="8394192" y="5138928"/>
            <a:ext cx="30632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for reversible triggers &amp; risk factors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Mimics of AF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95528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322576"/>
            <a:ext cx="329184" cy="329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650" dirty="0"/>
          </a:p>
        </p:txBody>
      </p:sp>
      <p:sp>
        <p:nvSpPr>
          <p:cNvPr id="10" name="Text 6"/>
          <p:cNvSpPr/>
          <p:nvPr/>
        </p:nvSpPr>
        <p:spPr>
          <a:xfrm>
            <a:off x="822960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sawtooth flutter waves; often 2:1 (ventricular ~150)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4288536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81144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2322576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85816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4608576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P-wave morphologies; irregular; linked to COPD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074152" y="18745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66760" y="21671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2208" y="2322576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71432" y="21305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650" dirty="0"/>
          </a:p>
        </p:txBody>
      </p:sp>
      <p:sp>
        <p:nvSpPr>
          <p:cNvPr id="20" name="Text 14"/>
          <p:cNvSpPr/>
          <p:nvPr/>
        </p:nvSpPr>
        <p:spPr>
          <a:xfrm>
            <a:off x="8394192" y="29718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Irregular, but discrete P waves precede each QRS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02920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795528" y="42245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76" y="4379976"/>
            <a:ext cx="329184" cy="32918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600200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822960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narrow-complex tachycardia; abrupt onset/offset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4288536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4581144" y="4224528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4379976"/>
            <a:ext cx="329184" cy="329184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385816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Tachycardia</a:t>
            </a:r>
            <a:endParaRPr lang="en-US" sz="1650" dirty="0"/>
          </a:p>
        </p:txBody>
      </p:sp>
      <p:sp>
        <p:nvSpPr>
          <p:cNvPr id="30" name="Text 22"/>
          <p:cNvSpPr/>
          <p:nvPr/>
        </p:nvSpPr>
        <p:spPr>
          <a:xfrm>
            <a:off x="4608576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Regular; abnormal P-wave axis, may have variable block</a:t>
            </a:r>
            <a:endParaRPr lang="en-US" sz="1250" dirty="0"/>
          </a:p>
        </p:txBody>
      </p:sp>
      <p:sp>
        <p:nvSpPr>
          <p:cNvPr id="31" name="Shape 23"/>
          <p:cNvSpPr/>
          <p:nvPr/>
        </p:nvSpPr>
        <p:spPr>
          <a:xfrm>
            <a:off x="8074152" y="3931920"/>
            <a:ext cx="3611880" cy="1874520"/>
          </a:xfrm>
          <a:prstGeom prst="roundRect">
            <a:avLst>
              <a:gd name="adj" fmla="val 487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8366760" y="4224528"/>
            <a:ext cx="640080" cy="64008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2208" y="4379976"/>
            <a:ext cx="329184" cy="329184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171432" y="418795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Pre-excited AF (WPW) / VT</a:t>
            </a:r>
            <a:endParaRPr lang="en-US" sz="1650" dirty="0"/>
          </a:p>
        </p:txBody>
      </p:sp>
      <p:sp>
        <p:nvSpPr>
          <p:cNvPr id="35" name="Text 26"/>
          <p:cNvSpPr/>
          <p:nvPr/>
        </p:nvSpPr>
        <p:spPr>
          <a:xfrm>
            <a:off x="8394192" y="5029200"/>
            <a:ext cx="304495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but broad &amp; very fast — a red flag</a:t>
            </a:r>
            <a:endParaRPr lang="en-US" sz="1250" dirty="0"/>
          </a:p>
        </p:txBody>
      </p:sp>
      <p:sp>
        <p:nvSpPr>
          <p:cNvPr id="36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37" name="Text 2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 DIAGNOSIS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the Irregular Rhythms Apart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65960"/>
            <a:ext cx="223113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9659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843784" y="1965960"/>
            <a:ext cx="27797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2926080" y="1965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activity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78424" y="1965960"/>
            <a:ext cx="2322576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8055864" y="1965960"/>
            <a:ext cx="3630168" cy="548640"/>
          </a:xfrm>
          <a:prstGeom prst="roundRect">
            <a:avLst>
              <a:gd name="adj" fmla="val 10000"/>
            </a:avLst>
          </a:prstGeom>
          <a:solidFill>
            <a:srgbClr val="A4133C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96596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distinguishing clue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" y="265176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2843784" y="260604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65176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 waves; fibrillatory baseline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78424" y="260604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88152" y="265176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Irregularly irregular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8055864" y="260604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165592" y="265176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Chaotic — no organised atrial activity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02920" y="370332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74904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843784" y="370332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374904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Sawtooth flutter waves (~300/min)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78424" y="370332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788152" y="374904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regular (2:1, 3:1)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055864" y="370332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165592" y="374904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“picket-fence” baseline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02920" y="4800600"/>
            <a:ext cx="2231136" cy="1051560"/>
          </a:xfrm>
          <a:prstGeom prst="roundRect">
            <a:avLst>
              <a:gd name="adj" fmla="val 5217"/>
            </a:avLst>
          </a:prstGeom>
          <a:solidFill>
            <a:srgbClr val="FBD8D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67512" y="4846320"/>
            <a:ext cx="1975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5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Tach.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2843784" y="4800600"/>
            <a:ext cx="27797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4846320"/>
            <a:ext cx="25237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3 distinct P-wave shapes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78424" y="4800600"/>
            <a:ext cx="2322576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788152" y="4846320"/>
            <a:ext cx="20665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055864" y="4800600"/>
            <a:ext cx="3630168" cy="1051560"/>
          </a:xfrm>
          <a:prstGeom prst="roundRect">
            <a:avLst>
              <a:gd name="adj" fmla="val 521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65592" y="4846320"/>
            <a:ext cx="33741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Discrete varying P waves; COPD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502920" y="5806440"/>
            <a:ext cx="11183112" cy="457200"/>
          </a:xfrm>
          <a:prstGeom prst="roundRect">
            <a:avLst>
              <a:gd name="adj" fmla="val 16000"/>
            </a:avLst>
          </a:prstGeom>
          <a:solidFill>
            <a:srgbClr val="FFF0F3"/>
          </a:solidFill>
          <a:ln/>
        </p:spPr>
      </p:sp>
      <p:sp>
        <p:nvSpPr>
          <p:cNvPr id="39" name="Text 36"/>
          <p:cNvSpPr/>
          <p:nvPr/>
        </p:nvSpPr>
        <p:spPr>
          <a:xfrm>
            <a:off x="822960" y="5806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question:  </a:t>
            </a:r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rhythm regular or irregular?  Then look at the atrial activity — P waves, flutter waves, or fibrillation.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COMPLICATIONS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AF Matters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Thromboembolism &amp; Stroke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822960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Stasis in the left atrial appendage forms thrombi — the leading danger, with ~5× stroke risk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5429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624328"/>
            <a:ext cx="466344" cy="4663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08576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Heart Failure</a:t>
            </a:r>
            <a:endParaRPr lang="en-US" sz="1900" dirty="0"/>
          </a:p>
        </p:txBody>
      </p:sp>
      <p:sp>
        <p:nvSpPr>
          <p:cNvPr id="15" name="Text 10"/>
          <p:cNvSpPr/>
          <p:nvPr/>
        </p:nvSpPr>
        <p:spPr>
          <a:xfrm>
            <a:off x="4608576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of atrial kick plus rapid rates reduce cardiac output and worsen existing HF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39912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624328"/>
            <a:ext cx="466344" cy="4663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394192" y="3657600"/>
            <a:ext cx="3063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Tachycardia-induced Cardiomyopathy</a:t>
            </a:r>
            <a:endParaRPr lang="en-US" sz="1900" dirty="0"/>
          </a:p>
        </p:txBody>
      </p:sp>
      <p:sp>
        <p:nvSpPr>
          <p:cNvPr id="20" name="Text 14"/>
          <p:cNvSpPr/>
          <p:nvPr/>
        </p:nvSpPr>
        <p:spPr>
          <a:xfrm>
            <a:off x="8394192" y="457200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Persistently rapid ventricular rates can cause reversible LV dysfunction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STRATIFICATION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Stroke &amp; Bleeding Risk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69037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63093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₂</a:t>
            </a:r>
            <a:pPr algn="l" indent="0" marL="0">
              <a:buNone/>
            </a:pPr>
            <a:r>
              <a:rPr lang="en-US" sz="20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-VASc</a:t>
            </a:r>
            <a:pPr algn="l" indent="0" marL="0">
              <a:buNone/>
            </a:pPr>
            <a:r>
              <a:rPr lang="en-US" sz="2000" b="1" dirty="0">
                <a:solidFill>
                  <a:srgbClr val="6B6B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·  stroke risk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41732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Congestive HF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333756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2" name="Text 9"/>
          <p:cNvSpPr/>
          <p:nvPr/>
        </p:nvSpPr>
        <p:spPr>
          <a:xfrm>
            <a:off x="333756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069080" y="26060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0" y="2606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4663440" y="26060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583680" y="2670048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17" name="Text 14"/>
          <p:cNvSpPr/>
          <p:nvPr/>
        </p:nvSpPr>
        <p:spPr>
          <a:xfrm>
            <a:off x="6583680" y="267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2296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A₂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41732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 75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333756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2" name="Text 19"/>
          <p:cNvSpPr/>
          <p:nvPr/>
        </p:nvSpPr>
        <p:spPr>
          <a:xfrm>
            <a:off x="333756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4069080" y="326440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4" name="Text 21"/>
          <p:cNvSpPr/>
          <p:nvPr/>
        </p:nvSpPr>
        <p:spPr>
          <a:xfrm>
            <a:off x="4023360" y="326440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4663440" y="326440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6583680" y="3328416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27" name="Text 24"/>
          <p:cNvSpPr/>
          <p:nvPr/>
        </p:nvSpPr>
        <p:spPr>
          <a:xfrm>
            <a:off x="6583680" y="3328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82296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29" name="Text 26"/>
          <p:cNvSpPr/>
          <p:nvPr/>
        </p:nvSpPr>
        <p:spPr>
          <a:xfrm>
            <a:off x="77724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S₂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141732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stroke / TIA</a:t>
            </a:r>
            <a:endParaRPr lang="en-US" sz="1350" dirty="0"/>
          </a:p>
        </p:txBody>
      </p:sp>
      <p:sp>
        <p:nvSpPr>
          <p:cNvPr id="31" name="Shape 28"/>
          <p:cNvSpPr/>
          <p:nvPr/>
        </p:nvSpPr>
        <p:spPr>
          <a:xfrm>
            <a:off x="333756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2" name="Text 29"/>
          <p:cNvSpPr/>
          <p:nvPr/>
        </p:nvSpPr>
        <p:spPr>
          <a:xfrm>
            <a:off x="333756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4069080" y="39227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4" name="Text 31"/>
          <p:cNvSpPr/>
          <p:nvPr/>
        </p:nvSpPr>
        <p:spPr>
          <a:xfrm>
            <a:off x="4023360" y="39227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4663440" y="3922776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Vascular disease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6583680" y="3986784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37" name="Text 34"/>
          <p:cNvSpPr/>
          <p:nvPr/>
        </p:nvSpPr>
        <p:spPr>
          <a:xfrm>
            <a:off x="6583680" y="3986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2296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39" name="Text 36"/>
          <p:cNvSpPr/>
          <p:nvPr/>
        </p:nvSpPr>
        <p:spPr>
          <a:xfrm>
            <a:off x="77724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500" dirty="0"/>
          </a:p>
        </p:txBody>
      </p:sp>
      <p:sp>
        <p:nvSpPr>
          <p:cNvPr id="40" name="Text 37"/>
          <p:cNvSpPr/>
          <p:nvPr/>
        </p:nvSpPr>
        <p:spPr>
          <a:xfrm>
            <a:off x="141732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65–74</a:t>
            </a:r>
            <a:endParaRPr lang="en-US" sz="1350" dirty="0"/>
          </a:p>
        </p:txBody>
      </p:sp>
      <p:sp>
        <p:nvSpPr>
          <p:cNvPr id="41" name="Shape 38"/>
          <p:cNvSpPr/>
          <p:nvPr/>
        </p:nvSpPr>
        <p:spPr>
          <a:xfrm>
            <a:off x="333756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2" name="Text 39"/>
          <p:cNvSpPr/>
          <p:nvPr/>
        </p:nvSpPr>
        <p:spPr>
          <a:xfrm>
            <a:off x="333756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4069080" y="4581144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A4133C"/>
          </a:solidFill>
          <a:ln/>
        </p:spPr>
      </p:sp>
      <p:sp>
        <p:nvSpPr>
          <p:cNvPr id="44" name="Text 41"/>
          <p:cNvSpPr/>
          <p:nvPr/>
        </p:nvSpPr>
        <p:spPr>
          <a:xfrm>
            <a:off x="4023360" y="458114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1500" dirty="0"/>
          </a:p>
        </p:txBody>
      </p:sp>
      <p:sp>
        <p:nvSpPr>
          <p:cNvPr id="45" name="Text 42"/>
          <p:cNvSpPr/>
          <p:nvPr/>
        </p:nvSpPr>
        <p:spPr>
          <a:xfrm>
            <a:off x="4663440" y="4581144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Sex (female)</a:t>
            </a:r>
            <a:endParaRPr lang="en-US" sz="1350" dirty="0"/>
          </a:p>
        </p:txBody>
      </p:sp>
      <p:sp>
        <p:nvSpPr>
          <p:cNvPr id="46" name="Shape 43"/>
          <p:cNvSpPr/>
          <p:nvPr/>
        </p:nvSpPr>
        <p:spPr>
          <a:xfrm>
            <a:off x="6583680" y="4645152"/>
            <a:ext cx="329184" cy="329184"/>
          </a:xfrm>
          <a:prstGeom prst="ellipse">
            <a:avLst/>
          </a:prstGeom>
          <a:solidFill>
            <a:srgbClr val="FBD8DF"/>
          </a:solidFill>
          <a:ln/>
        </p:spPr>
      </p:sp>
      <p:sp>
        <p:nvSpPr>
          <p:cNvPr id="47" name="Text 44"/>
          <p:cNvSpPr/>
          <p:nvPr/>
        </p:nvSpPr>
        <p:spPr>
          <a:xfrm>
            <a:off x="6583680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822960" y="5440680"/>
            <a:ext cx="6263640" cy="457200"/>
          </a:xfrm>
          <a:prstGeom prst="roundRect">
            <a:avLst>
              <a:gd name="adj" fmla="val 16000"/>
            </a:avLst>
          </a:prstGeom>
          <a:solidFill>
            <a:srgbClr val="590D22"/>
          </a:solidFill>
          <a:ln/>
        </p:spPr>
      </p:sp>
      <p:sp>
        <p:nvSpPr>
          <p:cNvPr id="49" name="Text 46"/>
          <p:cNvSpPr/>
          <p:nvPr/>
        </p:nvSpPr>
        <p:spPr>
          <a:xfrm>
            <a:off x="1051560" y="5440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Anticoagulate if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2 (men)  /  ≥ 3 (women)</a:t>
            </a:r>
            <a:endParaRPr lang="en-US" sz="1350" dirty="0"/>
          </a:p>
        </p:txBody>
      </p:sp>
      <p:sp>
        <p:nvSpPr>
          <p:cNvPr id="50" name="Shape 47"/>
          <p:cNvSpPr/>
          <p:nvPr/>
        </p:nvSpPr>
        <p:spPr>
          <a:xfrm>
            <a:off x="7543800" y="1828800"/>
            <a:ext cx="4160520" cy="4206240"/>
          </a:xfrm>
          <a:prstGeom prst="roundRect">
            <a:avLst>
              <a:gd name="adj" fmla="val 263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7863840" y="205740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HAS-BLED</a:t>
            </a:r>
            <a:endParaRPr lang="en-US" sz="2000" dirty="0"/>
          </a:p>
        </p:txBody>
      </p:sp>
      <p:sp>
        <p:nvSpPr>
          <p:cNvPr id="52" name="Text 49"/>
          <p:cNvSpPr/>
          <p:nvPr/>
        </p:nvSpPr>
        <p:spPr>
          <a:xfrm>
            <a:off x="7863840" y="2432304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Bleeding risk on anticoagulation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7863840" y="288036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Hypertension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7863840" y="33101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Abnormal renal / liver</a:t>
            </a:r>
            <a:endParaRPr lang="en-US" sz="1300" dirty="0"/>
          </a:p>
        </p:txBody>
      </p:sp>
      <p:sp>
        <p:nvSpPr>
          <p:cNvPr id="55" name="Text 52"/>
          <p:cNvSpPr/>
          <p:nvPr/>
        </p:nvSpPr>
        <p:spPr>
          <a:xfrm>
            <a:off x="7863840" y="3739896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Stroke history</a:t>
            </a:r>
            <a:endParaRPr lang="en-US" sz="1300" dirty="0"/>
          </a:p>
        </p:txBody>
      </p:sp>
      <p:sp>
        <p:nvSpPr>
          <p:cNvPr id="56" name="Text 53"/>
          <p:cNvSpPr/>
          <p:nvPr/>
        </p:nvSpPr>
        <p:spPr>
          <a:xfrm>
            <a:off x="7863840" y="4169664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Bleeding tendency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7863840" y="4599432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Labile INR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863840" y="5029200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Elderly (&gt; 65)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7863840" y="545896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</a:t>
            </a:r>
            <a:pPr algn="l" indent="0" marL="0"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Drugs / alcohol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ABC Pathway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77240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7400" dirty="0"/>
          </a:p>
        </p:txBody>
      </p:sp>
      <p:sp>
        <p:nvSpPr>
          <p:cNvPr id="8" name="Shape 5"/>
          <p:cNvSpPr/>
          <p:nvPr/>
        </p:nvSpPr>
        <p:spPr>
          <a:xfrm>
            <a:off x="2788920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664" y="261518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822960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stroke — assess with CHA₂DS₂-VASc, then a DOAC (or warfarin where indicated)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28853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4562856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7400" dirty="0"/>
          </a:p>
        </p:txBody>
      </p:sp>
      <p:sp>
        <p:nvSpPr>
          <p:cNvPr id="14" name="Shape 10"/>
          <p:cNvSpPr/>
          <p:nvPr/>
        </p:nvSpPr>
        <p:spPr>
          <a:xfrm>
            <a:off x="6574536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2615184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608576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Better symptom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4608576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control and/or rhythm control to relieve symptoms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074152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348472" y="2194560"/>
            <a:ext cx="1463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7400" dirty="0"/>
          </a:p>
        </p:txBody>
      </p:sp>
      <p:sp>
        <p:nvSpPr>
          <p:cNvPr id="20" name="Shape 15"/>
          <p:cNvSpPr/>
          <p:nvPr/>
        </p:nvSpPr>
        <p:spPr>
          <a:xfrm>
            <a:off x="10360152" y="2377440"/>
            <a:ext cx="914400" cy="91440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97896" y="2615184"/>
            <a:ext cx="438912" cy="4389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394192" y="3749040"/>
            <a:ext cx="2971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Comorbidities &amp; risk factors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8394192" y="4617720"/>
            <a:ext cx="29718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HTN, sleep apnoea, obesity, alcohol excess, diabetes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vs Rhythm Control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304288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78308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Control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914400" y="32004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(e.g. bisoprolol, metoprolol)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14400" y="41148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Non-DHP calcium blockers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Diltiazem or verapamil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914400" y="502920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A413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Add-on; sedentary patients or heart failure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2200" y="182880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121408"/>
            <a:ext cx="822960" cy="82296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2304288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452360" y="2194560"/>
            <a:ext cx="4023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Control</a:t>
            </a:r>
            <a:endParaRPr lang="en-US" sz="2300" dirty="0"/>
          </a:p>
        </p:txBody>
      </p:sp>
      <p:sp>
        <p:nvSpPr>
          <p:cNvPr id="17" name="Text 12"/>
          <p:cNvSpPr/>
          <p:nvPr/>
        </p:nvSpPr>
        <p:spPr>
          <a:xfrm>
            <a:off x="6583680" y="32004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(electrical) or pharmacological — flecainide, amiodarone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583680" y="41148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Antiarrhythmic drugs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Flecainide/propafenone (no structural disease), amiodarone, sotalol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583680" y="5029200"/>
            <a:ext cx="4892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Catheter ablation
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Pulmonary vein isolation for refractory cases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STROKE PREVENTION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75688"/>
            <a:ext cx="512064" cy="512064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2203704"/>
            <a:ext cx="256032" cy="25603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18745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 — first-line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4846320" y="18745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Apixaban, rivaroxaban, dabigatran, edoxaban — preferred for most patients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02920" y="292608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777240" y="312724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3255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2926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846320" y="29260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mechanical heart valves and moderate–severe mitral stenosis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777240" y="4178808"/>
            <a:ext cx="512064" cy="512064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" y="4306824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63040" y="3977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LAA occlusion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846320" y="39776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closure when long-term anticoagulation is contraindicated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502920" y="51206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94960"/>
            <a:ext cx="384048" cy="38404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63040" y="5120640"/>
            <a:ext cx="9966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the decision on CHA₂DS₂-VASc, weigh bleeding risk (HAS-BLED), and note that antiplatelets alone are </a:t>
            </a:r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adequate stroke prevention.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25" name="Text 18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Anticoagulation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PREFERRED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22960" y="2395728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551176"/>
            <a:ext cx="283464" cy="2468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23500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LMWH (enoxaparin)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508760" y="2706624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cross the placenta — the agent of choice; weight-adjusted, monitor anti-Xa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22960" y="3511296"/>
            <a:ext cx="548640" cy="548640"/>
          </a:xfrm>
          <a:prstGeom prst="ellipse">
            <a:avLst/>
          </a:prstGeom>
          <a:solidFill>
            <a:srgbClr val="2E7D3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666744"/>
            <a:ext cx="283464" cy="2468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346557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Unfractionated heparin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1508760" y="3822192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placenta-safe; useful peri-delivery — short-acting &amp; reversible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172200" y="1783080"/>
            <a:ext cx="5532120" cy="2971800"/>
          </a:xfrm>
          <a:prstGeom prst="roundRect">
            <a:avLst>
              <a:gd name="adj" fmla="val 3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6492240" y="201168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492240" y="2395728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544" y="2551176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178040" y="235000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Warfarin (VKA)</a:t>
            </a:r>
            <a:endParaRPr lang="en-US" sz="1650" dirty="0"/>
          </a:p>
        </p:txBody>
      </p:sp>
      <p:sp>
        <p:nvSpPr>
          <p:cNvPr id="21" name="Text 15"/>
          <p:cNvSpPr/>
          <p:nvPr/>
        </p:nvSpPr>
        <p:spPr>
          <a:xfrm>
            <a:off x="7178040" y="2706624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Teratogenic — embryopathy at weeks 6–12 and fetal bleeding near term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492240" y="351129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544" y="3666744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178040" y="34655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DOACs</a:t>
            </a:r>
            <a:endParaRPr lang="en-US" sz="1650" dirty="0"/>
          </a:p>
        </p:txBody>
      </p:sp>
      <p:sp>
        <p:nvSpPr>
          <p:cNvPr id="25" name="Text 18"/>
          <p:cNvSpPr/>
          <p:nvPr/>
        </p:nvSpPr>
        <p:spPr>
          <a:xfrm>
            <a:off x="7178040" y="3822192"/>
            <a:ext cx="434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recommended — cross the placenta with limited safety data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502920" y="4937760"/>
            <a:ext cx="11183112" cy="1051560"/>
          </a:xfrm>
          <a:prstGeom prst="roundRect">
            <a:avLst>
              <a:gd name="adj" fmla="val 10435"/>
            </a:avLst>
          </a:prstGeom>
          <a:solidFill>
            <a:srgbClr val="FBD8DF"/>
          </a:solidFill>
          <a:ln/>
        </p:spPr>
      </p:sp>
      <p:sp>
        <p:nvSpPr>
          <p:cNvPr id="27" name="Text 20"/>
          <p:cNvSpPr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Peri-delivery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LMWH → UFH (or briefly hold) to allow neuraxial anaesthesia and limit bleeding.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914400" y="5468112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Breastfeeding   </a:t>
            </a:r>
            <a:pPr algn="l" indent="0" marL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warfarin, LMWH and UFH are compatible; DOACs are avoided. Plan with a specialist team.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966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POPULATIONS · PREGNANCY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Rhythm &amp; Rate Control in Pregnancy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53212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20574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l" indent="0" marL="0">
              <a:buNone/>
            </a:pPr>
            <a:r>
              <a:rPr lang="en-US" sz="1300" b="1" spc="15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GENERALLY SAFE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68680" y="2542032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" y="26883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18488" y="2505456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Beta-blockers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618488" y="2816352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First-line rate control (metoprolol, bisoprolol) — avoid atenolol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868680" y="3621024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376732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618488" y="3584448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Digoxin</a:t>
            </a:r>
            <a:endParaRPr lang="en-US" sz="1600" dirty="0"/>
          </a:p>
        </p:txBody>
      </p:sp>
      <p:sp>
        <p:nvSpPr>
          <p:cNvPr id="15" name="Text 10"/>
          <p:cNvSpPr/>
          <p:nvPr/>
        </p:nvSpPr>
        <p:spPr>
          <a:xfrm>
            <a:off x="1618488" y="3895344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option for rate control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868680" y="4700016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" y="484632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618488" y="4663440"/>
            <a:ext cx="4233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Flecainide / sotalol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1618488" y="4974336"/>
            <a:ext cx="4233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rhythm control when needed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172200" y="178308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92240" y="214884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377440"/>
            <a:ext cx="402336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498080" y="21945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Cardioversion</a:t>
            </a:r>
            <a:endParaRPr lang="en-US" sz="2100" dirty="0"/>
          </a:p>
        </p:txBody>
      </p:sp>
      <p:sp>
        <p:nvSpPr>
          <p:cNvPr id="24" name="Text 17"/>
          <p:cNvSpPr/>
          <p:nvPr/>
        </p:nvSpPr>
        <p:spPr>
          <a:xfrm>
            <a:off x="6537960" y="2852928"/>
            <a:ext cx="5029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cardioversion is safe in all trimesters — perform with fetal monitoring.</a:t>
            </a:r>
            <a:endParaRPr lang="en-US" sz="1400" dirty="0"/>
          </a:p>
        </p:txBody>
      </p:sp>
      <p:sp>
        <p:nvSpPr>
          <p:cNvPr id="25" name="Shape 18"/>
          <p:cNvSpPr/>
          <p:nvPr/>
        </p:nvSpPr>
        <p:spPr>
          <a:xfrm>
            <a:off x="6172200" y="3977640"/>
            <a:ext cx="5532120" cy="2011680"/>
          </a:xfrm>
          <a:prstGeom prst="roundRect">
            <a:avLst>
              <a:gd name="adj" fmla="val 545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6" name="Text 19"/>
          <p:cNvSpPr/>
          <p:nvPr/>
        </p:nvSpPr>
        <p:spPr>
          <a:xfrm>
            <a:off x="6537960" y="42062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WITH CAUTION / AVOID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537960" y="4645152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Amiodarone  </a:t>
            </a:r>
            <a:pPr algn="l"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fetal thyroid dysfunction &amp; IUGR; only if life-threatening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6537960" y="52852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Atenolol  </a:t>
            </a:r>
            <a:pPr algn="l" indent="0" marL="0">
              <a:buNone/>
            </a:pPr>
            <a:r>
              <a:rPr lang="en-US" sz="13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linked to fetal growth restriction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9000"/>
          </a:blip>
          <a:stretch>
            <a:fillRect/>
          </a:stretch>
        </p:blipFill>
        <p:spPr>
          <a:xfrm>
            <a:off x="8321040" y="3291840"/>
            <a:ext cx="4572000" cy="4572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6858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" y="905256"/>
            <a:ext cx="521208" cy="52120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868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6916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Points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713232" y="25968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60904"/>
            <a:ext cx="164592" cy="164592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88720" y="25786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 = irregularly irregular rhythm with absent P waves and a fibrillatory baseline.</a:t>
            </a:r>
            <a:endParaRPr lang="en-US" sz="1500" dirty="0"/>
          </a:p>
        </p:txBody>
      </p:sp>
      <p:sp>
        <p:nvSpPr>
          <p:cNvPr id="11" name="Shape 6"/>
          <p:cNvSpPr/>
          <p:nvPr/>
        </p:nvSpPr>
        <p:spPr>
          <a:xfrm>
            <a:off x="713232" y="314553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09544"/>
            <a:ext cx="164592" cy="164592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88720" y="312724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commonest sustained arrhythmia — linked to hypertension, age and structural heart disease.</a:t>
            </a:r>
            <a:endParaRPr lang="en-US" sz="1500" dirty="0"/>
          </a:p>
        </p:txBody>
      </p:sp>
      <p:sp>
        <p:nvSpPr>
          <p:cNvPr id="14" name="Shape 8"/>
          <p:cNvSpPr/>
          <p:nvPr/>
        </p:nvSpPr>
        <p:spPr>
          <a:xfrm>
            <a:off x="713232" y="369417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758184"/>
            <a:ext cx="164592" cy="164592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88720" y="367588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main danger is thromboembolic stroke — always assess stroke risk (CHA₂DS₂-VASc).</a:t>
            </a:r>
            <a:endParaRPr lang="en-US" sz="1500" dirty="0"/>
          </a:p>
        </p:txBody>
      </p:sp>
      <p:sp>
        <p:nvSpPr>
          <p:cNvPr id="17" name="Shape 10"/>
          <p:cNvSpPr/>
          <p:nvPr/>
        </p:nvSpPr>
        <p:spPr>
          <a:xfrm>
            <a:off x="713232" y="424281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06824"/>
            <a:ext cx="164592" cy="164592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188720" y="422452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Differentials: atrial flutter, multifocal atrial tachycardia, frequent PACs, SVT, pre-excited AF / VT.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713232" y="479145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855464"/>
            <a:ext cx="164592" cy="16459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188720" y="477316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with the ABC pathway: Anticoagulation, Better symptom control, Comorbidities.</a:t>
            </a:r>
            <a:endParaRPr lang="en-US" sz="1500" dirty="0"/>
          </a:p>
        </p:txBody>
      </p:sp>
      <p:sp>
        <p:nvSpPr>
          <p:cNvPr id="23" name="Shape 14"/>
          <p:cNvSpPr/>
          <p:nvPr/>
        </p:nvSpPr>
        <p:spPr>
          <a:xfrm>
            <a:off x="713232" y="5340096"/>
            <a:ext cx="292608" cy="2926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2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04104"/>
            <a:ext cx="164592" cy="164592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188720" y="5321808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pregnancy: LMWH is the anticoagulant of choice — avoid warfarin and DOACs.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27" name="Text 17"/>
          <p:cNvSpPr/>
          <p:nvPr/>
        </p:nvSpPr>
        <p:spPr>
          <a:xfrm>
            <a:off x="502920" y="63550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 — Clinical Topic Review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4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092440" y="3063240"/>
            <a:ext cx="4754880" cy="475488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>
            <a:alphaModFix amt="7000"/>
          </a:blip>
          <a:stretch>
            <a:fillRect/>
          </a:stretch>
        </p:blipFill>
        <p:spPr>
          <a:xfrm>
            <a:off x="-822960" y="-960120"/>
            <a:ext cx="4023360" cy="402336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711800" y="1234440"/>
            <a:ext cx="768096" cy="768096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1399032"/>
            <a:ext cx="457200" cy="45720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57200" y="2286000"/>
            <a:ext cx="1127455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8800" dirty="0"/>
          </a:p>
        </p:txBody>
      </p:sp>
      <p:sp>
        <p:nvSpPr>
          <p:cNvPr id="8" name="Text 3"/>
          <p:cNvSpPr/>
          <p:nvPr/>
        </p:nvSpPr>
        <p:spPr>
          <a:xfrm>
            <a:off x="457200" y="41148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2200" dirty="0"/>
          </a:p>
        </p:txBody>
      </p:sp>
      <p:sp>
        <p:nvSpPr>
          <p:cNvPr id="9" name="Shape 4"/>
          <p:cNvSpPr/>
          <p:nvPr/>
        </p:nvSpPr>
        <p:spPr>
          <a:xfrm>
            <a:off x="3355848" y="5212080"/>
            <a:ext cx="1865376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 flipV="1">
            <a:off x="5221224" y="5065776"/>
            <a:ext cx="329184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550408" y="5065776"/>
            <a:ext cx="329184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 flipV="1">
            <a:off x="5879592" y="4709160"/>
            <a:ext cx="329184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208776" y="4709160"/>
            <a:ext cx="329184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 flipV="1">
            <a:off x="6537960" y="5212080"/>
            <a:ext cx="329184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6867144" y="5212080"/>
            <a:ext cx="1975104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621128" y="5486400"/>
            <a:ext cx="6949440" cy="658368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2621128" y="5486400"/>
            <a:ext cx="6949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 Mubashir Aziz</a:t>
            </a:r>
            <a:pPr algn="ctr" indent="0" marL="0">
              <a:buNone/>
            </a:pPr>
            <a:r>
              <a:rPr lang="en-US" sz="14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Department of Cardiology · PEIC, Bahawalpur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2026-07-21T21:17:50Z</dcterms:created>
  <dcterms:modified xsi:type="dcterms:W3CDTF">2026-07-21T21:17:50Z</dcterms:modified>
</cp:coreProperties>
</file>