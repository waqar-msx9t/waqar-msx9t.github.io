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680960" y="1005840"/>
            <a:ext cx="46634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V="1">
            <a:off x="757123" y="1280160"/>
            <a:ext cx="163860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920984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91210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061436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366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1260409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89156" y="1248156"/>
            <a:ext cx="128748" cy="59436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517904" y="1280160"/>
            <a:ext cx="46817" cy="27432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1564721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34947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1705173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87103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1904147" y="1280160"/>
            <a:ext cx="128748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2032894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03120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2173346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55276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2372319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01067" y="1248156"/>
            <a:ext cx="128748" cy="59436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2629814" y="1257300"/>
            <a:ext cx="128748" cy="50292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58562" y="1257300"/>
            <a:ext cx="93635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2852196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22422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992648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074579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3191622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320369" y="1248156"/>
            <a:ext cx="175565" cy="3200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3495934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566160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V="1">
            <a:off x="3636386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18316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3835359" y="1280160"/>
            <a:ext cx="158008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3993368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063594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4133820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215750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4332793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461540" y="1248156"/>
            <a:ext cx="128748" cy="59436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4590288" y="1257300"/>
            <a:ext cx="128748" cy="50292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719036" y="1257300"/>
            <a:ext cx="64374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4783409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853635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4923861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05791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5122835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251582" y="1248156"/>
            <a:ext cx="128748" cy="59436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V="1">
            <a:off x="5380330" y="1280160"/>
            <a:ext cx="163860" cy="27432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5544190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614416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5684642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766572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V="1">
            <a:off x="5883615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012363" y="1248156"/>
            <a:ext cx="117043" cy="3200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V="1">
            <a:off x="6129406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199632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6269858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351788" y="1280160"/>
            <a:ext cx="140452" cy="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8580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 ·  CLINICAL TOPIC REVIEW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621792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Fibrillation</a:t>
            </a:r>
            <a:endParaRPr lang="en-US" sz="7000" dirty="0"/>
          </a:p>
        </p:txBody>
      </p:sp>
      <p:sp>
        <p:nvSpPr>
          <p:cNvPr id="64" name="Text 61"/>
          <p:cNvSpPr/>
          <p:nvPr/>
        </p:nvSpPr>
        <p:spPr>
          <a:xfrm>
            <a:off x="68580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  ·  Clinical Features  ·  Differential Diagnosis  ·  Management</a:t>
            </a:r>
            <a:endParaRPr lang="en-US" sz="1650" dirty="0"/>
          </a:p>
        </p:txBody>
      </p:sp>
      <p:sp>
        <p:nvSpPr>
          <p:cNvPr id="65" name="Shape 62"/>
          <p:cNvSpPr/>
          <p:nvPr/>
        </p:nvSpPr>
        <p:spPr>
          <a:xfrm>
            <a:off x="685800" y="4572000"/>
            <a:ext cx="59436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6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773168"/>
            <a:ext cx="457200" cy="457200"/>
          </a:xfrm>
          <a:prstGeom prst="rect">
            <a:avLst/>
          </a:prstGeom>
        </p:spPr>
      </p:pic>
      <p:sp>
        <p:nvSpPr>
          <p:cNvPr id="67" name="Text 63"/>
          <p:cNvSpPr/>
          <p:nvPr/>
        </p:nvSpPr>
        <p:spPr>
          <a:xfrm>
            <a:off x="1600200" y="4572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sustained cardiac arrhythmia</a:t>
            </a:r>
            <a:endParaRPr lang="en-US" sz="1450" dirty="0"/>
          </a:p>
        </p:txBody>
      </p:sp>
      <p:sp>
        <p:nvSpPr>
          <p:cNvPr id="68" name="Text 6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9" name="Text 65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Atrial Fibrillation?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6126480" cy="4297680"/>
          </a:xfrm>
          <a:prstGeom prst="roundRect">
            <a:avLst>
              <a:gd name="adj" fmla="val 2553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4937760" y="4709160"/>
            <a:ext cx="1463040" cy="1463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68680" y="2560320"/>
            <a:ext cx="5349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supraventricular tachyarrhythmia with rapid, disorganised atrial electrical activity — producing uncoordinated, ineffective atrial contraction and an irregularly irregular ventricular response.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58000" y="1783080"/>
            <a:ext cx="484632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040880" y="200253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8823960" y="1783080"/>
            <a:ext cx="2743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sustained cardiac arrhythmia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0" y="3264408"/>
            <a:ext cx="484632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040880" y="348386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~1–2%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8823960" y="3264408"/>
            <a:ext cx="2743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general population — rises sharply with age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858000" y="4745736"/>
            <a:ext cx="484632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040880" y="49651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5×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8823960" y="4745736"/>
            <a:ext cx="2743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risk of ischaemic stroke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Atrial Fibrillation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2670048" cy="3291840"/>
          </a:xfrm>
          <a:prstGeom prst="roundRect">
            <a:avLst>
              <a:gd name="adj" fmla="val 411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89304" y="22402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36" y="2496312"/>
            <a:ext cx="585216" cy="585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502152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Paroxysmal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04088" y="397764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Self-terminating, usually within 48 h (≤ 7 days)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346704" y="1874520"/>
            <a:ext cx="2670048" cy="3291840"/>
          </a:xfrm>
          <a:prstGeom prst="roundRect">
            <a:avLst>
              <a:gd name="adj" fmla="val 411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33088" y="22402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496312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83864" y="3502152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3547872" y="397764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&gt; 7 days; needs cardioversion to stop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90488" y="1874520"/>
            <a:ext cx="2670048" cy="3291840"/>
          </a:xfrm>
          <a:prstGeom prst="roundRect">
            <a:avLst>
              <a:gd name="adj" fmla="val 411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76872" y="22402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496312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27648" y="3502152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Long-standing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391656" y="397764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&gt; 12 months, rhythm control still intended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034272" y="1874520"/>
            <a:ext cx="2670048" cy="3291840"/>
          </a:xfrm>
          <a:prstGeom prst="roundRect">
            <a:avLst>
              <a:gd name="adj" fmla="val 4110"/>
            </a:avLst>
          </a:prstGeom>
          <a:solidFill>
            <a:srgbClr val="590D22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820656" y="2240280"/>
            <a:ext cx="1097280" cy="1097280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496312"/>
            <a:ext cx="585216" cy="5852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71432" y="3502152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9235440" y="397764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Accepted; no further attempts to restore sinus rhythm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02920" y="5440680"/>
            <a:ext cx="11183112" cy="658368"/>
          </a:xfrm>
          <a:prstGeom prst="roundRect">
            <a:avLst>
              <a:gd name="adj" fmla="val 13889"/>
            </a:avLst>
          </a:prstGeom>
          <a:solidFill>
            <a:srgbClr val="FBD8DF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54406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First-diagnosed AF  </a:t>
            </a:r>
            <a:pPr algn="l" indent="0" marL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detected for the first time, whatever its duration or symptom burden.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AF Develops &amp; Sustains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205740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68780" y="2377440"/>
            <a:ext cx="1097280" cy="10972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12" y="2633472"/>
            <a:ext cx="585216" cy="585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Triggers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77240" y="399592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Ectopic foci — most often from the pulmonary veins — fire rapidly and initiate AF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79976" y="205740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545836" y="2377440"/>
            <a:ext cx="1097280" cy="10972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868" y="2633472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2856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Re-entry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654296" y="399592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re-entrant wavelets &amp; rotors sustain disorganised atrial activity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57032" y="205740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422892" y="2377440"/>
            <a:ext cx="1097280" cy="10972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8924" y="2633472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39912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Remodelling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531352" y="399592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&amp; structural atrial remodelling — “AF begets AF”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 rot="5400000">
            <a:off x="3968496" y="3154680"/>
            <a:ext cx="329184" cy="384048"/>
          </a:xfrm>
          <a:prstGeom prst="triangle">
            <a:avLst/>
          </a:prstGeom>
          <a:solidFill>
            <a:srgbClr val="FF4D6D"/>
          </a:solidFill>
          <a:ln/>
        </p:spPr>
      </p:sp>
      <p:sp>
        <p:nvSpPr>
          <p:cNvPr id="22" name="Shape 16"/>
          <p:cNvSpPr/>
          <p:nvPr/>
        </p:nvSpPr>
        <p:spPr>
          <a:xfrm rot="5400000">
            <a:off x="7845552" y="3154680"/>
            <a:ext cx="329184" cy="384048"/>
          </a:xfrm>
          <a:prstGeom prst="triangle">
            <a:avLst/>
          </a:prstGeom>
          <a:solidFill>
            <a:srgbClr val="FF4D6D"/>
          </a:solidFill>
          <a:ln/>
        </p:spPr>
      </p:sp>
      <p:sp>
        <p:nvSpPr>
          <p:cNvPr id="23" name="Shape 17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923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14400" y="5102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atrial “kick” + irregular AV conduction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reduced cardiac output and blood stasis in the left atrial appendage → thrombus formation.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&amp; Risk Factors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848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254203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268833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79349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45336" y="254203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06140" y="254203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43300" y="268833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028" y="2793492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82796" y="254203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Ischaemic heart disease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8680" y="336499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05840" y="351129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61645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45336" y="336499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Valvular disease (mitral stenosis)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3406140" y="336499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543300" y="351129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028" y="3616452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82796" y="336499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68680" y="418795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005840" y="433425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4439412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545336" y="418795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Cardiomyopathy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3406140" y="418795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543300" y="433425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3028" y="4439412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082796" y="418795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Pericarditis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68680" y="501091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1005840" y="515721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8" y="5262372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545336" y="501091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Post-cardiac surgery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6153912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7" name="Text 27"/>
          <p:cNvSpPr/>
          <p:nvPr/>
        </p:nvSpPr>
        <p:spPr>
          <a:xfrm>
            <a:off x="6519672" y="20848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NON-CARDIAC / SYSTEMIC</a:t>
            </a:r>
            <a:endParaRPr lang="en-US" sz="1350" dirty="0"/>
          </a:p>
        </p:txBody>
      </p:sp>
      <p:sp>
        <p:nvSpPr>
          <p:cNvPr id="38" name="Shape 28"/>
          <p:cNvSpPr/>
          <p:nvPr/>
        </p:nvSpPr>
        <p:spPr>
          <a:xfrm>
            <a:off x="6519672" y="254203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6656832" y="268833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2793492"/>
            <a:ext cx="228600" cy="22860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196328" y="254203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Hyperthyroidism</a:t>
            </a:r>
            <a:endParaRPr lang="en-US" sz="1250" dirty="0"/>
          </a:p>
        </p:txBody>
      </p:sp>
      <p:sp>
        <p:nvSpPr>
          <p:cNvPr id="42" name="Shape 31"/>
          <p:cNvSpPr/>
          <p:nvPr/>
        </p:nvSpPr>
        <p:spPr>
          <a:xfrm>
            <a:off x="9057132" y="254203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9194292" y="268833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4020" y="2793492"/>
            <a:ext cx="228600" cy="2286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733788" y="254203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(“holiday heart”)</a:t>
            </a:r>
            <a:endParaRPr lang="en-US" sz="1250" dirty="0"/>
          </a:p>
        </p:txBody>
      </p:sp>
      <p:sp>
        <p:nvSpPr>
          <p:cNvPr id="46" name="Shape 34"/>
          <p:cNvSpPr/>
          <p:nvPr/>
        </p:nvSpPr>
        <p:spPr>
          <a:xfrm>
            <a:off x="6519672" y="336499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6656832" y="351129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0" y="3616452"/>
            <a:ext cx="228600" cy="22860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196328" y="336499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/ sleep apnoea</a:t>
            </a:r>
            <a:endParaRPr lang="en-US" sz="1250" dirty="0"/>
          </a:p>
        </p:txBody>
      </p:sp>
      <p:sp>
        <p:nvSpPr>
          <p:cNvPr id="50" name="Shape 37"/>
          <p:cNvSpPr/>
          <p:nvPr/>
        </p:nvSpPr>
        <p:spPr>
          <a:xfrm>
            <a:off x="9057132" y="336499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9194292" y="351129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4020" y="3616452"/>
            <a:ext cx="228600" cy="22860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9733788" y="336499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/ infection</a:t>
            </a:r>
            <a:endParaRPr lang="en-US" sz="1250" dirty="0"/>
          </a:p>
        </p:txBody>
      </p:sp>
      <p:sp>
        <p:nvSpPr>
          <p:cNvPr id="54" name="Shape 40"/>
          <p:cNvSpPr/>
          <p:nvPr/>
        </p:nvSpPr>
        <p:spPr>
          <a:xfrm>
            <a:off x="6519672" y="418795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6656832" y="433425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4439412"/>
            <a:ext cx="228600" cy="22860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7196328" y="418795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— PE, COPD</a:t>
            </a:r>
            <a:endParaRPr lang="en-US" sz="1250" dirty="0"/>
          </a:p>
        </p:txBody>
      </p:sp>
      <p:sp>
        <p:nvSpPr>
          <p:cNvPr id="58" name="Shape 43"/>
          <p:cNvSpPr/>
          <p:nvPr/>
        </p:nvSpPr>
        <p:spPr>
          <a:xfrm>
            <a:off x="9057132" y="418795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59" name="Shape 44"/>
          <p:cNvSpPr/>
          <p:nvPr/>
        </p:nvSpPr>
        <p:spPr>
          <a:xfrm>
            <a:off x="9194292" y="433425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04020" y="4439412"/>
            <a:ext cx="228600" cy="228600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9733788" y="418795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Electrolytes / diabetes</a:t>
            </a:r>
            <a:endParaRPr lang="en-US" sz="1250" dirty="0"/>
          </a:p>
        </p:txBody>
      </p:sp>
      <p:sp>
        <p:nvSpPr>
          <p:cNvPr id="62" name="Shape 46"/>
          <p:cNvSpPr/>
          <p:nvPr/>
        </p:nvSpPr>
        <p:spPr>
          <a:xfrm>
            <a:off x="6519672" y="501091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63" name="Shape 47"/>
          <p:cNvSpPr/>
          <p:nvPr/>
        </p:nvSpPr>
        <p:spPr>
          <a:xfrm>
            <a:off x="6656832" y="515721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6560" y="5262372"/>
            <a:ext cx="228600" cy="228600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7196328" y="501091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age</a:t>
            </a:r>
            <a:endParaRPr lang="en-US" sz="1250" dirty="0"/>
          </a:p>
        </p:txBody>
      </p:sp>
      <p:sp>
        <p:nvSpPr>
          <p:cNvPr id="66" name="Text 4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7" name="Text 50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Symptoms &amp; Signs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25420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6883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18488" y="250545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Palpitations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18488" y="281635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/ irregular heartbeat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36499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51129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18488" y="332841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Dyspnoea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18488" y="363931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Breathlessness on exertion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8680" y="41879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3342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18488" y="415137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18488" y="446227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exercise tolerance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68680" y="501091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15721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18488" y="497433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Dizziness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618488" y="528523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Light-headedness, rarely syncope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68680" y="5532120"/>
            <a:ext cx="4800600" cy="384048"/>
          </a:xfrm>
          <a:prstGeom prst="roundRect">
            <a:avLst>
              <a:gd name="adj" fmla="val 50000"/>
            </a:avLst>
          </a:prstGeom>
          <a:solidFill>
            <a:srgbClr val="FBD8DF"/>
          </a:solidFill>
          <a:ln/>
        </p:spPr>
      </p:sp>
      <p:sp>
        <p:nvSpPr>
          <p:cNvPr id="25" name="Text 18"/>
          <p:cNvSpPr/>
          <p:nvPr/>
        </p:nvSpPr>
        <p:spPr>
          <a:xfrm>
            <a:off x="868680" y="553212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asymptomatic — found incidentally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172200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653796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537960" y="2542032"/>
            <a:ext cx="566928" cy="566928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2688336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87768" y="250545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Irregularly irregular pulse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7287768" y="281635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hallmark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537960" y="3364992"/>
            <a:ext cx="566928" cy="566928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3511296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87768" y="332841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Apex–radial pulse deficit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7287768" y="363931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Apical rate &gt; radial rate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6537960" y="4187952"/>
            <a:ext cx="566928" cy="566928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4264" y="4334256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287768" y="415137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heart sounds</a:t>
            </a:r>
            <a:endParaRPr 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7287768" y="446227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S1 intensity</a:t>
            </a:r>
            <a:endParaRPr lang="en-US" sz="1250" dirty="0"/>
          </a:p>
        </p:txBody>
      </p:sp>
      <p:sp>
        <p:nvSpPr>
          <p:cNvPr id="40" name="Shape 30"/>
          <p:cNvSpPr/>
          <p:nvPr/>
        </p:nvSpPr>
        <p:spPr>
          <a:xfrm>
            <a:off x="6537960" y="5010912"/>
            <a:ext cx="566928" cy="566928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4264" y="5157216"/>
            <a:ext cx="274320" cy="27432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7287768" y="497433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Signs of complications</a:t>
            </a:r>
            <a:endParaRPr lang="en-US" sz="1600" dirty="0"/>
          </a:p>
        </p:txBody>
      </p:sp>
      <p:sp>
        <p:nvSpPr>
          <p:cNvPr id="43" name="Text 32"/>
          <p:cNvSpPr/>
          <p:nvPr/>
        </p:nvSpPr>
        <p:spPr>
          <a:xfrm>
            <a:off x="7287768" y="528523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or embolic stroke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ELECTROCARDIOGRAM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ECG Hallmarks of AF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11183112" cy="1965960"/>
          </a:xfrm>
          <a:prstGeom prst="roundRect">
            <a:avLst>
              <a:gd name="adj" fmla="val 558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121054" y="2743200"/>
            <a:ext cx="289316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1410371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34363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1658356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03014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2009668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36988" y="2711196"/>
            <a:ext cx="227320" cy="59436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2464308" y="2743200"/>
            <a:ext cx="82662" cy="27432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2546970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70962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2794955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39613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3146268" y="2743200"/>
            <a:ext cx="227320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3373587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97580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3621573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66231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3972885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00205" y="2711196"/>
            <a:ext cx="227320" cy="59436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4427525" y="2720340"/>
            <a:ext cx="227320" cy="50292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54845" y="2720340"/>
            <a:ext cx="16532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4820168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44161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5068153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212812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5419466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46786" y="2711196"/>
            <a:ext cx="309982" cy="3200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V="1">
            <a:off x="5956767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80760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6204753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49411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6556065" y="2743200"/>
            <a:ext cx="278983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6835049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59041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7083034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227692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7434346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661666" y="2711196"/>
            <a:ext cx="227320" cy="59436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7888986" y="2720340"/>
            <a:ext cx="227320" cy="50292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116306" y="2720340"/>
            <a:ext cx="113660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8229966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353958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8477951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622609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8829264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056583" y="2711196"/>
            <a:ext cx="227320" cy="59436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9283903" y="2743200"/>
            <a:ext cx="289316" cy="27432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9573219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697212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9821205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965863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V="1">
            <a:off x="10172517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399837" y="2711196"/>
            <a:ext cx="206654" cy="3200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10606491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730484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10854477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999135" y="2743200"/>
            <a:ext cx="247985" cy="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14400" y="34015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II — irregular R–R, no P waves, fibrillatory baseline</a:t>
            </a:r>
            <a:endParaRPr lang="en-US" sz="1150" dirty="0"/>
          </a:p>
        </p:txBody>
      </p:sp>
      <p:sp>
        <p:nvSpPr>
          <p:cNvPr id="66" name="Shape 63"/>
          <p:cNvSpPr/>
          <p:nvPr/>
        </p:nvSpPr>
        <p:spPr>
          <a:xfrm>
            <a:off x="502920" y="397764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1380744" y="4251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471416"/>
            <a:ext cx="475488" cy="475488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640080" y="527608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Irregularly irregular</a:t>
            </a:r>
            <a:endParaRPr lang="en-US" sz="1550" dirty="0"/>
          </a:p>
        </p:txBody>
      </p:sp>
      <p:sp>
        <p:nvSpPr>
          <p:cNvPr id="70" name="Text 66"/>
          <p:cNvSpPr/>
          <p:nvPr/>
        </p:nvSpPr>
        <p:spPr>
          <a:xfrm>
            <a:off x="685800" y="560527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R–R intervals vary with no pattern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3346704" y="397764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2" name="Shape 68"/>
          <p:cNvSpPr/>
          <p:nvPr/>
        </p:nvSpPr>
        <p:spPr>
          <a:xfrm>
            <a:off x="4224528" y="4251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471416"/>
            <a:ext cx="475488" cy="475488"/>
          </a:xfrm>
          <a:prstGeom prst="rect">
            <a:avLst/>
          </a:prstGeom>
        </p:spPr>
      </p:pic>
      <p:sp>
        <p:nvSpPr>
          <p:cNvPr id="74" name="Text 69"/>
          <p:cNvSpPr/>
          <p:nvPr/>
        </p:nvSpPr>
        <p:spPr>
          <a:xfrm>
            <a:off x="3483864" y="527608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Absent P waves</a:t>
            </a:r>
            <a:endParaRPr lang="en-US" sz="1550" dirty="0"/>
          </a:p>
        </p:txBody>
      </p:sp>
      <p:sp>
        <p:nvSpPr>
          <p:cNvPr id="75" name="Text 70"/>
          <p:cNvSpPr/>
          <p:nvPr/>
        </p:nvSpPr>
        <p:spPr>
          <a:xfrm>
            <a:off x="3529584" y="560527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organised atrial depolarisation</a:t>
            </a:r>
            <a:endParaRPr lang="en-US" sz="1200" dirty="0"/>
          </a:p>
        </p:txBody>
      </p:sp>
      <p:sp>
        <p:nvSpPr>
          <p:cNvPr id="76" name="Shape 71"/>
          <p:cNvSpPr/>
          <p:nvPr/>
        </p:nvSpPr>
        <p:spPr>
          <a:xfrm>
            <a:off x="6190488" y="397764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7" name="Shape 72"/>
          <p:cNvSpPr/>
          <p:nvPr/>
        </p:nvSpPr>
        <p:spPr>
          <a:xfrm>
            <a:off x="7068312" y="4251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7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4471416"/>
            <a:ext cx="475488" cy="475488"/>
          </a:xfrm>
          <a:prstGeom prst="rect">
            <a:avLst/>
          </a:prstGeom>
        </p:spPr>
      </p:pic>
      <p:sp>
        <p:nvSpPr>
          <p:cNvPr id="79" name="Text 73"/>
          <p:cNvSpPr/>
          <p:nvPr/>
        </p:nvSpPr>
        <p:spPr>
          <a:xfrm>
            <a:off x="6327648" y="527608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Fibrillatory f-waves</a:t>
            </a:r>
            <a:endParaRPr lang="en-US" sz="1550" dirty="0"/>
          </a:p>
        </p:txBody>
      </p:sp>
      <p:sp>
        <p:nvSpPr>
          <p:cNvPr id="80" name="Text 74"/>
          <p:cNvSpPr/>
          <p:nvPr/>
        </p:nvSpPr>
        <p:spPr>
          <a:xfrm>
            <a:off x="6373368" y="560527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baseline (~300–600/min)</a:t>
            </a:r>
            <a:endParaRPr lang="en-US" sz="1200" dirty="0"/>
          </a:p>
        </p:txBody>
      </p:sp>
      <p:sp>
        <p:nvSpPr>
          <p:cNvPr id="81" name="Shape 75"/>
          <p:cNvSpPr/>
          <p:nvPr/>
        </p:nvSpPr>
        <p:spPr>
          <a:xfrm>
            <a:off x="9034272" y="397764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82" name="Shape 76"/>
          <p:cNvSpPr/>
          <p:nvPr/>
        </p:nvSpPr>
        <p:spPr>
          <a:xfrm>
            <a:off x="9912096" y="4251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2" y="4471416"/>
            <a:ext cx="475488" cy="475488"/>
          </a:xfrm>
          <a:prstGeom prst="rect">
            <a:avLst/>
          </a:prstGeom>
        </p:spPr>
      </p:pic>
      <p:sp>
        <p:nvSpPr>
          <p:cNvPr id="84" name="Text 77"/>
          <p:cNvSpPr/>
          <p:nvPr/>
        </p:nvSpPr>
        <p:spPr>
          <a:xfrm>
            <a:off x="9171432" y="527608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QRS</a:t>
            </a:r>
            <a:endParaRPr lang="en-US" sz="1550" dirty="0"/>
          </a:p>
        </p:txBody>
      </p:sp>
      <p:sp>
        <p:nvSpPr>
          <p:cNvPr id="85" name="Text 78"/>
          <p:cNvSpPr/>
          <p:nvPr/>
        </p:nvSpPr>
        <p:spPr>
          <a:xfrm>
            <a:off x="9217152" y="560527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aberrancy / bundle branch block</a:t>
            </a:r>
            <a:endParaRPr lang="en-US" sz="1200" dirty="0"/>
          </a:p>
        </p:txBody>
      </p:sp>
      <p:sp>
        <p:nvSpPr>
          <p:cNvPr id="86" name="Text 7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87" name="Text 80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21854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377440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09928" y="21854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12-lead ECG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diagnosis — first-line test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288536" y="18745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81144" y="21854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377440"/>
            <a:ext cx="393192" cy="393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95544" y="21854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Ambulatory / Holter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608576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paroxysmal or intermittent AF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74152" y="18745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66760" y="21854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2377440"/>
            <a:ext cx="393192" cy="3931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1160" y="21854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Echocardiography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394192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LA size, valves, LV; TOE for LA thrombus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02920" y="39319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95528" y="42428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434840"/>
            <a:ext cx="393192" cy="3931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09928" y="42428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tests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822960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TFTs, U&amp;E, FBC, glucose, coagulation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288536" y="39319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81144" y="42428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434840"/>
            <a:ext cx="393192" cy="3931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95544" y="42428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Chest X-ray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4608576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size &amp; pulmonary causes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074152" y="39319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66760" y="42428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8784" y="4434840"/>
            <a:ext cx="393192" cy="3931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281160" y="42428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the cause</a:t>
            </a:r>
            <a:endParaRPr lang="en-US" sz="1800" dirty="0"/>
          </a:p>
        </p:txBody>
      </p:sp>
      <p:sp>
        <p:nvSpPr>
          <p:cNvPr id="35" name="Text 26"/>
          <p:cNvSpPr/>
          <p:nvPr/>
        </p:nvSpPr>
        <p:spPr>
          <a:xfrm>
            <a:off x="8394192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for reversible triggers &amp; risk factors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Telling the Irregular Rhythms Apart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2231136" cy="548640"/>
          </a:xfrm>
          <a:prstGeom prst="roundRect">
            <a:avLst>
              <a:gd name="adj" fmla="val 10000"/>
            </a:avLst>
          </a:prstGeom>
          <a:solidFill>
            <a:srgbClr val="A4133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43784" y="1965960"/>
            <a:ext cx="2779776" cy="548640"/>
          </a:xfrm>
          <a:prstGeom prst="roundRect">
            <a:avLst>
              <a:gd name="adj" fmla="val 10000"/>
            </a:avLst>
          </a:prstGeom>
          <a:solidFill>
            <a:srgbClr val="A4133C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activity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78424" y="1965960"/>
            <a:ext cx="2322576" cy="548640"/>
          </a:xfrm>
          <a:prstGeom prst="roundRect">
            <a:avLst>
              <a:gd name="adj" fmla="val 10000"/>
            </a:avLst>
          </a:prstGeom>
          <a:solidFill>
            <a:srgbClr val="A4133C"/>
          </a:solidFill>
          <a:ln/>
        </p:spPr>
      </p:sp>
      <p:sp>
        <p:nvSpPr>
          <p:cNvPr id="11" name="Text 8"/>
          <p:cNvSpPr/>
          <p:nvPr/>
        </p:nvSpPr>
        <p:spPr>
          <a:xfrm>
            <a:off x="576072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Ventricular rate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55864" y="1965960"/>
            <a:ext cx="3630168" cy="548640"/>
          </a:xfrm>
          <a:prstGeom prst="roundRect">
            <a:avLst>
              <a:gd name="adj" fmla="val 10000"/>
            </a:avLst>
          </a:prstGeom>
          <a:solidFill>
            <a:srgbClr val="A4133C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0" y="196596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distinguishing clue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2606040"/>
            <a:ext cx="2231136" cy="1051560"/>
          </a:xfrm>
          <a:prstGeom prst="roundRect">
            <a:avLst>
              <a:gd name="adj" fmla="val 5217"/>
            </a:avLst>
          </a:prstGeom>
          <a:solidFill>
            <a:srgbClr val="590D22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265176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Fibrillation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843784" y="2606040"/>
            <a:ext cx="27797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53512" y="265176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 waves; fibrillatory baseline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78424" y="2606040"/>
            <a:ext cx="23225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88152" y="265176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Irregularly irregular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55864" y="2606040"/>
            <a:ext cx="3630168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65592" y="2651760"/>
            <a:ext cx="3374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— no organised atrial activity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2920" y="3703320"/>
            <a:ext cx="2231136" cy="1051560"/>
          </a:xfrm>
          <a:prstGeom prst="roundRect">
            <a:avLst>
              <a:gd name="adj" fmla="val 5217"/>
            </a:avLst>
          </a:prstGeom>
          <a:solidFill>
            <a:srgbClr val="FBD8D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374904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Flutter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843784" y="3703320"/>
            <a:ext cx="27797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53512" y="374904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Sawtooth flutter waves (~300/min)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678424" y="3703320"/>
            <a:ext cx="23225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88152" y="374904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regular (2:1, 3:1)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055864" y="3703320"/>
            <a:ext cx="3630168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65592" y="3749040"/>
            <a:ext cx="3374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“picket-fence” baseline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02920" y="4800600"/>
            <a:ext cx="2231136" cy="1051560"/>
          </a:xfrm>
          <a:prstGeom prst="roundRect">
            <a:avLst>
              <a:gd name="adj" fmla="val 5217"/>
            </a:avLst>
          </a:prstGeom>
          <a:solidFill>
            <a:srgbClr val="FBD8D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7512" y="484632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Multifocal Atrial Tach.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2843784" y="4800600"/>
            <a:ext cx="27797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53512" y="484632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distinct P-wave shapes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678424" y="4800600"/>
            <a:ext cx="23225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88152" y="484632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055864" y="4800600"/>
            <a:ext cx="3630168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65592" y="4846320"/>
            <a:ext cx="3374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varying P waves; COPD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02920" y="580644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FF0F3"/>
          </a:solidFill>
          <a:ln/>
        </p:spPr>
      </p:sp>
      <p:sp>
        <p:nvSpPr>
          <p:cNvPr id="39" name="Text 36"/>
          <p:cNvSpPr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question:  </a:t>
            </a:r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rhythm regular or irregular?  Then look at the atrial activity — P waves, flutter waves, or fibrillation.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AF Matters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590D22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331720"/>
            <a:ext cx="1051560" cy="1051560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624328"/>
            <a:ext cx="466344" cy="4663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6576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Thromboembolism &amp; Stroke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22960" y="45720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Stasis in the left atrial appendage forms thrombi — the leading danger, with ~5× stroke risk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288536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54296" y="233172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624328"/>
            <a:ext cx="466344" cy="4663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8576" y="36576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Failure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608576" y="45720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atrial kick plus rapid rates reduce cardiac output and worsen existing HF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74152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39912" y="233172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624328"/>
            <a:ext cx="466344" cy="4663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94192" y="36576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Tachycardia-induced Cardiomyopathy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394192" y="45720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Persistently rapid ventricular rates can cause reversible LV dysfunction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Stroke &amp; Bleeding Risk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69037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0574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</a:t>
            </a:r>
            <a:pPr algn="l" indent="0" marL="0">
              <a:buNone/>
            </a:pPr>
            <a:r>
              <a:rPr lang="en-US" sz="2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₂</a:t>
            </a:r>
            <a:pPr algn="l" indent="0" marL="0">
              <a:buNone/>
            </a:pPr>
            <a:r>
              <a:rPr lang="en-US" sz="2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</a:t>
            </a:r>
            <a:pPr algn="l" indent="0" marL="0">
              <a:buNone/>
            </a:pPr>
            <a:r>
              <a:rPr lang="en-US" sz="2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₂</a:t>
            </a:r>
            <a:pPr algn="l" indent="0" marL="0">
              <a:buNone/>
            </a:pPr>
            <a:r>
              <a:rPr lang="en-US" sz="2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-VASc</a:t>
            </a:r>
            <a:pPr algn="l" indent="0" marL="0">
              <a:buNone/>
            </a:pPr>
            <a:r>
              <a:rPr lang="en-US" sz="2000" b="1" dirty="0">
                <a:solidFill>
                  <a:srgbClr val="6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stroke risk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1732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Congestive HF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37560" y="2670048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069080" y="2606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14" name="Text 11"/>
          <p:cNvSpPr/>
          <p:nvPr/>
        </p:nvSpPr>
        <p:spPr>
          <a:xfrm>
            <a:off x="402336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6344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83680" y="2670048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" y="32644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A₂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17320" y="32644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 75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337560" y="3328416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22" name="Text 19"/>
          <p:cNvSpPr/>
          <p:nvPr/>
        </p:nvSpPr>
        <p:spPr>
          <a:xfrm>
            <a:off x="333756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069080" y="32644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24" name="Text 21"/>
          <p:cNvSpPr/>
          <p:nvPr/>
        </p:nvSpPr>
        <p:spPr>
          <a:xfrm>
            <a:off x="4023360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663440" y="32644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583680" y="3328416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22960" y="39227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3922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S₂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417320" y="392277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stroke / TIA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3337560" y="3986784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32" name="Text 29"/>
          <p:cNvSpPr/>
          <p:nvPr/>
        </p:nvSpPr>
        <p:spPr>
          <a:xfrm>
            <a:off x="333756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069080" y="39227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34" name="Text 31"/>
          <p:cNvSpPr/>
          <p:nvPr/>
        </p:nvSpPr>
        <p:spPr>
          <a:xfrm>
            <a:off x="4023360" y="3922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663440" y="392277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disease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583680" y="3986784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37" name="Text 34"/>
          <p:cNvSpPr/>
          <p:nvPr/>
        </p:nvSpPr>
        <p:spPr>
          <a:xfrm>
            <a:off x="658368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22960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39" name="Text 36"/>
          <p:cNvSpPr/>
          <p:nvPr/>
        </p:nvSpPr>
        <p:spPr>
          <a:xfrm>
            <a:off x="777240" y="4581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1417320" y="45811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65–74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3337560" y="4645152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42" name="Text 39"/>
          <p:cNvSpPr/>
          <p:nvPr/>
        </p:nvSpPr>
        <p:spPr>
          <a:xfrm>
            <a:off x="333756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4069080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44" name="Text 41"/>
          <p:cNvSpPr/>
          <p:nvPr/>
        </p:nvSpPr>
        <p:spPr>
          <a:xfrm>
            <a:off x="4023360" y="4581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4663440" y="45811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(female)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6583680" y="4645152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47" name="Text 44"/>
          <p:cNvSpPr/>
          <p:nvPr/>
        </p:nvSpPr>
        <p:spPr>
          <a:xfrm>
            <a:off x="658368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822960" y="5440680"/>
            <a:ext cx="6263640" cy="457200"/>
          </a:xfrm>
          <a:prstGeom prst="roundRect">
            <a:avLst>
              <a:gd name="adj" fmla="val 16000"/>
            </a:avLst>
          </a:prstGeom>
          <a:solidFill>
            <a:srgbClr val="590D22"/>
          </a:solidFill>
          <a:ln/>
        </p:spPr>
      </p:sp>
      <p:sp>
        <p:nvSpPr>
          <p:cNvPr id="49" name="Text 46"/>
          <p:cNvSpPr/>
          <p:nvPr/>
        </p:nvSpPr>
        <p:spPr>
          <a:xfrm>
            <a:off x="1051560" y="5440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Anticoagulate if 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(men)  /  ≥ 3 (women)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7543800" y="182880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786384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HAS-BLED</a:t>
            </a:r>
            <a:endParaRPr lang="en-US" sz="2000" dirty="0"/>
          </a:p>
        </p:txBody>
      </p:sp>
      <p:sp>
        <p:nvSpPr>
          <p:cNvPr id="52" name="Text 49"/>
          <p:cNvSpPr/>
          <p:nvPr/>
        </p:nvSpPr>
        <p:spPr>
          <a:xfrm>
            <a:off x="7863840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risk on anticoagulation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863840" y="288036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Hypertension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7863840" y="331012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Abnormal renal / liver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7863840" y="37398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Stroke history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7863840" y="416966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Bleeding tendency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7863840" y="459943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Labile INR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7863840" y="50292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Elderly (&gt; 65)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7863840" y="545896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Drugs / alcohol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ABC Pathway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7400" dirty="0"/>
          </a:p>
        </p:txBody>
      </p:sp>
      <p:sp>
        <p:nvSpPr>
          <p:cNvPr id="8" name="Shape 5"/>
          <p:cNvSpPr/>
          <p:nvPr/>
        </p:nvSpPr>
        <p:spPr>
          <a:xfrm>
            <a:off x="2788920" y="2377440"/>
            <a:ext cx="914400" cy="91440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261518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7490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Anticoagulation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22960" y="461772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stroke — assess with CHA₂DS₂-VASc, then a DOAC (or warfarin where indicated)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88536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62856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7400" dirty="0"/>
          </a:p>
        </p:txBody>
      </p:sp>
      <p:sp>
        <p:nvSpPr>
          <p:cNvPr id="14" name="Shape 10"/>
          <p:cNvSpPr/>
          <p:nvPr/>
        </p:nvSpPr>
        <p:spPr>
          <a:xfrm>
            <a:off x="6574536" y="2377440"/>
            <a:ext cx="914400" cy="91440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1518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08576" y="37490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symptom control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608576" y="461772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control and/or rhythm control to relieve symptoms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74152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348472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7400" dirty="0"/>
          </a:p>
        </p:txBody>
      </p:sp>
      <p:sp>
        <p:nvSpPr>
          <p:cNvPr id="20" name="Shape 15"/>
          <p:cNvSpPr/>
          <p:nvPr/>
        </p:nvSpPr>
        <p:spPr>
          <a:xfrm>
            <a:off x="10360152" y="2377440"/>
            <a:ext cx="914400" cy="91440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7896" y="261518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94192" y="37490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Comorbidities &amp; risk factors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394192" y="461772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HTN, sleep apnoea, obesity, alcohol excess, diabetes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· MEDICAL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Treatment of AF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39112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945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391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Control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95528" y="2935224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1" name="Text 7"/>
          <p:cNvSpPr/>
          <p:nvPr/>
        </p:nvSpPr>
        <p:spPr>
          <a:xfrm>
            <a:off x="1033272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Beta-blockers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33272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— metoprolol, bisoprolol, carvedilol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5528" y="36850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4" name="Text 10"/>
          <p:cNvSpPr/>
          <p:nvPr/>
        </p:nvSpPr>
        <p:spPr>
          <a:xfrm>
            <a:off x="1033272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Non-DHP CCB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Diltiazem or verapamil (avoid in decompensated HF)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5528" y="4434840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7" name="Text 13"/>
          <p:cNvSpPr/>
          <p:nvPr/>
        </p:nvSpPr>
        <p:spPr>
          <a:xfrm>
            <a:off x="1033272" y="4379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Digoxin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033272" y="4654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Adjunct or LV systolic dysfunction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95528" y="51846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0" name="Text 16"/>
          <p:cNvSpPr/>
          <p:nvPr/>
        </p:nvSpPr>
        <p:spPr>
          <a:xfrm>
            <a:off x="1033272" y="5129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33272" y="54041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HR &lt; 80 bpm (lenient &lt; 110)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288536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62856" y="2039112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194560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40096" y="20391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Rhythm Control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4581144" y="2935224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7" name="Text 22"/>
          <p:cNvSpPr/>
          <p:nvPr/>
        </p:nvSpPr>
        <p:spPr>
          <a:xfrm>
            <a:off x="4818888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cardioversion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818888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AF → immediate DCCV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4581144" y="36850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0" name="Text 25"/>
          <p:cNvSpPr/>
          <p:nvPr/>
        </p:nvSpPr>
        <p:spPr>
          <a:xfrm>
            <a:off x="4818888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structural disease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4818888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Flecainide, propafenone, sotalol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4581144" y="4434840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3" name="Text 28"/>
          <p:cNvSpPr/>
          <p:nvPr/>
        </p:nvSpPr>
        <p:spPr>
          <a:xfrm>
            <a:off x="4818888" y="4379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/ HF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4818888" y="4654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Amiodarone, dofetilide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4581144" y="51846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6" name="Text 31"/>
          <p:cNvSpPr/>
          <p:nvPr/>
        </p:nvSpPr>
        <p:spPr>
          <a:xfrm>
            <a:off x="4818888" y="5129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Catheter ablation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4818888" y="54041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antiarrhythmic drugs fail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074152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8348472" y="2039112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194560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125712" y="20391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Anticoagulation</a:t>
            </a:r>
            <a:endParaRPr lang="en-US" sz="1800" dirty="0"/>
          </a:p>
        </p:txBody>
      </p:sp>
      <p:sp>
        <p:nvSpPr>
          <p:cNvPr id="42" name="Shape 36"/>
          <p:cNvSpPr/>
          <p:nvPr/>
        </p:nvSpPr>
        <p:spPr>
          <a:xfrm>
            <a:off x="8366760" y="2935224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3" name="Text 37"/>
          <p:cNvSpPr/>
          <p:nvPr/>
        </p:nvSpPr>
        <p:spPr>
          <a:xfrm>
            <a:off x="8604504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risk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8604504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CHA₂DS₂-VASc score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8366760" y="36850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6" name="Text 40"/>
          <p:cNvSpPr/>
          <p:nvPr/>
        </p:nvSpPr>
        <p:spPr>
          <a:xfrm>
            <a:off x="8604504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DOACs</a:t>
            </a:r>
            <a:endParaRPr lang="en-US" sz="1400" dirty="0"/>
          </a:p>
        </p:txBody>
      </p:sp>
      <p:sp>
        <p:nvSpPr>
          <p:cNvPr id="47" name="Text 41"/>
          <p:cNvSpPr/>
          <p:nvPr/>
        </p:nvSpPr>
        <p:spPr>
          <a:xfrm>
            <a:off x="8604504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Apixaban, rivaroxaban, dabigatran</a:t>
            </a:r>
            <a:endParaRPr lang="en-US" sz="1150" dirty="0"/>
          </a:p>
        </p:txBody>
      </p:sp>
      <p:sp>
        <p:nvSpPr>
          <p:cNvPr id="48" name="Shape 42"/>
          <p:cNvSpPr/>
          <p:nvPr/>
        </p:nvSpPr>
        <p:spPr>
          <a:xfrm>
            <a:off x="8366760" y="4434840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9" name="Text 43"/>
          <p:cNvSpPr/>
          <p:nvPr/>
        </p:nvSpPr>
        <p:spPr>
          <a:xfrm>
            <a:off x="8604504" y="4379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Warfarin</a:t>
            </a:r>
            <a:endParaRPr lang="en-US" sz="1400" dirty="0"/>
          </a:p>
        </p:txBody>
      </p:sp>
      <p:sp>
        <p:nvSpPr>
          <p:cNvPr id="50" name="Text 44"/>
          <p:cNvSpPr/>
          <p:nvPr/>
        </p:nvSpPr>
        <p:spPr>
          <a:xfrm>
            <a:off x="8604504" y="4654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Mitral stenosis / mechanical valve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8366760" y="51846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52" name="Text 46"/>
          <p:cNvSpPr/>
          <p:nvPr/>
        </p:nvSpPr>
        <p:spPr>
          <a:xfrm>
            <a:off x="8604504" y="5129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 &gt; 48 h</a:t>
            </a:r>
            <a:endParaRPr lang="en-US" sz="1400" dirty="0"/>
          </a:p>
        </p:txBody>
      </p:sp>
      <p:sp>
        <p:nvSpPr>
          <p:cNvPr id="53" name="Text 47"/>
          <p:cNvSpPr/>
          <p:nvPr/>
        </p:nvSpPr>
        <p:spPr>
          <a:xfrm>
            <a:off x="8604504" y="54041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or 3 weeks before cardioversion</a:t>
            </a:r>
            <a:endParaRPr lang="en-US" sz="1150" dirty="0"/>
          </a:p>
        </p:txBody>
      </p:sp>
      <p:sp>
        <p:nvSpPr>
          <p:cNvPr id="54" name="Text 4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5" name="Text 49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· INTERVENTIONAL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Surgical Treatment of AF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295144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08483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Catheter Ablation (PVI)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68680" y="294436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vein isolation ablates the triggering foci — first-line interventional rhythm control.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99632" y="182880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19672" y="210312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2295144"/>
            <a:ext cx="393192" cy="393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79792" y="208483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Surgical Maze (Cox-Maze IV)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565392" y="294436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lesion lines block re-entry, usually with concomitant cardiac surgery — highest rhythm success.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79476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0690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261104"/>
            <a:ext cx="393192" cy="3931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405079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 Node Ablation + Pacemaker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68680" y="49103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“Ablate &amp; pace” for refractory rate control; requires a permanent pacemaker.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99632" y="379476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19672" y="40690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4261104"/>
            <a:ext cx="393192" cy="3931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79792" y="405079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LAA Occlusion / Exclusion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565392" y="49103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Watchman device or surgical clip prevents stroke when anticoagulation is unsuitable.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02920" y="5669280"/>
            <a:ext cx="11183112" cy="502920"/>
          </a:xfrm>
          <a:prstGeom prst="roundRect">
            <a:avLst>
              <a:gd name="adj" fmla="val 18182"/>
            </a:avLst>
          </a:prstGeom>
          <a:solidFill>
            <a:srgbClr val="590D22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669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convergent ablation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catheter and minimally-invasive epicardial approaches for persistent AF.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CONTROL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vs Rhythm Control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21408"/>
            <a:ext cx="822960" cy="82296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0428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1945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Control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914400" y="3200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Beta-blockers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(e.g. bisoprolol, metoprolol)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14400" y="4114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Non-DHP calcium blockers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Diltiazem or verapamil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14400" y="5029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Digoxin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Add-on; sedentary patients or heart failure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172200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2121408"/>
            <a:ext cx="822960" cy="82296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0428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52360" y="21945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Rhythm Control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6583680" y="32004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Cardioversion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(electrical) or pharmacological — flecainide, amiodarone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83680" y="4114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Antiarrhythmic drugs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Flecainide/propafenone (no structural disease), amiodarone, sotalol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83680" y="50292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Catheter ablation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vein isolation for refractory cases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PREVENTION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Anticoagulation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75688"/>
            <a:ext cx="512064" cy="51206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DOACs — first-line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846320" y="18745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Apixaban, rivaroxaban, dabigatran, edoxaban — preferred for most patients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02920" y="292608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127248"/>
            <a:ext cx="512064" cy="512064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25526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Warfarin (VKA)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846320" y="29260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mechanical heart valves and moderate–severe mitral stenosis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02920" y="397764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178808"/>
            <a:ext cx="512064" cy="512064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0682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977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LAA occlusion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4846320" y="39776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closure when long-term anticoagulation is contraindicated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502920" y="512064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9496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51206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the decision on CHA₂DS₂-VASc, weigh bleeding risk (HAS-BLED), and note that antiplatelets alone are </a:t>
            </a:r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adequate stroke prevention.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PREVENTION · VALVULAR VS NONVALVULAR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of Anticoagulant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84832"/>
            <a:ext cx="749808" cy="749808"/>
          </a:xfrm>
          <a:prstGeom prst="ellipse">
            <a:avLst/>
          </a:prstGeom>
          <a:solidFill>
            <a:srgbClr val="A4133C"/>
          </a:solidFill>
          <a:ln/>
        </p:spPr>
      </p:sp>
      <p:sp>
        <p:nvSpPr>
          <p:cNvPr id="8" name="Text 5"/>
          <p:cNvSpPr/>
          <p:nvPr/>
        </p:nvSpPr>
        <p:spPr>
          <a:xfrm>
            <a:off x="1783080" y="208483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Nonvalvular AF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2944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choice of agents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419856"/>
            <a:ext cx="128016" cy="12801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1" name="Text 8"/>
          <p:cNvSpPr/>
          <p:nvPr/>
        </p:nvSpPr>
        <p:spPr>
          <a:xfrm>
            <a:off x="1170432" y="33467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heparin / LMWH  </a:t>
            </a:r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Parenteral anticoagulation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3968496"/>
            <a:ext cx="128016" cy="12801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3" name="Text 10"/>
          <p:cNvSpPr/>
          <p:nvPr/>
        </p:nvSpPr>
        <p:spPr>
          <a:xfrm>
            <a:off x="1170432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 </a:t>
            </a:r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Vitamin-K antagonist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4517136"/>
            <a:ext cx="128016" cy="12801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5" name="Text 12"/>
          <p:cNvSpPr/>
          <p:nvPr/>
        </p:nvSpPr>
        <p:spPr>
          <a:xfrm>
            <a:off x="1170432" y="4443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DOACs  </a:t>
            </a:r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New oral anticoagulants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22960" y="5175504"/>
            <a:ext cx="4892040" cy="566928"/>
          </a:xfrm>
          <a:prstGeom prst="roundRect">
            <a:avLst>
              <a:gd name="adj" fmla="val 50000"/>
            </a:avLst>
          </a:prstGeom>
          <a:solidFill>
            <a:srgbClr val="590D22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517550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these may be considered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53912" y="178308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73952" y="2084832"/>
            <a:ext cx="749808" cy="7498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304288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34072" y="208483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Valvular AF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519672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depends on the valve lesion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473952" y="3246120"/>
            <a:ext cx="4892040" cy="1170432"/>
          </a:xfrm>
          <a:prstGeom prst="roundRect">
            <a:avLst>
              <a:gd name="adj" fmla="val 7813"/>
            </a:avLst>
          </a:prstGeom>
          <a:solidFill>
            <a:srgbClr val="590D22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20840" y="3410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Mitral stenosis + AF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720840" y="375818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— the only proven oral anticoagulant to date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473952" y="4544568"/>
            <a:ext cx="4892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20840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valve disease + AF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720840" y="50566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Non-coumadin agents (DOACs) supported — ACC/AHA guidelines (registry data)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POPULATIONS · PREGNANCY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Anticoagulation in Pregnancy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532120" cy="2971800"/>
          </a:xfrm>
          <a:prstGeom prst="roundRect">
            <a:avLst>
              <a:gd name="adj" fmla="val 369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51176"/>
            <a:ext cx="283464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3500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LMWH (enoxaparin)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08760" y="270662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cross the placenta — the agent of choice; weight-adjusted, monitor anti-Xa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511296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66744"/>
            <a:ext cx="283464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4655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Unfractionated heparin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508760" y="382219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placenta-safe; useful peri-delivery — short-acting &amp; reversible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1783080"/>
            <a:ext cx="5532120" cy="2971800"/>
          </a:xfrm>
          <a:prstGeom prst="roundRect">
            <a:avLst>
              <a:gd name="adj" fmla="val 3692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492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92240" y="2395728"/>
            <a:ext cx="548640" cy="54864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55117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8040" y="2350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Warfarin (VKA)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7178040" y="270662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Teratogenic — embryopathy at weeks 6–12 and fetal bleeding near term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92240" y="3511296"/>
            <a:ext cx="548640" cy="54864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66674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34655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DOACs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7178040" y="382219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 — cross the placenta with limited safety data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02920" y="4937760"/>
            <a:ext cx="11183112" cy="1051560"/>
          </a:xfrm>
          <a:prstGeom prst="roundRect">
            <a:avLst>
              <a:gd name="adj" fmla="val 10435"/>
            </a:avLst>
          </a:prstGeom>
          <a:solidFill>
            <a:srgbClr val="FBD8DF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50840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Peri-delivery   </a:t>
            </a:r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LMWH → UFH (or briefly hold) to allow neuraxial anaesthesia and limit bleeding.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14400" y="54681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Breastfeeding   </a:t>
            </a:r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warfarin, LMWH and UFH are compatible; DOACs are avoided. Plan with a specialist team.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POPULATIONS · PREGNANCY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Rhythm &amp; Rate Control in Pregnancy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SAFE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25420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6883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18488" y="2505456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Beta-blockers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18488" y="281635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rate control (metoprolol, bisoprolol) — avoid atenolol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621024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76732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18488" y="358444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Digoxin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18488" y="3895344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option for rate control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8680" y="470001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8463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18488" y="466344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Flecainide / sotalol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18488" y="4974336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rhythm control when needed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172200" y="1783080"/>
            <a:ext cx="5532120" cy="2011680"/>
          </a:xfrm>
          <a:prstGeom prst="roundRect">
            <a:avLst>
              <a:gd name="adj" fmla="val 5455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92240" y="2148840"/>
            <a:ext cx="868680" cy="8686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377440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8080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Cardioversion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6537960" y="28529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cardioversion is safe in all trimesters — perform with fetal monitoring.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172200" y="3977640"/>
            <a:ext cx="5532120" cy="2011680"/>
          </a:xfrm>
          <a:prstGeom prst="roundRect">
            <a:avLst>
              <a:gd name="adj" fmla="val 545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6537960" y="4206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0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CAUTION / AVOID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537960" y="464515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Amiodarone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fetal thyroid dysfunction &amp; IUGR; only if life-threatening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537960" y="5285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Atenolol  </a:t>
            </a:r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linked to fetal growth restriction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POPULATIONS · PREGNANCY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 in Pregnancy — Overview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572768"/>
            <a:ext cx="11183112" cy="914400"/>
          </a:xfrm>
          <a:prstGeom prst="roundRect">
            <a:avLst>
              <a:gd name="adj" fmla="val 12000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572768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~60 / 100,000 pregnancies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often congenital / valvular disease, thyrotoxicosis or electrolyte disturbance   ·   hypercoagulable, but no proven rise in AF-related thromboembolism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670048"/>
            <a:ext cx="3611880" cy="3319272"/>
          </a:xfrm>
          <a:prstGeom prst="roundRect">
            <a:avLst>
              <a:gd name="adj" fmla="val 330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08152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9260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Anticoagulation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95528" y="382219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3" name="Text 9"/>
          <p:cNvSpPr/>
          <p:nvPr/>
        </p:nvSpPr>
        <p:spPr>
          <a:xfrm>
            <a:off x="1033272" y="376732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criteria as non-pregnant women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" y="455371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5" name="Text 11"/>
          <p:cNvSpPr/>
          <p:nvPr/>
        </p:nvSpPr>
        <p:spPr>
          <a:xfrm>
            <a:off x="1033272" y="449884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(not DOAC) — 2nd trimester to 1 month before delivery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5528" y="52852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7" name="Text 13"/>
          <p:cNvSpPr/>
          <p:nvPr/>
        </p:nvSpPr>
        <p:spPr>
          <a:xfrm>
            <a:off x="1033272" y="523036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LMWH (SC) — 1st trimester &amp; final month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288536" y="2670048"/>
            <a:ext cx="3611880" cy="3319272"/>
          </a:xfrm>
          <a:prstGeom prst="roundRect">
            <a:avLst>
              <a:gd name="adj" fmla="val 330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62856" y="2926080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308152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0096" y="29260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Acute Management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4581144" y="382219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3" name="Text 18"/>
          <p:cNvSpPr/>
          <p:nvPr/>
        </p:nvSpPr>
        <p:spPr>
          <a:xfrm>
            <a:off x="4818888" y="376732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cardioversion — safe at all stages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581144" y="455371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5" name="Text 20"/>
          <p:cNvSpPr/>
          <p:nvPr/>
        </p:nvSpPr>
        <p:spPr>
          <a:xfrm>
            <a:off x="4818888" y="449884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metoprolol — rate control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581144" y="52852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7" name="Text 22"/>
          <p:cNvSpPr/>
          <p:nvPr/>
        </p:nvSpPr>
        <p:spPr>
          <a:xfrm>
            <a:off x="4818888" y="523036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Flecainide or sotalol — conversion to sinus rhythm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074152" y="2670048"/>
            <a:ext cx="3611880" cy="3319272"/>
          </a:xfrm>
          <a:prstGeom prst="roundRect">
            <a:avLst>
              <a:gd name="adj" fmla="val 330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348472" y="2926080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3081528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25712" y="29260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Rhythm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8366760" y="382219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3" name="Text 27"/>
          <p:cNvSpPr/>
          <p:nvPr/>
        </p:nvSpPr>
        <p:spPr>
          <a:xfrm>
            <a:off x="8604504" y="376732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structural disease — flecainide, sotalol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8366760" y="455371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5" name="Text 29"/>
          <p:cNvSpPr/>
          <p:nvPr/>
        </p:nvSpPr>
        <p:spPr>
          <a:xfrm>
            <a:off x="8604504" y="449884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disease — amiodarone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8366760" y="52852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7" name="Text 31"/>
          <p:cNvSpPr/>
          <p:nvPr/>
        </p:nvSpPr>
        <p:spPr>
          <a:xfrm>
            <a:off x="8604504" y="523036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digoxin; beta-blocker only after 1st trimester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6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8321040" y="3291840"/>
            <a:ext cx="457200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685800"/>
            <a:ext cx="960120" cy="96012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905256"/>
            <a:ext cx="521208" cy="5212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713232" y="259689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60904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5786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 = irregularly irregular rhythm with absent P waves and a fibrillatory baseline.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713232" y="314553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09544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31272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commonest sustained arrhythmia — linked to hypertension, age and structural heart disease.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713232" y="369417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58184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36758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main danger is thromboembolic stroke — always assess stroke risk (CHA₂DS₂-VASc).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713232" y="424281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06824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8720" y="42245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Differentials: atrial flutter, multifocal atrial tachycardia, frequent PACs, SVT, pre-excited AF / VT.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713232" y="479145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855464"/>
            <a:ext cx="164592" cy="16459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188720" y="47731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with the ABC pathway: Anticoagulation, Better symptom control, Comorbidities.</a:t>
            </a:r>
            <a:endParaRPr lang="en-US" sz="1500" dirty="0"/>
          </a:p>
        </p:txBody>
      </p:sp>
      <p:sp>
        <p:nvSpPr>
          <p:cNvPr id="23" name="Shape 14"/>
          <p:cNvSpPr/>
          <p:nvPr/>
        </p:nvSpPr>
        <p:spPr>
          <a:xfrm>
            <a:off x="713232" y="534009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404104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188720" y="5321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pregnancy: LMWH is the anticoagulant of choice — avoid warfarin and DOACs.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4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092440" y="3063240"/>
            <a:ext cx="4754880" cy="4754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822960" y="-960120"/>
            <a:ext cx="4023360" cy="4023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11800" y="1234440"/>
            <a:ext cx="768096" cy="768096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1399032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2286000"/>
            <a:ext cx="112745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8" name="Text 3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200" dirty="0"/>
          </a:p>
        </p:txBody>
      </p:sp>
      <p:sp>
        <p:nvSpPr>
          <p:cNvPr id="9" name="Shape 4"/>
          <p:cNvSpPr/>
          <p:nvPr/>
        </p:nvSpPr>
        <p:spPr>
          <a:xfrm>
            <a:off x="3355848" y="5212080"/>
            <a:ext cx="1865376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 flipV="1">
            <a:off x="5221224" y="5065776"/>
            <a:ext cx="329184" cy="146304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550408" y="5065776"/>
            <a:ext cx="329184" cy="4572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 flipV="1">
            <a:off x="5879592" y="4709160"/>
            <a:ext cx="329184" cy="813816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208776" y="4709160"/>
            <a:ext cx="329184" cy="6858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 flipV="1">
            <a:off x="6537960" y="5212080"/>
            <a:ext cx="329184" cy="18288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867144" y="5212080"/>
            <a:ext cx="1975104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621128" y="5486400"/>
            <a:ext cx="6949440" cy="65836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621128" y="5486400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Mubashir Aziz</a:t>
            </a:r>
            <a:pPr algn="ctr" indent="0" marL="0"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Department of Cardiology · PEIC, Bahawalpur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2026-07-26T17:54:53Z</dcterms:created>
  <dcterms:modified xsi:type="dcterms:W3CDTF">2026-07-26T17:54:53Z</dcterms:modified>
</cp:coreProperties>
</file>