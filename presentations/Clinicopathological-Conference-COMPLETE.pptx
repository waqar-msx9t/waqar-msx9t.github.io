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png"/><Relationship Id="rId13" Type="http://schemas.openxmlformats.org/officeDocument/2006/relationships/image" Target="../media/image-28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image" Target="../media/image-42-6.png"/><Relationship Id="rId7" Type="http://schemas.openxmlformats.org/officeDocument/2006/relationships/image" Target="../media/image-42-7.png"/><Relationship Id="rId8" Type="http://schemas.openxmlformats.org/officeDocument/2006/relationships/image" Target="../media/image-4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12080" y="190195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039112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925312" y="19019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5925312" y="214884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 normal, no scar, no pulsations visible over the precordium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4937760" y="2651760"/>
            <a:ext cx="6766560" cy="1554480"/>
          </a:xfrm>
          <a:prstGeom prst="roundRect">
            <a:avLst>
              <a:gd name="adj" fmla="val 588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12080" y="281635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953512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925312" y="28529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394960" y="325526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1"/>
          <p:cNvSpPr/>
          <p:nvPr/>
        </p:nvSpPr>
        <p:spPr>
          <a:xfrm>
            <a:off x="5669280" y="318211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beat in 5th intercostal space, medial to midclavicular line — normal character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5394960" y="371246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9" name="Text 23"/>
          <p:cNvSpPr/>
          <p:nvPr/>
        </p:nvSpPr>
        <p:spPr>
          <a:xfrm>
            <a:off x="5669280" y="363931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thrill; no other palpable sounds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5394960" y="402336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1" name="Text 25"/>
          <p:cNvSpPr/>
          <p:nvPr/>
        </p:nvSpPr>
        <p:spPr>
          <a:xfrm>
            <a:off x="5669280" y="3950208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left parasternal heave</a:t>
            </a:r>
            <a:endParaRPr lang="en-US" sz="1250" dirty="0"/>
          </a:p>
        </p:txBody>
      </p:sp>
      <p:sp>
        <p:nvSpPr>
          <p:cNvPr id="32" name="Shape 26"/>
          <p:cNvSpPr/>
          <p:nvPr/>
        </p:nvSpPr>
        <p:spPr>
          <a:xfrm>
            <a:off x="4937760" y="4297680"/>
            <a:ext cx="6766560" cy="1691640"/>
          </a:xfrm>
          <a:prstGeom prst="roundRect">
            <a:avLst>
              <a:gd name="adj" fmla="val 540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5212080" y="446227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599432"/>
            <a:ext cx="274320" cy="27432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925312" y="449884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5394960" y="490118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0"/>
          <p:cNvSpPr/>
          <p:nvPr/>
        </p:nvSpPr>
        <p:spPr>
          <a:xfrm>
            <a:off x="5669280" y="482803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&amp; both components of 2nd heart sound audible at their respective areas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5394960" y="534009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9" name="Text 32"/>
          <p:cNvSpPr/>
          <p:nvPr/>
        </p:nvSpPr>
        <p:spPr>
          <a:xfrm>
            <a:off x="5669280" y="5266944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of variable intensity; both components of 2nd heart sound of normal intensity</a:t>
            </a:r>
            <a:endParaRPr lang="en-US" sz="1250" dirty="0"/>
          </a:p>
        </p:txBody>
      </p:sp>
      <p:sp>
        <p:nvSpPr>
          <p:cNvPr id="40" name="Shape 33"/>
          <p:cNvSpPr/>
          <p:nvPr/>
        </p:nvSpPr>
        <p:spPr>
          <a:xfrm>
            <a:off x="5394960" y="577900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1" name="Text 34"/>
          <p:cNvSpPr/>
          <p:nvPr/>
        </p:nvSpPr>
        <p:spPr>
          <a:xfrm>
            <a:off x="5669280" y="5705856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added sounds audible</a:t>
            </a:r>
            <a:endParaRPr lang="en-US" sz="1250" dirty="0"/>
          </a:p>
        </p:txBody>
      </p:sp>
      <p:sp>
        <p:nvSpPr>
          <p:cNvPr id="42" name="Text 3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43" name="Text 3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00507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005072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157216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57216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7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321040" y="-960120"/>
            <a:ext cx="4114800" cy="4114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046720" y="3749040"/>
            <a:ext cx="4663440" cy="46634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73152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41832"/>
            <a:ext cx="548640" cy="5486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288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8" name="Text 3"/>
          <p:cNvSpPr/>
          <p:nvPr/>
        </p:nvSpPr>
        <p:spPr>
          <a:xfrm>
            <a:off x="640080" y="17830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200" dirty="0"/>
          </a:p>
        </p:txBody>
      </p:sp>
      <p:sp>
        <p:nvSpPr>
          <p:cNvPr id="9" name="Text 4"/>
          <p:cNvSpPr/>
          <p:nvPr/>
        </p:nvSpPr>
        <p:spPr>
          <a:xfrm>
            <a:off x="685800" y="2697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cardiac emergency to safe discharge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1874520" y="4133088"/>
            <a:ext cx="8503920" cy="54864"/>
          </a:xfrm>
          <a:prstGeom prst="roundRect">
            <a:avLst>
              <a:gd name="adj" fmla="val 50000"/>
            </a:avLst>
          </a:prstGeom>
          <a:solidFill>
            <a:srgbClr val="FF4D6D">
              <a:alpha val="55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137160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344" y="3895344"/>
            <a:ext cx="530352" cy="5303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Admitted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864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emergency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420624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3895344"/>
            <a:ext cx="530352" cy="5303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38328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Treated</a:t>
            </a:r>
            <a:endParaRPr lang="en-US" sz="1900" dirty="0"/>
          </a:p>
        </p:txBody>
      </p:sp>
      <p:sp>
        <p:nvSpPr>
          <p:cNvPr id="18" name="Text 11"/>
          <p:cNvSpPr/>
          <p:nvPr/>
        </p:nvSpPr>
        <p:spPr>
          <a:xfrm>
            <a:off x="338328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medication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704088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4" y="3895344"/>
            <a:ext cx="530352" cy="5303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21792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621792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settled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987552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264" y="3895344"/>
            <a:ext cx="530352" cy="53035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5256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</a:t>
            </a:r>
            <a:endParaRPr lang="en-US" sz="1900" dirty="0"/>
          </a:p>
        </p:txBody>
      </p:sp>
      <p:sp>
        <p:nvSpPr>
          <p:cNvPr id="26" name="Text 17"/>
          <p:cNvSpPr/>
          <p:nvPr/>
        </p:nvSpPr>
        <p:spPr>
          <a:xfrm>
            <a:off x="905256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for follow-up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685800" y="5943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in context — Atrial Fibrillation</a:t>
            </a:r>
            <a:endParaRPr lang="en-US" sz="2000" dirty="0"/>
          </a:p>
        </p:txBody>
      </p:sp>
      <p:sp>
        <p:nvSpPr>
          <p:cNvPr id="28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MEDICAL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9456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95528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1" name="Text 7"/>
          <p:cNvSpPr/>
          <p:nvPr/>
        </p:nvSpPr>
        <p:spPr>
          <a:xfrm>
            <a:off x="1033272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33272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— metoprolol, bisoprolol, carvedilol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95528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1033272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CCB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033272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 (avoid in decompensated HF)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5528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033272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Adjunct or LV systolic dysfunction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95528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0" name="Text 16"/>
          <p:cNvSpPr/>
          <p:nvPr/>
        </p:nvSpPr>
        <p:spPr>
          <a:xfrm>
            <a:off x="1033272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33272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Resting HR &lt; 80 bpm (lenient &lt; 110)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288536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562856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194560"/>
            <a:ext cx="347472" cy="34747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340096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4581144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cardioversion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4818888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AF → immediate DCCV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81144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0" name="Text 25"/>
          <p:cNvSpPr/>
          <p:nvPr/>
        </p:nvSpPr>
        <p:spPr>
          <a:xfrm>
            <a:off x="4818888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structural disease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18888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Flecainide, propafenone, sotalol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581144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8"/>
          <p:cNvSpPr/>
          <p:nvPr/>
        </p:nvSpPr>
        <p:spPr>
          <a:xfrm>
            <a:off x="4818888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/ HF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4818888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Amiodarone, dofetilide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4581144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4818888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4818888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antiarrhythmic drugs fail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8074152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348472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194560"/>
            <a:ext cx="347472" cy="347472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9125712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800" dirty="0"/>
          </a:p>
        </p:txBody>
      </p:sp>
      <p:sp>
        <p:nvSpPr>
          <p:cNvPr id="42" name="Shape 36"/>
          <p:cNvSpPr/>
          <p:nvPr/>
        </p:nvSpPr>
        <p:spPr>
          <a:xfrm>
            <a:off x="8366760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3" name="Text 37"/>
          <p:cNvSpPr/>
          <p:nvPr/>
        </p:nvSpPr>
        <p:spPr>
          <a:xfrm>
            <a:off x="8604504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risk</a:t>
            </a:r>
            <a:endParaRPr lang="en-US" sz="1400" dirty="0"/>
          </a:p>
        </p:txBody>
      </p:sp>
      <p:sp>
        <p:nvSpPr>
          <p:cNvPr id="44" name="Text 38"/>
          <p:cNvSpPr/>
          <p:nvPr/>
        </p:nvSpPr>
        <p:spPr>
          <a:xfrm>
            <a:off x="8604504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CHA₂DS₂-VASc score</a:t>
            </a:r>
            <a:endParaRPr lang="en-US" sz="1150" dirty="0"/>
          </a:p>
        </p:txBody>
      </p:sp>
      <p:sp>
        <p:nvSpPr>
          <p:cNvPr id="45" name="Shape 39"/>
          <p:cNvSpPr/>
          <p:nvPr/>
        </p:nvSpPr>
        <p:spPr>
          <a:xfrm>
            <a:off x="8366760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6" name="Text 40"/>
          <p:cNvSpPr/>
          <p:nvPr/>
        </p:nvSpPr>
        <p:spPr>
          <a:xfrm>
            <a:off x="8604504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400" dirty="0"/>
          </a:p>
        </p:txBody>
      </p:sp>
      <p:sp>
        <p:nvSpPr>
          <p:cNvPr id="47" name="Text 41"/>
          <p:cNvSpPr/>
          <p:nvPr/>
        </p:nvSpPr>
        <p:spPr>
          <a:xfrm>
            <a:off x="8604504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8366760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9" name="Text 43"/>
          <p:cNvSpPr/>
          <p:nvPr/>
        </p:nvSpPr>
        <p:spPr>
          <a:xfrm>
            <a:off x="8604504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</a:t>
            </a:r>
            <a:endParaRPr lang="en-US" sz="1400" dirty="0"/>
          </a:p>
        </p:txBody>
      </p:sp>
      <p:sp>
        <p:nvSpPr>
          <p:cNvPr id="50" name="Text 44"/>
          <p:cNvSpPr/>
          <p:nvPr/>
        </p:nvSpPr>
        <p:spPr>
          <a:xfrm>
            <a:off x="8604504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Mitral stenosis / mechanical valve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836676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8604504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&gt; 48 h</a:t>
            </a:r>
            <a:endParaRPr lang="en-US" sz="1400" dirty="0"/>
          </a:p>
        </p:txBody>
      </p:sp>
      <p:sp>
        <p:nvSpPr>
          <p:cNvPr id="53" name="Text 47"/>
          <p:cNvSpPr/>
          <p:nvPr/>
        </p:nvSpPr>
        <p:spPr>
          <a:xfrm>
            <a:off x="8604504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or 3 weeks before cardioversion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55" name="Text 4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INTERVENTIONAL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295144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 (PVI)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ablates the triggering foci — first-line interventional rhythm 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99632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19672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2295144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79792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Maze (Cox-Maze IV)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565392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lesion lines block re-entry, usually with concomitant cardiac surgery — highest rhythm success.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2611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 Node Ablation + Pacemaker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68680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“Ablate &amp; pace” for refractory rate control; requires a permanent pacemaker.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99632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19672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261104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79792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 / Exclusion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565392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Watchman device or surgical clip prevents stroke when anticoagulation is unsuitable.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5669280"/>
            <a:ext cx="11183112" cy="502920"/>
          </a:xfrm>
          <a:prstGeom prst="roundRect">
            <a:avLst>
              <a:gd name="adj" fmla="val 18182"/>
            </a:avLst>
          </a:prstGeom>
          <a:solidFill>
            <a:srgbClr val="590D22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convergent ablation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catheter and minimally-invasive epicardial approaches for persistent AF.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2026-07-25T13:50:18Z</dcterms:created>
  <dcterms:modified xsi:type="dcterms:W3CDTF">2026-07-25T13:50:18Z</dcterms:modified>
</cp:coreProperties>
</file>