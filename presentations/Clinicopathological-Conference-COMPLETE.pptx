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image" Target="../media/image-3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image" Target="../media/image-42-6.png"/><Relationship Id="rId7" Type="http://schemas.openxmlformats.org/officeDocument/2006/relationships/image" Target="../media/image-42-7.png"/><Relationship Id="rId8" Type="http://schemas.openxmlformats.org/officeDocument/2006/relationships/image" Target="../media/image-4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ASSESSMENT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Examination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&amp; systemic examination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097987" y="4892040"/>
            <a:ext cx="1967789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97987" y="4892040"/>
            <a:ext cx="1967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294376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94376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167067" y="4892040"/>
            <a:ext cx="780898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67067" y="4892040"/>
            <a:ext cx="780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176565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Gastrointestinal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822960"/>
          </a:xfrm>
          <a:prstGeom prst="roundRect">
            <a:avLst>
              <a:gd name="adj" fmla="val 11111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12080" y="192024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057400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925312" y="1929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925312" y="218541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4937760" y="2715768"/>
            <a:ext cx="6766560" cy="822960"/>
          </a:xfrm>
          <a:prstGeom prst="roundRect">
            <a:avLst>
              <a:gd name="adj" fmla="val 11111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12080" y="2852928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990088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25312" y="286207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925312" y="3118104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</a:t>
            </a:r>
            <a:endParaRPr lang="en-US" sz="1700" dirty="0"/>
          </a:p>
        </p:txBody>
      </p:sp>
      <p:sp>
        <p:nvSpPr>
          <p:cNvPr id="27" name="Shape 21"/>
          <p:cNvSpPr/>
          <p:nvPr/>
        </p:nvSpPr>
        <p:spPr>
          <a:xfrm>
            <a:off x="4937760" y="3703320"/>
            <a:ext cx="6766560" cy="2286000"/>
          </a:xfrm>
          <a:prstGeom prst="roundRect">
            <a:avLst>
              <a:gd name="adj" fmla="val 4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12080" y="3941064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7528" y="4096512"/>
            <a:ext cx="292608" cy="29260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961888" y="40416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5394960" y="4718304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2" name="Text 25"/>
          <p:cNvSpPr/>
          <p:nvPr/>
        </p:nvSpPr>
        <p:spPr>
          <a:xfrm>
            <a:off x="5687568" y="4636008"/>
            <a:ext cx="5596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&amp; both components of 2nd heart sound audible at their respective areas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5394960" y="5175504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4" name="Text 27"/>
          <p:cNvSpPr/>
          <p:nvPr/>
        </p:nvSpPr>
        <p:spPr>
          <a:xfrm>
            <a:off x="5687568" y="5093208"/>
            <a:ext cx="5596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heart sound of variable intensity; both components of 2nd heart sound of normal intensity</a:t>
            </a:r>
            <a:endParaRPr lang="en-US" sz="1250" dirty="0"/>
          </a:p>
        </p:txBody>
      </p:sp>
      <p:sp>
        <p:nvSpPr>
          <p:cNvPr id="35" name="Shape 28"/>
          <p:cNvSpPr/>
          <p:nvPr/>
        </p:nvSpPr>
        <p:spPr>
          <a:xfrm>
            <a:off x="5394960" y="5632704"/>
            <a:ext cx="128016" cy="128016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29"/>
          <p:cNvSpPr/>
          <p:nvPr/>
        </p:nvSpPr>
        <p:spPr>
          <a:xfrm>
            <a:off x="5687568" y="5550408"/>
            <a:ext cx="5596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added sounds audible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1000"/>
          </a:blip>
          <a:stretch>
            <a:fillRect/>
          </a:stretch>
        </p:blipFill>
        <p:spPr>
          <a:xfrm>
            <a:off x="8046720" y="10515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78308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613355" y="163677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53512" y="163677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93669" y="128016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33826" y="128016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73982" y="178308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14139" y="178308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WORK-UP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21792" y="27432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6800" dirty="0"/>
          </a:p>
        </p:txBody>
      </p:sp>
      <p:sp>
        <p:nvSpPr>
          <p:cNvPr id="13" name="Text 10"/>
          <p:cNvSpPr/>
          <p:nvPr/>
        </p:nvSpPr>
        <p:spPr>
          <a:xfrm>
            <a:off x="685800" y="39776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Bedside, laboratory &amp; imaging findings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1644091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892040"/>
            <a:ext cx="16440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12-Lead ECG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2558491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558491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counts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39082" y="4892040"/>
            <a:ext cx="1751990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39082" y="4892040"/>
            <a:ext cx="17519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Biochemistry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19672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19672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screen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931859" y="4892040"/>
            <a:ext cx="2183587" cy="54864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31859" y="4892040"/>
            <a:ext cx="218358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Echocardiography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BIOCHEMISTRY &amp; ENDOCRINE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Additional Investigations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Chughtai Lab · 18-Dec-2025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783080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26280" y="17830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99516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9646920" y="1783080"/>
            <a:ext cx="1947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231343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2860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Magnesium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4526280" y="22860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mg/dL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95160" y="22860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– 2.6</a:t>
            </a:r>
            <a:endParaRPr lang="en-US" sz="13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2432304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9957816" y="228600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02920" y="2843784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85800" y="281635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Vitamin B12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4526280" y="28163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 pg/mL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6995160" y="281635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– 883</a:t>
            </a:r>
            <a:endParaRPr lang="en-US" sz="135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2962656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957816" y="2816352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502920" y="3374136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85800" y="3346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Potassium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26280" y="3346704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mmol/L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995160" y="334670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– 5.1</a:t>
            </a:r>
            <a:endParaRPr lang="en-US" sz="13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20" y="34930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9957816" y="3346704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502920" y="3904488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85800" y="387705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T3</a:t>
            </a:r>
            <a:endParaRPr lang="en-US" sz="1450" dirty="0"/>
          </a:p>
        </p:txBody>
      </p:sp>
      <p:sp>
        <p:nvSpPr>
          <p:cNvPr id="32" name="Text 26"/>
          <p:cNvSpPr/>
          <p:nvPr/>
        </p:nvSpPr>
        <p:spPr>
          <a:xfrm>
            <a:off x="4526280" y="3877056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73.85 ng/dL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6995160" y="38770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– 204</a:t>
            </a:r>
            <a:endParaRPr lang="en-US" sz="1350" dirty="0"/>
          </a:p>
        </p:txBody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402336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957816" y="3877056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502920" y="4434840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0F3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85800" y="440740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Serum Total T4</a:t>
            </a:r>
            <a:endParaRPr lang="en-US" sz="1450" dirty="0"/>
          </a:p>
        </p:txBody>
      </p:sp>
      <p:sp>
        <p:nvSpPr>
          <p:cNvPr id="38" name="Text 31"/>
          <p:cNvSpPr/>
          <p:nvPr/>
        </p:nvSpPr>
        <p:spPr>
          <a:xfrm>
            <a:off x="4526280" y="44074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7.99 µg/dL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6995160" y="440740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 – 11</a:t>
            </a:r>
            <a:endParaRPr lang="en-US" sz="1350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4553712"/>
            <a:ext cx="237744" cy="237744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9957816" y="4407408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2" name="Shape 34"/>
          <p:cNvSpPr/>
          <p:nvPr/>
        </p:nvSpPr>
        <p:spPr>
          <a:xfrm>
            <a:off x="502920" y="4965192"/>
            <a:ext cx="11183112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FBD8DF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85800" y="493776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HbA1c (Glycated Hb)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45262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5.1 %</a:t>
            </a:r>
            <a:endParaRPr lang="en-US" sz="1400" dirty="0"/>
          </a:p>
        </p:txBody>
      </p:sp>
      <p:sp>
        <p:nvSpPr>
          <p:cNvPr id="45" name="Text 37"/>
          <p:cNvSpPr/>
          <p:nvPr/>
        </p:nvSpPr>
        <p:spPr>
          <a:xfrm>
            <a:off x="699516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5.7</a:t>
            </a:r>
            <a:endParaRPr lang="en-US" sz="1350" dirty="0"/>
          </a:p>
        </p:txBody>
      </p:sp>
      <p:pic>
        <p:nvPicPr>
          <p:cNvPr id="4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5084064"/>
            <a:ext cx="237744" cy="237744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9957816" y="4937760"/>
            <a:ext cx="1673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300" dirty="0"/>
          </a:p>
        </p:txBody>
      </p:sp>
      <p:sp>
        <p:nvSpPr>
          <p:cNvPr id="48" name="Shape 39"/>
          <p:cNvSpPr/>
          <p:nvPr/>
        </p:nvSpPr>
        <p:spPr>
          <a:xfrm>
            <a:off x="502920" y="5541264"/>
            <a:ext cx="11183112" cy="566928"/>
          </a:xfrm>
          <a:prstGeom prst="roundRect">
            <a:avLst>
              <a:gd name="adj" fmla="val 1612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40"/>
          <p:cNvSpPr/>
          <p:nvPr/>
        </p:nvSpPr>
        <p:spPr>
          <a:xfrm>
            <a:off x="868680" y="5541264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thyroid function, electrolytes, magnesium, B12 and HbA1c — no thyrotoxic or metabolic trigger for AF.</a:t>
            </a:r>
            <a:endParaRPr lang="en-US" sz="1350" dirty="0"/>
          </a:p>
        </p:txBody>
      </p:sp>
      <p:sp>
        <p:nvSpPr>
          <p:cNvPr id="50" name="Text 4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1" name="Text 42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4813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 — each excluded on ECG grounds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1874520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4825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12140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1874520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40680" y="2020824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0" y="1874520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interval is irregular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2688336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77240" y="286207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293522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71600" y="2688336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5440680" y="2834640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5669280" y="2688336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 present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02920" y="3502152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67588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3749040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502152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700" dirty="0"/>
          </a:p>
        </p:txBody>
      </p:sp>
      <p:sp>
        <p:nvSpPr>
          <p:cNvPr id="23" name="Shape 17"/>
          <p:cNvSpPr/>
          <p:nvPr/>
        </p:nvSpPr>
        <p:spPr>
          <a:xfrm>
            <a:off x="5440680" y="3648456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669280" y="3502152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preceding each QRS complex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02920" y="4315968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48970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4562856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71600" y="4315968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700" dirty="0"/>
          </a:p>
        </p:txBody>
      </p:sp>
      <p:sp>
        <p:nvSpPr>
          <p:cNvPr id="29" name="Shape 22"/>
          <p:cNvSpPr/>
          <p:nvPr/>
        </p:nvSpPr>
        <p:spPr>
          <a:xfrm>
            <a:off x="5440680" y="4462272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3"/>
          <p:cNvSpPr/>
          <p:nvPr/>
        </p:nvSpPr>
        <p:spPr>
          <a:xfrm>
            <a:off x="5669280" y="4315968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Paroxysmal SVT is regular — here the rhythm is irregular</a:t>
            </a:r>
            <a:endParaRPr lang="en-US" sz="1400" dirty="0"/>
          </a:p>
        </p:txBody>
      </p:sp>
      <p:sp>
        <p:nvSpPr>
          <p:cNvPr id="31" name="Shape 24"/>
          <p:cNvSpPr/>
          <p:nvPr/>
        </p:nvSpPr>
        <p:spPr>
          <a:xfrm>
            <a:off x="502920" y="5129784"/>
            <a:ext cx="11183112" cy="731520"/>
          </a:xfrm>
          <a:prstGeom prst="roundRect">
            <a:avLst>
              <a:gd name="adj" fmla="val 125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777240" y="530352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" y="5376672"/>
            <a:ext cx="237744" cy="237744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371600" y="5129784"/>
            <a:ext cx="3977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700" dirty="0"/>
          </a:p>
        </p:txBody>
      </p:sp>
      <p:sp>
        <p:nvSpPr>
          <p:cNvPr id="35" name="Shape 27"/>
          <p:cNvSpPr/>
          <p:nvPr/>
        </p:nvSpPr>
        <p:spPr>
          <a:xfrm>
            <a:off x="5440680" y="5276088"/>
            <a:ext cx="0" cy="438912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28"/>
          <p:cNvSpPr/>
          <p:nvPr/>
        </p:nvSpPr>
        <p:spPr>
          <a:xfrm>
            <a:off x="5669280" y="5129784"/>
            <a:ext cx="5806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rhythm is irregularly irregular</a:t>
            </a:r>
            <a:endParaRPr lang="en-US" sz="1400" dirty="0"/>
          </a:p>
        </p:txBody>
      </p:sp>
      <p:sp>
        <p:nvSpPr>
          <p:cNvPr id="37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138160" y="320040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78308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4400" dirty="0"/>
          </a:p>
        </p:txBody>
      </p:sp>
      <p:sp>
        <p:nvSpPr>
          <p:cNvPr id="8" name="Shape 4"/>
          <p:cNvSpPr/>
          <p:nvPr/>
        </p:nvSpPr>
        <p:spPr>
          <a:xfrm>
            <a:off x="68580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94183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005072"/>
            <a:ext cx="219456" cy="2194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55448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Confirmed on 12-lead ECG</a:t>
            </a:r>
            <a:endParaRPr lang="en-US" sz="1800" dirty="0"/>
          </a:p>
        </p:txBody>
      </p:sp>
      <p:sp>
        <p:nvSpPr>
          <p:cNvPr id="12" name="Text 7"/>
          <p:cNvSpPr/>
          <p:nvPr/>
        </p:nvSpPr>
        <p:spPr>
          <a:xfrm>
            <a:off x="155448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bpm · irregularly irregular · no P waves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63640" y="3611880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19672" y="3895344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005072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7132320" y="37947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Structurally normal heart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7132320" y="4160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 65% · no clot in LA or LV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8580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94183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57216"/>
            <a:ext cx="219456" cy="21945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55448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 hypertension</a:t>
            </a:r>
            <a:endParaRPr lang="en-US" sz="1800" dirty="0"/>
          </a:p>
        </p:txBody>
      </p:sp>
      <p:sp>
        <p:nvSpPr>
          <p:cNvPr id="22" name="Text 15"/>
          <p:cNvSpPr/>
          <p:nvPr/>
        </p:nvSpPr>
        <p:spPr>
          <a:xfrm>
            <a:off x="155448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comorbidity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263640" y="4764024"/>
            <a:ext cx="5394960" cy="1005840"/>
          </a:xfrm>
          <a:prstGeom prst="roundRect">
            <a:avLst>
              <a:gd name="adj" fmla="val 10909"/>
            </a:avLst>
          </a:prstGeom>
          <a:solidFill>
            <a:srgbClr val="FFFFFF">
              <a:alpha val="9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519672" y="5047488"/>
            <a:ext cx="438912" cy="438912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157216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9469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Mild normocytic anaemia</a:t>
            </a:r>
            <a:endParaRPr lang="en-US" sz="1800" dirty="0"/>
          </a:p>
        </p:txBody>
      </p:sp>
      <p:sp>
        <p:nvSpPr>
          <p:cNvPr id="27" name="Text 19"/>
          <p:cNvSpPr/>
          <p:nvPr/>
        </p:nvSpPr>
        <p:spPr>
          <a:xfrm>
            <a:off x="7132320" y="5312664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Incidental haematology finding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8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7000"/>
          </a:blip>
          <a:stretch>
            <a:fillRect/>
          </a:stretch>
        </p:blipFill>
        <p:spPr>
          <a:xfrm>
            <a:off x="8321040" y="-960120"/>
            <a:ext cx="4114800" cy="41148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8046720" y="3749040"/>
            <a:ext cx="4663440" cy="46634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73152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941832"/>
            <a:ext cx="548640" cy="54864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8288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8" name="Text 3"/>
          <p:cNvSpPr/>
          <p:nvPr/>
        </p:nvSpPr>
        <p:spPr>
          <a:xfrm>
            <a:off x="640080" y="178308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200" dirty="0"/>
          </a:p>
        </p:txBody>
      </p:sp>
      <p:sp>
        <p:nvSpPr>
          <p:cNvPr id="9" name="Text 4"/>
          <p:cNvSpPr/>
          <p:nvPr/>
        </p:nvSpPr>
        <p:spPr>
          <a:xfrm>
            <a:off x="685800" y="2697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cardiac emergency to safe discharge</a:t>
            </a:r>
            <a:endParaRPr lang="en-US" sz="1600" dirty="0"/>
          </a:p>
        </p:txBody>
      </p:sp>
      <p:sp>
        <p:nvSpPr>
          <p:cNvPr id="10" name="Shape 5"/>
          <p:cNvSpPr/>
          <p:nvPr/>
        </p:nvSpPr>
        <p:spPr>
          <a:xfrm>
            <a:off x="1874520" y="4133088"/>
            <a:ext cx="8503920" cy="54864"/>
          </a:xfrm>
          <a:prstGeom prst="roundRect">
            <a:avLst>
              <a:gd name="adj" fmla="val 50000"/>
            </a:avLst>
          </a:prstGeom>
          <a:solidFill>
            <a:srgbClr val="FF4D6D">
              <a:alpha val="55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137160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9344" y="3895344"/>
            <a:ext cx="530352" cy="53035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Admitted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864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emergency</a:t>
            </a:r>
            <a:endParaRPr lang="en-US" sz="1250" dirty="0"/>
          </a:p>
        </p:txBody>
      </p:sp>
      <p:sp>
        <p:nvSpPr>
          <p:cNvPr id="15" name="Shape 9"/>
          <p:cNvSpPr/>
          <p:nvPr/>
        </p:nvSpPr>
        <p:spPr>
          <a:xfrm>
            <a:off x="420624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3895344"/>
            <a:ext cx="530352" cy="53035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338328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Treated</a:t>
            </a:r>
            <a:endParaRPr lang="en-US" sz="1900" dirty="0"/>
          </a:p>
        </p:txBody>
      </p:sp>
      <p:sp>
        <p:nvSpPr>
          <p:cNvPr id="18" name="Text 11"/>
          <p:cNvSpPr/>
          <p:nvPr/>
        </p:nvSpPr>
        <p:spPr>
          <a:xfrm>
            <a:off x="338328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medication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704088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8624" y="3895344"/>
            <a:ext cx="530352" cy="53035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21792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</a:t>
            </a:r>
            <a:endParaRPr lang="en-US" sz="1900" dirty="0"/>
          </a:p>
        </p:txBody>
      </p:sp>
      <p:sp>
        <p:nvSpPr>
          <p:cNvPr id="22" name="Text 14"/>
          <p:cNvSpPr/>
          <p:nvPr/>
        </p:nvSpPr>
        <p:spPr>
          <a:xfrm>
            <a:off x="621792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settled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9875520" y="3657600"/>
            <a:ext cx="1005840" cy="1005840"/>
          </a:xfrm>
          <a:prstGeom prst="ellipse">
            <a:avLst/>
          </a:prstGeom>
          <a:solidFill>
            <a:srgbClr val="A4133C"/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13264" y="3895344"/>
            <a:ext cx="530352" cy="53035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52560" y="48188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</a:t>
            </a:r>
            <a:endParaRPr lang="en-US" sz="1900" dirty="0"/>
          </a:p>
        </p:txBody>
      </p:sp>
      <p:sp>
        <p:nvSpPr>
          <p:cNvPr id="26" name="Text 17"/>
          <p:cNvSpPr/>
          <p:nvPr/>
        </p:nvSpPr>
        <p:spPr>
          <a:xfrm>
            <a:off x="9052560" y="514807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for follow-up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685800" y="5943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 in context — Atrial Fibrillation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 · Atrial Fibrillation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MEDICAL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194560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795528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1" name="Text 7"/>
          <p:cNvSpPr/>
          <p:nvPr/>
        </p:nvSpPr>
        <p:spPr>
          <a:xfrm>
            <a:off x="1033272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33272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— metoprolol, bisoprolol, carvedilol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95528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4" name="Text 10"/>
          <p:cNvSpPr/>
          <p:nvPr/>
        </p:nvSpPr>
        <p:spPr>
          <a:xfrm>
            <a:off x="1033272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CCB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033272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 (avoid in decompensated HF)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5528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17" name="Text 13"/>
          <p:cNvSpPr/>
          <p:nvPr/>
        </p:nvSpPr>
        <p:spPr>
          <a:xfrm>
            <a:off x="1033272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1033272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Adjunct or LV systolic dysfunction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795528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0" name="Text 16"/>
          <p:cNvSpPr/>
          <p:nvPr/>
        </p:nvSpPr>
        <p:spPr>
          <a:xfrm>
            <a:off x="1033272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1033272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Resting HR &lt; 80 bpm (lenient &lt; 110)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288536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562856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8304" y="2194560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340096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581144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27" name="Text 22"/>
          <p:cNvSpPr/>
          <p:nvPr/>
        </p:nvSpPr>
        <p:spPr>
          <a:xfrm>
            <a:off x="4818888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cardioversion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4818888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AF → immediate DCCV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4581144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0" name="Text 25"/>
          <p:cNvSpPr/>
          <p:nvPr/>
        </p:nvSpPr>
        <p:spPr>
          <a:xfrm>
            <a:off x="4818888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structural disease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4818888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Flecainide, propafenone, sotalol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581144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3" name="Text 28"/>
          <p:cNvSpPr/>
          <p:nvPr/>
        </p:nvSpPr>
        <p:spPr>
          <a:xfrm>
            <a:off x="4818888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/ HF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4818888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Amiodarone, dofetilide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4581144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36" name="Text 31"/>
          <p:cNvSpPr/>
          <p:nvPr/>
        </p:nvSpPr>
        <p:spPr>
          <a:xfrm>
            <a:off x="4818888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</a:t>
            </a:r>
            <a:endParaRPr lang="en-US" sz="1400" dirty="0"/>
          </a:p>
        </p:txBody>
      </p:sp>
      <p:sp>
        <p:nvSpPr>
          <p:cNvPr id="37" name="Text 32"/>
          <p:cNvSpPr/>
          <p:nvPr/>
        </p:nvSpPr>
        <p:spPr>
          <a:xfrm>
            <a:off x="4818888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antiarrhythmic drugs fail</a:t>
            </a:r>
            <a:endParaRPr lang="en-US" sz="1150" dirty="0"/>
          </a:p>
        </p:txBody>
      </p:sp>
      <p:sp>
        <p:nvSpPr>
          <p:cNvPr id="38" name="Shape 33"/>
          <p:cNvSpPr/>
          <p:nvPr/>
        </p:nvSpPr>
        <p:spPr>
          <a:xfrm>
            <a:off x="8074152" y="1783080"/>
            <a:ext cx="3611880" cy="420624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348472" y="2039112"/>
            <a:ext cx="658368" cy="65836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194560"/>
            <a:ext cx="347472" cy="347472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125712" y="203911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1800" dirty="0"/>
          </a:p>
        </p:txBody>
      </p:sp>
      <p:sp>
        <p:nvSpPr>
          <p:cNvPr id="42" name="Shape 36"/>
          <p:cNvSpPr/>
          <p:nvPr/>
        </p:nvSpPr>
        <p:spPr>
          <a:xfrm>
            <a:off x="8366760" y="2935224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3" name="Text 37"/>
          <p:cNvSpPr/>
          <p:nvPr/>
        </p:nvSpPr>
        <p:spPr>
          <a:xfrm>
            <a:off x="8604504" y="2880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risk</a:t>
            </a:r>
            <a:endParaRPr lang="en-US" sz="1400" dirty="0"/>
          </a:p>
        </p:txBody>
      </p:sp>
      <p:sp>
        <p:nvSpPr>
          <p:cNvPr id="44" name="Text 38"/>
          <p:cNvSpPr/>
          <p:nvPr/>
        </p:nvSpPr>
        <p:spPr>
          <a:xfrm>
            <a:off x="8604504" y="3154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CHA₂DS₂-VASc score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366760" y="3685032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6" name="Text 40"/>
          <p:cNvSpPr/>
          <p:nvPr/>
        </p:nvSpPr>
        <p:spPr>
          <a:xfrm>
            <a:off x="8604504" y="36301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400" dirty="0"/>
          </a:p>
        </p:txBody>
      </p:sp>
      <p:sp>
        <p:nvSpPr>
          <p:cNvPr id="47" name="Text 41"/>
          <p:cNvSpPr/>
          <p:nvPr/>
        </p:nvSpPr>
        <p:spPr>
          <a:xfrm>
            <a:off x="8604504" y="39044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8366760" y="4434840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49" name="Text 43"/>
          <p:cNvSpPr/>
          <p:nvPr/>
        </p:nvSpPr>
        <p:spPr>
          <a:xfrm>
            <a:off x="8604504" y="437997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</a:t>
            </a:r>
            <a:endParaRPr lang="en-US" sz="1400" dirty="0"/>
          </a:p>
        </p:txBody>
      </p:sp>
      <p:sp>
        <p:nvSpPr>
          <p:cNvPr id="50" name="Text 44"/>
          <p:cNvSpPr/>
          <p:nvPr/>
        </p:nvSpPr>
        <p:spPr>
          <a:xfrm>
            <a:off x="8604504" y="465429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Mitral stenosis / mechanical valve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8366760" y="5184648"/>
            <a:ext cx="118872" cy="118872"/>
          </a:xfrm>
          <a:prstGeom prst="ellipse">
            <a:avLst/>
          </a:prstGeom>
          <a:solidFill>
            <a:srgbClr val="FF4D6D"/>
          </a:solidFill>
          <a:ln/>
        </p:spPr>
      </p:sp>
      <p:sp>
        <p:nvSpPr>
          <p:cNvPr id="52" name="Text 46"/>
          <p:cNvSpPr/>
          <p:nvPr/>
        </p:nvSpPr>
        <p:spPr>
          <a:xfrm>
            <a:off x="8604504" y="5129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 &gt; 48 h</a:t>
            </a:r>
            <a:endParaRPr lang="en-US" sz="1400" dirty="0"/>
          </a:p>
        </p:txBody>
      </p:sp>
      <p:sp>
        <p:nvSpPr>
          <p:cNvPr id="53" name="Text 47"/>
          <p:cNvSpPr/>
          <p:nvPr/>
        </p:nvSpPr>
        <p:spPr>
          <a:xfrm>
            <a:off x="8604504" y="540410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 or 3 weeks before cardioversion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55" name="Text 4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· INTERVENTIONAL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Treatment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295144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 (PVI)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68680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ablates the triggering foci — first-line interventional rhythm control.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99632" y="182880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519672" y="210312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2295144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479792" y="208483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 Maze (Cox-Maze IV)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6565392" y="294436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lesion lines block re-entry, usually with concomitant cardiac surgery — highest rhythm success.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2960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261104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783080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 Node Ablation + Pacemaker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868680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“Ablate &amp; pace” for refractory rate control; requires a permanent pacemaker.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99632" y="3794760"/>
            <a:ext cx="5486400" cy="1783080"/>
          </a:xfrm>
          <a:prstGeom prst="roundRect">
            <a:avLst>
              <a:gd name="adj" fmla="val 615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519672" y="4069080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696" y="4261104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479792" y="405079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 / Exclusion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6565392" y="4910328"/>
            <a:ext cx="4754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Watchman device or surgical clip prevents stroke when anticoagulation is unsuitable.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5669280"/>
            <a:ext cx="11183112" cy="502920"/>
          </a:xfrm>
          <a:prstGeom prst="roundRect">
            <a:avLst>
              <a:gd name="adj" fmla="val 18182"/>
            </a:avLst>
          </a:prstGeom>
          <a:solidFill>
            <a:srgbClr val="590D22"/>
          </a:solidFill>
          <a:ln/>
        </p:spPr>
      </p:sp>
      <p:sp>
        <p:nvSpPr>
          <p:cNvPr id="27" name="Text 20"/>
          <p:cNvSpPr/>
          <p:nvPr/>
        </p:nvSpPr>
        <p:spPr>
          <a:xfrm>
            <a:off x="868680" y="566928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/ convergent ablation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catheter and minimally-invasive epicardial approaches for persistent AF.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2026-07-25T09:36:35Z</dcterms:created>
  <dcterms:modified xsi:type="dcterms:W3CDTF">2026-07-25T09:36:35Z</dcterms:modified>
</cp:coreProperties>
</file>