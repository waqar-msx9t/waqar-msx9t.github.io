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image" Target="../media/image-28-10.png"/><Relationship Id="rId11" Type="http://schemas.openxmlformats.org/officeDocument/2006/relationships/image" Target="../media/image-28-11.png"/><Relationship Id="rId12" Type="http://schemas.openxmlformats.org/officeDocument/2006/relationships/image" Target="../media/image-28-12.png"/><Relationship Id="rId13" Type="http://schemas.openxmlformats.org/officeDocument/2006/relationships/image" Target="../media/image-28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image" Target="../media/image-29-7.png"/><Relationship Id="rId8" Type="http://schemas.openxmlformats.org/officeDocument/2006/relationships/image" Target="../media/image-29-8.png"/><Relationship Id="rId9" Type="http://schemas.openxmlformats.org/officeDocument/2006/relationships/image" Target="../media/image-29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image" Target="../media/image-3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image" Target="../media/image-3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image" Target="../media/image-4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image" Target="../media/image-4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image" Target="../media/image-43-4.png"/><Relationship Id="rId5" Type="http://schemas.openxmlformats.org/officeDocument/2006/relationships/image" Target="../media/image-43-5.png"/><Relationship Id="rId6" Type="http://schemas.openxmlformats.org/officeDocument/2006/relationships/image" Target="../media/image-43-6.png"/><Relationship Id="rId7" Type="http://schemas.openxmlformats.org/officeDocument/2006/relationships/image" Target="../media/image-43-7.png"/><Relationship Id="rId8" Type="http://schemas.openxmlformats.org/officeDocument/2006/relationships/image" Target="../media/image-4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589520" y="105156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3444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567635" y="108813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07792" y="108813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47949" y="73152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88106" y="73152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28262" y="123444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68419" y="123444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17373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CARDIOLOGY  ·  PEIC, BAHAWALPUR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21792" y="214884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Clinicopathological</a:t>
            </a:r>
            <a:endParaRPr lang="en-US" sz="60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Conference</a:t>
            </a:r>
            <a:endParaRPr lang="en-US" sz="6000" dirty="0"/>
          </a:p>
        </p:txBody>
      </p:sp>
      <p:sp>
        <p:nvSpPr>
          <p:cNvPr id="13" name="Text 10"/>
          <p:cNvSpPr/>
          <p:nvPr/>
        </p:nvSpPr>
        <p:spPr>
          <a:xfrm>
            <a:off x="685800" y="422452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case-based clinical discussion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5394960" cy="1280160"/>
          </a:xfrm>
          <a:prstGeom prst="roundRect">
            <a:avLst>
              <a:gd name="adj" fmla="val 857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32688" y="5166360"/>
            <a:ext cx="749808" cy="7498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5312664"/>
            <a:ext cx="448056" cy="4480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901952" y="5029200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 Mubashir Aziz
</a:t>
            </a:r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PGR Cardiology  ·  PEIC, BWP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PROFILE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Biodata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3931920" cy="4297680"/>
          </a:xfrm>
          <a:prstGeom prst="roundRect">
            <a:avLst>
              <a:gd name="adj" fmla="val 3256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737360" y="2286000"/>
            <a:ext cx="1463040" cy="146304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832" y="2633472"/>
            <a:ext cx="768096" cy="7680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886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Shazia Bibi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640080" y="43708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w/o Nicholan George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1234440" y="507492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2073859" y="492861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221992" y="492861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370125" y="457200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518258" y="457200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flipV="1">
            <a:off x="2666390" y="507492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814523" y="507492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709160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965192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2240280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760720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5760720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 years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8485632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741664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7968" y="224028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537192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9537192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Female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4709160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965192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1496" y="3794760"/>
            <a:ext cx="365760" cy="36576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760720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5760720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Bahawalpur</a:t>
            </a:r>
            <a:endParaRPr lang="en-US" sz="2000" dirty="0"/>
          </a:p>
        </p:txBody>
      </p:sp>
      <p:sp>
        <p:nvSpPr>
          <p:cNvPr id="33" name="Shape 26"/>
          <p:cNvSpPr/>
          <p:nvPr/>
        </p:nvSpPr>
        <p:spPr>
          <a:xfrm>
            <a:off x="8485632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8741664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7968" y="3794760"/>
            <a:ext cx="365760" cy="36576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537192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</a:t>
            </a:r>
            <a:endParaRPr lang="en-US" sz="1100" dirty="0"/>
          </a:p>
        </p:txBody>
      </p:sp>
      <p:sp>
        <p:nvSpPr>
          <p:cNvPr id="37" name="Text 29"/>
          <p:cNvSpPr/>
          <p:nvPr/>
        </p:nvSpPr>
        <p:spPr>
          <a:xfrm>
            <a:off x="9537192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Nurse</a:t>
            </a:r>
            <a:endParaRPr lang="en-US" sz="2000" dirty="0"/>
          </a:p>
        </p:txBody>
      </p:sp>
      <p:sp>
        <p:nvSpPr>
          <p:cNvPr id="38" name="Text 3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9" name="Text 3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229600" y="914400"/>
            <a:ext cx="493776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3716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58191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1572768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COMPLAINT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640080" y="26517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7600" dirty="0"/>
          </a:p>
        </p:txBody>
      </p:sp>
      <p:sp>
        <p:nvSpPr>
          <p:cNvPr id="8" name="Text 4"/>
          <p:cNvSpPr/>
          <p:nvPr/>
        </p:nvSpPr>
        <p:spPr>
          <a:xfrm>
            <a:off x="685800" y="38862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</a:t>
            </a:r>
            <a:pPr algn="l" indent="0" marL="0">
              <a:buNone/>
            </a:pPr>
            <a:r>
              <a:rPr lang="en-US" sz="4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hours</a:t>
            </a:r>
            <a:endParaRPr lang="en-US" sz="4600" dirty="0"/>
          </a:p>
        </p:txBody>
      </p:sp>
      <p:sp>
        <p:nvSpPr>
          <p:cNvPr id="9" name="Shape 5"/>
          <p:cNvSpPr/>
          <p:nvPr/>
        </p:nvSpPr>
        <p:spPr>
          <a:xfrm>
            <a:off x="731520" y="5349240"/>
            <a:ext cx="2020824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V="1">
            <a:off x="2752344" y="5202936"/>
            <a:ext cx="356616" cy="146304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108960" y="5202936"/>
            <a:ext cx="356616" cy="4572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3465576" y="4846320"/>
            <a:ext cx="356616" cy="813816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822192" y="4846320"/>
            <a:ext cx="356616" cy="6858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4178808" y="5349240"/>
            <a:ext cx="356616" cy="18288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35424" y="5349240"/>
            <a:ext cx="2139696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31520" y="5532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onset  ·  sensation of racing heart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PRESENT ILLNESS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Story So Far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989320" cy="4297680"/>
          </a:xfrm>
          <a:prstGeom prst="roundRect">
            <a:avLst>
              <a:gd name="adj" fmla="val 255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10312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46-year-old female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previously in her usual state of health, developed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sudden-onset palpitations 4 hours ago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sensation that her heart was racing.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822960" y="3639312"/>
            <a:ext cx="5349240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84048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prior identical episodes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required admission to the cardiac emergency and settled after IV medication. She was told her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rhythm is irregular.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6720840" y="1783080"/>
            <a:ext cx="4983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995160" y="19842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ASSOCIATED SYMPTOMS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9516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725119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2807208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92784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932688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7" name="Shape 13"/>
          <p:cNvSpPr/>
          <p:nvPr/>
        </p:nvSpPr>
        <p:spPr>
          <a:xfrm>
            <a:off x="958291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28" y="280720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25956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6720840" y="4023360"/>
            <a:ext cx="4983480" cy="2057400"/>
          </a:xfrm>
          <a:prstGeom prst="roundRect">
            <a:avLst>
              <a:gd name="adj" fmla="val 444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6995160" y="4224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 </a:t>
            </a:r>
            <a:pPr algn="l" indent="0" marL="0">
              <a:buNone/>
            </a:pPr>
            <a:r>
              <a:rPr lang="en-US" sz="12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PERTINENT NEGATIVES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7040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pain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9326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Shortness of breath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7040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Syncope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9326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loss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7040880" y="55412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Tremor</a:t>
            </a:r>
            <a:endParaRPr lang="en-US" sz="1350" dirty="0"/>
          </a:p>
        </p:txBody>
      </p:sp>
      <p:sp>
        <p:nvSpPr>
          <p:cNvPr id="27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Drug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Medications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57800" y="208483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2267712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17920" y="203911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Vadil</a:t>
            </a:r>
            <a:endParaRPr lang="en-US" sz="2400" dirty="0"/>
          </a:p>
        </p:txBody>
      </p:sp>
      <p:sp>
        <p:nvSpPr>
          <p:cNvPr id="21" name="Text 16"/>
          <p:cNvSpPr/>
          <p:nvPr/>
        </p:nvSpPr>
        <p:spPr>
          <a:xfrm>
            <a:off x="6217920" y="25328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/ rhythm control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4937760" y="329184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57800" y="359359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3776472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217920" y="354787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Rivaroxaban</a:t>
            </a:r>
            <a:endParaRPr lang="en-US" sz="2400" dirty="0"/>
          </a:p>
        </p:txBody>
      </p:sp>
      <p:sp>
        <p:nvSpPr>
          <p:cNvPr id="26" name="Text 20"/>
          <p:cNvSpPr/>
          <p:nvPr/>
        </p:nvSpPr>
        <p:spPr>
          <a:xfrm>
            <a:off x="6217920" y="40416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Oral anticoagulation</a:t>
            </a:r>
            <a:endParaRPr lang="en-US" sz="1450" dirty="0"/>
          </a:p>
        </p:txBody>
      </p:sp>
      <p:sp>
        <p:nvSpPr>
          <p:cNvPr id="27" name="Shape 21"/>
          <p:cNvSpPr/>
          <p:nvPr/>
        </p:nvSpPr>
        <p:spPr>
          <a:xfrm>
            <a:off x="4937760" y="4800600"/>
            <a:ext cx="6766560" cy="1188720"/>
          </a:xfrm>
          <a:prstGeom prst="roundRect">
            <a:avLst>
              <a:gd name="adj" fmla="val 7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5394960" y="4800600"/>
            <a:ext cx="5852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 </a:t>
            </a:r>
            <a:pPr algn="l" indent="0" marL="0">
              <a:buNone/>
            </a:pPr>
            <a:r>
              <a:rPr lang="en-US" sz="16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 with stroke-risk protection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COMORBIDITY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Hypertension</a:t>
            </a:r>
            <a:endParaRPr lang="en-US" sz="4400" dirty="0"/>
          </a:p>
        </p:txBody>
      </p:sp>
      <p:sp>
        <p:nvSpPr>
          <p:cNvPr id="20" name="Text 16"/>
          <p:cNvSpPr/>
          <p:nvPr/>
        </p:nvSpPr>
        <p:spPr>
          <a:xfrm>
            <a:off x="5458968" y="361188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oral antihypertensive medication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40680" y="4572000"/>
            <a:ext cx="214884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572000"/>
            <a:ext cx="2148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HTN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 Surgical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operative history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REPORTED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&amp; FAMILY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 Context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6766560" cy="4114800"/>
          </a:xfrm>
          <a:prstGeom prst="roundRect">
            <a:avLst>
              <a:gd name="adj" fmla="val 2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24028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423160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920240" y="233172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Socioeconomic History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8686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3557016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7373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7373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 by profession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40690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816" y="3557016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9377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MARITAL STATUS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49377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Married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8686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4764024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7373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1100" dirty="0"/>
          </a:p>
        </p:txBody>
      </p:sp>
      <p:sp>
        <p:nvSpPr>
          <p:cNvPr id="21" name="Text 14"/>
          <p:cNvSpPr/>
          <p:nvPr/>
        </p:nvSpPr>
        <p:spPr>
          <a:xfrm>
            <a:off x="17373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middle class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40690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2816" y="4764024"/>
            <a:ext cx="365760" cy="36576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49377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25" name="Text 17"/>
          <p:cNvSpPr/>
          <p:nvPr/>
        </p:nvSpPr>
        <p:spPr>
          <a:xfrm>
            <a:off x="49377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Bahawalpur</a:t>
            </a:r>
            <a:endParaRPr lang="en-US" sz="1500" dirty="0"/>
          </a:p>
        </p:txBody>
      </p:sp>
      <p:sp>
        <p:nvSpPr>
          <p:cNvPr id="26" name="Shape 18"/>
          <p:cNvSpPr/>
          <p:nvPr/>
        </p:nvSpPr>
        <p:spPr>
          <a:xfrm>
            <a:off x="7498080" y="1874520"/>
            <a:ext cx="4206240" cy="4114800"/>
          </a:xfrm>
          <a:prstGeom prst="roundRect">
            <a:avLst>
              <a:gd name="adj" fmla="val 2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8915400" y="2514600"/>
            <a:ext cx="1371600" cy="137160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0" y="2834640"/>
            <a:ext cx="731520" cy="73152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680960" y="4114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History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8366760" y="4709160"/>
            <a:ext cx="246888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31" name="Text 22"/>
          <p:cNvSpPr/>
          <p:nvPr/>
        </p:nvSpPr>
        <p:spPr>
          <a:xfrm>
            <a:off x="8366760" y="470916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significant</a:t>
            </a:r>
            <a:endParaRPr lang="en-US" sz="1500" dirty="0"/>
          </a:p>
        </p:txBody>
      </p:sp>
      <p:sp>
        <p:nvSpPr>
          <p:cNvPr id="32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3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1000"/>
          </a:blip>
          <a:stretch>
            <a:fillRect/>
          </a:stretch>
        </p:blipFill>
        <p:spPr>
          <a:xfrm>
            <a:off x="8046720" y="10515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78308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613355" y="163677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53512" y="163677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93669" y="128016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33826" y="128016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73982" y="178308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14139" y="178308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2331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ASSESSMENT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21792" y="27432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Examination</a:t>
            </a:r>
            <a:endParaRPr lang="en-US" sz="6800" dirty="0"/>
          </a:p>
        </p:txBody>
      </p:sp>
      <p:sp>
        <p:nvSpPr>
          <p:cNvPr id="13" name="Text 10"/>
          <p:cNvSpPr/>
          <p:nvPr/>
        </p:nvSpPr>
        <p:spPr>
          <a:xfrm>
            <a:off x="685800" y="3977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&amp; systemic examination findings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097987" y="4892040"/>
            <a:ext cx="1967789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097987" y="4892040"/>
            <a:ext cx="1967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294376" y="4892040"/>
            <a:ext cx="1644091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294376" y="4892040"/>
            <a:ext cx="16440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167067" y="4892040"/>
            <a:ext cx="780898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167067" y="4892040"/>
            <a:ext cx="780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CNS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176565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76565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Gastrointestinal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Presentation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12648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RATE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76072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136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612648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2761488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871216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RADIAL PULSE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2834640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2871216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020056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5129784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PRESSURE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93208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110/70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5129784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278624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388352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51776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</a:t>
            </a:r>
            <a:endParaRPr lang="en-US" sz="3200" dirty="0"/>
          </a:p>
        </p:txBody>
      </p:sp>
      <p:sp>
        <p:nvSpPr>
          <p:cNvPr id="21" name="Text 18"/>
          <p:cNvSpPr/>
          <p:nvPr/>
        </p:nvSpPr>
        <p:spPr>
          <a:xfrm>
            <a:off x="7388352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°F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537192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9646920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RESP. RATE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610344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200" dirty="0"/>
          </a:p>
        </p:txBody>
      </p:sp>
      <p:sp>
        <p:nvSpPr>
          <p:cNvPr id="25" name="Text 22"/>
          <p:cNvSpPr/>
          <p:nvPr/>
        </p:nvSpPr>
        <p:spPr>
          <a:xfrm>
            <a:off x="9646920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/min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02920" y="2816352"/>
            <a:ext cx="11183112" cy="548640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926080"/>
            <a:ext cx="329184" cy="329184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1280160" y="2816352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Apex–radial pulse deficit ≈ 40 bpm</a:t>
            </a:r>
            <a:pPr algn="l" indent="0" marL="0"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(heart rate 136 vs radial pulse 96) — a hallmark of atrial fibrillation.</a:t>
            </a:r>
            <a:endParaRPr lang="en-US" sz="1400" dirty="0"/>
          </a:p>
        </p:txBody>
      </p:sp>
      <p:sp>
        <p:nvSpPr>
          <p:cNvPr id="29" name="Shape 25"/>
          <p:cNvSpPr/>
          <p:nvPr/>
        </p:nvSpPr>
        <p:spPr>
          <a:xfrm>
            <a:off x="502920" y="3474720"/>
            <a:ext cx="361188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777240" y="3694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3840480"/>
            <a:ext cx="274320" cy="274320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463040" y="369417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Pulse Character</a:t>
            </a:r>
            <a:endParaRPr lang="en-US" sz="1600" dirty="0"/>
          </a:p>
        </p:txBody>
      </p:sp>
      <p:sp>
        <p:nvSpPr>
          <p:cNvPr id="33" name="Shape 28"/>
          <p:cNvSpPr/>
          <p:nvPr/>
        </p:nvSpPr>
        <p:spPr>
          <a:xfrm>
            <a:off x="795528" y="444398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4" name="Text 29"/>
          <p:cNvSpPr/>
          <p:nvPr/>
        </p:nvSpPr>
        <p:spPr>
          <a:xfrm>
            <a:off x="1014984" y="4389120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Irregularly irregular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795528" y="4745736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6" name="Text 31"/>
          <p:cNvSpPr/>
          <p:nvPr/>
        </p:nvSpPr>
        <p:spPr>
          <a:xfrm>
            <a:off x="1014984" y="4690872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volume &amp; character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795528" y="5047488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8" name="Text 33"/>
          <p:cNvSpPr/>
          <p:nvPr/>
        </p:nvSpPr>
        <p:spPr>
          <a:xfrm>
            <a:off x="1014984" y="4992624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wall not palpable</a:t>
            </a:r>
            <a:endParaRPr lang="en-US" sz="1200" dirty="0"/>
          </a:p>
        </p:txBody>
      </p:sp>
      <p:sp>
        <p:nvSpPr>
          <p:cNvPr id="39" name="Shape 34"/>
          <p:cNvSpPr/>
          <p:nvPr/>
        </p:nvSpPr>
        <p:spPr>
          <a:xfrm>
            <a:off x="795528" y="5349240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0" name="Text 35"/>
          <p:cNvSpPr/>
          <p:nvPr/>
        </p:nvSpPr>
        <p:spPr>
          <a:xfrm>
            <a:off x="1014984" y="5294376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radio-radial / femoral delay</a:t>
            </a:r>
            <a:endParaRPr lang="en-US" sz="1200" dirty="0"/>
          </a:p>
        </p:txBody>
      </p:sp>
      <p:sp>
        <p:nvSpPr>
          <p:cNvPr id="41" name="Shape 36"/>
          <p:cNvSpPr/>
          <p:nvPr/>
        </p:nvSpPr>
        <p:spPr>
          <a:xfrm>
            <a:off x="795528" y="5650992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2" name="Text 37"/>
          <p:cNvSpPr/>
          <p:nvPr/>
        </p:nvSpPr>
        <p:spPr>
          <a:xfrm>
            <a:off x="1014984" y="5596128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 deficit present</a:t>
            </a:r>
            <a:endParaRPr lang="en-US" sz="1200" dirty="0"/>
          </a:p>
        </p:txBody>
      </p:sp>
      <p:sp>
        <p:nvSpPr>
          <p:cNvPr id="43" name="Shape 38"/>
          <p:cNvSpPr/>
          <p:nvPr/>
        </p:nvSpPr>
        <p:spPr>
          <a:xfrm>
            <a:off x="4288536" y="3474720"/>
            <a:ext cx="361188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4" name="Shape 39"/>
          <p:cNvSpPr/>
          <p:nvPr/>
        </p:nvSpPr>
        <p:spPr>
          <a:xfrm>
            <a:off x="4562856" y="3694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3840480"/>
            <a:ext cx="274320" cy="274320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5248656" y="369417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Pressure</a:t>
            </a:r>
            <a:endParaRPr lang="en-US" sz="1600" dirty="0"/>
          </a:p>
        </p:txBody>
      </p:sp>
      <p:sp>
        <p:nvSpPr>
          <p:cNvPr id="47" name="Shape 41"/>
          <p:cNvSpPr/>
          <p:nvPr/>
        </p:nvSpPr>
        <p:spPr>
          <a:xfrm>
            <a:off x="4581144" y="444398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8" name="Text 42"/>
          <p:cNvSpPr/>
          <p:nvPr/>
        </p:nvSpPr>
        <p:spPr>
          <a:xfrm>
            <a:off x="4800600" y="43891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110/70 mmHg — right arm, lying</a:t>
            </a:r>
            <a:endParaRPr lang="en-US" sz="1200" dirty="0"/>
          </a:p>
        </p:txBody>
      </p:sp>
      <p:sp>
        <p:nvSpPr>
          <p:cNvPr id="49" name="Shape 43"/>
          <p:cNvSpPr/>
          <p:nvPr/>
        </p:nvSpPr>
        <p:spPr>
          <a:xfrm>
            <a:off x="4581144" y="494690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0" name="Text 44"/>
          <p:cNvSpPr/>
          <p:nvPr/>
        </p:nvSpPr>
        <p:spPr>
          <a:xfrm>
            <a:off x="4800600" y="489204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significant inter-arm difference</a:t>
            </a:r>
            <a:endParaRPr lang="en-US" sz="1200" dirty="0"/>
          </a:p>
        </p:txBody>
      </p:sp>
      <p:sp>
        <p:nvSpPr>
          <p:cNvPr id="51" name="Shape 45"/>
          <p:cNvSpPr/>
          <p:nvPr/>
        </p:nvSpPr>
        <p:spPr>
          <a:xfrm>
            <a:off x="4581144" y="544982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2" name="Text 46"/>
          <p:cNvSpPr/>
          <p:nvPr/>
        </p:nvSpPr>
        <p:spPr>
          <a:xfrm>
            <a:off x="4800600" y="539496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postural drop</a:t>
            </a:r>
            <a:endParaRPr lang="en-US" sz="1200" dirty="0"/>
          </a:p>
        </p:txBody>
      </p:sp>
      <p:sp>
        <p:nvSpPr>
          <p:cNvPr id="53" name="Shape 47"/>
          <p:cNvSpPr/>
          <p:nvPr/>
        </p:nvSpPr>
        <p:spPr>
          <a:xfrm>
            <a:off x="8074152" y="3474720"/>
            <a:ext cx="361188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4" name="Shape 48"/>
          <p:cNvSpPr/>
          <p:nvPr/>
        </p:nvSpPr>
        <p:spPr>
          <a:xfrm>
            <a:off x="8348472" y="3694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4776" y="3840480"/>
            <a:ext cx="274320" cy="274320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9034272" y="369417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General</a:t>
            </a:r>
            <a:endParaRPr lang="en-US" sz="1600" dirty="0"/>
          </a:p>
        </p:txBody>
      </p:sp>
      <p:sp>
        <p:nvSpPr>
          <p:cNvPr id="57" name="Shape 50"/>
          <p:cNvSpPr/>
          <p:nvPr/>
        </p:nvSpPr>
        <p:spPr>
          <a:xfrm>
            <a:off x="8366760" y="444398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8" name="Text 51"/>
          <p:cNvSpPr/>
          <p:nvPr/>
        </p:nvSpPr>
        <p:spPr>
          <a:xfrm>
            <a:off x="8586216" y="43891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Thin, lean, middle-aged female; comfortable in bed</a:t>
            </a:r>
            <a:endParaRPr lang="en-US" sz="1200" dirty="0"/>
          </a:p>
        </p:txBody>
      </p:sp>
      <p:sp>
        <p:nvSpPr>
          <p:cNvPr id="59" name="Shape 52"/>
          <p:cNvSpPr/>
          <p:nvPr/>
        </p:nvSpPr>
        <p:spPr>
          <a:xfrm>
            <a:off x="8366760" y="494690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60" name="Text 53"/>
          <p:cNvSpPr/>
          <p:nvPr/>
        </p:nvSpPr>
        <p:spPr>
          <a:xfrm>
            <a:off x="8586216" y="489204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cannula in situ (right hand)</a:t>
            </a:r>
            <a:endParaRPr lang="en-US" sz="1200" dirty="0"/>
          </a:p>
        </p:txBody>
      </p:sp>
      <p:sp>
        <p:nvSpPr>
          <p:cNvPr id="61" name="Shape 54"/>
          <p:cNvSpPr/>
          <p:nvPr/>
        </p:nvSpPr>
        <p:spPr>
          <a:xfrm>
            <a:off x="8366760" y="544982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62" name="Text 55"/>
          <p:cNvSpPr/>
          <p:nvPr/>
        </p:nvSpPr>
        <p:spPr>
          <a:xfrm>
            <a:off x="8586216" y="539496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&amp; oriented — time, place, person</a:t>
            </a:r>
            <a:endParaRPr lang="en-US" sz="1200" dirty="0"/>
          </a:p>
        </p:txBody>
      </p:sp>
      <p:sp>
        <p:nvSpPr>
          <p:cNvPr id="63" name="Text 56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64" name="Text 57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Cardiovascular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CVS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12080" y="1901952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2039112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925312" y="19019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5925312" y="214884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Shape normal, no scar, no pulsations visible over the precordium</a:t>
            </a:r>
            <a:endParaRPr lang="en-US" sz="1350" dirty="0"/>
          </a:p>
        </p:txBody>
      </p:sp>
      <p:sp>
        <p:nvSpPr>
          <p:cNvPr id="22" name="Shape 17"/>
          <p:cNvSpPr/>
          <p:nvPr/>
        </p:nvSpPr>
        <p:spPr>
          <a:xfrm>
            <a:off x="4937760" y="2651760"/>
            <a:ext cx="6766560" cy="1554480"/>
          </a:xfrm>
          <a:prstGeom prst="roundRect">
            <a:avLst>
              <a:gd name="adj" fmla="val 588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12080" y="2816352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2953512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925312" y="285292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PALPATION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5394960" y="325526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7" name="Text 21"/>
          <p:cNvSpPr/>
          <p:nvPr/>
        </p:nvSpPr>
        <p:spPr>
          <a:xfrm>
            <a:off x="5669280" y="3182112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 beat in 5th intercostal space, medial to midclavicular line — normal character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5394960" y="371246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9" name="Text 23"/>
          <p:cNvSpPr/>
          <p:nvPr/>
        </p:nvSpPr>
        <p:spPr>
          <a:xfrm>
            <a:off x="5669280" y="3639312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thrill; no other palpable sounds</a:t>
            </a:r>
            <a:endParaRPr lang="en-US" sz="1250" dirty="0"/>
          </a:p>
        </p:txBody>
      </p:sp>
      <p:sp>
        <p:nvSpPr>
          <p:cNvPr id="30" name="Shape 24"/>
          <p:cNvSpPr/>
          <p:nvPr/>
        </p:nvSpPr>
        <p:spPr>
          <a:xfrm>
            <a:off x="5394960" y="402336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1" name="Text 25"/>
          <p:cNvSpPr/>
          <p:nvPr/>
        </p:nvSpPr>
        <p:spPr>
          <a:xfrm>
            <a:off x="5669280" y="3950208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left parasternal heave</a:t>
            </a:r>
            <a:endParaRPr lang="en-US" sz="1250" dirty="0"/>
          </a:p>
        </p:txBody>
      </p:sp>
      <p:sp>
        <p:nvSpPr>
          <p:cNvPr id="32" name="Shape 26"/>
          <p:cNvSpPr/>
          <p:nvPr/>
        </p:nvSpPr>
        <p:spPr>
          <a:xfrm>
            <a:off x="4937760" y="4297680"/>
            <a:ext cx="6766560" cy="1691640"/>
          </a:xfrm>
          <a:prstGeom prst="roundRect">
            <a:avLst>
              <a:gd name="adj" fmla="val 540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5212080" y="4462272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240" y="4599432"/>
            <a:ext cx="274320" cy="27432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5925312" y="449884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AUSCULTATION</a:t>
            </a:r>
            <a:endParaRPr lang="en-US" sz="1200" dirty="0"/>
          </a:p>
        </p:txBody>
      </p:sp>
      <p:sp>
        <p:nvSpPr>
          <p:cNvPr id="36" name="Shape 29"/>
          <p:cNvSpPr/>
          <p:nvPr/>
        </p:nvSpPr>
        <p:spPr>
          <a:xfrm>
            <a:off x="5394960" y="490118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7" name="Text 30"/>
          <p:cNvSpPr/>
          <p:nvPr/>
        </p:nvSpPr>
        <p:spPr>
          <a:xfrm>
            <a:off x="5669280" y="4828032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heart sound &amp; both components of 2nd heart sound audible at their respective areas</a:t>
            </a:r>
            <a:endParaRPr lang="en-US" sz="1250" dirty="0"/>
          </a:p>
        </p:txBody>
      </p:sp>
      <p:sp>
        <p:nvSpPr>
          <p:cNvPr id="38" name="Shape 31"/>
          <p:cNvSpPr/>
          <p:nvPr/>
        </p:nvSpPr>
        <p:spPr>
          <a:xfrm>
            <a:off x="5394960" y="5340096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9" name="Text 32"/>
          <p:cNvSpPr/>
          <p:nvPr/>
        </p:nvSpPr>
        <p:spPr>
          <a:xfrm>
            <a:off x="5669280" y="5266944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heart sound of variable intensity; both components of 2nd heart sound of normal intensity</a:t>
            </a:r>
            <a:endParaRPr lang="en-US" sz="1250" dirty="0"/>
          </a:p>
        </p:txBody>
      </p:sp>
      <p:sp>
        <p:nvSpPr>
          <p:cNvPr id="40" name="Shape 33"/>
          <p:cNvSpPr/>
          <p:nvPr/>
        </p:nvSpPr>
        <p:spPr>
          <a:xfrm>
            <a:off x="5394960" y="577900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1" name="Text 34"/>
          <p:cNvSpPr/>
          <p:nvPr/>
        </p:nvSpPr>
        <p:spPr>
          <a:xfrm>
            <a:off x="5669280" y="5705856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added sounds audible</a:t>
            </a:r>
            <a:endParaRPr lang="en-US" sz="1250" dirty="0"/>
          </a:p>
        </p:txBody>
      </p:sp>
      <p:sp>
        <p:nvSpPr>
          <p:cNvPr id="42" name="Text 3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43" name="Text 3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 entry equal &amp; adequate bilaterally</a:t>
            </a:r>
            <a:endParaRPr lang="en-US" sz="30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chest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 Nervous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Neurological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Gastrointestinal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Abdominal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1000"/>
          </a:blip>
          <a:stretch>
            <a:fillRect/>
          </a:stretch>
        </p:blipFill>
        <p:spPr>
          <a:xfrm>
            <a:off x="8046720" y="10515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78308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613355" y="163677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53512" y="163677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93669" y="128016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33826" y="128016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73982" y="178308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14139" y="178308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2331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WORK-UP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21792" y="27432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6800" dirty="0"/>
          </a:p>
        </p:txBody>
      </p:sp>
      <p:sp>
        <p:nvSpPr>
          <p:cNvPr id="13" name="Text 10"/>
          <p:cNvSpPr/>
          <p:nvPr/>
        </p:nvSpPr>
        <p:spPr>
          <a:xfrm>
            <a:off x="685800" y="3977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Bedside, laboratory &amp; imaging findings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1644091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4892040"/>
            <a:ext cx="16440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12-Lead ECG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2558491" y="4892040"/>
            <a:ext cx="175199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558491" y="4892040"/>
            <a:ext cx="17519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counts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39082" y="4892040"/>
            <a:ext cx="175199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39082" y="4892040"/>
            <a:ext cx="17519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Biochemistry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19672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19672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screen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931859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931859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Echocardiography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37360"/>
            <a:ext cx="5669280" cy="4279392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819656"/>
            <a:ext cx="5458968" cy="41148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355080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611112" y="195681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2093976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287768" y="1828800"/>
            <a:ext cx="4251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7287768" y="279806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 rhythm ECG · </a:t>
            </a:r>
            <a:pPr algn="l"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06-Jul-2026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355080" y="3364992"/>
            <a:ext cx="5349240" cy="914400"/>
          </a:xfrm>
          <a:prstGeom prst="roundRect">
            <a:avLst>
              <a:gd name="adj" fmla="val 12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6611112" y="34930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6611112" y="3767328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146</a:t>
            </a:r>
            <a:pPr algn="l" indent="0" marL="0">
              <a:buNone/>
            </a:pPr>
            <a:r>
              <a:rPr lang="en-US" sz="15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bpm</a:t>
            </a:r>
            <a:endParaRPr lang="en-US" sz="34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01400" y="3493008"/>
            <a:ext cx="292608" cy="29260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0424160" y="3785616"/>
            <a:ext cx="1051560" cy="420624"/>
          </a:xfrm>
          <a:prstGeom prst="roundRect">
            <a:avLst>
              <a:gd name="adj" fmla="val 50000"/>
            </a:avLst>
          </a:prstGeom>
          <a:solidFill>
            <a:srgbClr val="FF4D6D"/>
          </a:solidFill>
          <a:ln/>
        </p:spPr>
      </p:sp>
      <p:sp>
        <p:nvSpPr>
          <p:cNvPr id="18" name="Text 12"/>
          <p:cNvSpPr/>
          <p:nvPr/>
        </p:nvSpPr>
        <p:spPr>
          <a:xfrm>
            <a:off x="10424160" y="3785616"/>
            <a:ext cx="1051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6355080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6556248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6556248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89136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9290304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9290304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355080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6556248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· QRS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6556248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· 80 ms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9089136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9290304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 / QTC · AXIS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9290304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298 / 382 ms · 38°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HAEMATOLOGY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Blood Count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10-Jun-2022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984248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3282696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855464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2920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502920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Haemoglobin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984248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282696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11.5–16.5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855464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WBC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984248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6.94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3282696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4.0–11.0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855464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02920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4" name="Shape 21"/>
          <p:cNvSpPr/>
          <p:nvPr/>
        </p:nvSpPr>
        <p:spPr>
          <a:xfrm>
            <a:off x="502920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Neutrophils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984248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3282696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40–75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4855464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02920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0080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Lymphocytes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1984248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3282696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20–45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4855464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502920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5" name="Shape 32"/>
          <p:cNvSpPr/>
          <p:nvPr/>
        </p:nvSpPr>
        <p:spPr>
          <a:xfrm>
            <a:off x="502920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40080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Monocytes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1984248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3282696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</a:t>
            </a:r>
            <a:endParaRPr lang="en-US" sz="1250" dirty="0"/>
          </a:p>
        </p:txBody>
      </p:sp>
      <p:sp>
        <p:nvSpPr>
          <p:cNvPr id="39" name="Text 36"/>
          <p:cNvSpPr/>
          <p:nvPr/>
        </p:nvSpPr>
        <p:spPr>
          <a:xfrm>
            <a:off x="4855464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02920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40080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Eosinophils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1984248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</a:t>
            </a:r>
            <a:endParaRPr lang="en-US" sz="1350" dirty="0"/>
          </a:p>
        </p:txBody>
      </p:sp>
      <p:sp>
        <p:nvSpPr>
          <p:cNvPr id="43" name="Text 40"/>
          <p:cNvSpPr/>
          <p:nvPr/>
        </p:nvSpPr>
        <p:spPr>
          <a:xfrm>
            <a:off x="3282696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1–6</a:t>
            </a:r>
            <a:endParaRPr lang="en-US" sz="1250" dirty="0"/>
          </a:p>
        </p:txBody>
      </p:sp>
      <p:sp>
        <p:nvSpPr>
          <p:cNvPr id="44" name="Text 41"/>
          <p:cNvSpPr/>
          <p:nvPr/>
        </p:nvSpPr>
        <p:spPr>
          <a:xfrm>
            <a:off x="4855464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236208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46" name="Text 43"/>
          <p:cNvSpPr/>
          <p:nvPr/>
        </p:nvSpPr>
        <p:spPr>
          <a:xfrm>
            <a:off x="6373368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7717536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48" name="Text 45"/>
          <p:cNvSpPr/>
          <p:nvPr/>
        </p:nvSpPr>
        <p:spPr>
          <a:xfrm>
            <a:off x="9015984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49" name="Text 46"/>
          <p:cNvSpPr/>
          <p:nvPr/>
        </p:nvSpPr>
        <p:spPr>
          <a:xfrm>
            <a:off x="10588752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50" name="Shape 47"/>
          <p:cNvSpPr/>
          <p:nvPr/>
        </p:nvSpPr>
        <p:spPr>
          <a:xfrm>
            <a:off x="6236208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51" name="Shape 48"/>
          <p:cNvSpPr/>
          <p:nvPr/>
        </p:nvSpPr>
        <p:spPr>
          <a:xfrm>
            <a:off x="6236208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373368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Platelets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7717536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296</a:t>
            </a:r>
            <a:endParaRPr lang="en-US" sz="1350" dirty="0"/>
          </a:p>
        </p:txBody>
      </p:sp>
      <p:sp>
        <p:nvSpPr>
          <p:cNvPr id="54" name="Text 51"/>
          <p:cNvSpPr/>
          <p:nvPr/>
        </p:nvSpPr>
        <p:spPr>
          <a:xfrm>
            <a:off x="9015984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150–400</a:t>
            </a:r>
            <a:endParaRPr lang="en-US" sz="1250" dirty="0"/>
          </a:p>
        </p:txBody>
      </p:sp>
      <p:sp>
        <p:nvSpPr>
          <p:cNvPr id="55" name="Text 52"/>
          <p:cNvSpPr/>
          <p:nvPr/>
        </p:nvSpPr>
        <p:spPr>
          <a:xfrm>
            <a:off x="10588752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6236208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6373368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RBC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717536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59" name="Text 56"/>
          <p:cNvSpPr/>
          <p:nvPr/>
        </p:nvSpPr>
        <p:spPr>
          <a:xfrm>
            <a:off x="9015984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3.6–5.8</a:t>
            </a:r>
            <a:endParaRPr lang="en-US" sz="1250" dirty="0"/>
          </a:p>
        </p:txBody>
      </p:sp>
      <p:sp>
        <p:nvSpPr>
          <p:cNvPr id="60" name="Text 57"/>
          <p:cNvSpPr/>
          <p:nvPr/>
        </p:nvSpPr>
        <p:spPr>
          <a:xfrm>
            <a:off x="10588752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×10⁶/µL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6236208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62" name="Shape 59"/>
          <p:cNvSpPr/>
          <p:nvPr/>
        </p:nvSpPr>
        <p:spPr>
          <a:xfrm>
            <a:off x="6236208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6373368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MCV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7717536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85.7</a:t>
            </a:r>
            <a:endParaRPr lang="en-US" sz="1350" dirty="0"/>
          </a:p>
        </p:txBody>
      </p:sp>
      <p:sp>
        <p:nvSpPr>
          <p:cNvPr id="65" name="Text 62"/>
          <p:cNvSpPr/>
          <p:nvPr/>
        </p:nvSpPr>
        <p:spPr>
          <a:xfrm>
            <a:off x="9015984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80–100</a:t>
            </a:r>
            <a:endParaRPr lang="en-US" sz="1250" dirty="0"/>
          </a:p>
        </p:txBody>
      </p:sp>
      <p:sp>
        <p:nvSpPr>
          <p:cNvPr id="66" name="Text 63"/>
          <p:cNvSpPr/>
          <p:nvPr/>
        </p:nvSpPr>
        <p:spPr>
          <a:xfrm>
            <a:off x="10588752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</a:t>
            </a:r>
            <a:endParaRPr lang="en-US" sz="1200" dirty="0"/>
          </a:p>
        </p:txBody>
      </p:sp>
      <p:sp>
        <p:nvSpPr>
          <p:cNvPr id="67" name="Shape 64"/>
          <p:cNvSpPr/>
          <p:nvPr/>
        </p:nvSpPr>
        <p:spPr>
          <a:xfrm>
            <a:off x="6236208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6373368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7717536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30.0</a:t>
            </a:r>
            <a:endParaRPr lang="en-US" sz="1350" dirty="0"/>
          </a:p>
        </p:txBody>
      </p:sp>
      <p:sp>
        <p:nvSpPr>
          <p:cNvPr id="70" name="Text 67"/>
          <p:cNvSpPr/>
          <p:nvPr/>
        </p:nvSpPr>
        <p:spPr>
          <a:xfrm>
            <a:off x="9015984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27–34</a:t>
            </a:r>
            <a:endParaRPr lang="en-US" sz="1250" dirty="0"/>
          </a:p>
        </p:txBody>
      </p:sp>
      <p:sp>
        <p:nvSpPr>
          <p:cNvPr id="71" name="Text 68"/>
          <p:cNvSpPr/>
          <p:nvPr/>
        </p:nvSpPr>
        <p:spPr>
          <a:xfrm>
            <a:off x="10588752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6236208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73" name="Shape 70"/>
          <p:cNvSpPr/>
          <p:nvPr/>
        </p:nvSpPr>
        <p:spPr>
          <a:xfrm>
            <a:off x="6236208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6373368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MCHC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7717536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35.0</a:t>
            </a:r>
            <a:endParaRPr lang="en-US" sz="1350" dirty="0"/>
          </a:p>
        </p:txBody>
      </p:sp>
      <p:sp>
        <p:nvSpPr>
          <p:cNvPr id="76" name="Text 73"/>
          <p:cNvSpPr/>
          <p:nvPr/>
        </p:nvSpPr>
        <p:spPr>
          <a:xfrm>
            <a:off x="9015984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30–35</a:t>
            </a:r>
            <a:endParaRPr lang="en-US" sz="1250" dirty="0"/>
          </a:p>
        </p:txBody>
      </p:sp>
      <p:sp>
        <p:nvSpPr>
          <p:cNvPr id="77" name="Text 74"/>
          <p:cNvSpPr/>
          <p:nvPr/>
        </p:nvSpPr>
        <p:spPr>
          <a:xfrm>
            <a:off x="10588752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78" name="Shape 75"/>
          <p:cNvSpPr/>
          <p:nvPr/>
        </p:nvSpPr>
        <p:spPr>
          <a:xfrm>
            <a:off x="6236208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6373368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HCT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7717536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81" name="Text 78"/>
          <p:cNvSpPr/>
          <p:nvPr/>
        </p:nvSpPr>
        <p:spPr>
          <a:xfrm>
            <a:off x="9015984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35–47</a:t>
            </a:r>
            <a:endParaRPr lang="en-US" sz="1250" dirty="0"/>
          </a:p>
        </p:txBody>
      </p:sp>
      <p:sp>
        <p:nvSpPr>
          <p:cNvPr id="82" name="Text 79"/>
          <p:cNvSpPr/>
          <p:nvPr/>
        </p:nvSpPr>
        <p:spPr>
          <a:xfrm>
            <a:off x="10588752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83" name="Shape 80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4" name="Text 81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normocytic anaemia (low Hb, RBC &amp; HCT) with mild eosinophilia.</a:t>
            </a:r>
            <a:endParaRPr lang="en-US" sz="1500" dirty="0"/>
          </a:p>
        </p:txBody>
      </p:sp>
      <p:sp>
        <p:nvSpPr>
          <p:cNvPr id="85" name="Text 8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86" name="Text 8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ROUTINE CHEMISTRY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Renal, Electrolytes &amp; Viral Screen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06-Jul-2026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RENAL FUNCTION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58952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Urea</a:t>
            </a:r>
            <a:endParaRPr lang="en-US" sz="13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264261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60120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3" name="Text 9"/>
          <p:cNvSpPr/>
          <p:nvPr/>
        </p:nvSpPr>
        <p:spPr>
          <a:xfrm>
            <a:off x="960120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16.6–48.6 mg/dL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58952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60120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Creatinine</a:t>
            </a:r>
            <a:endParaRPr lang="en-US" sz="13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992" y="394106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60120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8" name="Text 13"/>
          <p:cNvSpPr/>
          <p:nvPr/>
        </p:nvSpPr>
        <p:spPr>
          <a:xfrm>
            <a:off x="960120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0.6–1.2 mg/dL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288536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4562856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SERUM ELECTROLYTES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4544568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745736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</a:t>
            </a:r>
            <a:endParaRPr lang="en-US" sz="135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608" y="2642616"/>
            <a:ext cx="256032" cy="25603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745736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141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25" name="Text 19"/>
          <p:cNvSpPr/>
          <p:nvPr/>
        </p:nvSpPr>
        <p:spPr>
          <a:xfrm>
            <a:off x="4745736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135–155 mmol/L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544568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745736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Potassium</a:t>
            </a:r>
            <a:endParaRPr lang="en-US" sz="135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608" y="3941064"/>
            <a:ext cx="256032" cy="25603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745736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30" name="Text 23"/>
          <p:cNvSpPr/>
          <p:nvPr/>
        </p:nvSpPr>
        <p:spPr>
          <a:xfrm>
            <a:off x="4745736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3.5–5.5 mmol/L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074152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Text 25"/>
          <p:cNvSpPr/>
          <p:nvPr/>
        </p:nvSpPr>
        <p:spPr>
          <a:xfrm>
            <a:off x="8348472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SCREEN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8330184" y="2532888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3064" y="2770632"/>
            <a:ext cx="274320" cy="27432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8933688" y="2532888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HBsAg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10113264" y="2724912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37" name="Text 29"/>
          <p:cNvSpPr/>
          <p:nvPr/>
        </p:nvSpPr>
        <p:spPr>
          <a:xfrm>
            <a:off x="10113264" y="272491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38" name="Shape 30"/>
          <p:cNvSpPr/>
          <p:nvPr/>
        </p:nvSpPr>
        <p:spPr>
          <a:xfrm>
            <a:off x="8330184" y="3429000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3064" y="3666744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8933688" y="3429000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 Ag/Ab</a:t>
            </a:r>
            <a:endParaRPr lang="en-US" sz="1400" dirty="0"/>
          </a:p>
        </p:txBody>
      </p:sp>
      <p:sp>
        <p:nvSpPr>
          <p:cNvPr id="41" name="Shape 32"/>
          <p:cNvSpPr/>
          <p:nvPr/>
        </p:nvSpPr>
        <p:spPr>
          <a:xfrm>
            <a:off x="10113264" y="3621024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2" name="Text 33"/>
          <p:cNvSpPr/>
          <p:nvPr/>
        </p:nvSpPr>
        <p:spPr>
          <a:xfrm>
            <a:off x="10113264" y="3621024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3" name="Shape 34"/>
          <p:cNvSpPr/>
          <p:nvPr/>
        </p:nvSpPr>
        <p:spPr>
          <a:xfrm>
            <a:off x="8330184" y="4325112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3064" y="4562856"/>
            <a:ext cx="274320" cy="274320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8933688" y="4325112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HCV (ICT)</a:t>
            </a:r>
            <a:endParaRPr lang="en-US" sz="1400" dirty="0"/>
          </a:p>
        </p:txBody>
      </p:sp>
      <p:sp>
        <p:nvSpPr>
          <p:cNvPr id="46" name="Shape 36"/>
          <p:cNvSpPr/>
          <p:nvPr/>
        </p:nvSpPr>
        <p:spPr>
          <a:xfrm>
            <a:off x="10113264" y="4517136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7" name="Text 37"/>
          <p:cNvSpPr/>
          <p:nvPr/>
        </p:nvSpPr>
        <p:spPr>
          <a:xfrm>
            <a:off x="10113264" y="4517136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8" name="Shape 38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39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renal function and electrolytes; viral screen negative.</a:t>
            </a:r>
            <a:endParaRPr lang="en-US" sz="1500" dirty="0"/>
          </a:p>
        </p:txBody>
      </p:sp>
      <p:sp>
        <p:nvSpPr>
          <p:cNvPr id="50" name="Text 4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51" name="Text 4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BIOCHEMISTRY &amp; ENDOCRINE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Additional Investigations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Chughtai Lab · 18-Dec-2025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11183112" cy="475488"/>
          </a:xfrm>
          <a:prstGeom prst="roundRect">
            <a:avLst>
              <a:gd name="adj" fmla="val 1153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1783080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26280" y="178308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995160" y="178308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9646920" y="1783080"/>
            <a:ext cx="1947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02920" y="2313432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28600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Magnesium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4526280" y="228600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mg/dL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995160" y="228600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 – 2.6</a:t>
            </a:r>
            <a:endParaRPr lang="en-US" sz="13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2432304"/>
            <a:ext cx="237744" cy="23774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9957816" y="2286000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02920" y="2843784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85800" y="281635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Vitamin B12</a:t>
            </a:r>
            <a:endParaRPr lang="en-US" sz="1450" dirty="0"/>
          </a:p>
        </p:txBody>
      </p:sp>
      <p:sp>
        <p:nvSpPr>
          <p:cNvPr id="20" name="Text 16"/>
          <p:cNvSpPr/>
          <p:nvPr/>
        </p:nvSpPr>
        <p:spPr>
          <a:xfrm>
            <a:off x="4526280" y="2816352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 pg/mL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6995160" y="281635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 – 883</a:t>
            </a:r>
            <a:endParaRPr lang="en-US" sz="135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962656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9957816" y="2816352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502920" y="3374136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85800" y="3346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Potassium</a:t>
            </a:r>
            <a:endParaRPr lang="en-US" sz="1450" dirty="0"/>
          </a:p>
        </p:txBody>
      </p:sp>
      <p:sp>
        <p:nvSpPr>
          <p:cNvPr id="26" name="Text 21"/>
          <p:cNvSpPr/>
          <p:nvPr/>
        </p:nvSpPr>
        <p:spPr>
          <a:xfrm>
            <a:off x="4526280" y="334670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 mmol/L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6995160" y="334670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 – 5.1</a:t>
            </a:r>
            <a:endParaRPr lang="en-US" sz="1350" dirty="0"/>
          </a:p>
        </p:txBody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3493008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9957816" y="3346704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502920" y="3904488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85800" y="387705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Total T3</a:t>
            </a:r>
            <a:endParaRPr lang="en-US" sz="1450" dirty="0"/>
          </a:p>
        </p:txBody>
      </p:sp>
      <p:sp>
        <p:nvSpPr>
          <p:cNvPr id="32" name="Text 26"/>
          <p:cNvSpPr/>
          <p:nvPr/>
        </p:nvSpPr>
        <p:spPr>
          <a:xfrm>
            <a:off x="4526280" y="3877056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73.85 ng/dL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6995160" y="3877056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– 204</a:t>
            </a:r>
            <a:endParaRPr lang="en-US" sz="1350" dirty="0"/>
          </a:p>
        </p:txBody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6920" y="4023360"/>
            <a:ext cx="237744" cy="237744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9957816" y="3877056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36" name="Shape 29"/>
          <p:cNvSpPr/>
          <p:nvPr/>
        </p:nvSpPr>
        <p:spPr>
          <a:xfrm>
            <a:off x="502920" y="4434840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685800" y="440740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Total T4</a:t>
            </a:r>
            <a:endParaRPr lang="en-US" sz="1450" dirty="0"/>
          </a:p>
        </p:txBody>
      </p:sp>
      <p:sp>
        <p:nvSpPr>
          <p:cNvPr id="38" name="Text 31"/>
          <p:cNvSpPr/>
          <p:nvPr/>
        </p:nvSpPr>
        <p:spPr>
          <a:xfrm>
            <a:off x="4526280" y="4407408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7.99 µg/dL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6995160" y="440740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 – 11</a:t>
            </a:r>
            <a:endParaRPr lang="en-US" sz="1350" dirty="0"/>
          </a:p>
        </p:txBody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46920" y="4553712"/>
            <a:ext cx="237744" cy="237744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9957816" y="4407408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42" name="Shape 34"/>
          <p:cNvSpPr/>
          <p:nvPr/>
        </p:nvSpPr>
        <p:spPr>
          <a:xfrm>
            <a:off x="502920" y="4965192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685800" y="493776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HbA1c (Glycated Hb)</a:t>
            </a:r>
            <a:endParaRPr lang="en-US" sz="1450" dirty="0"/>
          </a:p>
        </p:txBody>
      </p:sp>
      <p:sp>
        <p:nvSpPr>
          <p:cNvPr id="44" name="Text 36"/>
          <p:cNvSpPr/>
          <p:nvPr/>
        </p:nvSpPr>
        <p:spPr>
          <a:xfrm>
            <a:off x="4526280" y="493776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5.1 %</a:t>
            </a:r>
            <a:endParaRPr lang="en-US" sz="1400" dirty="0"/>
          </a:p>
        </p:txBody>
      </p:sp>
      <p:sp>
        <p:nvSpPr>
          <p:cNvPr id="45" name="Text 37"/>
          <p:cNvSpPr/>
          <p:nvPr/>
        </p:nvSpPr>
        <p:spPr>
          <a:xfrm>
            <a:off x="6995160" y="493776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5.7</a:t>
            </a:r>
            <a:endParaRPr lang="en-US" sz="1350" dirty="0"/>
          </a:p>
        </p:txBody>
      </p:sp>
      <p:pic>
        <p:nvPicPr>
          <p:cNvPr id="4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46920" y="5084064"/>
            <a:ext cx="237744" cy="237744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9957816" y="4937760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48" name="Shape 39"/>
          <p:cNvSpPr/>
          <p:nvPr/>
        </p:nvSpPr>
        <p:spPr>
          <a:xfrm>
            <a:off x="502920" y="5541264"/>
            <a:ext cx="11183112" cy="566928"/>
          </a:xfrm>
          <a:prstGeom prst="roundRect">
            <a:avLst>
              <a:gd name="adj" fmla="val 1612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40"/>
          <p:cNvSpPr/>
          <p:nvPr/>
        </p:nvSpPr>
        <p:spPr>
          <a:xfrm>
            <a:off x="868680" y="5541264"/>
            <a:ext cx="10607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thyroid function, electrolytes, magnesium, B12 and HbA1c — no thyrotoxic or metabolic trigger for AF.</a:t>
            </a:r>
            <a:endParaRPr lang="en-US" sz="1350" dirty="0"/>
          </a:p>
        </p:txBody>
      </p:sp>
      <p:sp>
        <p:nvSpPr>
          <p:cNvPr id="50" name="Text 4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51" name="Text 4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ECHOCARDIOGRAPHY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27-Jan-2023 · Dr Ussama Munir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EJECTION FRACTION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77240" y="230428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LVEF 65%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777240" y="30906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(Normal 57–73%)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370332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77240" y="39319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TO AF</a:t>
            </a:r>
            <a:endParaRPr lang="en-US" sz="11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315968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98448" y="422452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clot in LA / LV</a:t>
            </a:r>
            <a:endParaRPr lang="en-US" sz="2300" dirty="0"/>
          </a:p>
        </p:txBody>
      </p:sp>
      <p:sp>
        <p:nvSpPr>
          <p:cNvPr id="15" name="Shape 11"/>
          <p:cNvSpPr/>
          <p:nvPr/>
        </p:nvSpPr>
        <p:spPr>
          <a:xfrm>
            <a:off x="4114800" y="178308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43400" y="1956816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224528" y="2304288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8" name="Text 14"/>
          <p:cNvSpPr/>
          <p:nvPr/>
        </p:nvSpPr>
        <p:spPr>
          <a:xfrm>
            <a:off x="4343400" y="230428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6172200" y="230428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57–73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7059168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4343400" y="272491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LVIDD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5440680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6172200" y="272491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35–56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7059168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4224528" y="3145536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7" name="Text 23"/>
          <p:cNvSpPr/>
          <p:nvPr/>
        </p:nvSpPr>
        <p:spPr>
          <a:xfrm>
            <a:off x="4343400" y="314553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5440680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50" dirty="0"/>
          </a:p>
        </p:txBody>
      </p:sp>
      <p:sp>
        <p:nvSpPr>
          <p:cNvPr id="29" name="Text 25"/>
          <p:cNvSpPr/>
          <p:nvPr/>
        </p:nvSpPr>
        <p:spPr>
          <a:xfrm>
            <a:off x="6172200" y="3145536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7059168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4343400" y="356616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LVPW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5440680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50" dirty="0"/>
          </a:p>
        </p:txBody>
      </p:sp>
      <p:sp>
        <p:nvSpPr>
          <p:cNvPr id="33" name="Text 29"/>
          <p:cNvSpPr/>
          <p:nvPr/>
        </p:nvSpPr>
        <p:spPr>
          <a:xfrm>
            <a:off x="6172200" y="3566160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4" name="Text 30"/>
          <p:cNvSpPr/>
          <p:nvPr/>
        </p:nvSpPr>
        <p:spPr>
          <a:xfrm>
            <a:off x="7059168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4224528" y="3986784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6" name="Text 32"/>
          <p:cNvSpPr/>
          <p:nvPr/>
        </p:nvSpPr>
        <p:spPr>
          <a:xfrm>
            <a:off x="4343400" y="398678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</a:t>
            </a:r>
            <a:endParaRPr lang="en-US" sz="1250" dirty="0"/>
          </a:p>
        </p:txBody>
      </p:sp>
      <p:sp>
        <p:nvSpPr>
          <p:cNvPr id="37" name="Text 33"/>
          <p:cNvSpPr/>
          <p:nvPr/>
        </p:nvSpPr>
        <p:spPr>
          <a:xfrm>
            <a:off x="5440680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350" dirty="0"/>
          </a:p>
        </p:txBody>
      </p:sp>
      <p:sp>
        <p:nvSpPr>
          <p:cNvPr id="38" name="Text 34"/>
          <p:cNvSpPr/>
          <p:nvPr/>
        </p:nvSpPr>
        <p:spPr>
          <a:xfrm>
            <a:off x="6172200" y="3986784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19–40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7059168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40" name="Text 36"/>
          <p:cNvSpPr/>
          <p:nvPr/>
        </p:nvSpPr>
        <p:spPr>
          <a:xfrm>
            <a:off x="4343400" y="440740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E/A</a:t>
            </a:r>
            <a:endParaRPr lang="en-US" sz="1250" dirty="0"/>
          </a:p>
        </p:txBody>
      </p:sp>
      <p:sp>
        <p:nvSpPr>
          <p:cNvPr id="41" name="Text 37"/>
          <p:cNvSpPr/>
          <p:nvPr/>
        </p:nvSpPr>
        <p:spPr>
          <a:xfrm>
            <a:off x="5440680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1350" dirty="0"/>
          </a:p>
        </p:txBody>
      </p:sp>
      <p:sp>
        <p:nvSpPr>
          <p:cNvPr id="42" name="Text 38"/>
          <p:cNvSpPr/>
          <p:nvPr/>
        </p:nvSpPr>
        <p:spPr>
          <a:xfrm>
            <a:off x="6172200" y="440740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7059168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44" name="Shape 40"/>
          <p:cNvSpPr/>
          <p:nvPr/>
        </p:nvSpPr>
        <p:spPr>
          <a:xfrm>
            <a:off x="4224528" y="4828032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45" name="Text 41"/>
          <p:cNvSpPr/>
          <p:nvPr/>
        </p:nvSpPr>
        <p:spPr>
          <a:xfrm>
            <a:off x="4343400" y="482803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PASP</a:t>
            </a:r>
            <a:endParaRPr lang="en-US" sz="1250" dirty="0"/>
          </a:p>
        </p:txBody>
      </p:sp>
      <p:sp>
        <p:nvSpPr>
          <p:cNvPr id="46" name="Text 42"/>
          <p:cNvSpPr/>
          <p:nvPr/>
        </p:nvSpPr>
        <p:spPr>
          <a:xfrm>
            <a:off x="5440680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50" dirty="0"/>
          </a:p>
        </p:txBody>
      </p:sp>
      <p:sp>
        <p:nvSpPr>
          <p:cNvPr id="47" name="Text 43"/>
          <p:cNvSpPr/>
          <p:nvPr/>
        </p:nvSpPr>
        <p:spPr>
          <a:xfrm>
            <a:off x="6172200" y="482803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7059168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</a:t>
            </a:r>
            <a:endParaRPr lang="en-US" sz="1150" dirty="0"/>
          </a:p>
        </p:txBody>
      </p:sp>
      <p:sp>
        <p:nvSpPr>
          <p:cNvPr id="49" name="Shape 45"/>
          <p:cNvSpPr/>
          <p:nvPr/>
        </p:nvSpPr>
        <p:spPr>
          <a:xfrm>
            <a:off x="7955280" y="1783080"/>
            <a:ext cx="3730752" cy="3566160"/>
          </a:xfrm>
          <a:prstGeom prst="roundRect">
            <a:avLst>
              <a:gd name="adj" fmla="val 307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0" name="Text 46"/>
          <p:cNvSpPr/>
          <p:nvPr/>
        </p:nvSpPr>
        <p:spPr>
          <a:xfrm>
            <a:off x="8211312" y="1956816"/>
            <a:ext cx="3218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2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359152"/>
            <a:ext cx="219456" cy="219456"/>
          </a:xfrm>
          <a:prstGeom prst="rect">
            <a:avLst/>
          </a:prstGeom>
        </p:spPr>
      </p:pic>
      <p:sp>
        <p:nvSpPr>
          <p:cNvPr id="52" name="Text 47"/>
          <p:cNvSpPr/>
          <p:nvPr/>
        </p:nvSpPr>
        <p:spPr>
          <a:xfrm>
            <a:off x="8577072" y="233172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LV size &amp; good systolic function</a:t>
            </a:r>
            <a:endParaRPr lang="en-US" sz="1250" dirty="0"/>
          </a:p>
        </p:txBody>
      </p:sp>
      <p:pic>
        <p:nvPicPr>
          <p:cNvPr id="5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953512"/>
            <a:ext cx="219456" cy="219456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8577072" y="292608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regional wall-motion abnormality</a:t>
            </a:r>
            <a:endParaRPr lang="en-US" sz="1250" dirty="0"/>
          </a:p>
        </p:txBody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3547872"/>
            <a:ext cx="219456" cy="219456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8577072" y="352044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clot in LA or LV</a:t>
            </a:r>
            <a:endParaRPr lang="en-US" sz="1250" dirty="0"/>
          </a:p>
        </p:txBody>
      </p:sp>
      <p:pic>
        <p:nvPicPr>
          <p:cNvPr id="5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4142232"/>
            <a:ext cx="219456" cy="219456"/>
          </a:xfrm>
          <a:prstGeom prst="rect">
            <a:avLst/>
          </a:prstGeom>
        </p:spPr>
      </p:pic>
      <p:sp>
        <p:nvSpPr>
          <p:cNvPr id="58" name="Text 50"/>
          <p:cNvSpPr/>
          <p:nvPr/>
        </p:nvSpPr>
        <p:spPr>
          <a:xfrm>
            <a:off x="8577072" y="411480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chambers, valves, IAS &amp; IVS</a:t>
            </a:r>
            <a:endParaRPr lang="en-US" sz="1250" dirty="0"/>
          </a:p>
        </p:txBody>
      </p:sp>
      <p:pic>
        <p:nvPicPr>
          <p:cNvPr id="5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4736592"/>
            <a:ext cx="219456" cy="219456"/>
          </a:xfrm>
          <a:prstGeom prst="rect">
            <a:avLst/>
          </a:prstGeom>
        </p:spPr>
      </p:pic>
      <p:sp>
        <p:nvSpPr>
          <p:cNvPr id="60" name="Text 51"/>
          <p:cNvSpPr/>
          <p:nvPr/>
        </p:nvSpPr>
        <p:spPr>
          <a:xfrm>
            <a:off x="8577072" y="470916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pericardium</a:t>
            </a:r>
            <a:endParaRPr lang="en-US" sz="1250" dirty="0"/>
          </a:p>
        </p:txBody>
      </p:sp>
      <p:sp>
        <p:nvSpPr>
          <p:cNvPr id="61" name="Shape 52"/>
          <p:cNvSpPr/>
          <p:nvPr/>
        </p:nvSpPr>
        <p:spPr>
          <a:xfrm>
            <a:off x="502920" y="5559552"/>
            <a:ext cx="11183112" cy="566928"/>
          </a:xfrm>
          <a:prstGeom prst="roundRect">
            <a:avLst>
              <a:gd name="adj" fmla="val 5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2" name="Text 53"/>
          <p:cNvSpPr/>
          <p:nvPr/>
        </p:nvSpPr>
        <p:spPr>
          <a:xfrm>
            <a:off x="502920" y="555955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  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biventricular size and systolic function.</a:t>
            </a:r>
            <a:endParaRPr lang="en-US" sz="1500" dirty="0"/>
          </a:p>
        </p:txBody>
      </p:sp>
      <p:sp>
        <p:nvSpPr>
          <p:cNvPr id="63" name="Text 5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64" name="Text 5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DISCUSSION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Differential Diagnosis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14813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of an irregular tachycardia — each excluded on ECG grounds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02920" y="1874520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2048256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12140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187452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440680" y="2020824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669280" y="1874520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sawtooth flutter waves; R–R interval is irregular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02920" y="2688336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77240" y="286207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2935224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71600" y="2688336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tachycardia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5440680" y="2834640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5669280" y="2688336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≥ 3 differing P-wave morphologies present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02920" y="3502152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367588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" y="3749040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71600" y="3502152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 atrial ectopics</a:t>
            </a:r>
            <a:endParaRPr lang="en-US" sz="1700" dirty="0"/>
          </a:p>
        </p:txBody>
      </p:sp>
      <p:sp>
        <p:nvSpPr>
          <p:cNvPr id="23" name="Shape 17"/>
          <p:cNvSpPr/>
          <p:nvPr/>
        </p:nvSpPr>
        <p:spPr>
          <a:xfrm>
            <a:off x="5440680" y="3648456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5669280" y="3502152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discrete P waves preceding each QRS complex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502920" y="4315968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777240" y="4489704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" y="4562856"/>
            <a:ext cx="237744" cy="23774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371600" y="4315968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AVNRT / AVRT (SVT)</a:t>
            </a:r>
            <a:endParaRPr lang="en-US" sz="1700" dirty="0"/>
          </a:p>
        </p:txBody>
      </p:sp>
      <p:sp>
        <p:nvSpPr>
          <p:cNvPr id="29" name="Shape 22"/>
          <p:cNvSpPr/>
          <p:nvPr/>
        </p:nvSpPr>
        <p:spPr>
          <a:xfrm>
            <a:off x="5440680" y="4462272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5669280" y="4315968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Paroxysmal SVT is regular — here the rhythm is irregular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502920" y="5129784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777240" y="530352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" y="5376672"/>
            <a:ext cx="237744" cy="237744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1371600" y="5129784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Sinus tachycardia + ectopics</a:t>
            </a:r>
            <a:endParaRPr lang="en-US" sz="1700" dirty="0"/>
          </a:p>
        </p:txBody>
      </p:sp>
      <p:sp>
        <p:nvSpPr>
          <p:cNvPr id="35" name="Shape 27"/>
          <p:cNvSpPr/>
          <p:nvPr/>
        </p:nvSpPr>
        <p:spPr>
          <a:xfrm>
            <a:off x="5440680" y="5276088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5669280" y="5129784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 absent; rhythm is irregularly irregular</a:t>
            </a:r>
            <a:endParaRPr lang="en-US" sz="1400" dirty="0"/>
          </a:p>
        </p:txBody>
      </p:sp>
      <p:sp>
        <p:nvSpPr>
          <p:cNvPr id="37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38" name="Text 3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138160" y="320040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77724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98755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960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DIAGNOSIS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783080"/>
            <a:ext cx="106984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4400" dirty="0"/>
          </a:p>
        </p:txBody>
      </p:sp>
      <p:sp>
        <p:nvSpPr>
          <p:cNvPr id="8" name="Shape 4"/>
          <p:cNvSpPr/>
          <p:nvPr/>
        </p:nvSpPr>
        <p:spPr>
          <a:xfrm>
            <a:off x="68580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94183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4005072"/>
            <a:ext cx="219456" cy="21945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55448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Confirmed on 12-lead ECG</a:t>
            </a:r>
            <a:endParaRPr lang="en-US" sz="1800" dirty="0"/>
          </a:p>
        </p:txBody>
      </p:sp>
      <p:sp>
        <p:nvSpPr>
          <p:cNvPr id="12" name="Text 7"/>
          <p:cNvSpPr/>
          <p:nvPr/>
        </p:nvSpPr>
        <p:spPr>
          <a:xfrm>
            <a:off x="155448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bpm · irregularly irregular · no P waves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26364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51967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005072"/>
            <a:ext cx="219456" cy="219456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713232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Structurally normal heart</a:t>
            </a:r>
            <a:endParaRPr lang="en-US" sz="1800" dirty="0"/>
          </a:p>
        </p:txBody>
      </p:sp>
      <p:sp>
        <p:nvSpPr>
          <p:cNvPr id="17" name="Text 11"/>
          <p:cNvSpPr/>
          <p:nvPr/>
        </p:nvSpPr>
        <p:spPr>
          <a:xfrm>
            <a:off x="713232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 65% · no clot in LA or LV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68580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94183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5157216"/>
            <a:ext cx="219456" cy="219456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55448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 hypertension</a:t>
            </a:r>
            <a:endParaRPr lang="en-US" sz="1800" dirty="0"/>
          </a:p>
        </p:txBody>
      </p:sp>
      <p:sp>
        <p:nvSpPr>
          <p:cNvPr id="22" name="Text 15"/>
          <p:cNvSpPr/>
          <p:nvPr/>
        </p:nvSpPr>
        <p:spPr>
          <a:xfrm>
            <a:off x="155448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comorbidity</a:t>
            </a:r>
            <a:endParaRPr lang="en-US" sz="1250" dirty="0"/>
          </a:p>
        </p:txBody>
      </p:sp>
      <p:sp>
        <p:nvSpPr>
          <p:cNvPr id="23" name="Shape 16"/>
          <p:cNvSpPr/>
          <p:nvPr/>
        </p:nvSpPr>
        <p:spPr>
          <a:xfrm>
            <a:off x="626364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51967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5157216"/>
            <a:ext cx="219456" cy="219456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713232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Mild normocytic anaemia</a:t>
            </a:r>
            <a:endParaRPr lang="en-US" sz="1800" dirty="0"/>
          </a:p>
        </p:txBody>
      </p:sp>
      <p:sp>
        <p:nvSpPr>
          <p:cNvPr id="27" name="Text 19"/>
          <p:cNvSpPr/>
          <p:nvPr/>
        </p:nvSpPr>
        <p:spPr>
          <a:xfrm>
            <a:off x="713232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Incidental haematology finding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29" name="Text 2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7000"/>
          </a:blip>
          <a:stretch>
            <a:fillRect/>
          </a:stretch>
        </p:blipFill>
        <p:spPr>
          <a:xfrm>
            <a:off x="8321040" y="-960120"/>
            <a:ext cx="4114800" cy="41148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7000"/>
          </a:blip>
          <a:stretch>
            <a:fillRect/>
          </a:stretch>
        </p:blipFill>
        <p:spPr>
          <a:xfrm>
            <a:off x="8046720" y="3749040"/>
            <a:ext cx="4663440" cy="46634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85800" y="73152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941832"/>
            <a:ext cx="548640" cy="54864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1828800" y="914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COURSE &amp; OUTCOME</a:t>
            </a:r>
            <a:endParaRPr lang="en-US" sz="1700" dirty="0"/>
          </a:p>
        </p:txBody>
      </p:sp>
      <p:sp>
        <p:nvSpPr>
          <p:cNvPr id="8" name="Text 3"/>
          <p:cNvSpPr/>
          <p:nvPr/>
        </p:nvSpPr>
        <p:spPr>
          <a:xfrm>
            <a:off x="640080" y="178308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Clinically Improved</a:t>
            </a:r>
            <a:endParaRPr lang="en-US" sz="5200" dirty="0"/>
          </a:p>
        </p:txBody>
      </p:sp>
      <p:sp>
        <p:nvSpPr>
          <p:cNvPr id="9" name="Text 4"/>
          <p:cNvSpPr/>
          <p:nvPr/>
        </p:nvSpPr>
        <p:spPr>
          <a:xfrm>
            <a:off x="685800" y="2697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cardiac emergency to safe discharge</a:t>
            </a:r>
            <a:endParaRPr lang="en-US" sz="1600" dirty="0"/>
          </a:p>
        </p:txBody>
      </p:sp>
      <p:sp>
        <p:nvSpPr>
          <p:cNvPr id="10" name="Shape 5"/>
          <p:cNvSpPr/>
          <p:nvPr/>
        </p:nvSpPr>
        <p:spPr>
          <a:xfrm>
            <a:off x="1874520" y="4133088"/>
            <a:ext cx="8503920" cy="54864"/>
          </a:xfrm>
          <a:prstGeom prst="roundRect">
            <a:avLst>
              <a:gd name="adj" fmla="val 50000"/>
            </a:avLst>
          </a:prstGeom>
          <a:solidFill>
            <a:srgbClr val="FF4D6D">
              <a:alpha val="55000"/>
            </a:srgbClr>
          </a:solidFill>
          <a:ln/>
        </p:spPr>
      </p:sp>
      <p:sp>
        <p:nvSpPr>
          <p:cNvPr id="11" name="Shape 6"/>
          <p:cNvSpPr/>
          <p:nvPr/>
        </p:nvSpPr>
        <p:spPr>
          <a:xfrm>
            <a:off x="137160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9344" y="3895344"/>
            <a:ext cx="530352" cy="53035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4864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Admitted</a:t>
            </a:r>
            <a:endParaRPr lang="en-US" sz="1900" dirty="0"/>
          </a:p>
        </p:txBody>
      </p:sp>
      <p:sp>
        <p:nvSpPr>
          <p:cNvPr id="14" name="Text 8"/>
          <p:cNvSpPr/>
          <p:nvPr/>
        </p:nvSpPr>
        <p:spPr>
          <a:xfrm>
            <a:off x="54864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emergency</a:t>
            </a:r>
            <a:endParaRPr lang="en-US" sz="1250" dirty="0"/>
          </a:p>
        </p:txBody>
      </p:sp>
      <p:sp>
        <p:nvSpPr>
          <p:cNvPr id="15" name="Shape 9"/>
          <p:cNvSpPr/>
          <p:nvPr/>
        </p:nvSpPr>
        <p:spPr>
          <a:xfrm>
            <a:off x="420624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984" y="3895344"/>
            <a:ext cx="530352" cy="53035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338328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Treated</a:t>
            </a:r>
            <a:endParaRPr lang="en-US" sz="1900" dirty="0"/>
          </a:p>
        </p:txBody>
      </p:sp>
      <p:sp>
        <p:nvSpPr>
          <p:cNvPr id="18" name="Text 11"/>
          <p:cNvSpPr/>
          <p:nvPr/>
        </p:nvSpPr>
        <p:spPr>
          <a:xfrm>
            <a:off x="338328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medication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704088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78624" y="3895344"/>
            <a:ext cx="530352" cy="530352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21792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</a:t>
            </a:r>
            <a:endParaRPr lang="en-US" sz="1900" dirty="0"/>
          </a:p>
        </p:txBody>
      </p:sp>
      <p:sp>
        <p:nvSpPr>
          <p:cNvPr id="22" name="Text 14"/>
          <p:cNvSpPr/>
          <p:nvPr/>
        </p:nvSpPr>
        <p:spPr>
          <a:xfrm>
            <a:off x="621792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 &amp; symptoms settled</a:t>
            </a:r>
            <a:endParaRPr lang="en-US" sz="1250" dirty="0"/>
          </a:p>
        </p:txBody>
      </p:sp>
      <p:sp>
        <p:nvSpPr>
          <p:cNvPr id="23" name="Shape 15"/>
          <p:cNvSpPr/>
          <p:nvPr/>
        </p:nvSpPr>
        <p:spPr>
          <a:xfrm>
            <a:off x="987552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3264" y="3895344"/>
            <a:ext cx="530352" cy="530352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905256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Discharged</a:t>
            </a:r>
            <a:endParaRPr lang="en-US" sz="1900" dirty="0"/>
          </a:p>
        </p:txBody>
      </p:sp>
      <p:sp>
        <p:nvSpPr>
          <p:cNvPr id="26" name="Text 17"/>
          <p:cNvSpPr/>
          <p:nvPr/>
        </p:nvSpPr>
        <p:spPr>
          <a:xfrm>
            <a:off x="905256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for follow-up</a:t>
            </a:r>
            <a:endParaRPr lang="en-US" sz="1250" dirty="0"/>
          </a:p>
        </p:txBody>
      </p:sp>
      <p:sp>
        <p:nvSpPr>
          <p:cNvPr id="27" name="Text 18"/>
          <p:cNvSpPr/>
          <p:nvPr/>
        </p:nvSpPr>
        <p:spPr>
          <a:xfrm>
            <a:off x="685800" y="59436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i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case in context — Atrial Fibrillation</a:t>
            </a:r>
            <a:endParaRPr lang="en-US" sz="2000" dirty="0"/>
          </a:p>
        </p:txBody>
      </p:sp>
      <p:sp>
        <p:nvSpPr>
          <p:cNvPr id="28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29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680960" y="100584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757123" y="1280160"/>
            <a:ext cx="163860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 flipV="1">
            <a:off x="92098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9121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06143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336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126040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89156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517904" y="1280160"/>
            <a:ext cx="46817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1564721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634947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1705173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87103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V="1">
            <a:off x="1904147" y="1280160"/>
            <a:ext cx="12874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03289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10312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217334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25527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V="1">
            <a:off x="237231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501067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V="1">
            <a:off x="2629814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758562" y="1257300"/>
            <a:ext cx="93635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285219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92242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99264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074579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flipV="1">
            <a:off x="3191622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320369" y="1248156"/>
            <a:ext cx="175565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349593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56616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V="1">
            <a:off x="363638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71831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V="1">
            <a:off x="3835359" y="1280160"/>
            <a:ext cx="15800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3993368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063594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4133820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1575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332793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461540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V="1">
            <a:off x="4590288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719036" y="1257300"/>
            <a:ext cx="64374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783409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853635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flipV="1">
            <a:off x="4923861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05791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283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251582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5380330" y="1280160"/>
            <a:ext cx="163860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5544190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614416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5684642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766572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88361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012363" y="1248156"/>
            <a:ext cx="117043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12940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19963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V="1">
            <a:off x="626985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6351788" y="1280160"/>
            <a:ext cx="140452" cy="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685800" y="19659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CARDIOLOGY  ·  CLINICAL TOPIC REVIEW</a:t>
            </a:r>
            <a:endParaRPr lang="en-US" sz="1400" dirty="0"/>
          </a:p>
        </p:txBody>
      </p:sp>
      <p:sp>
        <p:nvSpPr>
          <p:cNvPr id="63" name="Text 60"/>
          <p:cNvSpPr/>
          <p:nvPr/>
        </p:nvSpPr>
        <p:spPr>
          <a:xfrm>
            <a:off x="621792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7000" dirty="0"/>
          </a:p>
        </p:txBody>
      </p:sp>
      <p:sp>
        <p:nvSpPr>
          <p:cNvPr id="64" name="Text 61"/>
          <p:cNvSpPr/>
          <p:nvPr/>
        </p:nvSpPr>
        <p:spPr>
          <a:xfrm>
            <a:off x="685800" y="3703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  ·  Clinical Features  ·  Differential Diagnosis  ·  Management</a:t>
            </a:r>
            <a:endParaRPr lang="en-US" sz="1650" dirty="0"/>
          </a:p>
        </p:txBody>
      </p:sp>
      <p:sp>
        <p:nvSpPr>
          <p:cNvPr id="65" name="Shape 62"/>
          <p:cNvSpPr/>
          <p:nvPr/>
        </p:nvSpPr>
        <p:spPr>
          <a:xfrm>
            <a:off x="685800" y="4572000"/>
            <a:ext cx="59436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pic>
        <p:nvPicPr>
          <p:cNvPr id="6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773168"/>
            <a:ext cx="457200" cy="457200"/>
          </a:xfrm>
          <a:prstGeom prst="rect">
            <a:avLst/>
          </a:prstGeom>
        </p:spPr>
      </p:pic>
      <p:sp>
        <p:nvSpPr>
          <p:cNvPr id="67" name="Text 63"/>
          <p:cNvSpPr/>
          <p:nvPr/>
        </p:nvSpPr>
        <p:spPr>
          <a:xfrm>
            <a:off x="1600200" y="45720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sustained cardiac arrhythmia</a:t>
            </a:r>
            <a:endParaRPr lang="en-US" sz="1450" dirty="0"/>
          </a:p>
        </p:txBody>
      </p:sp>
      <p:sp>
        <p:nvSpPr>
          <p:cNvPr id="68" name="Text 6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  <p:sp>
        <p:nvSpPr>
          <p:cNvPr id="69" name="Text 65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Atrial Fibrillation?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6126480" cy="4297680"/>
          </a:xfrm>
          <a:prstGeom prst="roundRect">
            <a:avLst>
              <a:gd name="adj" fmla="val 2553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4937760" y="4709160"/>
            <a:ext cx="1463040" cy="1463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6868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868680" y="2560320"/>
            <a:ext cx="53492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supraventricular tachyarrhythmia with rapid, disorganised atrial electrical activity — producing uncoordinated, ineffective atrial contraction and an irregularly irregular ventricular response.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858000" y="1783080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040880" y="200253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</a:t>
            </a:r>
            <a:endParaRPr lang="en-US" sz="4000" dirty="0"/>
          </a:p>
        </p:txBody>
      </p:sp>
      <p:sp>
        <p:nvSpPr>
          <p:cNvPr id="12" name="Text 8"/>
          <p:cNvSpPr/>
          <p:nvPr/>
        </p:nvSpPr>
        <p:spPr>
          <a:xfrm>
            <a:off x="8823960" y="1783080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sustained cardiac arrhythmia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858000" y="3264408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040880" y="348386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~1–2%</a:t>
            </a:r>
            <a:endParaRPr lang="en-US" sz="4000" dirty="0"/>
          </a:p>
        </p:txBody>
      </p:sp>
      <p:sp>
        <p:nvSpPr>
          <p:cNvPr id="15" name="Text 11"/>
          <p:cNvSpPr/>
          <p:nvPr/>
        </p:nvSpPr>
        <p:spPr>
          <a:xfrm>
            <a:off x="8823960" y="3264408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general population — rises sharply with age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858000" y="4745736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040880" y="496519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5×</a:t>
            </a:r>
            <a:endParaRPr lang="en-US" sz="4000" dirty="0"/>
          </a:p>
        </p:txBody>
      </p:sp>
      <p:sp>
        <p:nvSpPr>
          <p:cNvPr id="18" name="Text 14"/>
          <p:cNvSpPr/>
          <p:nvPr/>
        </p:nvSpPr>
        <p:spPr>
          <a:xfrm>
            <a:off x="8823960" y="4745736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Increased risk of ischaemic stroke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 of Atrial Fibrillation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289304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336" y="249631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Paroxysmal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704088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Self-terminating, usually within 48 h (≤ 7 days)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3346704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133088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249631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83864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Persistent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3547872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&gt; 7 days; needs cardioversion to stop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190488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976872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2904" y="249631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327648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Long-standing</a:t>
            </a:r>
            <a:endParaRPr lang="en-US" sz="2000" dirty="0"/>
          </a:p>
        </p:txBody>
      </p:sp>
      <p:sp>
        <p:nvSpPr>
          <p:cNvPr id="20" name="Text 14"/>
          <p:cNvSpPr/>
          <p:nvPr/>
        </p:nvSpPr>
        <p:spPr>
          <a:xfrm>
            <a:off x="6391656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&gt; 12 months, rhythm control still intended</a:t>
            </a:r>
            <a:endParaRPr lang="en-US" sz="1350" dirty="0"/>
          </a:p>
        </p:txBody>
      </p:sp>
      <p:sp>
        <p:nvSpPr>
          <p:cNvPr id="21" name="Shape 15"/>
          <p:cNvSpPr/>
          <p:nvPr/>
        </p:nvSpPr>
        <p:spPr>
          <a:xfrm>
            <a:off x="9034272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9820656" y="2240280"/>
            <a:ext cx="1097280" cy="109728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6688" y="2496312"/>
            <a:ext cx="585216" cy="58521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71432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Permanent</a:t>
            </a:r>
            <a:endParaRPr lang="en-US" sz="2000" dirty="0"/>
          </a:p>
        </p:txBody>
      </p:sp>
      <p:sp>
        <p:nvSpPr>
          <p:cNvPr id="25" name="Text 18"/>
          <p:cNvSpPr/>
          <p:nvPr/>
        </p:nvSpPr>
        <p:spPr>
          <a:xfrm>
            <a:off x="9235440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Accepted; no further attempts to restore sinus rhythm</a:t>
            </a:r>
            <a:endParaRPr lang="en-US" sz="1350" dirty="0"/>
          </a:p>
        </p:txBody>
      </p:sp>
      <p:sp>
        <p:nvSpPr>
          <p:cNvPr id="26" name="Shape 19"/>
          <p:cNvSpPr/>
          <p:nvPr/>
        </p:nvSpPr>
        <p:spPr>
          <a:xfrm>
            <a:off x="502920" y="5440680"/>
            <a:ext cx="11183112" cy="658368"/>
          </a:xfrm>
          <a:prstGeom prst="roundRect">
            <a:avLst>
              <a:gd name="adj" fmla="val 13889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440680"/>
            <a:ext cx="10515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First-diagnosed AF  </a:t>
            </a:r>
            <a:pPr algn="l" indent="0" marL="0">
              <a:buNone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detected for the first time, whatever its duration or symptom burden.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AF Develops &amp; Sustains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68780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812" y="263347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Triggers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777240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Ectopic foci — most often from the pulmonary veins — fire rapidly and initiate AF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379976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545836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1868" y="263347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562856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Re-entry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54296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re-entrant wavelets &amp; rotors sustain disorganised atrial activity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257032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422892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8924" y="263347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439912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Remodelling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531352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Electrical &amp; structural atrial remodelling — “AF begets AF”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 rot="5400000">
            <a:off x="3968496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2" name="Shape 16"/>
          <p:cNvSpPr/>
          <p:nvPr/>
        </p:nvSpPr>
        <p:spPr>
          <a:xfrm rot="5400000">
            <a:off x="7845552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3" name="Shape 17"/>
          <p:cNvSpPr/>
          <p:nvPr/>
        </p:nvSpPr>
        <p:spPr>
          <a:xfrm>
            <a:off x="502920" y="4892040"/>
            <a:ext cx="11183112" cy="1188720"/>
          </a:xfrm>
          <a:prstGeom prst="roundRect">
            <a:avLst>
              <a:gd name="adj" fmla="val 923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Text 18"/>
          <p:cNvSpPr/>
          <p:nvPr/>
        </p:nvSpPr>
        <p:spPr>
          <a:xfrm>
            <a:off x="914400" y="51023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914400" y="539496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“kick” + irregular AV conduction </a:t>
            </a:r>
            <a:pPr algn="l"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reduced cardiac output and blood stasis in the left atrial appendage → thrombus formation.</a:t>
            </a:r>
            <a:endParaRPr lang="en-US" sz="1550" dirty="0"/>
          </a:p>
        </p:txBody>
      </p:sp>
      <p:sp>
        <p:nvSpPr>
          <p:cNvPr id="26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&amp; Risk Factors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1031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868680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14984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" y="2907792"/>
            <a:ext cx="265176" cy="2651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18488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406140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552444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316" y="2907792"/>
            <a:ext cx="265176" cy="26517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155948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Ischaemic heart disease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68680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014984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856" y="3931920"/>
            <a:ext cx="265176" cy="26517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18488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Valvular disease (mitral stenosis)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3406140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552444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1316" y="3931920"/>
            <a:ext cx="265176" cy="26517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155948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868680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1014984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3856" y="4956048"/>
            <a:ext cx="265176" cy="26517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618488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Cardiomyopathy</a:t>
            </a:r>
            <a:endParaRPr lang="en-US" sz="1300" dirty="0"/>
          </a:p>
        </p:txBody>
      </p:sp>
      <p:sp>
        <p:nvSpPr>
          <p:cNvPr id="28" name="Shape 20"/>
          <p:cNvSpPr/>
          <p:nvPr/>
        </p:nvSpPr>
        <p:spPr>
          <a:xfrm>
            <a:off x="3406140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3552444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71316" y="4956048"/>
            <a:ext cx="265176" cy="265176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4155948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Post-cardiac surgery</a:t>
            </a:r>
            <a:endParaRPr lang="en-US" sz="1300" dirty="0"/>
          </a:p>
        </p:txBody>
      </p:sp>
      <p:sp>
        <p:nvSpPr>
          <p:cNvPr id="32" name="Shape 23"/>
          <p:cNvSpPr/>
          <p:nvPr/>
        </p:nvSpPr>
        <p:spPr>
          <a:xfrm>
            <a:off x="6153912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3" name="Text 24"/>
          <p:cNvSpPr/>
          <p:nvPr/>
        </p:nvSpPr>
        <p:spPr>
          <a:xfrm>
            <a:off x="6519672" y="21031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NON-CARDIAC / SYSTEMIC</a:t>
            </a:r>
            <a:endParaRPr lang="en-US" sz="1350" dirty="0"/>
          </a:p>
        </p:txBody>
      </p:sp>
      <p:sp>
        <p:nvSpPr>
          <p:cNvPr id="34" name="Shape 25"/>
          <p:cNvSpPr/>
          <p:nvPr/>
        </p:nvSpPr>
        <p:spPr>
          <a:xfrm>
            <a:off x="6519672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Shape 26"/>
          <p:cNvSpPr/>
          <p:nvPr/>
        </p:nvSpPr>
        <p:spPr>
          <a:xfrm>
            <a:off x="6665976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4848" y="2907792"/>
            <a:ext cx="265176" cy="265176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7269480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Hyperthyroidism</a:t>
            </a:r>
            <a:endParaRPr lang="en-US" sz="1300" dirty="0"/>
          </a:p>
        </p:txBody>
      </p:sp>
      <p:sp>
        <p:nvSpPr>
          <p:cNvPr id="38" name="Shape 28"/>
          <p:cNvSpPr/>
          <p:nvPr/>
        </p:nvSpPr>
        <p:spPr>
          <a:xfrm>
            <a:off x="9057132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9" name="Shape 29"/>
          <p:cNvSpPr/>
          <p:nvPr/>
        </p:nvSpPr>
        <p:spPr>
          <a:xfrm>
            <a:off x="9203436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22308" y="2907792"/>
            <a:ext cx="265176" cy="265176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9806940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(“holiday heart”)</a:t>
            </a:r>
            <a:endParaRPr lang="en-US" sz="1300" dirty="0"/>
          </a:p>
        </p:txBody>
      </p:sp>
      <p:sp>
        <p:nvSpPr>
          <p:cNvPr id="42" name="Shape 31"/>
          <p:cNvSpPr/>
          <p:nvPr/>
        </p:nvSpPr>
        <p:spPr>
          <a:xfrm>
            <a:off x="6519672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3" name="Shape 32"/>
          <p:cNvSpPr/>
          <p:nvPr/>
        </p:nvSpPr>
        <p:spPr>
          <a:xfrm>
            <a:off x="6665976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84848" y="3931920"/>
            <a:ext cx="265176" cy="265176"/>
          </a:xfrm>
          <a:prstGeom prst="rect">
            <a:avLst/>
          </a:prstGeom>
        </p:spPr>
      </p:pic>
      <p:sp>
        <p:nvSpPr>
          <p:cNvPr id="45" name="Text 33"/>
          <p:cNvSpPr/>
          <p:nvPr/>
        </p:nvSpPr>
        <p:spPr>
          <a:xfrm>
            <a:off x="7269480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Obesity / sleep apnoea</a:t>
            </a:r>
            <a:endParaRPr lang="en-US" sz="1300" dirty="0"/>
          </a:p>
        </p:txBody>
      </p:sp>
      <p:sp>
        <p:nvSpPr>
          <p:cNvPr id="46" name="Shape 34"/>
          <p:cNvSpPr/>
          <p:nvPr/>
        </p:nvSpPr>
        <p:spPr>
          <a:xfrm>
            <a:off x="9057132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7" name="Shape 35"/>
          <p:cNvSpPr/>
          <p:nvPr/>
        </p:nvSpPr>
        <p:spPr>
          <a:xfrm>
            <a:off x="9203436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22308" y="3931920"/>
            <a:ext cx="265176" cy="265176"/>
          </a:xfrm>
          <a:prstGeom prst="rect">
            <a:avLst/>
          </a:prstGeom>
        </p:spPr>
      </p:pic>
      <p:sp>
        <p:nvSpPr>
          <p:cNvPr id="49" name="Text 36"/>
          <p:cNvSpPr/>
          <p:nvPr/>
        </p:nvSpPr>
        <p:spPr>
          <a:xfrm>
            <a:off x="9806940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Sepsis / infection</a:t>
            </a:r>
            <a:endParaRPr lang="en-US" sz="1300" dirty="0"/>
          </a:p>
        </p:txBody>
      </p:sp>
      <p:sp>
        <p:nvSpPr>
          <p:cNvPr id="50" name="Shape 37"/>
          <p:cNvSpPr/>
          <p:nvPr/>
        </p:nvSpPr>
        <p:spPr>
          <a:xfrm>
            <a:off x="6519672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1" name="Shape 38"/>
          <p:cNvSpPr/>
          <p:nvPr/>
        </p:nvSpPr>
        <p:spPr>
          <a:xfrm>
            <a:off x="6665976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84848" y="4956048"/>
            <a:ext cx="265176" cy="265176"/>
          </a:xfrm>
          <a:prstGeom prst="rect">
            <a:avLst/>
          </a:prstGeom>
        </p:spPr>
      </p:pic>
      <p:sp>
        <p:nvSpPr>
          <p:cNvPr id="53" name="Text 39"/>
          <p:cNvSpPr/>
          <p:nvPr/>
        </p:nvSpPr>
        <p:spPr>
          <a:xfrm>
            <a:off x="7269480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— PE, COPD</a:t>
            </a:r>
            <a:endParaRPr lang="en-US" sz="1300" dirty="0"/>
          </a:p>
        </p:txBody>
      </p:sp>
      <p:sp>
        <p:nvSpPr>
          <p:cNvPr id="54" name="Shape 40"/>
          <p:cNvSpPr/>
          <p:nvPr/>
        </p:nvSpPr>
        <p:spPr>
          <a:xfrm>
            <a:off x="9057132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5" name="Shape 41"/>
          <p:cNvSpPr/>
          <p:nvPr/>
        </p:nvSpPr>
        <p:spPr>
          <a:xfrm>
            <a:off x="9203436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22308" y="4956048"/>
            <a:ext cx="265176" cy="265176"/>
          </a:xfrm>
          <a:prstGeom prst="rect">
            <a:avLst/>
          </a:prstGeom>
        </p:spPr>
      </p:pic>
      <p:sp>
        <p:nvSpPr>
          <p:cNvPr id="57" name="Text 42"/>
          <p:cNvSpPr/>
          <p:nvPr/>
        </p:nvSpPr>
        <p:spPr>
          <a:xfrm>
            <a:off x="9806940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Electrolytes / diabetes / age</a:t>
            </a:r>
            <a:endParaRPr lang="en-US" sz="1300" dirty="0"/>
          </a:p>
        </p:txBody>
      </p:sp>
      <p:sp>
        <p:nvSpPr>
          <p:cNvPr id="58" name="Text 4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100" dirty="0"/>
          </a:p>
        </p:txBody>
      </p:sp>
      <p:sp>
        <p:nvSpPr>
          <p:cNvPr id="59" name="Text 4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FEATURES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 &amp; Signs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Racing / irregular heartbeat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36499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51129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Dyspnoea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Breathlessness on exertion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18795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33425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exercise tolerance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868680" y="501091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" y="5157216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61848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23" name="Text 16"/>
          <p:cNvSpPr/>
          <p:nvPr/>
        </p:nvSpPr>
        <p:spPr>
          <a:xfrm>
            <a:off x="161848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Light-headedness, rarely syncope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868680" y="5532120"/>
            <a:ext cx="4800600" cy="384048"/>
          </a:xfrm>
          <a:prstGeom prst="roundRect">
            <a:avLst>
              <a:gd name="adj" fmla="val 50000"/>
            </a:avLst>
          </a:prstGeom>
          <a:solidFill>
            <a:srgbClr val="FBD8DF"/>
          </a:solidFill>
          <a:ln/>
        </p:spPr>
      </p:sp>
      <p:sp>
        <p:nvSpPr>
          <p:cNvPr id="25" name="Text 18"/>
          <p:cNvSpPr/>
          <p:nvPr/>
        </p:nvSpPr>
        <p:spPr>
          <a:xfrm>
            <a:off x="868680" y="5532120"/>
            <a:ext cx="4800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asymptomatic — found incidentally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Text 20"/>
          <p:cNvSpPr/>
          <p:nvPr/>
        </p:nvSpPr>
        <p:spPr>
          <a:xfrm>
            <a:off x="653796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537960" y="254203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4264" y="2688336"/>
            <a:ext cx="274320" cy="27432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728776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 pulse</a:t>
            </a:r>
            <a:endParaRPr lang="en-US" sz="1600" dirty="0"/>
          </a:p>
        </p:txBody>
      </p:sp>
      <p:sp>
        <p:nvSpPr>
          <p:cNvPr id="31" name="Text 23"/>
          <p:cNvSpPr/>
          <p:nvPr/>
        </p:nvSpPr>
        <p:spPr>
          <a:xfrm>
            <a:off x="728776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clinical hallmark</a:t>
            </a:r>
            <a:endParaRPr lang="en-US" sz="1250" dirty="0"/>
          </a:p>
        </p:txBody>
      </p:sp>
      <p:sp>
        <p:nvSpPr>
          <p:cNvPr id="32" name="Shape 24"/>
          <p:cNvSpPr/>
          <p:nvPr/>
        </p:nvSpPr>
        <p:spPr>
          <a:xfrm>
            <a:off x="6537960" y="336499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4264" y="3511296"/>
            <a:ext cx="274320" cy="27432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28776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Apex–radial pulse deficit</a:t>
            </a:r>
            <a:endParaRPr lang="en-US" sz="1600" dirty="0"/>
          </a:p>
        </p:txBody>
      </p:sp>
      <p:sp>
        <p:nvSpPr>
          <p:cNvPr id="35" name="Text 26"/>
          <p:cNvSpPr/>
          <p:nvPr/>
        </p:nvSpPr>
        <p:spPr>
          <a:xfrm>
            <a:off x="728776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Apical rate &gt; radial rate</a:t>
            </a:r>
            <a:endParaRPr lang="en-US" sz="1250" dirty="0"/>
          </a:p>
        </p:txBody>
      </p:sp>
      <p:sp>
        <p:nvSpPr>
          <p:cNvPr id="36" name="Shape 27"/>
          <p:cNvSpPr/>
          <p:nvPr/>
        </p:nvSpPr>
        <p:spPr>
          <a:xfrm>
            <a:off x="6537960" y="418795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4264" y="4334256"/>
            <a:ext cx="274320" cy="274320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728776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 heart sounds</a:t>
            </a:r>
            <a:endParaRPr lang="en-US" sz="1600" dirty="0"/>
          </a:p>
        </p:txBody>
      </p:sp>
      <p:sp>
        <p:nvSpPr>
          <p:cNvPr id="39" name="Text 29"/>
          <p:cNvSpPr/>
          <p:nvPr/>
        </p:nvSpPr>
        <p:spPr>
          <a:xfrm>
            <a:off x="728776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Varying S1 intensity</a:t>
            </a:r>
            <a:endParaRPr lang="en-US" sz="1250" dirty="0"/>
          </a:p>
        </p:txBody>
      </p:sp>
      <p:sp>
        <p:nvSpPr>
          <p:cNvPr id="40" name="Shape 30"/>
          <p:cNvSpPr/>
          <p:nvPr/>
        </p:nvSpPr>
        <p:spPr>
          <a:xfrm>
            <a:off x="6537960" y="501091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4264" y="5157216"/>
            <a:ext cx="274320" cy="274320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728776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Signs of complications</a:t>
            </a:r>
            <a:endParaRPr lang="en-US" sz="1600" dirty="0"/>
          </a:p>
        </p:txBody>
      </p:sp>
      <p:sp>
        <p:nvSpPr>
          <p:cNvPr id="43" name="Text 32"/>
          <p:cNvSpPr/>
          <p:nvPr/>
        </p:nvSpPr>
        <p:spPr>
          <a:xfrm>
            <a:off x="728776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 or embolic stroke</a:t>
            </a:r>
            <a:endParaRPr lang="en-US" sz="1250" dirty="0"/>
          </a:p>
        </p:txBody>
      </p:sp>
      <p:sp>
        <p:nvSpPr>
          <p:cNvPr id="44" name="Text 3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100" dirty="0"/>
          </a:p>
        </p:txBody>
      </p:sp>
      <p:sp>
        <p:nvSpPr>
          <p:cNvPr id="45" name="Text 3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ECG Hallmarks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11183112" cy="1965960"/>
          </a:xfrm>
          <a:prstGeom prst="roundRect">
            <a:avLst>
              <a:gd name="adj" fmla="val 558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14400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21054" y="2743200"/>
            <a:ext cx="289316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41037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534363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1658356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803014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2009668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236988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2464308" y="2743200"/>
            <a:ext cx="82662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2546970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67096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79495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93961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3146268" y="2743200"/>
            <a:ext cx="22732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V="1">
            <a:off x="337358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49758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362157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76623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3972885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00205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427525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654845" y="2720340"/>
            <a:ext cx="16532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820168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94416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50681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21281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541946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46786" y="2711196"/>
            <a:ext cx="309982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V="1">
            <a:off x="595676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08076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62047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34941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6556065" y="2743200"/>
            <a:ext cx="278983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V="1">
            <a:off x="683504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95904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7083034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22769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743434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661666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flipV="1">
            <a:off x="7888986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116306" y="2720340"/>
            <a:ext cx="11366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8229966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353958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8477951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622609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8829264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056583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9283903" y="2743200"/>
            <a:ext cx="289316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V="1">
            <a:off x="957321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69721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982120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996586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V="1">
            <a:off x="10172517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10399837" y="2711196"/>
            <a:ext cx="206654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1060649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0730484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10854477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0999135" y="2743200"/>
            <a:ext cx="247985" cy="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14400" y="34015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II — irregular R–R, no P waves, fibrillatory baseline</a:t>
            </a:r>
            <a:endParaRPr lang="en-US" sz="1150" dirty="0"/>
          </a:p>
        </p:txBody>
      </p:sp>
      <p:sp>
        <p:nvSpPr>
          <p:cNvPr id="66" name="Shape 63"/>
          <p:cNvSpPr/>
          <p:nvPr/>
        </p:nvSpPr>
        <p:spPr>
          <a:xfrm>
            <a:off x="502920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1380744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6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4471416"/>
            <a:ext cx="475488" cy="475488"/>
          </a:xfrm>
          <a:prstGeom prst="rect">
            <a:avLst/>
          </a:prstGeom>
        </p:spPr>
      </p:pic>
      <p:sp>
        <p:nvSpPr>
          <p:cNvPr id="69" name="Text 65"/>
          <p:cNvSpPr/>
          <p:nvPr/>
        </p:nvSpPr>
        <p:spPr>
          <a:xfrm>
            <a:off x="640080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</a:t>
            </a:r>
            <a:endParaRPr lang="en-US" sz="1550" dirty="0"/>
          </a:p>
        </p:txBody>
      </p:sp>
      <p:sp>
        <p:nvSpPr>
          <p:cNvPr id="70" name="Text 66"/>
          <p:cNvSpPr/>
          <p:nvPr/>
        </p:nvSpPr>
        <p:spPr>
          <a:xfrm>
            <a:off x="685800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R–R intervals vary with no pattern</a:t>
            </a:r>
            <a:endParaRPr lang="en-US" sz="1200" dirty="0"/>
          </a:p>
        </p:txBody>
      </p:sp>
      <p:sp>
        <p:nvSpPr>
          <p:cNvPr id="71" name="Shape 67"/>
          <p:cNvSpPr/>
          <p:nvPr/>
        </p:nvSpPr>
        <p:spPr>
          <a:xfrm>
            <a:off x="3346704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2" name="Shape 68"/>
          <p:cNvSpPr/>
          <p:nvPr/>
        </p:nvSpPr>
        <p:spPr>
          <a:xfrm>
            <a:off x="4224528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4471416"/>
            <a:ext cx="475488" cy="475488"/>
          </a:xfrm>
          <a:prstGeom prst="rect">
            <a:avLst/>
          </a:prstGeom>
        </p:spPr>
      </p:pic>
      <p:sp>
        <p:nvSpPr>
          <p:cNvPr id="74" name="Text 69"/>
          <p:cNvSpPr/>
          <p:nvPr/>
        </p:nvSpPr>
        <p:spPr>
          <a:xfrm>
            <a:off x="3483864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Absent P waves</a:t>
            </a:r>
            <a:endParaRPr lang="en-US" sz="1550" dirty="0"/>
          </a:p>
        </p:txBody>
      </p:sp>
      <p:sp>
        <p:nvSpPr>
          <p:cNvPr id="75" name="Text 70"/>
          <p:cNvSpPr/>
          <p:nvPr/>
        </p:nvSpPr>
        <p:spPr>
          <a:xfrm>
            <a:off x="3529584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organised atrial depolarisation</a:t>
            </a:r>
            <a:endParaRPr lang="en-US" sz="1200" dirty="0"/>
          </a:p>
        </p:txBody>
      </p:sp>
      <p:sp>
        <p:nvSpPr>
          <p:cNvPr id="76" name="Shape 71"/>
          <p:cNvSpPr/>
          <p:nvPr/>
        </p:nvSpPr>
        <p:spPr>
          <a:xfrm>
            <a:off x="6190488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7" name="Shape 72"/>
          <p:cNvSpPr/>
          <p:nvPr/>
        </p:nvSpPr>
        <p:spPr>
          <a:xfrm>
            <a:off x="7068312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7768" y="4471416"/>
            <a:ext cx="475488" cy="475488"/>
          </a:xfrm>
          <a:prstGeom prst="rect">
            <a:avLst/>
          </a:prstGeom>
        </p:spPr>
      </p:pic>
      <p:sp>
        <p:nvSpPr>
          <p:cNvPr id="79" name="Text 73"/>
          <p:cNvSpPr/>
          <p:nvPr/>
        </p:nvSpPr>
        <p:spPr>
          <a:xfrm>
            <a:off x="6327648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Fibrillatory f-waves</a:t>
            </a:r>
            <a:endParaRPr lang="en-US" sz="1550" dirty="0"/>
          </a:p>
        </p:txBody>
      </p:sp>
      <p:sp>
        <p:nvSpPr>
          <p:cNvPr id="80" name="Text 74"/>
          <p:cNvSpPr/>
          <p:nvPr/>
        </p:nvSpPr>
        <p:spPr>
          <a:xfrm>
            <a:off x="6373368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baseline (~300–600/min)</a:t>
            </a:r>
            <a:endParaRPr lang="en-US" sz="1200" dirty="0"/>
          </a:p>
        </p:txBody>
      </p:sp>
      <p:sp>
        <p:nvSpPr>
          <p:cNvPr id="81" name="Shape 75"/>
          <p:cNvSpPr/>
          <p:nvPr/>
        </p:nvSpPr>
        <p:spPr>
          <a:xfrm>
            <a:off x="9034272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2" name="Shape 76"/>
          <p:cNvSpPr/>
          <p:nvPr/>
        </p:nvSpPr>
        <p:spPr>
          <a:xfrm>
            <a:off x="9912096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1552" y="4471416"/>
            <a:ext cx="475488" cy="475488"/>
          </a:xfrm>
          <a:prstGeom prst="rect">
            <a:avLst/>
          </a:prstGeom>
        </p:spPr>
      </p:pic>
      <p:sp>
        <p:nvSpPr>
          <p:cNvPr id="84" name="Text 77"/>
          <p:cNvSpPr/>
          <p:nvPr/>
        </p:nvSpPr>
        <p:spPr>
          <a:xfrm>
            <a:off x="9171432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Narrow QRS</a:t>
            </a:r>
            <a:endParaRPr lang="en-US" sz="1550" dirty="0"/>
          </a:p>
        </p:txBody>
      </p:sp>
      <p:sp>
        <p:nvSpPr>
          <p:cNvPr id="85" name="Text 78"/>
          <p:cNvSpPr/>
          <p:nvPr/>
        </p:nvSpPr>
        <p:spPr>
          <a:xfrm>
            <a:off x="9217152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Unless aberrancy / bundle branch block</a:t>
            </a:r>
            <a:endParaRPr lang="en-US" sz="1200" dirty="0"/>
          </a:p>
        </p:txBody>
      </p:sp>
      <p:sp>
        <p:nvSpPr>
          <p:cNvPr id="86" name="Text 7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100" dirty="0"/>
          </a:p>
        </p:txBody>
      </p:sp>
      <p:sp>
        <p:nvSpPr>
          <p:cNvPr id="87" name="Text 80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95528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2377440"/>
            <a:ext cx="393192" cy="3931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09928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822960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the diagnosis — first-line test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288536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81144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2377440"/>
            <a:ext cx="393192" cy="3931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495544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Ambulatory / Holter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608576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paroxysmal or intermittent AF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074152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66760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8784" y="2377440"/>
            <a:ext cx="393192" cy="3931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281160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8394192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Structure, LA size, valves, LV; TOE for LA thrombus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502920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95528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434840"/>
            <a:ext cx="393192" cy="39319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709928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tests</a:t>
            </a:r>
            <a:endParaRPr lang="en-US" sz="1800" dirty="0"/>
          </a:p>
        </p:txBody>
      </p:sp>
      <p:sp>
        <p:nvSpPr>
          <p:cNvPr id="25" name="Text 18"/>
          <p:cNvSpPr/>
          <p:nvPr/>
        </p:nvSpPr>
        <p:spPr>
          <a:xfrm>
            <a:off x="822960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TFTs, U&amp;E, FBC, glucose, coagulation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4288536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4581144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3168" y="4434840"/>
            <a:ext cx="393192" cy="39319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495544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Chest X-ray</a:t>
            </a:r>
            <a:endParaRPr lang="en-US" sz="1800" dirty="0"/>
          </a:p>
        </p:txBody>
      </p:sp>
      <p:sp>
        <p:nvSpPr>
          <p:cNvPr id="30" name="Text 22"/>
          <p:cNvSpPr/>
          <p:nvPr/>
        </p:nvSpPr>
        <p:spPr>
          <a:xfrm>
            <a:off x="4608576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size &amp; pulmonary causes</a:t>
            </a:r>
            <a:endParaRPr lang="en-US" sz="1250" dirty="0"/>
          </a:p>
        </p:txBody>
      </p:sp>
      <p:sp>
        <p:nvSpPr>
          <p:cNvPr id="31" name="Shape 23"/>
          <p:cNvSpPr/>
          <p:nvPr/>
        </p:nvSpPr>
        <p:spPr>
          <a:xfrm>
            <a:off x="8074152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8366760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8784" y="4434840"/>
            <a:ext cx="393192" cy="393192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281160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the cause</a:t>
            </a:r>
            <a:endParaRPr lang="en-US" sz="1800" dirty="0"/>
          </a:p>
        </p:txBody>
      </p:sp>
      <p:sp>
        <p:nvSpPr>
          <p:cNvPr id="35" name="Text 26"/>
          <p:cNvSpPr/>
          <p:nvPr/>
        </p:nvSpPr>
        <p:spPr>
          <a:xfrm>
            <a:off x="8394192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for reversible triggers &amp; risk factors</a:t>
            </a:r>
            <a:endParaRPr lang="en-US" sz="1250" dirty="0"/>
          </a:p>
        </p:txBody>
      </p:sp>
      <p:sp>
        <p:nvSpPr>
          <p:cNvPr id="36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100" dirty="0"/>
          </a:p>
        </p:txBody>
      </p:sp>
      <p:sp>
        <p:nvSpPr>
          <p:cNvPr id="37" name="Text 2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Telling the Irregular Rhythms Apart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223113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9659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843784" y="1965960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2926080" y="1965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activity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78424" y="1965960"/>
            <a:ext cx="23225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1" name="Text 8"/>
          <p:cNvSpPr/>
          <p:nvPr/>
        </p:nvSpPr>
        <p:spPr>
          <a:xfrm>
            <a:off x="5760720" y="1965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55864" y="1965960"/>
            <a:ext cx="3630168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3" name="Text 10"/>
          <p:cNvSpPr/>
          <p:nvPr/>
        </p:nvSpPr>
        <p:spPr>
          <a:xfrm>
            <a:off x="8138160" y="1965960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distinguishing clue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" y="260604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7512" y="265176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843784" y="260604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953512" y="265176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 waves; fibrillatory baseline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78424" y="260604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88152" y="265176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Irregularly irregular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055864" y="260604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165592" y="265176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— no organised atrial activity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02920" y="370332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7512" y="374904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2843784" y="370332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953512" y="374904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Sawtooth flutter waves (~300/min)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78424" y="370332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788152" y="374904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regular (2:1, 3:1)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055864" y="370332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165592" y="374904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“picket-fence” baseline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02920" y="480060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67512" y="484632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Tach.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2843784" y="480060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953512" y="484632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distinct P-wave shapes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678424" y="480060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788152" y="484632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8055864" y="480060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65592" y="484632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 varying P waves; COPD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502920" y="5806440"/>
            <a:ext cx="11183112" cy="457200"/>
          </a:xfrm>
          <a:prstGeom prst="roundRect">
            <a:avLst>
              <a:gd name="adj" fmla="val 16000"/>
            </a:avLst>
          </a:prstGeom>
          <a:solidFill>
            <a:srgbClr val="FFF0F3"/>
          </a:solidFill>
          <a:ln/>
        </p:spPr>
      </p:sp>
      <p:sp>
        <p:nvSpPr>
          <p:cNvPr id="39" name="Text 36"/>
          <p:cNvSpPr/>
          <p:nvPr/>
        </p:nvSpPr>
        <p:spPr>
          <a:xfrm>
            <a:off x="822960" y="58064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question:  </a:t>
            </a:r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rhythm regular or irregular?  Then look at the atrial activity — P waves, flutter waves, or fibrillation.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AF Matters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Thromboembolism &amp; Stroke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822960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Stasis in the left atrial appendage forms thrombi — the leading danger, with ~5× stroke risk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5429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624328"/>
            <a:ext cx="466344" cy="4663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08576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Heart Failure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08576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kick plus rapid rates reduce cardiac output and worsen existing HF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439912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0" y="2624328"/>
            <a:ext cx="466344" cy="46634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Tachycardia-induced Cardiomyopathy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394192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Persistently rapid ventricular rates can cause reversible LV dysfunction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STRATIFICATION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Stroke &amp; Bleeding Risk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69037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5740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-VASc</a:t>
            </a:r>
            <a:pPr algn="l" indent="0" marL="0">
              <a:buNone/>
            </a:pPr>
            <a:r>
              <a:rPr lang="en-US" sz="2000" b="1" dirty="0">
                <a:solidFill>
                  <a:srgbClr val="6B6B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·  stroke risk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1732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Congestive HF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333756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2" name="Text 9"/>
          <p:cNvSpPr/>
          <p:nvPr/>
        </p:nvSpPr>
        <p:spPr>
          <a:xfrm>
            <a:off x="333756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06908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4" name="Text 11"/>
          <p:cNvSpPr/>
          <p:nvPr/>
        </p:nvSpPr>
        <p:spPr>
          <a:xfrm>
            <a:off x="402336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66344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58368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7" name="Text 14"/>
          <p:cNvSpPr/>
          <p:nvPr/>
        </p:nvSpPr>
        <p:spPr>
          <a:xfrm>
            <a:off x="658368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2296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A₂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41732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≥ 75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333756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2" name="Text 19"/>
          <p:cNvSpPr/>
          <p:nvPr/>
        </p:nvSpPr>
        <p:spPr>
          <a:xfrm>
            <a:off x="333756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06908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4" name="Text 21"/>
          <p:cNvSpPr/>
          <p:nvPr/>
        </p:nvSpPr>
        <p:spPr>
          <a:xfrm>
            <a:off x="402336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66344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658368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7" name="Text 24"/>
          <p:cNvSpPr/>
          <p:nvPr/>
        </p:nvSpPr>
        <p:spPr>
          <a:xfrm>
            <a:off x="658368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2296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9" name="Text 26"/>
          <p:cNvSpPr/>
          <p:nvPr/>
        </p:nvSpPr>
        <p:spPr>
          <a:xfrm>
            <a:off x="77724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S₂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141732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stroke / TIA</a:t>
            </a:r>
            <a:endParaRPr lang="en-US" sz="1350" dirty="0"/>
          </a:p>
        </p:txBody>
      </p:sp>
      <p:sp>
        <p:nvSpPr>
          <p:cNvPr id="31" name="Shape 28"/>
          <p:cNvSpPr/>
          <p:nvPr/>
        </p:nvSpPr>
        <p:spPr>
          <a:xfrm>
            <a:off x="333756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2" name="Text 29"/>
          <p:cNvSpPr/>
          <p:nvPr/>
        </p:nvSpPr>
        <p:spPr>
          <a:xfrm>
            <a:off x="333756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406908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4" name="Text 31"/>
          <p:cNvSpPr/>
          <p:nvPr/>
        </p:nvSpPr>
        <p:spPr>
          <a:xfrm>
            <a:off x="402336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466344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Vascular disease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658368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7" name="Text 34"/>
          <p:cNvSpPr/>
          <p:nvPr/>
        </p:nvSpPr>
        <p:spPr>
          <a:xfrm>
            <a:off x="658368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82296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9" name="Text 36"/>
          <p:cNvSpPr/>
          <p:nvPr/>
        </p:nvSpPr>
        <p:spPr>
          <a:xfrm>
            <a:off x="77724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40" name="Text 37"/>
          <p:cNvSpPr/>
          <p:nvPr/>
        </p:nvSpPr>
        <p:spPr>
          <a:xfrm>
            <a:off x="141732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65–74</a:t>
            </a:r>
            <a:endParaRPr lang="en-US" sz="1350" dirty="0"/>
          </a:p>
        </p:txBody>
      </p:sp>
      <p:sp>
        <p:nvSpPr>
          <p:cNvPr id="41" name="Shape 38"/>
          <p:cNvSpPr/>
          <p:nvPr/>
        </p:nvSpPr>
        <p:spPr>
          <a:xfrm>
            <a:off x="333756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2" name="Text 39"/>
          <p:cNvSpPr/>
          <p:nvPr/>
        </p:nvSpPr>
        <p:spPr>
          <a:xfrm>
            <a:off x="333756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406908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44" name="Text 41"/>
          <p:cNvSpPr/>
          <p:nvPr/>
        </p:nvSpPr>
        <p:spPr>
          <a:xfrm>
            <a:off x="402336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</a:t>
            </a:r>
            <a:endParaRPr lang="en-US" sz="1500" dirty="0"/>
          </a:p>
        </p:txBody>
      </p:sp>
      <p:sp>
        <p:nvSpPr>
          <p:cNvPr id="45" name="Text 42"/>
          <p:cNvSpPr/>
          <p:nvPr/>
        </p:nvSpPr>
        <p:spPr>
          <a:xfrm>
            <a:off x="466344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 (female)</a:t>
            </a:r>
            <a:endParaRPr lang="en-US" sz="1350" dirty="0"/>
          </a:p>
        </p:txBody>
      </p:sp>
      <p:sp>
        <p:nvSpPr>
          <p:cNvPr id="46" name="Shape 43"/>
          <p:cNvSpPr/>
          <p:nvPr/>
        </p:nvSpPr>
        <p:spPr>
          <a:xfrm>
            <a:off x="658368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7" name="Text 44"/>
          <p:cNvSpPr/>
          <p:nvPr/>
        </p:nvSpPr>
        <p:spPr>
          <a:xfrm>
            <a:off x="658368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822960" y="5440680"/>
            <a:ext cx="6263640" cy="457200"/>
          </a:xfrm>
          <a:prstGeom prst="roundRect">
            <a:avLst>
              <a:gd name="adj" fmla="val 16000"/>
            </a:avLst>
          </a:prstGeom>
          <a:solidFill>
            <a:srgbClr val="590D22"/>
          </a:solidFill>
          <a:ln/>
        </p:spPr>
      </p:sp>
      <p:sp>
        <p:nvSpPr>
          <p:cNvPr id="49" name="Text 46"/>
          <p:cNvSpPr/>
          <p:nvPr/>
        </p:nvSpPr>
        <p:spPr>
          <a:xfrm>
            <a:off x="1051560" y="5440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Anticoagulate if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 (men)  /  ≥ 3 (women)</a:t>
            </a:r>
            <a:endParaRPr lang="en-US" sz="1350" dirty="0"/>
          </a:p>
        </p:txBody>
      </p:sp>
      <p:sp>
        <p:nvSpPr>
          <p:cNvPr id="50" name="Shape 47"/>
          <p:cNvSpPr/>
          <p:nvPr/>
        </p:nvSpPr>
        <p:spPr>
          <a:xfrm>
            <a:off x="7543800" y="1828800"/>
            <a:ext cx="4160520" cy="4206240"/>
          </a:xfrm>
          <a:prstGeom prst="roundRect">
            <a:avLst>
              <a:gd name="adj" fmla="val 263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1" name="Text 48"/>
          <p:cNvSpPr/>
          <p:nvPr/>
        </p:nvSpPr>
        <p:spPr>
          <a:xfrm>
            <a:off x="7863840" y="20574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HAS-BLED</a:t>
            </a:r>
            <a:endParaRPr lang="en-US" sz="2000" dirty="0"/>
          </a:p>
        </p:txBody>
      </p:sp>
      <p:sp>
        <p:nvSpPr>
          <p:cNvPr id="52" name="Text 49"/>
          <p:cNvSpPr/>
          <p:nvPr/>
        </p:nvSpPr>
        <p:spPr>
          <a:xfrm>
            <a:off x="7863840" y="243230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Bleeding risk on anticoagulation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7863840" y="288036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Hypertension</a:t>
            </a:r>
            <a:endParaRPr lang="en-US" sz="1300" dirty="0"/>
          </a:p>
        </p:txBody>
      </p:sp>
      <p:sp>
        <p:nvSpPr>
          <p:cNvPr id="54" name="Text 51"/>
          <p:cNvSpPr/>
          <p:nvPr/>
        </p:nvSpPr>
        <p:spPr>
          <a:xfrm>
            <a:off x="7863840" y="331012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Abnormal renal / liver</a:t>
            </a:r>
            <a:endParaRPr lang="en-US" sz="1300" dirty="0"/>
          </a:p>
        </p:txBody>
      </p:sp>
      <p:sp>
        <p:nvSpPr>
          <p:cNvPr id="55" name="Text 52"/>
          <p:cNvSpPr/>
          <p:nvPr/>
        </p:nvSpPr>
        <p:spPr>
          <a:xfrm>
            <a:off x="7863840" y="3739896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Stroke history</a:t>
            </a:r>
            <a:endParaRPr lang="en-US" sz="1300" dirty="0"/>
          </a:p>
        </p:txBody>
      </p:sp>
      <p:sp>
        <p:nvSpPr>
          <p:cNvPr id="56" name="Text 53"/>
          <p:cNvSpPr/>
          <p:nvPr/>
        </p:nvSpPr>
        <p:spPr>
          <a:xfrm>
            <a:off x="7863840" y="4169664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Bleeding tendency</a:t>
            </a:r>
            <a:endParaRPr lang="en-US" sz="1300" dirty="0"/>
          </a:p>
        </p:txBody>
      </p:sp>
      <p:sp>
        <p:nvSpPr>
          <p:cNvPr id="57" name="Text 54"/>
          <p:cNvSpPr/>
          <p:nvPr/>
        </p:nvSpPr>
        <p:spPr>
          <a:xfrm>
            <a:off x="7863840" y="4599432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Labile INR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863840" y="502920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Elderly (&gt; 65)</a:t>
            </a:r>
            <a:endParaRPr lang="en-US" sz="1300" dirty="0"/>
          </a:p>
        </p:txBody>
      </p:sp>
      <p:sp>
        <p:nvSpPr>
          <p:cNvPr id="59" name="Text 56"/>
          <p:cNvSpPr/>
          <p:nvPr/>
        </p:nvSpPr>
        <p:spPr>
          <a:xfrm>
            <a:off x="7863840" y="545896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Drugs / alcohol</a:t>
            </a:r>
            <a:endParaRPr lang="en-US" sz="1300" dirty="0"/>
          </a:p>
        </p:txBody>
      </p:sp>
      <p:sp>
        <p:nvSpPr>
          <p:cNvPr id="60" name="Text 5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ABC Pathway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77240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7400" dirty="0"/>
          </a:p>
        </p:txBody>
      </p:sp>
      <p:sp>
        <p:nvSpPr>
          <p:cNvPr id="8" name="Shape 5"/>
          <p:cNvSpPr/>
          <p:nvPr/>
        </p:nvSpPr>
        <p:spPr>
          <a:xfrm>
            <a:off x="2788920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6664" y="2615184"/>
            <a:ext cx="438912" cy="43891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822960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stroke — assess with CHA₂DS₂-VASc, then a DOAC (or warfarin where indicated)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4562856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7400" dirty="0"/>
          </a:p>
        </p:txBody>
      </p:sp>
      <p:sp>
        <p:nvSpPr>
          <p:cNvPr id="14" name="Shape 10"/>
          <p:cNvSpPr/>
          <p:nvPr/>
        </p:nvSpPr>
        <p:spPr>
          <a:xfrm>
            <a:off x="6574536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261518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608576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Better symptom control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4608576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control and/or rhythm control to relieve symptoms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8348472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7400" dirty="0"/>
          </a:p>
        </p:txBody>
      </p:sp>
      <p:sp>
        <p:nvSpPr>
          <p:cNvPr id="20" name="Shape 15"/>
          <p:cNvSpPr/>
          <p:nvPr/>
        </p:nvSpPr>
        <p:spPr>
          <a:xfrm>
            <a:off x="10360152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7896" y="2615184"/>
            <a:ext cx="438912" cy="4389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394192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Comorbidities &amp; risk factors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8394192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HTN, sleep apnoea, obesity, alcohol excess, diabetes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· MEDICAL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Treatment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3611880" cy="420624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039112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194560"/>
            <a:ext cx="347472" cy="347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54480" y="20391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Control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795528" y="293522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1" name="Text 7"/>
          <p:cNvSpPr/>
          <p:nvPr/>
        </p:nvSpPr>
        <p:spPr>
          <a:xfrm>
            <a:off x="1033272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033272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— metoprolol, bisoprolol, carvedilol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95528" y="36850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4" name="Text 10"/>
          <p:cNvSpPr/>
          <p:nvPr/>
        </p:nvSpPr>
        <p:spPr>
          <a:xfrm>
            <a:off x="1033272" y="3630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Non-DHP CCB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033272" y="3904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Diltiazem or verapamil (avoid in decompensated HF)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95528" y="443484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7" name="Text 13"/>
          <p:cNvSpPr/>
          <p:nvPr/>
        </p:nvSpPr>
        <p:spPr>
          <a:xfrm>
            <a:off x="1033272" y="4379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1033272" y="46542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Adjunct or LV systolic dysfunction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795528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0" name="Text 16"/>
          <p:cNvSpPr/>
          <p:nvPr/>
        </p:nvSpPr>
        <p:spPr>
          <a:xfrm>
            <a:off x="1033272" y="5129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1033272" y="54041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Resting HR &lt; 80 bpm (lenient &lt; 110)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4288536" y="1783080"/>
            <a:ext cx="3611880" cy="420624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4562856" y="2039112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304" y="2194560"/>
            <a:ext cx="347472" cy="34747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340096" y="20391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Control</a:t>
            </a:r>
            <a:endParaRPr lang="en-US" sz="1800" dirty="0"/>
          </a:p>
        </p:txBody>
      </p:sp>
      <p:sp>
        <p:nvSpPr>
          <p:cNvPr id="26" name="Shape 21"/>
          <p:cNvSpPr/>
          <p:nvPr/>
        </p:nvSpPr>
        <p:spPr>
          <a:xfrm>
            <a:off x="4581144" y="293522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7" name="Text 22"/>
          <p:cNvSpPr/>
          <p:nvPr/>
        </p:nvSpPr>
        <p:spPr>
          <a:xfrm>
            <a:off x="4818888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 cardioversion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4818888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Unstable AF → immediate DCCV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4581144" y="36850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0" name="Text 25"/>
          <p:cNvSpPr/>
          <p:nvPr/>
        </p:nvSpPr>
        <p:spPr>
          <a:xfrm>
            <a:off x="4818888" y="3630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structural disease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4818888" y="3904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Flecainide, propafenone, sotalol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4581144" y="443484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3" name="Text 28"/>
          <p:cNvSpPr/>
          <p:nvPr/>
        </p:nvSpPr>
        <p:spPr>
          <a:xfrm>
            <a:off x="4818888" y="4379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 / HF</a:t>
            </a:r>
            <a:endParaRPr lang="en-US" sz="1400" dirty="0"/>
          </a:p>
        </p:txBody>
      </p:sp>
      <p:sp>
        <p:nvSpPr>
          <p:cNvPr id="34" name="Text 29"/>
          <p:cNvSpPr/>
          <p:nvPr/>
        </p:nvSpPr>
        <p:spPr>
          <a:xfrm>
            <a:off x="4818888" y="46542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Amiodarone, dofetilide</a:t>
            </a:r>
            <a:endParaRPr lang="en-US" sz="1150" dirty="0"/>
          </a:p>
        </p:txBody>
      </p:sp>
      <p:sp>
        <p:nvSpPr>
          <p:cNvPr id="35" name="Shape 30"/>
          <p:cNvSpPr/>
          <p:nvPr/>
        </p:nvSpPr>
        <p:spPr>
          <a:xfrm>
            <a:off x="4581144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6" name="Text 31"/>
          <p:cNvSpPr/>
          <p:nvPr/>
        </p:nvSpPr>
        <p:spPr>
          <a:xfrm>
            <a:off x="4818888" y="5129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</a:t>
            </a:r>
            <a:endParaRPr lang="en-US" sz="1400" dirty="0"/>
          </a:p>
        </p:txBody>
      </p:sp>
      <p:sp>
        <p:nvSpPr>
          <p:cNvPr id="37" name="Text 32"/>
          <p:cNvSpPr/>
          <p:nvPr/>
        </p:nvSpPr>
        <p:spPr>
          <a:xfrm>
            <a:off x="4818888" y="54041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antiarrhythmic drugs fail</a:t>
            </a:r>
            <a:endParaRPr lang="en-US" sz="1150" dirty="0"/>
          </a:p>
        </p:txBody>
      </p:sp>
      <p:sp>
        <p:nvSpPr>
          <p:cNvPr id="38" name="Shape 33"/>
          <p:cNvSpPr/>
          <p:nvPr/>
        </p:nvSpPr>
        <p:spPr>
          <a:xfrm>
            <a:off x="8074152" y="1783080"/>
            <a:ext cx="3611880" cy="420624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8348472" y="2039112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2194560"/>
            <a:ext cx="347472" cy="347472"/>
          </a:xfrm>
          <a:prstGeom prst="rect">
            <a:avLst/>
          </a:prstGeom>
        </p:spPr>
      </p:pic>
      <p:sp>
        <p:nvSpPr>
          <p:cNvPr id="41" name="Text 35"/>
          <p:cNvSpPr/>
          <p:nvPr/>
        </p:nvSpPr>
        <p:spPr>
          <a:xfrm>
            <a:off x="9125712" y="20391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1800" dirty="0"/>
          </a:p>
        </p:txBody>
      </p:sp>
      <p:sp>
        <p:nvSpPr>
          <p:cNvPr id="42" name="Shape 36"/>
          <p:cNvSpPr/>
          <p:nvPr/>
        </p:nvSpPr>
        <p:spPr>
          <a:xfrm>
            <a:off x="8366760" y="293522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3" name="Text 37"/>
          <p:cNvSpPr/>
          <p:nvPr/>
        </p:nvSpPr>
        <p:spPr>
          <a:xfrm>
            <a:off x="8604504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risk</a:t>
            </a:r>
            <a:endParaRPr lang="en-US" sz="1400" dirty="0"/>
          </a:p>
        </p:txBody>
      </p:sp>
      <p:sp>
        <p:nvSpPr>
          <p:cNvPr id="44" name="Text 38"/>
          <p:cNvSpPr/>
          <p:nvPr/>
        </p:nvSpPr>
        <p:spPr>
          <a:xfrm>
            <a:off x="8604504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CHA₂DS₂-VASc score</a:t>
            </a:r>
            <a:endParaRPr lang="en-US" sz="1150" dirty="0"/>
          </a:p>
        </p:txBody>
      </p:sp>
      <p:sp>
        <p:nvSpPr>
          <p:cNvPr id="45" name="Shape 39"/>
          <p:cNvSpPr/>
          <p:nvPr/>
        </p:nvSpPr>
        <p:spPr>
          <a:xfrm>
            <a:off x="8366760" y="36850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6" name="Text 40"/>
          <p:cNvSpPr/>
          <p:nvPr/>
        </p:nvSpPr>
        <p:spPr>
          <a:xfrm>
            <a:off x="8604504" y="3630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</a:t>
            </a:r>
            <a:endParaRPr lang="en-US" sz="1400" dirty="0"/>
          </a:p>
        </p:txBody>
      </p:sp>
      <p:sp>
        <p:nvSpPr>
          <p:cNvPr id="47" name="Text 41"/>
          <p:cNvSpPr/>
          <p:nvPr/>
        </p:nvSpPr>
        <p:spPr>
          <a:xfrm>
            <a:off x="8604504" y="3904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Apixaban, rivaroxaban, dabigatran</a:t>
            </a:r>
            <a:endParaRPr lang="en-US" sz="1150" dirty="0"/>
          </a:p>
        </p:txBody>
      </p:sp>
      <p:sp>
        <p:nvSpPr>
          <p:cNvPr id="48" name="Shape 42"/>
          <p:cNvSpPr/>
          <p:nvPr/>
        </p:nvSpPr>
        <p:spPr>
          <a:xfrm>
            <a:off x="8366760" y="443484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9" name="Text 43"/>
          <p:cNvSpPr/>
          <p:nvPr/>
        </p:nvSpPr>
        <p:spPr>
          <a:xfrm>
            <a:off x="8604504" y="4379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</a:t>
            </a:r>
            <a:endParaRPr lang="en-US" sz="1400" dirty="0"/>
          </a:p>
        </p:txBody>
      </p:sp>
      <p:sp>
        <p:nvSpPr>
          <p:cNvPr id="50" name="Text 44"/>
          <p:cNvSpPr/>
          <p:nvPr/>
        </p:nvSpPr>
        <p:spPr>
          <a:xfrm>
            <a:off x="8604504" y="46542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Mitral stenosis / mechanical valve</a:t>
            </a:r>
            <a:endParaRPr lang="en-US" sz="1150" dirty="0"/>
          </a:p>
        </p:txBody>
      </p:sp>
      <p:sp>
        <p:nvSpPr>
          <p:cNvPr id="51" name="Shape 45"/>
          <p:cNvSpPr/>
          <p:nvPr/>
        </p:nvSpPr>
        <p:spPr>
          <a:xfrm>
            <a:off x="8366760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2" name="Text 46"/>
          <p:cNvSpPr/>
          <p:nvPr/>
        </p:nvSpPr>
        <p:spPr>
          <a:xfrm>
            <a:off x="8604504" y="5129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 &gt; 48 h</a:t>
            </a:r>
            <a:endParaRPr lang="en-US" sz="1400" dirty="0"/>
          </a:p>
        </p:txBody>
      </p:sp>
      <p:sp>
        <p:nvSpPr>
          <p:cNvPr id="53" name="Text 47"/>
          <p:cNvSpPr/>
          <p:nvPr/>
        </p:nvSpPr>
        <p:spPr>
          <a:xfrm>
            <a:off x="8604504" y="54041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TEE or 3 weeks before cardioversion</a:t>
            </a:r>
            <a:endParaRPr lang="en-US" sz="1150" dirty="0"/>
          </a:p>
        </p:txBody>
      </p:sp>
      <p:sp>
        <p:nvSpPr>
          <p:cNvPr id="54" name="Text 4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100" dirty="0"/>
          </a:p>
        </p:txBody>
      </p:sp>
      <p:sp>
        <p:nvSpPr>
          <p:cNvPr id="55" name="Text 49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· INTERVENTIONAL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 Treatment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0312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295144"/>
            <a:ext cx="393192" cy="3931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08483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 (PVI)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868680" y="294436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vein isolation ablates the triggering foci — first-line interventional rhythm control.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99632" y="182880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519672" y="210312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696" y="2295144"/>
            <a:ext cx="393192" cy="3931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479792" y="208483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 Maze (Cox-Maze IV)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6565392" y="294436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lesion lines block re-entry, usually with concomitant cardiac surgery — highest rhythm success.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502920" y="379476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22960" y="406908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261104"/>
            <a:ext cx="393192" cy="3931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783080" y="405079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 Node Ablation + Pacemaker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868680" y="491032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“Ablate &amp; pace” for refractory rate control; requires a permanent pacemaker.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99632" y="379476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519672" y="406908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696" y="4261104"/>
            <a:ext cx="393192" cy="39319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479792" y="405079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LAA Occlusion / Exclusion</a:t>
            </a:r>
            <a:endParaRPr lang="en-US" sz="1700" dirty="0"/>
          </a:p>
        </p:txBody>
      </p:sp>
      <p:sp>
        <p:nvSpPr>
          <p:cNvPr id="25" name="Text 18"/>
          <p:cNvSpPr/>
          <p:nvPr/>
        </p:nvSpPr>
        <p:spPr>
          <a:xfrm>
            <a:off x="6565392" y="491032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Watchman device or surgical clip prevents stroke when anticoagulation is unsuitable.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02920" y="5669280"/>
            <a:ext cx="11183112" cy="502920"/>
          </a:xfrm>
          <a:prstGeom prst="roundRect">
            <a:avLst>
              <a:gd name="adj" fmla="val 18182"/>
            </a:avLst>
          </a:prstGeom>
          <a:solidFill>
            <a:srgbClr val="590D22"/>
          </a:solidFill>
          <a:ln/>
        </p:spPr>
      </p:sp>
      <p:sp>
        <p:nvSpPr>
          <p:cNvPr id="27" name="Text 20"/>
          <p:cNvSpPr/>
          <p:nvPr/>
        </p:nvSpPr>
        <p:spPr>
          <a:xfrm>
            <a:off x="868680" y="56692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/ convergent ablation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catheter and minimally-invasive epicardial approaches for persistent AF.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vs Rhythm Control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304288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Control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914400" y="32004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(e.g. bisoprolol, metoprolol)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914400" y="41148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Non-DHP calcium 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Diltiazem or verapamil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914400" y="50292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Add-on; sedentary patients or heart failure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304288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45236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Control</a:t>
            </a:r>
            <a:endParaRPr lang="en-US" sz="2300" dirty="0"/>
          </a:p>
        </p:txBody>
      </p:sp>
      <p:sp>
        <p:nvSpPr>
          <p:cNvPr id="17" name="Text 12"/>
          <p:cNvSpPr/>
          <p:nvPr/>
        </p:nvSpPr>
        <p:spPr>
          <a:xfrm>
            <a:off x="6583680" y="32004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(electrical) or pharmacological — flecainide, amiodarone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583680" y="41148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Antiarrhythmic drugs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Flecainide/propafenone (no structural disease), amiodarone, sotalol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583680" y="50292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vein isolation for refractory cases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STROKE PREVENTION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075688"/>
            <a:ext cx="512064" cy="512064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8745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 — first-line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4846320" y="187452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Apixaban, rivaroxaban, dabigatran, edoxaban — preferred for most patients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02920" y="292608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777240" y="312724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32552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63040" y="2926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846320" y="292608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mechanical heart valves and moderate–severe mitral stenosis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502920" y="3977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77240" y="417880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" y="4306824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63040" y="3977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LAA occlusion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4846320" y="39776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closure when long-term anticoagulation is contraindicated</a:t>
            </a:r>
            <a:endParaRPr lang="en-US" sz="1450" dirty="0"/>
          </a:p>
        </p:txBody>
      </p:sp>
      <p:sp>
        <p:nvSpPr>
          <p:cNvPr id="21" name="Shape 15"/>
          <p:cNvSpPr/>
          <p:nvPr/>
        </p:nvSpPr>
        <p:spPr>
          <a:xfrm>
            <a:off x="502920" y="5120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94960"/>
            <a:ext cx="384048" cy="38404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63040" y="5120640"/>
            <a:ext cx="9966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 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the decision on CHA₂DS₂-VASc, weigh bleeding risk (HAS-BLED), and note that antiplatelets alone are </a:t>
            </a:r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adequate stroke prevention.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PREFERRED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22960" y="2395728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551176"/>
            <a:ext cx="283464" cy="2468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35000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LMWH (enoxaparin)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1508760" y="2706624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cross the placenta — the agent of choice; weight-adjusted, monitor anti-Xa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22960" y="3511296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666744"/>
            <a:ext cx="283464" cy="2468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346557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Unfractionated heparin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1508760" y="3822192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placenta-safe; useful peri-delivery — short-acting &amp; reversible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17220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649224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492240" y="2395728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544" y="2551176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178040" y="23500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650" dirty="0"/>
          </a:p>
        </p:txBody>
      </p:sp>
      <p:sp>
        <p:nvSpPr>
          <p:cNvPr id="21" name="Text 15"/>
          <p:cNvSpPr/>
          <p:nvPr/>
        </p:nvSpPr>
        <p:spPr>
          <a:xfrm>
            <a:off x="7178040" y="2706624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Teratogenic — embryopathy at weeks 6–12 and fetal bleeding near term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6492240" y="351129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544" y="3666744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78040" y="34655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</a:t>
            </a:r>
            <a:endParaRPr lang="en-US" sz="1650" dirty="0"/>
          </a:p>
        </p:txBody>
      </p:sp>
      <p:sp>
        <p:nvSpPr>
          <p:cNvPr id="25" name="Text 18"/>
          <p:cNvSpPr/>
          <p:nvPr/>
        </p:nvSpPr>
        <p:spPr>
          <a:xfrm>
            <a:off x="7178040" y="382219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recommended — cross the placenta with limited safety data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02920" y="4937760"/>
            <a:ext cx="11183112" cy="1051560"/>
          </a:xfrm>
          <a:prstGeom prst="roundRect">
            <a:avLst>
              <a:gd name="adj" fmla="val 10435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Peri-delivery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LMWH → UFH (or briefly hold) to allow neuraxial anaesthesia and limit bleeding.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914400" y="546811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Breastfeeding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warfarin, LMWH and UFH are compatible; DOACs are avoided. Plan with a specialist team.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&amp; Rate Control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574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GENERALLY SAFE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rate control (metoprolol, bisoprolol) — avoid atenolol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621024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76732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584448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895344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option for rate control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70001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84632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663440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Flecainide / sotalol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974336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rhythm control when needed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172200" y="178308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92240" y="214884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9984" y="2377440"/>
            <a:ext cx="402336" cy="40233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498080" y="21945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</a:t>
            </a:r>
            <a:endParaRPr lang="en-US" sz="2100" dirty="0"/>
          </a:p>
        </p:txBody>
      </p:sp>
      <p:sp>
        <p:nvSpPr>
          <p:cNvPr id="24" name="Text 17"/>
          <p:cNvSpPr/>
          <p:nvPr/>
        </p:nvSpPr>
        <p:spPr>
          <a:xfrm>
            <a:off x="6537960" y="2852928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cardioversion is safe in all trimesters — perform with fetal monitoring.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6172200" y="397764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Text 19"/>
          <p:cNvSpPr/>
          <p:nvPr/>
        </p:nvSpPr>
        <p:spPr>
          <a:xfrm>
            <a:off x="6537960" y="42062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WITH CAUTION / AVOID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6537960" y="4645152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Amiodarone  </a:t>
            </a:r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fetal thyroid dysfunction &amp; IUGR; only if life-threatening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6537960" y="528523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Atenolol  </a:t>
            </a:r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linked to fetal growth restriction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 in Pregnancy — Overview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572768"/>
            <a:ext cx="11183112" cy="914400"/>
          </a:xfrm>
          <a:prstGeom prst="roundRect">
            <a:avLst>
              <a:gd name="adj" fmla="val 12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914400" y="1572768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 — ~60 / 100,000 pregnancies</a:t>
            </a:r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often congenital / valvular disease, thyrotoxicosis or electrolyte disturbance   ·   hypercoagulable, but no proven rise in AF-related thromboembolism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2670048"/>
            <a:ext cx="3611880" cy="3319272"/>
          </a:xfrm>
          <a:prstGeom prst="roundRect">
            <a:avLst>
              <a:gd name="adj" fmla="val 330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77240" y="2926080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3081528"/>
            <a:ext cx="347472" cy="34747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54480" y="292608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795528" y="382219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3" name="Text 9"/>
          <p:cNvSpPr/>
          <p:nvPr/>
        </p:nvSpPr>
        <p:spPr>
          <a:xfrm>
            <a:off x="1033272" y="376732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criteria as non-pregnant women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95528" y="455371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5" name="Text 11"/>
          <p:cNvSpPr/>
          <p:nvPr/>
        </p:nvSpPr>
        <p:spPr>
          <a:xfrm>
            <a:off x="1033272" y="449884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Warfarin (not DOAC) — 2nd trimester to 1 month before delivery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795528" y="52852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7" name="Text 13"/>
          <p:cNvSpPr/>
          <p:nvPr/>
        </p:nvSpPr>
        <p:spPr>
          <a:xfrm>
            <a:off x="1033272" y="523036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LMWH (SC) — 1st trimester &amp; final month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4288536" y="2670048"/>
            <a:ext cx="3611880" cy="3319272"/>
          </a:xfrm>
          <a:prstGeom prst="roundRect">
            <a:avLst>
              <a:gd name="adj" fmla="val 330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562856" y="2926080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304" y="3081528"/>
            <a:ext cx="347472" cy="34747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340096" y="292608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Acute Management</a:t>
            </a:r>
            <a:endParaRPr lang="en-US" sz="1700" dirty="0"/>
          </a:p>
        </p:txBody>
      </p:sp>
      <p:sp>
        <p:nvSpPr>
          <p:cNvPr id="22" name="Shape 17"/>
          <p:cNvSpPr/>
          <p:nvPr/>
        </p:nvSpPr>
        <p:spPr>
          <a:xfrm>
            <a:off x="4581144" y="382219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3" name="Text 18"/>
          <p:cNvSpPr/>
          <p:nvPr/>
        </p:nvSpPr>
        <p:spPr>
          <a:xfrm>
            <a:off x="4818888" y="376732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cardioversion — safe at all stages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4581144" y="455371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5" name="Text 20"/>
          <p:cNvSpPr/>
          <p:nvPr/>
        </p:nvSpPr>
        <p:spPr>
          <a:xfrm>
            <a:off x="4818888" y="449884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metoprolol — rate control</a:t>
            </a:r>
            <a:endParaRPr lang="en-US" sz="1250" dirty="0"/>
          </a:p>
        </p:txBody>
      </p:sp>
      <p:sp>
        <p:nvSpPr>
          <p:cNvPr id="26" name="Shape 21"/>
          <p:cNvSpPr/>
          <p:nvPr/>
        </p:nvSpPr>
        <p:spPr>
          <a:xfrm>
            <a:off x="4581144" y="52852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7" name="Text 22"/>
          <p:cNvSpPr/>
          <p:nvPr/>
        </p:nvSpPr>
        <p:spPr>
          <a:xfrm>
            <a:off x="4818888" y="523036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 or sotalol — conversion to sinus rhythm</a:t>
            </a:r>
            <a:endParaRPr lang="en-US" sz="1250" dirty="0"/>
          </a:p>
        </p:txBody>
      </p:sp>
      <p:sp>
        <p:nvSpPr>
          <p:cNvPr id="28" name="Shape 23"/>
          <p:cNvSpPr/>
          <p:nvPr/>
        </p:nvSpPr>
        <p:spPr>
          <a:xfrm>
            <a:off x="8074152" y="2670048"/>
            <a:ext cx="3611880" cy="3319272"/>
          </a:xfrm>
          <a:prstGeom prst="roundRect">
            <a:avLst>
              <a:gd name="adj" fmla="val 330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8348472" y="2926080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3081528"/>
            <a:ext cx="347472" cy="347472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125712" y="292608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Long-term Rhythm</a:t>
            </a:r>
            <a:endParaRPr lang="en-US" sz="1700" dirty="0"/>
          </a:p>
        </p:txBody>
      </p:sp>
      <p:sp>
        <p:nvSpPr>
          <p:cNvPr id="32" name="Shape 26"/>
          <p:cNvSpPr/>
          <p:nvPr/>
        </p:nvSpPr>
        <p:spPr>
          <a:xfrm>
            <a:off x="8366760" y="382219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3" name="Text 27"/>
          <p:cNvSpPr/>
          <p:nvPr/>
        </p:nvSpPr>
        <p:spPr>
          <a:xfrm>
            <a:off x="8604504" y="376732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structural disease — flecainide, sotalol</a:t>
            </a:r>
            <a:endParaRPr lang="en-US" sz="1250" dirty="0"/>
          </a:p>
        </p:txBody>
      </p:sp>
      <p:sp>
        <p:nvSpPr>
          <p:cNvPr id="34" name="Shape 28"/>
          <p:cNvSpPr/>
          <p:nvPr/>
        </p:nvSpPr>
        <p:spPr>
          <a:xfrm>
            <a:off x="8366760" y="455371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5" name="Text 29"/>
          <p:cNvSpPr/>
          <p:nvPr/>
        </p:nvSpPr>
        <p:spPr>
          <a:xfrm>
            <a:off x="8604504" y="449884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disease — amiodarone</a:t>
            </a:r>
            <a:endParaRPr lang="en-US" sz="1250" dirty="0"/>
          </a:p>
        </p:txBody>
      </p:sp>
      <p:sp>
        <p:nvSpPr>
          <p:cNvPr id="36" name="Shape 30"/>
          <p:cNvSpPr/>
          <p:nvPr/>
        </p:nvSpPr>
        <p:spPr>
          <a:xfrm>
            <a:off x="8366760" y="52852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7" name="Text 31"/>
          <p:cNvSpPr/>
          <p:nvPr/>
        </p:nvSpPr>
        <p:spPr>
          <a:xfrm>
            <a:off x="8604504" y="523036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Rate: digoxin; beta-blocker only after 1st trimester</a:t>
            </a:r>
            <a:endParaRPr lang="en-US" sz="1250" dirty="0"/>
          </a:p>
        </p:txBody>
      </p:sp>
      <p:sp>
        <p:nvSpPr>
          <p:cNvPr id="38" name="Text 3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100" dirty="0"/>
          </a:p>
        </p:txBody>
      </p:sp>
      <p:sp>
        <p:nvSpPr>
          <p:cNvPr id="39" name="Text 3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321040" y="3291840"/>
            <a:ext cx="4572000" cy="4572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6858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905256"/>
            <a:ext cx="521208" cy="5212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868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6916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Points</a:t>
            </a:r>
            <a:endParaRPr lang="en-US" sz="4600" dirty="0"/>
          </a:p>
        </p:txBody>
      </p:sp>
      <p:sp>
        <p:nvSpPr>
          <p:cNvPr id="8" name="Shape 4"/>
          <p:cNvSpPr/>
          <p:nvPr/>
        </p:nvSpPr>
        <p:spPr>
          <a:xfrm>
            <a:off x="713232" y="25968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60904"/>
            <a:ext cx="164592" cy="16459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88720" y="25786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 = irregularly irregular rhythm with absent P waves and a fibrillatory baseline.</a:t>
            </a:r>
            <a:endParaRPr lang="en-US" sz="1500" dirty="0"/>
          </a:p>
        </p:txBody>
      </p:sp>
      <p:sp>
        <p:nvSpPr>
          <p:cNvPr id="11" name="Shape 6"/>
          <p:cNvSpPr/>
          <p:nvPr/>
        </p:nvSpPr>
        <p:spPr>
          <a:xfrm>
            <a:off x="713232" y="314553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209544"/>
            <a:ext cx="164592" cy="16459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88720" y="312724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commonest sustained arrhythmia — linked to hypertension, age and structural heart disease.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713232" y="369417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758184"/>
            <a:ext cx="164592" cy="16459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188720" y="367588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main danger is thromboembolic stroke — always assess stroke risk (CHA₂DS₂-VASc).</a:t>
            </a:r>
            <a:endParaRPr lang="en-US" sz="1500" dirty="0"/>
          </a:p>
        </p:txBody>
      </p:sp>
      <p:sp>
        <p:nvSpPr>
          <p:cNvPr id="17" name="Shape 10"/>
          <p:cNvSpPr/>
          <p:nvPr/>
        </p:nvSpPr>
        <p:spPr>
          <a:xfrm>
            <a:off x="713232" y="424281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306824"/>
            <a:ext cx="164592" cy="164592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188720" y="42245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Differentials: atrial flutter, multifocal atrial tachycardia, frequent PACs, SVT, pre-excited AF / VT.</a:t>
            </a:r>
            <a:endParaRPr lang="en-US" sz="1500" dirty="0"/>
          </a:p>
        </p:txBody>
      </p:sp>
      <p:sp>
        <p:nvSpPr>
          <p:cNvPr id="20" name="Shape 12"/>
          <p:cNvSpPr/>
          <p:nvPr/>
        </p:nvSpPr>
        <p:spPr>
          <a:xfrm>
            <a:off x="713232" y="479145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855464"/>
            <a:ext cx="164592" cy="164592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188720" y="477316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with the ABC pathway: Anticoagulation, Better symptom control, Comorbidities.</a:t>
            </a:r>
            <a:endParaRPr lang="en-US" sz="1500" dirty="0"/>
          </a:p>
        </p:txBody>
      </p:sp>
      <p:sp>
        <p:nvSpPr>
          <p:cNvPr id="23" name="Shape 14"/>
          <p:cNvSpPr/>
          <p:nvPr/>
        </p:nvSpPr>
        <p:spPr>
          <a:xfrm>
            <a:off x="713232" y="53400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404104"/>
            <a:ext cx="164592" cy="164592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1188720" y="53218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pregnancy: LMWH is the anticoagulant of choice — avoid warfarin and DOACs.</a:t>
            </a:r>
            <a:endParaRPr lang="en-US" sz="1500" dirty="0"/>
          </a:p>
        </p:txBody>
      </p:sp>
      <p:sp>
        <p:nvSpPr>
          <p:cNvPr id="26" name="Text 16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100" dirty="0"/>
          </a:p>
        </p:txBody>
      </p:sp>
      <p:sp>
        <p:nvSpPr>
          <p:cNvPr id="27" name="Text 17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4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092440" y="3063240"/>
            <a:ext cx="4754880" cy="475488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7000"/>
          </a:blip>
          <a:stretch>
            <a:fillRect/>
          </a:stretch>
        </p:blipFill>
        <p:spPr>
          <a:xfrm>
            <a:off x="-822960" y="-960120"/>
            <a:ext cx="4023360" cy="4023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711800" y="1234440"/>
            <a:ext cx="768096" cy="768096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248" y="1399032"/>
            <a:ext cx="457200" cy="45720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457200" y="2286000"/>
            <a:ext cx="1127455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8800" dirty="0"/>
          </a:p>
        </p:txBody>
      </p:sp>
      <p:sp>
        <p:nvSpPr>
          <p:cNvPr id="8" name="Text 3"/>
          <p:cNvSpPr/>
          <p:nvPr/>
        </p:nvSpPr>
        <p:spPr>
          <a:xfrm>
            <a:off x="457200" y="41148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 Welcome</a:t>
            </a:r>
            <a:endParaRPr lang="en-US" sz="2200" dirty="0"/>
          </a:p>
        </p:txBody>
      </p:sp>
      <p:sp>
        <p:nvSpPr>
          <p:cNvPr id="9" name="Shape 4"/>
          <p:cNvSpPr/>
          <p:nvPr/>
        </p:nvSpPr>
        <p:spPr>
          <a:xfrm>
            <a:off x="3355848" y="5212080"/>
            <a:ext cx="1865376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 flipV="1">
            <a:off x="5221224" y="5065776"/>
            <a:ext cx="329184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5550408" y="5065776"/>
            <a:ext cx="329184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 flipV="1">
            <a:off x="5879592" y="4709160"/>
            <a:ext cx="329184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6208776" y="4709160"/>
            <a:ext cx="329184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 flipV="1">
            <a:off x="6537960" y="5212080"/>
            <a:ext cx="329184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867144" y="5212080"/>
            <a:ext cx="1975104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2621128" y="5486400"/>
            <a:ext cx="694944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2621128" y="5486400"/>
            <a:ext cx="6949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Mubashir Aziz</a:t>
            </a:r>
            <a:pPr algn="ctr" indent="0" marL="0"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Department of Cardiology · PEIC, Bahawalpur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2026-07-26T03:27:53Z</dcterms:created>
  <dcterms:modified xsi:type="dcterms:W3CDTF">2026-07-26T03:27:53Z</dcterms:modified>
</cp:coreProperties>
</file>