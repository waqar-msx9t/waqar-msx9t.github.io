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image" Target="../media/image-28-14.png"/><Relationship Id="rId15" Type="http://schemas.openxmlformats.org/officeDocument/2006/relationships/image" Target="../media/image-28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image" Target="../media/image-44-6.png"/><Relationship Id="rId7" Type="http://schemas.openxmlformats.org/officeDocument/2006/relationships/image" Target="../media/image-44-7.png"/><Relationship Id="rId8" Type="http://schemas.openxmlformats.org/officeDocument/2006/relationships/image" Target="../media/image-4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12648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12648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761488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71216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PULSE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834640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2871216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0056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29784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93208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110/70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5129784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278624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388352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51776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7388352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°F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537192" y="1463040"/>
            <a:ext cx="2084832" cy="1261872"/>
          </a:xfrm>
          <a:prstGeom prst="roundRect">
            <a:avLst>
              <a:gd name="adj" fmla="val 724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646920" y="160934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 RATE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610344" y="1847088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646920" y="2414016"/>
            <a:ext cx="1865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/min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02920" y="2816352"/>
            <a:ext cx="11183112" cy="548640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28163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Apex–radial pulse deficit ≈ 40 bpm</a:t>
            </a:r>
            <a:pPr algn="l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(heart rate 136 vs radial pulse 96) — a hallmark of atrial fibrillation.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502920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777240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840480"/>
            <a:ext cx="274320" cy="27432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63040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795528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9"/>
          <p:cNvSpPr/>
          <p:nvPr/>
        </p:nvSpPr>
        <p:spPr>
          <a:xfrm>
            <a:off x="1014984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female; comfortable in bed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5528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1014984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(right hand)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95528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8" name="Text 33"/>
          <p:cNvSpPr/>
          <p:nvPr/>
        </p:nvSpPr>
        <p:spPr>
          <a:xfrm>
            <a:off x="1014984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— time, place, person</a:t>
            </a:r>
            <a:endParaRPr lang="en-US" sz="1200" dirty="0"/>
          </a:p>
        </p:txBody>
      </p:sp>
      <p:sp>
        <p:nvSpPr>
          <p:cNvPr id="39" name="Shape 34"/>
          <p:cNvSpPr/>
          <p:nvPr/>
        </p:nvSpPr>
        <p:spPr>
          <a:xfrm>
            <a:off x="4288536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0" name="Shape 35"/>
          <p:cNvSpPr/>
          <p:nvPr/>
        </p:nvSpPr>
        <p:spPr>
          <a:xfrm>
            <a:off x="4562856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840480"/>
            <a:ext cx="274320" cy="274320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5248656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 Character</a:t>
            </a:r>
            <a:endParaRPr lang="en-US" sz="1600" dirty="0"/>
          </a:p>
        </p:txBody>
      </p:sp>
      <p:sp>
        <p:nvSpPr>
          <p:cNvPr id="43" name="Shape 37"/>
          <p:cNvSpPr/>
          <p:nvPr/>
        </p:nvSpPr>
        <p:spPr>
          <a:xfrm>
            <a:off x="4581144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4" name="Text 38"/>
          <p:cNvSpPr/>
          <p:nvPr/>
        </p:nvSpPr>
        <p:spPr>
          <a:xfrm>
            <a:off x="4800600" y="4389120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4581144" y="4745736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4800600" y="4690872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volume &amp; character</a:t>
            </a:r>
            <a:endParaRPr lang="en-US" sz="1200" dirty="0"/>
          </a:p>
        </p:txBody>
      </p:sp>
      <p:sp>
        <p:nvSpPr>
          <p:cNvPr id="47" name="Shape 41"/>
          <p:cNvSpPr/>
          <p:nvPr/>
        </p:nvSpPr>
        <p:spPr>
          <a:xfrm>
            <a:off x="4581144" y="5047488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8" name="Text 42"/>
          <p:cNvSpPr/>
          <p:nvPr/>
        </p:nvSpPr>
        <p:spPr>
          <a:xfrm>
            <a:off x="4800600" y="4992624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wall not palpable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4581144" y="5349240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0" name="Text 44"/>
          <p:cNvSpPr/>
          <p:nvPr/>
        </p:nvSpPr>
        <p:spPr>
          <a:xfrm>
            <a:off x="4800600" y="5294376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radio-radial / femoral delay</a:t>
            </a:r>
            <a:endParaRPr lang="en-US" sz="1200" dirty="0"/>
          </a:p>
        </p:txBody>
      </p:sp>
      <p:sp>
        <p:nvSpPr>
          <p:cNvPr id="51" name="Shape 45"/>
          <p:cNvSpPr/>
          <p:nvPr/>
        </p:nvSpPr>
        <p:spPr>
          <a:xfrm>
            <a:off x="4581144" y="5650992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4800600" y="5596128"/>
            <a:ext cx="2880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deficit present</a:t>
            </a:r>
            <a:endParaRPr lang="en-US" sz="1200" dirty="0"/>
          </a:p>
        </p:txBody>
      </p:sp>
      <p:sp>
        <p:nvSpPr>
          <p:cNvPr id="53" name="Shape 47"/>
          <p:cNvSpPr/>
          <p:nvPr/>
        </p:nvSpPr>
        <p:spPr>
          <a:xfrm>
            <a:off x="8074152" y="3474720"/>
            <a:ext cx="361188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8348472" y="3694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3840480"/>
            <a:ext cx="274320" cy="274320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9034272" y="369417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Pressure</a:t>
            </a:r>
            <a:endParaRPr lang="en-US" sz="1600" dirty="0"/>
          </a:p>
        </p:txBody>
      </p:sp>
      <p:sp>
        <p:nvSpPr>
          <p:cNvPr id="57" name="Shape 50"/>
          <p:cNvSpPr/>
          <p:nvPr/>
        </p:nvSpPr>
        <p:spPr>
          <a:xfrm>
            <a:off x="8366760" y="444398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8" name="Text 51"/>
          <p:cNvSpPr/>
          <p:nvPr/>
        </p:nvSpPr>
        <p:spPr>
          <a:xfrm>
            <a:off x="8586216" y="4389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110/70 mmHg — right arm, lying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8366760" y="494690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0" name="Text 53"/>
          <p:cNvSpPr/>
          <p:nvPr/>
        </p:nvSpPr>
        <p:spPr>
          <a:xfrm>
            <a:off x="8586216" y="489204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inter-arm difference</a:t>
            </a:r>
            <a:endParaRPr lang="en-US" sz="1200" dirty="0"/>
          </a:p>
        </p:txBody>
      </p:sp>
      <p:sp>
        <p:nvSpPr>
          <p:cNvPr id="61" name="Shape 54"/>
          <p:cNvSpPr/>
          <p:nvPr/>
        </p:nvSpPr>
        <p:spPr>
          <a:xfrm>
            <a:off x="8366760" y="5449824"/>
            <a:ext cx="109728" cy="109728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62" name="Text 55"/>
          <p:cNvSpPr/>
          <p:nvPr/>
        </p:nvSpPr>
        <p:spPr>
          <a:xfrm>
            <a:off x="8586216" y="5394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postural drop</a:t>
            </a:r>
            <a:endParaRPr lang="en-US" sz="1200" dirty="0"/>
          </a:p>
        </p:txBody>
      </p:sp>
      <p:sp>
        <p:nvSpPr>
          <p:cNvPr id="63" name="Text 5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4" name="Text 57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691640"/>
            <a:ext cx="11183112" cy="109728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1856232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075688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169164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INSPECTION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246120" y="1929384"/>
            <a:ext cx="0" cy="62179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20440" y="200253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2" name="Text 8"/>
          <p:cNvSpPr/>
          <p:nvPr/>
        </p:nvSpPr>
        <p:spPr>
          <a:xfrm>
            <a:off x="3767328" y="18745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of the precordium — normal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520440" y="23865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3767328" y="225856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Remainder of the inspection limited by exposure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02920" y="2926080"/>
            <a:ext cx="11183112" cy="1444752"/>
          </a:xfrm>
          <a:prstGeom prst="roundRect">
            <a:avLst>
              <a:gd name="adj" fmla="val 75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8680" y="3264408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483864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83080" y="2926080"/>
            <a:ext cx="1417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PALPATION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46120" y="3163824"/>
            <a:ext cx="0" cy="969264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520440" y="321868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1" name="Text 16"/>
          <p:cNvSpPr/>
          <p:nvPr/>
        </p:nvSpPr>
        <p:spPr>
          <a:xfrm>
            <a:off x="3767328" y="309067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beat: 5th intercostal space, medial to the midclavicular line — normal character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3520440" y="360273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3767328" y="34747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3520440" y="39867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3767328" y="385876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502920" y="4507992"/>
            <a:ext cx="11183112" cy="1444752"/>
          </a:xfrm>
          <a:prstGeom prst="roundRect">
            <a:avLst>
              <a:gd name="adj" fmla="val 75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68680" y="4846320"/>
            <a:ext cx="768096" cy="768096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5065776"/>
            <a:ext cx="329184" cy="32918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783080" y="4507992"/>
            <a:ext cx="1417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AUSCULTATION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3246120" y="4745736"/>
            <a:ext cx="0" cy="969264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3520440" y="480060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2" name="Text 26"/>
          <p:cNvSpPr/>
          <p:nvPr/>
        </p:nvSpPr>
        <p:spPr>
          <a:xfrm>
            <a:off x="3767328" y="4672584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3" name="Shape 27"/>
          <p:cNvSpPr/>
          <p:nvPr/>
        </p:nvSpPr>
        <p:spPr>
          <a:xfrm>
            <a:off x="352044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8"/>
          <p:cNvSpPr/>
          <p:nvPr/>
        </p:nvSpPr>
        <p:spPr>
          <a:xfrm>
            <a:off x="3767328" y="50566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sound: variable intensity;  2nd heart sound: both components normal intensity</a:t>
            </a:r>
            <a:endParaRPr lang="en-US" sz="1250" dirty="0"/>
          </a:p>
        </p:txBody>
      </p:sp>
      <p:sp>
        <p:nvSpPr>
          <p:cNvPr id="35" name="Shape 29"/>
          <p:cNvSpPr/>
          <p:nvPr/>
        </p:nvSpPr>
        <p:spPr>
          <a:xfrm>
            <a:off x="3520440" y="55686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0"/>
          <p:cNvSpPr/>
          <p:nvPr/>
        </p:nvSpPr>
        <p:spPr>
          <a:xfrm>
            <a:off x="3767328" y="54406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8" name="Text 3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79349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4533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40614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4330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79349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08279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0584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361645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4533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340614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4330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3028" y="3616452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8279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0584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" y="4439412"/>
            <a:ext cx="228600" cy="2286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4533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340614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4330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3028" y="4439412"/>
            <a:ext cx="228600" cy="2286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08279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Pericarditis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868680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1005840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568" y="5262372"/>
            <a:ext cx="228600" cy="22860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45336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250" dirty="0"/>
          </a:p>
        </p:txBody>
      </p:sp>
      <p:sp>
        <p:nvSpPr>
          <p:cNvPr id="36" name="Shape 26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7" name="Text 27"/>
          <p:cNvSpPr/>
          <p:nvPr/>
        </p:nvSpPr>
        <p:spPr>
          <a:xfrm>
            <a:off x="6519672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8" name="Shape 28"/>
          <p:cNvSpPr/>
          <p:nvPr/>
        </p:nvSpPr>
        <p:spPr>
          <a:xfrm>
            <a:off x="651967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665683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2793492"/>
            <a:ext cx="228600" cy="22860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19632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250" dirty="0"/>
          </a:p>
        </p:txBody>
      </p:sp>
      <p:sp>
        <p:nvSpPr>
          <p:cNvPr id="42" name="Shape 31"/>
          <p:cNvSpPr/>
          <p:nvPr/>
        </p:nvSpPr>
        <p:spPr>
          <a:xfrm>
            <a:off x="905713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919429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04020" y="2793492"/>
            <a:ext cx="228600" cy="22860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973378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250" dirty="0"/>
          </a:p>
        </p:txBody>
      </p:sp>
      <p:sp>
        <p:nvSpPr>
          <p:cNvPr id="46" name="Shape 34"/>
          <p:cNvSpPr/>
          <p:nvPr/>
        </p:nvSpPr>
        <p:spPr>
          <a:xfrm>
            <a:off x="651967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665683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60" y="3616452"/>
            <a:ext cx="228600" cy="22860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719632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250" dirty="0"/>
          </a:p>
        </p:txBody>
      </p:sp>
      <p:sp>
        <p:nvSpPr>
          <p:cNvPr id="50" name="Shape 37"/>
          <p:cNvSpPr/>
          <p:nvPr/>
        </p:nvSpPr>
        <p:spPr>
          <a:xfrm>
            <a:off x="905713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919429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04020" y="3616452"/>
            <a:ext cx="228600" cy="228600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973378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250" dirty="0"/>
          </a:p>
        </p:txBody>
      </p:sp>
      <p:sp>
        <p:nvSpPr>
          <p:cNvPr id="54" name="Shape 40"/>
          <p:cNvSpPr/>
          <p:nvPr/>
        </p:nvSpPr>
        <p:spPr>
          <a:xfrm>
            <a:off x="651967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665683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6560" y="4439412"/>
            <a:ext cx="228600" cy="228600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719632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250" dirty="0"/>
          </a:p>
        </p:txBody>
      </p:sp>
      <p:sp>
        <p:nvSpPr>
          <p:cNvPr id="58" name="Shape 43"/>
          <p:cNvSpPr/>
          <p:nvPr/>
        </p:nvSpPr>
        <p:spPr>
          <a:xfrm>
            <a:off x="905713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9" name="Shape 44"/>
          <p:cNvSpPr/>
          <p:nvPr/>
        </p:nvSpPr>
        <p:spPr>
          <a:xfrm>
            <a:off x="919429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04020" y="4439412"/>
            <a:ext cx="228600" cy="228600"/>
          </a:xfrm>
          <a:prstGeom prst="rect">
            <a:avLst/>
          </a:prstGeom>
        </p:spPr>
      </p:pic>
      <p:sp>
        <p:nvSpPr>
          <p:cNvPr id="61" name="Text 45"/>
          <p:cNvSpPr/>
          <p:nvPr/>
        </p:nvSpPr>
        <p:spPr>
          <a:xfrm>
            <a:off x="973378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</a:t>
            </a:r>
            <a:endParaRPr lang="en-US" sz="1250" dirty="0"/>
          </a:p>
        </p:txBody>
      </p:sp>
      <p:sp>
        <p:nvSpPr>
          <p:cNvPr id="62" name="Shape 46"/>
          <p:cNvSpPr/>
          <p:nvPr/>
        </p:nvSpPr>
        <p:spPr>
          <a:xfrm>
            <a:off x="6519672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63" name="Shape 47"/>
          <p:cNvSpPr/>
          <p:nvPr/>
        </p:nvSpPr>
        <p:spPr>
          <a:xfrm>
            <a:off x="6656832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66560" y="5262372"/>
            <a:ext cx="228600" cy="228600"/>
          </a:xfrm>
          <a:prstGeom prst="rect">
            <a:avLst/>
          </a:prstGeom>
        </p:spPr>
      </p:pic>
      <p:sp>
        <p:nvSpPr>
          <p:cNvPr id="65" name="Text 48"/>
          <p:cNvSpPr/>
          <p:nvPr/>
        </p:nvSpPr>
        <p:spPr>
          <a:xfrm>
            <a:off x="7196328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age</a:t>
            </a:r>
            <a:endParaRPr lang="en-US" sz="1250" dirty="0"/>
          </a:p>
        </p:txBody>
      </p:sp>
      <p:sp>
        <p:nvSpPr>
          <p:cNvPr id="66" name="Text 4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67" name="Text 5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 · VALVULAR VS NONVALVULAR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Choice of Anticoagulant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84832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23042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Nonvalvular AF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Broadest choice of agents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914400" y="3419856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2" name="Text 8"/>
          <p:cNvSpPr/>
          <p:nvPr/>
        </p:nvSpPr>
        <p:spPr>
          <a:xfrm>
            <a:off x="1170432" y="334670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heparin / LMWH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Parenteral anticoagulation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914400" y="3968496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170432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Vitamin-K antagonist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914400" y="4517136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6" name="Text 12"/>
          <p:cNvSpPr/>
          <p:nvPr/>
        </p:nvSpPr>
        <p:spPr>
          <a:xfrm>
            <a:off x="1170432" y="44439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DOACs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New oral anticoagulants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822960" y="5175504"/>
            <a:ext cx="4892040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</p:spPr>
      </p:sp>
      <p:sp>
        <p:nvSpPr>
          <p:cNvPr id="18" name="Text 14"/>
          <p:cNvSpPr/>
          <p:nvPr/>
        </p:nvSpPr>
        <p:spPr>
          <a:xfrm>
            <a:off x="822960" y="5175504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these may be considered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153912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73952" y="2084832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08" y="23042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434072" y="208483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Valvular AF</a:t>
            </a:r>
            <a:endParaRPr lang="en-US" sz="2200" dirty="0"/>
          </a:p>
        </p:txBody>
      </p:sp>
      <p:sp>
        <p:nvSpPr>
          <p:cNvPr id="23" name="Text 18"/>
          <p:cNvSpPr/>
          <p:nvPr/>
        </p:nvSpPr>
        <p:spPr>
          <a:xfrm>
            <a:off x="6519672" y="29443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depends on the valve lesion</a:t>
            </a:r>
            <a:endParaRPr lang="en-US" sz="1350" dirty="0"/>
          </a:p>
        </p:txBody>
      </p:sp>
      <p:sp>
        <p:nvSpPr>
          <p:cNvPr id="24" name="Shape 19"/>
          <p:cNvSpPr/>
          <p:nvPr/>
        </p:nvSpPr>
        <p:spPr>
          <a:xfrm>
            <a:off x="6473952" y="3246120"/>
            <a:ext cx="4892040" cy="1170432"/>
          </a:xfrm>
          <a:prstGeom prst="roundRect">
            <a:avLst>
              <a:gd name="adj" fmla="val 7813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720840" y="34107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Mitral stenosis + AF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720840" y="3758184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— the only proven oral anticoagulant to date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473952" y="4544568"/>
            <a:ext cx="4892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6720840" y="4709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valve disease + AF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6720840" y="5056632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Non-coumadin agents (DOACs) supported — ACC/AHA guidelines (registry data)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in Pregnancy — Overview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72768"/>
            <a:ext cx="11183112" cy="914400"/>
          </a:xfrm>
          <a:prstGeom prst="roundRect">
            <a:avLst>
              <a:gd name="adj" fmla="val 12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72768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— ~60 / 100,000 pregnancies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often congenital / valvular disease, thyrotoxicosis or electrolyte disturbance   ·   hypercoagulable, but no proven rise in AF-related thromboembolism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81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95528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9"/>
          <p:cNvSpPr/>
          <p:nvPr/>
        </p:nvSpPr>
        <p:spPr>
          <a:xfrm>
            <a:off x="1033272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criteria as non-pregnant women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1"/>
          <p:cNvSpPr/>
          <p:nvPr/>
        </p:nvSpPr>
        <p:spPr>
          <a:xfrm>
            <a:off x="1033272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(not DOAC) — 2nd trimester to 1 month before delivery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LMWH (SC) — 1st trimester &amp; final month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288536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62856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3081528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40096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Management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581144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4818888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— safe at all stages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81144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4818888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metoprolol — rate control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581144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 or sotalol — conversion to sinus rhythm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074152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348472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081528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25712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Long-term Rhythm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8366760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7"/>
          <p:cNvSpPr/>
          <p:nvPr/>
        </p:nvSpPr>
        <p:spPr>
          <a:xfrm>
            <a:off x="8604504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disease — flecainide, sotalol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366760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29"/>
          <p:cNvSpPr/>
          <p:nvPr/>
        </p:nvSpPr>
        <p:spPr>
          <a:xfrm>
            <a:off x="8604504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disease — amiodarone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8366760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1"/>
          <p:cNvSpPr/>
          <p:nvPr/>
        </p:nvSpPr>
        <p:spPr>
          <a:xfrm>
            <a:off x="8604504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digoxin; beta-blocker only after 1st trimester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2026-07-26T17:54:51Z</dcterms:created>
  <dcterms:modified xsi:type="dcterms:W3CDTF">2026-07-26T17:54:51Z</dcterms:modified>
</cp:coreProperties>
</file>