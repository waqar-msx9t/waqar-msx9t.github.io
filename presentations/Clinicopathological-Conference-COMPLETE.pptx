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png"/><Relationship Id="rId13" Type="http://schemas.openxmlformats.org/officeDocument/2006/relationships/image" Target="../media/image-28-13.png"/><Relationship Id="rId14" Type="http://schemas.openxmlformats.org/officeDocument/2006/relationships/image" Target="../media/image-28-14.png"/><Relationship Id="rId15" Type="http://schemas.openxmlformats.org/officeDocument/2006/relationships/image" Target="../media/image-28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image" Target="../media/image-43-6.png"/><Relationship Id="rId7" Type="http://schemas.openxmlformats.org/officeDocument/2006/relationships/image" Target="../media/image-43-7.png"/><Relationship Id="rId8" Type="http://schemas.openxmlformats.org/officeDocument/2006/relationships/image" Target="../media/image-4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12648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12648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761488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71216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PULSE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834640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2871216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0056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129784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93208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110/70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129784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278624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88352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51776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7388352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°F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537192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646920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RESP. RATE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610344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9646920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/min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2816352"/>
            <a:ext cx="11183112" cy="548640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329184" cy="32918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280160" y="28163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Apex–radial pulse deficit ≈ 40 bpm</a:t>
            </a:r>
            <a:pPr algn="l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(heart rate 136 vs radial pulse 96) — a hallmark of atrial fibrillation.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502920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777240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840480"/>
            <a:ext cx="274320" cy="2743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63040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 Character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795528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9"/>
          <p:cNvSpPr/>
          <p:nvPr/>
        </p:nvSpPr>
        <p:spPr>
          <a:xfrm>
            <a:off x="1014984" y="4389120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95528" y="4745736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1014984" y="4690872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volume &amp; character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95528" y="504748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8" name="Text 33"/>
          <p:cNvSpPr/>
          <p:nvPr/>
        </p:nvSpPr>
        <p:spPr>
          <a:xfrm>
            <a:off x="1014984" y="4992624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wall not palpable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795528" y="534924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0" name="Text 35"/>
          <p:cNvSpPr/>
          <p:nvPr/>
        </p:nvSpPr>
        <p:spPr>
          <a:xfrm>
            <a:off x="1014984" y="5294376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radio-radial / femoral delay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795528" y="5650992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2" name="Text 37"/>
          <p:cNvSpPr/>
          <p:nvPr/>
        </p:nvSpPr>
        <p:spPr>
          <a:xfrm>
            <a:off x="1014984" y="5596128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deficit present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4288536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4562856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840480"/>
            <a:ext cx="274320" cy="27432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5248656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Pressure</a:t>
            </a:r>
            <a:endParaRPr lang="en-US" sz="1600" dirty="0"/>
          </a:p>
        </p:txBody>
      </p:sp>
      <p:sp>
        <p:nvSpPr>
          <p:cNvPr id="47" name="Shape 41"/>
          <p:cNvSpPr/>
          <p:nvPr/>
        </p:nvSpPr>
        <p:spPr>
          <a:xfrm>
            <a:off x="4581144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8" name="Text 42"/>
          <p:cNvSpPr/>
          <p:nvPr/>
        </p:nvSpPr>
        <p:spPr>
          <a:xfrm>
            <a:off x="4800600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110/70 mmHg — right arm, lying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4581144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0" name="Text 44"/>
          <p:cNvSpPr/>
          <p:nvPr/>
        </p:nvSpPr>
        <p:spPr>
          <a:xfrm>
            <a:off x="4800600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inter-arm difference</a:t>
            </a:r>
            <a:endParaRPr lang="en-US" sz="1200" dirty="0"/>
          </a:p>
        </p:txBody>
      </p:sp>
      <p:sp>
        <p:nvSpPr>
          <p:cNvPr id="51" name="Shape 45"/>
          <p:cNvSpPr/>
          <p:nvPr/>
        </p:nvSpPr>
        <p:spPr>
          <a:xfrm>
            <a:off x="4581144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4800600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postural drop</a:t>
            </a:r>
            <a:endParaRPr lang="en-US" sz="1200" dirty="0"/>
          </a:p>
        </p:txBody>
      </p:sp>
      <p:sp>
        <p:nvSpPr>
          <p:cNvPr id="53" name="Shape 47"/>
          <p:cNvSpPr/>
          <p:nvPr/>
        </p:nvSpPr>
        <p:spPr>
          <a:xfrm>
            <a:off x="8074152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8348472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3840480"/>
            <a:ext cx="274320" cy="274320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9034272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</a:t>
            </a:r>
            <a:endParaRPr lang="en-US" sz="1600" dirty="0"/>
          </a:p>
        </p:txBody>
      </p:sp>
      <p:sp>
        <p:nvSpPr>
          <p:cNvPr id="57" name="Shape 50"/>
          <p:cNvSpPr/>
          <p:nvPr/>
        </p:nvSpPr>
        <p:spPr>
          <a:xfrm>
            <a:off x="8366760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8" name="Text 51"/>
          <p:cNvSpPr/>
          <p:nvPr/>
        </p:nvSpPr>
        <p:spPr>
          <a:xfrm>
            <a:off x="8586216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female; comfortable in bed</a:t>
            </a:r>
            <a:endParaRPr lang="en-US" sz="1200" dirty="0"/>
          </a:p>
        </p:txBody>
      </p:sp>
      <p:sp>
        <p:nvSpPr>
          <p:cNvPr id="59" name="Shape 52"/>
          <p:cNvSpPr/>
          <p:nvPr/>
        </p:nvSpPr>
        <p:spPr>
          <a:xfrm>
            <a:off x="8366760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0" name="Text 53"/>
          <p:cNvSpPr/>
          <p:nvPr/>
        </p:nvSpPr>
        <p:spPr>
          <a:xfrm>
            <a:off x="8586216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(right hand)</a:t>
            </a:r>
            <a:endParaRPr lang="en-US" sz="1200" dirty="0"/>
          </a:p>
        </p:txBody>
      </p:sp>
      <p:sp>
        <p:nvSpPr>
          <p:cNvPr id="61" name="Shape 54"/>
          <p:cNvSpPr/>
          <p:nvPr/>
        </p:nvSpPr>
        <p:spPr>
          <a:xfrm>
            <a:off x="8366760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2" name="Text 55"/>
          <p:cNvSpPr/>
          <p:nvPr/>
        </p:nvSpPr>
        <p:spPr>
          <a:xfrm>
            <a:off x="8586216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— time, place, person</a:t>
            </a:r>
            <a:endParaRPr lang="en-US" sz="1200" dirty="0"/>
          </a:p>
        </p:txBody>
      </p:sp>
      <p:sp>
        <p:nvSpPr>
          <p:cNvPr id="63" name="Text 5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4" name="Text 57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822960"/>
          </a:xfrm>
          <a:prstGeom prst="roundRect">
            <a:avLst>
              <a:gd name="adj" fmla="val 1222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193792" y="1920240"/>
            <a:ext cx="475488" cy="47548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664" y="2039112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852160" y="1975104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852160" y="2167128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of the precordium was normal; the rest of the inspection could not be performed because of limited exposure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4937760" y="2679192"/>
            <a:ext cx="6766560" cy="1572768"/>
          </a:xfrm>
          <a:prstGeom prst="roundRect">
            <a:avLst>
              <a:gd name="adj" fmla="val 63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193792" y="2816352"/>
            <a:ext cx="475488" cy="47548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2664" y="2935224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852160" y="2871216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5394960" y="340156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1"/>
          <p:cNvSpPr/>
          <p:nvPr/>
        </p:nvSpPr>
        <p:spPr>
          <a:xfrm>
            <a:off x="5650992" y="333756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beat in 5th intercostal space, medial to midclavicular line — normal character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5394960" y="3785616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9" name="Text 23"/>
          <p:cNvSpPr/>
          <p:nvPr/>
        </p:nvSpPr>
        <p:spPr>
          <a:xfrm>
            <a:off x="5650992" y="372160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thrill; no other palpable sounds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5394960" y="404164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1" name="Text 25"/>
          <p:cNvSpPr/>
          <p:nvPr/>
        </p:nvSpPr>
        <p:spPr>
          <a:xfrm>
            <a:off x="5650992" y="397764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left parasternal heave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37760" y="4325112"/>
            <a:ext cx="6766560" cy="1664208"/>
          </a:xfrm>
          <a:prstGeom prst="roundRect">
            <a:avLst>
              <a:gd name="adj" fmla="val 604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5193792" y="4462272"/>
            <a:ext cx="475488" cy="47548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4581144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852160" y="4517136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5394960" y="502920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0"/>
          <p:cNvSpPr/>
          <p:nvPr/>
        </p:nvSpPr>
        <p:spPr>
          <a:xfrm>
            <a:off x="5650992" y="496519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00" dirty="0"/>
          </a:p>
        </p:txBody>
      </p:sp>
      <p:sp>
        <p:nvSpPr>
          <p:cNvPr id="38" name="Shape 31"/>
          <p:cNvSpPr/>
          <p:nvPr/>
        </p:nvSpPr>
        <p:spPr>
          <a:xfrm>
            <a:off x="5394960" y="539496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9" name="Text 32"/>
          <p:cNvSpPr/>
          <p:nvPr/>
        </p:nvSpPr>
        <p:spPr>
          <a:xfrm>
            <a:off x="5650992" y="533095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of variable intensity; both components of 2nd heart sound of normal intensity</a:t>
            </a:r>
            <a:endParaRPr lang="en-US" sz="1200" dirty="0"/>
          </a:p>
        </p:txBody>
      </p:sp>
      <p:sp>
        <p:nvSpPr>
          <p:cNvPr id="40" name="Shape 33"/>
          <p:cNvSpPr/>
          <p:nvPr/>
        </p:nvSpPr>
        <p:spPr>
          <a:xfrm>
            <a:off x="5394960" y="576072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1" name="Text 34"/>
          <p:cNvSpPr/>
          <p:nvPr/>
        </p:nvSpPr>
        <p:spPr>
          <a:xfrm>
            <a:off x="5650992" y="569671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00" dirty="0"/>
          </a:p>
        </p:txBody>
      </p:sp>
      <p:sp>
        <p:nvSpPr>
          <p:cNvPr id="42" name="Text 3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3" name="Text 3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0507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0507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57216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57216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0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0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279349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45336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3406140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43300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028" y="2793492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082796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05840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361645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45336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3406140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43300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3028" y="3616452"/>
            <a:ext cx="228600" cy="228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82796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05840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568" y="4439412"/>
            <a:ext cx="228600" cy="2286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545336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3406140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43300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3028" y="4439412"/>
            <a:ext cx="228600" cy="22860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082796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Pericarditis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868680" y="501091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1005840" y="515721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568" y="5262372"/>
            <a:ext cx="228600" cy="22860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545336" y="501091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250" dirty="0"/>
          </a:p>
        </p:txBody>
      </p:sp>
      <p:sp>
        <p:nvSpPr>
          <p:cNvPr id="36" name="Shape 26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7" name="Text 27"/>
          <p:cNvSpPr/>
          <p:nvPr/>
        </p:nvSpPr>
        <p:spPr>
          <a:xfrm>
            <a:off x="6519672" y="2084832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8" name="Shape 28"/>
          <p:cNvSpPr/>
          <p:nvPr/>
        </p:nvSpPr>
        <p:spPr>
          <a:xfrm>
            <a:off x="6519672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6656832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2793492"/>
            <a:ext cx="228600" cy="22860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7196328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250" dirty="0"/>
          </a:p>
        </p:txBody>
      </p:sp>
      <p:sp>
        <p:nvSpPr>
          <p:cNvPr id="42" name="Shape 31"/>
          <p:cNvSpPr/>
          <p:nvPr/>
        </p:nvSpPr>
        <p:spPr>
          <a:xfrm>
            <a:off x="9057132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9194292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04020" y="2793492"/>
            <a:ext cx="228600" cy="228600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9733788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250" dirty="0"/>
          </a:p>
        </p:txBody>
      </p:sp>
      <p:sp>
        <p:nvSpPr>
          <p:cNvPr id="46" name="Shape 34"/>
          <p:cNvSpPr/>
          <p:nvPr/>
        </p:nvSpPr>
        <p:spPr>
          <a:xfrm>
            <a:off x="6519672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6656832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6560" y="3616452"/>
            <a:ext cx="228600" cy="228600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7196328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250" dirty="0"/>
          </a:p>
        </p:txBody>
      </p:sp>
      <p:sp>
        <p:nvSpPr>
          <p:cNvPr id="50" name="Shape 37"/>
          <p:cNvSpPr/>
          <p:nvPr/>
        </p:nvSpPr>
        <p:spPr>
          <a:xfrm>
            <a:off x="9057132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9194292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04020" y="3616452"/>
            <a:ext cx="228600" cy="228600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9733788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250" dirty="0"/>
          </a:p>
        </p:txBody>
      </p:sp>
      <p:sp>
        <p:nvSpPr>
          <p:cNvPr id="54" name="Shape 40"/>
          <p:cNvSpPr/>
          <p:nvPr/>
        </p:nvSpPr>
        <p:spPr>
          <a:xfrm>
            <a:off x="6519672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6656832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6560" y="4439412"/>
            <a:ext cx="228600" cy="228600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7196328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250" dirty="0"/>
          </a:p>
        </p:txBody>
      </p:sp>
      <p:sp>
        <p:nvSpPr>
          <p:cNvPr id="58" name="Shape 43"/>
          <p:cNvSpPr/>
          <p:nvPr/>
        </p:nvSpPr>
        <p:spPr>
          <a:xfrm>
            <a:off x="9057132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9" name="Shape 44"/>
          <p:cNvSpPr/>
          <p:nvPr/>
        </p:nvSpPr>
        <p:spPr>
          <a:xfrm>
            <a:off x="9194292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6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04020" y="4439412"/>
            <a:ext cx="228600" cy="228600"/>
          </a:xfrm>
          <a:prstGeom prst="rect">
            <a:avLst/>
          </a:prstGeom>
        </p:spPr>
      </p:pic>
      <p:sp>
        <p:nvSpPr>
          <p:cNvPr id="61" name="Text 45"/>
          <p:cNvSpPr/>
          <p:nvPr/>
        </p:nvSpPr>
        <p:spPr>
          <a:xfrm>
            <a:off x="9733788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</a:t>
            </a:r>
            <a:endParaRPr lang="en-US" sz="1250" dirty="0"/>
          </a:p>
        </p:txBody>
      </p:sp>
      <p:sp>
        <p:nvSpPr>
          <p:cNvPr id="62" name="Shape 46"/>
          <p:cNvSpPr/>
          <p:nvPr/>
        </p:nvSpPr>
        <p:spPr>
          <a:xfrm>
            <a:off x="6519672" y="501091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63" name="Shape 47"/>
          <p:cNvSpPr/>
          <p:nvPr/>
        </p:nvSpPr>
        <p:spPr>
          <a:xfrm>
            <a:off x="6656832" y="515721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6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66560" y="5262372"/>
            <a:ext cx="228600" cy="228600"/>
          </a:xfrm>
          <a:prstGeom prst="rect">
            <a:avLst/>
          </a:prstGeom>
        </p:spPr>
      </p:pic>
      <p:sp>
        <p:nvSpPr>
          <p:cNvPr id="65" name="Text 48"/>
          <p:cNvSpPr/>
          <p:nvPr/>
        </p:nvSpPr>
        <p:spPr>
          <a:xfrm>
            <a:off x="7196328" y="501091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age</a:t>
            </a:r>
            <a:endParaRPr lang="en-US" sz="1250" dirty="0"/>
          </a:p>
        </p:txBody>
      </p:sp>
      <p:sp>
        <p:nvSpPr>
          <p:cNvPr id="66" name="Text 4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67" name="Text 5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MEDICAL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945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7"/>
          <p:cNvSpPr/>
          <p:nvPr/>
        </p:nvSpPr>
        <p:spPr>
          <a:xfrm>
            <a:off x="1033272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33272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— metoprolol, bisoprolol, carvedilol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033272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CCB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33272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 (avoid in decompensated HF)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5528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33272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Adjunct or LV systolic dysfunction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95528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0" name="Text 16"/>
          <p:cNvSpPr/>
          <p:nvPr/>
        </p:nvSpPr>
        <p:spPr>
          <a:xfrm>
            <a:off x="1033272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33272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 HR &lt; 80 bpm (lenient &lt; 110)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288536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62856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194560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581144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cardioversion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818888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AF → immediate DCCV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81144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0" name="Text 25"/>
          <p:cNvSpPr/>
          <p:nvPr/>
        </p:nvSpPr>
        <p:spPr>
          <a:xfrm>
            <a:off x="4818888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disease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18888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Flecainide, propafenone, sotalol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581144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4818888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/ HF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818888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Amiodarone, dofetilide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4581144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4818888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4818888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antiarrhythmic drugs fail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074152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348472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94560"/>
            <a:ext cx="347472" cy="347472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125712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8366760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3" name="Text 37"/>
          <p:cNvSpPr/>
          <p:nvPr/>
        </p:nvSpPr>
        <p:spPr>
          <a:xfrm>
            <a:off x="8604504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risk</a:t>
            </a:r>
            <a:endParaRPr lang="en-US" sz="1400" dirty="0"/>
          </a:p>
        </p:txBody>
      </p:sp>
      <p:sp>
        <p:nvSpPr>
          <p:cNvPr id="44" name="Text 38"/>
          <p:cNvSpPr/>
          <p:nvPr/>
        </p:nvSpPr>
        <p:spPr>
          <a:xfrm>
            <a:off x="8604504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CHA₂DS₂-VASc score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366760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8604504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8604504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8366760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9" name="Text 43"/>
          <p:cNvSpPr/>
          <p:nvPr/>
        </p:nvSpPr>
        <p:spPr>
          <a:xfrm>
            <a:off x="8604504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</a:t>
            </a:r>
            <a:endParaRPr lang="en-US" sz="1400" dirty="0"/>
          </a:p>
        </p:txBody>
      </p:sp>
      <p:sp>
        <p:nvSpPr>
          <p:cNvPr id="50" name="Text 44"/>
          <p:cNvSpPr/>
          <p:nvPr/>
        </p:nvSpPr>
        <p:spPr>
          <a:xfrm>
            <a:off x="8604504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Mitral stenosis / mechanical valve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836676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8604504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&gt; 48 h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604504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or 3 weeks before cardioversion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55" name="Text 4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in Pregnancy — Overview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572768"/>
            <a:ext cx="11183112" cy="914400"/>
          </a:xfrm>
          <a:prstGeom prst="roundRect">
            <a:avLst>
              <a:gd name="adj" fmla="val 12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14400" y="1572768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— ~60 / 100,000 pregnancies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often congenital / valvular disease, thyrotoxicosis or electrolyte disturbance   ·   hypercoagulable, but no proven rise in AF-related thromboembolism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081528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795528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3" name="Text 9"/>
          <p:cNvSpPr/>
          <p:nvPr/>
        </p:nvSpPr>
        <p:spPr>
          <a:xfrm>
            <a:off x="1033272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criteria as non-pregnant women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5" name="Text 11"/>
          <p:cNvSpPr/>
          <p:nvPr/>
        </p:nvSpPr>
        <p:spPr>
          <a:xfrm>
            <a:off x="1033272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(not DOAC) — 2nd trimester to 1 month before delivery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5528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LMWH (SC) — 1st trimester &amp; final month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288536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62856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3081528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340096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Acute Management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4581144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4818888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— safe at all stages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81144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4818888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metoprolol — rate control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581144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 or sotalol — conversion to sinus rhythm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074152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348472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081528"/>
            <a:ext cx="347472" cy="34747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25712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Long-term Rhythm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8366760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7"/>
          <p:cNvSpPr/>
          <p:nvPr/>
        </p:nvSpPr>
        <p:spPr>
          <a:xfrm>
            <a:off x="8604504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structural disease — flecainide, sotalol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366760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5" name="Text 29"/>
          <p:cNvSpPr/>
          <p:nvPr/>
        </p:nvSpPr>
        <p:spPr>
          <a:xfrm>
            <a:off x="8604504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disease — amiodarone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8366760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1"/>
          <p:cNvSpPr/>
          <p:nvPr/>
        </p:nvSpPr>
        <p:spPr>
          <a:xfrm>
            <a:off x="8604504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digoxin; beta-blocker only after 1st trimester</a:t>
            </a:r>
            <a:endParaRPr lang="en-US" sz="1250" dirty="0"/>
          </a:p>
        </p:txBody>
      </p:sp>
      <p:sp>
        <p:nvSpPr>
          <p:cNvPr id="38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100" dirty="0"/>
          </a:p>
        </p:txBody>
      </p:sp>
      <p:sp>
        <p:nvSpPr>
          <p:cNvPr id="39" name="Text 3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2026-07-26T03:47:14Z</dcterms:created>
  <dcterms:modified xsi:type="dcterms:W3CDTF">2026-07-26T03:47:14Z</dcterms:modified>
</cp:coreProperties>
</file>