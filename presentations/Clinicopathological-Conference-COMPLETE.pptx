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png"/><Relationship Id="rId13" Type="http://schemas.openxmlformats.org/officeDocument/2006/relationships/image" Target="../media/image-25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image" Target="../media/image-2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6" Type="http://schemas.openxmlformats.org/officeDocument/2006/relationships/image" Target="../media/image-38-6.png"/><Relationship Id="rId7" Type="http://schemas.openxmlformats.org/officeDocument/2006/relationships/image" Target="../media/image-38-7.png"/><Relationship Id="rId8" Type="http://schemas.openxmlformats.org/officeDocument/2006/relationships/image" Target="../media/image-3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PEIC,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PEIC,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063240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886968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86968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 lying comfortably in bed</a:t>
            </a:r>
            <a:endParaRPr lang="en-US" sz="1650" dirty="0"/>
          </a:p>
        </p:txBody>
      </p:sp>
      <p:sp>
        <p:nvSpPr>
          <p:cNvPr id="12" name="Shape 8"/>
          <p:cNvSpPr/>
          <p:nvPr/>
        </p:nvSpPr>
        <p:spPr>
          <a:xfrm>
            <a:off x="4407408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773168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776" y="2624328"/>
            <a:ext cx="466344" cy="4663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67728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7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6" name="Text 11"/>
          <p:cNvSpPr/>
          <p:nvPr/>
        </p:nvSpPr>
        <p:spPr>
          <a:xfrm>
            <a:off x="4791456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791456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— right hand</a:t>
            </a:r>
            <a:endParaRPr lang="en-US" sz="1650" dirty="0"/>
          </a:p>
        </p:txBody>
      </p:sp>
      <p:sp>
        <p:nvSpPr>
          <p:cNvPr id="18" name="Shape 13"/>
          <p:cNvSpPr/>
          <p:nvPr/>
        </p:nvSpPr>
        <p:spPr>
          <a:xfrm>
            <a:off x="831189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67765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0264" y="2624328"/>
            <a:ext cx="466344" cy="4663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872216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22" name="Text 16"/>
          <p:cNvSpPr/>
          <p:nvPr/>
        </p:nvSpPr>
        <p:spPr>
          <a:xfrm>
            <a:off x="8695944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CONSCIOUSNESS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8695944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to time, place and person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7568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1536" y="2249424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172200" y="200253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172200" y="23317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visible pulsations or striae marks</a:t>
            </a:r>
            <a:endParaRPr lang="en-US" sz="1900" dirty="0"/>
          </a:p>
        </p:txBody>
      </p:sp>
      <p:sp>
        <p:nvSpPr>
          <p:cNvPr id="22" name="Shape 17"/>
          <p:cNvSpPr/>
          <p:nvPr/>
        </p:nvSpPr>
        <p:spPr>
          <a:xfrm>
            <a:off x="4937760" y="324612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3872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1536" y="3712464"/>
            <a:ext cx="347472" cy="34747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172200" y="346557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6172200" y="379476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Examined</a:t>
            </a:r>
            <a:endParaRPr lang="en-US" sz="1900" dirty="0"/>
          </a:p>
        </p:txBody>
      </p:sp>
      <p:sp>
        <p:nvSpPr>
          <p:cNvPr id="27" name="Shape 21"/>
          <p:cNvSpPr/>
          <p:nvPr/>
        </p:nvSpPr>
        <p:spPr>
          <a:xfrm>
            <a:off x="4937760" y="470916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5257800" y="500176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5175504"/>
            <a:ext cx="347472" cy="347472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172200" y="492861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</a:t>
            </a:r>
            <a:endParaRPr lang="en-US" sz="1250" dirty="0"/>
          </a:p>
        </p:txBody>
      </p:sp>
      <p:sp>
        <p:nvSpPr>
          <p:cNvPr id="31" name="Text 24"/>
          <p:cNvSpPr/>
          <p:nvPr/>
        </p:nvSpPr>
        <p:spPr>
          <a:xfrm>
            <a:off x="6172200" y="52578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Examined</a:t>
            </a:r>
            <a:endParaRPr lang="en-US" sz="1900" dirty="0"/>
          </a:p>
        </p:txBody>
      </p:sp>
      <p:sp>
        <p:nvSpPr>
          <p:cNvPr id="32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5669280" cy="4279392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19656"/>
            <a:ext cx="5458968" cy="4114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55080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611112" y="195681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2093976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287768" y="1828800"/>
            <a:ext cx="4251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7287768" y="27980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rhythm ECG · </a:t>
            </a:r>
            <a:pPr algn="l"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06-Jul-2026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355080" y="3364992"/>
            <a:ext cx="5349240" cy="914400"/>
          </a:xfrm>
          <a:prstGeom prst="roundRect">
            <a:avLst>
              <a:gd name="adj" fmla="val 12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611112" y="34930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611112" y="376732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pPr algn="l" indent="0" marL="0">
              <a:buNone/>
            </a:pPr>
            <a:r>
              <a:rPr lang="en-US" sz="15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bpm</a:t>
            </a:r>
            <a:endParaRPr lang="en-US" sz="34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0" y="3493008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0424160" y="3785616"/>
            <a:ext cx="1051560" cy="420624"/>
          </a:xfrm>
          <a:prstGeom prst="roundRect">
            <a:avLst>
              <a:gd name="adj" fmla="val 50000"/>
            </a:avLst>
          </a:prstGeom>
          <a:solidFill>
            <a:srgbClr val="FF4D6D"/>
          </a:solidFill>
          <a:ln/>
        </p:spPr>
      </p:sp>
      <p:sp>
        <p:nvSpPr>
          <p:cNvPr id="18" name="Text 12"/>
          <p:cNvSpPr/>
          <p:nvPr/>
        </p:nvSpPr>
        <p:spPr>
          <a:xfrm>
            <a:off x="10424160" y="3785616"/>
            <a:ext cx="1051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55080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6556248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6556248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89136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9290304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9290304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355080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556248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· QRS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6556248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· 80 ms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9089136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9290304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/ QTC · AXIS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9290304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/ 382 ms · 38°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HAEMATOLOGY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Blood Count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10-Jun-2022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984248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282696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855464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984248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282696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11.5–16.5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55464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984248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6.94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282696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4.0–11.0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55464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984248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282696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40–75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855464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02920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984248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3282696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55464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2920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5" name="Shape 32"/>
          <p:cNvSpPr/>
          <p:nvPr/>
        </p:nvSpPr>
        <p:spPr>
          <a:xfrm>
            <a:off x="502920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984248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3282696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855464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2920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Eosinophils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984248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3282696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4855464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36208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7717536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9015984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588752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6236208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51" name="Shape 48"/>
          <p:cNvSpPr/>
          <p:nvPr/>
        </p:nvSpPr>
        <p:spPr>
          <a:xfrm>
            <a:off x="6236208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73368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717536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9015984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150–400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588752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236208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73368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717536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59" name="Text 56"/>
          <p:cNvSpPr/>
          <p:nvPr/>
        </p:nvSpPr>
        <p:spPr>
          <a:xfrm>
            <a:off x="9015984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3.6–5.8</a:t>
            </a:r>
            <a:endParaRPr lang="en-US" sz="1250" dirty="0"/>
          </a:p>
        </p:txBody>
      </p:sp>
      <p:sp>
        <p:nvSpPr>
          <p:cNvPr id="60" name="Text 57"/>
          <p:cNvSpPr/>
          <p:nvPr/>
        </p:nvSpPr>
        <p:spPr>
          <a:xfrm>
            <a:off x="10588752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×10⁶/µL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236208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62" name="Shape 59"/>
          <p:cNvSpPr/>
          <p:nvPr/>
        </p:nvSpPr>
        <p:spPr>
          <a:xfrm>
            <a:off x="6236208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373368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7717536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50" dirty="0"/>
          </a:p>
        </p:txBody>
      </p:sp>
      <p:sp>
        <p:nvSpPr>
          <p:cNvPr id="65" name="Text 62"/>
          <p:cNvSpPr/>
          <p:nvPr/>
        </p:nvSpPr>
        <p:spPr>
          <a:xfrm>
            <a:off x="9015984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10588752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6236208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373368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7717536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</a:t>
            </a:r>
            <a:endParaRPr lang="en-US" sz="1350" dirty="0"/>
          </a:p>
        </p:txBody>
      </p:sp>
      <p:sp>
        <p:nvSpPr>
          <p:cNvPr id="70" name="Text 67"/>
          <p:cNvSpPr/>
          <p:nvPr/>
        </p:nvSpPr>
        <p:spPr>
          <a:xfrm>
            <a:off x="9015984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27–34</a:t>
            </a:r>
            <a:endParaRPr lang="en-US" sz="1250" dirty="0"/>
          </a:p>
        </p:txBody>
      </p:sp>
      <p:sp>
        <p:nvSpPr>
          <p:cNvPr id="71" name="Text 68"/>
          <p:cNvSpPr/>
          <p:nvPr/>
        </p:nvSpPr>
        <p:spPr>
          <a:xfrm>
            <a:off x="10588752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236208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73" name="Shape 70"/>
          <p:cNvSpPr/>
          <p:nvPr/>
        </p:nvSpPr>
        <p:spPr>
          <a:xfrm>
            <a:off x="6236208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373368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MCHC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7717536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35.0</a:t>
            </a:r>
            <a:endParaRPr lang="en-US" sz="1350" dirty="0"/>
          </a:p>
        </p:txBody>
      </p:sp>
      <p:sp>
        <p:nvSpPr>
          <p:cNvPr id="76" name="Text 73"/>
          <p:cNvSpPr/>
          <p:nvPr/>
        </p:nvSpPr>
        <p:spPr>
          <a:xfrm>
            <a:off x="9015984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</a:t>
            </a:r>
            <a:endParaRPr lang="en-US" sz="1250" dirty="0"/>
          </a:p>
        </p:txBody>
      </p:sp>
      <p:sp>
        <p:nvSpPr>
          <p:cNvPr id="77" name="Text 74"/>
          <p:cNvSpPr/>
          <p:nvPr/>
        </p:nvSpPr>
        <p:spPr>
          <a:xfrm>
            <a:off x="10588752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236208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73368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7717536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81" name="Text 78"/>
          <p:cNvSpPr/>
          <p:nvPr/>
        </p:nvSpPr>
        <p:spPr>
          <a:xfrm>
            <a:off x="9015984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35–47</a:t>
            </a:r>
            <a:endParaRPr lang="en-US" sz="1250" dirty="0"/>
          </a:p>
        </p:txBody>
      </p:sp>
      <p:sp>
        <p:nvSpPr>
          <p:cNvPr id="82" name="Text 79"/>
          <p:cNvSpPr/>
          <p:nvPr/>
        </p:nvSpPr>
        <p:spPr>
          <a:xfrm>
            <a:off x="10588752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4" name="Text 81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(low Hb, RBC &amp; HCT) with mild eosinophilia.</a:t>
            </a:r>
            <a:endParaRPr lang="en-US" sz="1500" dirty="0"/>
          </a:p>
        </p:txBody>
      </p:sp>
      <p:sp>
        <p:nvSpPr>
          <p:cNvPr id="85" name="Text 8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ROUTINE CHEMISTRY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Renal, Electrolytes &amp; Viral Screen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06-Jul-2026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96012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16.6–48.6 mg/dL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58952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</a:t>
            </a:r>
            <a:endParaRPr lang="en-US" sz="13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39410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96012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0.6–1.2 mg/dL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288536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562856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ELECTROLYTES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44568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45736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</a:t>
            </a:r>
            <a:endParaRPr lang="en-US" sz="13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26426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45736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4745736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135–155 mmol/L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44568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45736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394106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745736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4745736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3.5–5.5 mmol/L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4152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Text 25"/>
          <p:cNvSpPr/>
          <p:nvPr/>
        </p:nvSpPr>
        <p:spPr>
          <a:xfrm>
            <a:off x="8348472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SCREEN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330184" y="2532888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2770632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933688" y="253288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10113264" y="272491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7" name="Text 29"/>
          <p:cNvSpPr/>
          <p:nvPr/>
        </p:nvSpPr>
        <p:spPr>
          <a:xfrm>
            <a:off x="10113264" y="27249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330184" y="3429000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366674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933688" y="3429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Ag/Ab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10113264" y="3621024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2" name="Text 33"/>
          <p:cNvSpPr/>
          <p:nvPr/>
        </p:nvSpPr>
        <p:spPr>
          <a:xfrm>
            <a:off x="10113264" y="362102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330184" y="4325112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562856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33688" y="432511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HCV (ICT)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113264" y="451713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7" name="Text 37"/>
          <p:cNvSpPr/>
          <p:nvPr/>
        </p:nvSpPr>
        <p:spPr>
          <a:xfrm>
            <a:off x="10113264" y="451713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renal function and electrolytes; viral screen negative.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ECHOCARDIOGRAPHY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27-Jan-2023 · Dr Ussama Munir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3042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LVEF 65%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77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 57–73%)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703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AF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31596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42245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clot in LA / LV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114800" y="178308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43400" y="195681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224528" y="2304288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30428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172200" y="230428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059168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343400" y="27249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LVIDD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40680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172200" y="27249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35–56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7059168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224528" y="3145536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314553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440680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172200" y="31455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59168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4343400" y="35661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LVPW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440680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6172200" y="356616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59168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24528" y="3986784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6" name="Text 32"/>
          <p:cNvSpPr/>
          <p:nvPr/>
        </p:nvSpPr>
        <p:spPr>
          <a:xfrm>
            <a:off x="4343400" y="398678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5440680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172200" y="39867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19–40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7059168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43400" y="44074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E/A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40680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6172200" y="440740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7059168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224528" y="4828032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45" name="Text 41"/>
          <p:cNvSpPr/>
          <p:nvPr/>
        </p:nvSpPr>
        <p:spPr>
          <a:xfrm>
            <a:off x="4343400" y="482803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440680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50" dirty="0"/>
          </a:p>
        </p:txBody>
      </p:sp>
      <p:sp>
        <p:nvSpPr>
          <p:cNvPr id="47" name="Text 43"/>
          <p:cNvSpPr/>
          <p:nvPr/>
        </p:nvSpPr>
        <p:spPr>
          <a:xfrm>
            <a:off x="6172200" y="48280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059168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7955280" y="1783080"/>
            <a:ext cx="3730752" cy="3566160"/>
          </a:xfrm>
          <a:prstGeom prst="roundRect">
            <a:avLst>
              <a:gd name="adj" fmla="val 307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0" name="Text 46"/>
          <p:cNvSpPr/>
          <p:nvPr/>
        </p:nvSpPr>
        <p:spPr>
          <a:xfrm>
            <a:off x="8211312" y="1956816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59152"/>
            <a:ext cx="219456" cy="219456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8577072" y="233172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LV size &amp; good systolic function</a:t>
            </a:r>
            <a:endParaRPr lang="en-US" sz="1250" dirty="0"/>
          </a:p>
        </p:txBody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53512"/>
            <a:ext cx="219456" cy="219456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577072" y="29260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wall-motion abnormality</a:t>
            </a:r>
            <a:endParaRPr lang="en-US" sz="125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47872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577072" y="352044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clot in LA or LV</a:t>
            </a:r>
            <a:endParaRPr lang="en-US" sz="1250" dirty="0"/>
          </a:p>
        </p:txBody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42232"/>
            <a:ext cx="219456" cy="219456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577072" y="411480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chambers, valves, IAS &amp; IVS</a:t>
            </a:r>
            <a:endParaRPr lang="en-US" sz="125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736592"/>
            <a:ext cx="219456" cy="219456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8577072" y="470916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pericardium</a:t>
            </a:r>
            <a:endParaRPr lang="en-US" sz="1250" dirty="0"/>
          </a:p>
        </p:txBody>
      </p:sp>
      <p:sp>
        <p:nvSpPr>
          <p:cNvPr id="61" name="Shape 52"/>
          <p:cNvSpPr/>
          <p:nvPr/>
        </p:nvSpPr>
        <p:spPr>
          <a:xfrm>
            <a:off x="502920" y="5559552"/>
            <a:ext cx="11183112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2" name="Text 53"/>
          <p:cNvSpPr/>
          <p:nvPr/>
        </p:nvSpPr>
        <p:spPr>
          <a:xfrm>
            <a:off x="502920" y="555955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biventricular size and systolic function.</a:t>
            </a:r>
            <a:endParaRPr lang="en-US" sz="1500" dirty="0"/>
          </a:p>
        </p:txBody>
      </p:sp>
      <p:sp>
        <p:nvSpPr>
          <p:cNvPr id="63" name="Text 5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64" name="Text 5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DISCUSSION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Diagnosis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14813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an irregular tachycardia — each excluded on ECG grounds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4825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12140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187452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40680" y="2020824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0" y="1874520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sawtooth flutter waves; R–R interval is irregular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02920" y="2688336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286207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93522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2688336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5440680" y="2834640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669280" y="2688336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≥ 3 differing P-wave morphologies present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02920" y="3502152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67588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3749040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50215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5440680" y="3648456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5669280" y="3502152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discrete P waves preceding each QRS complex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502920" y="4315968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77240" y="448970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4562856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71600" y="4315968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40680" y="4462272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669280" y="4315968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Paroxysmal SVT is regular — here the rhythm is irregular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502920" y="5129784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777240" y="530352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" y="5376672"/>
            <a:ext cx="237744" cy="23774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371600" y="5129784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Sinus tachycardia + ectopics</a:t>
            </a:r>
            <a:endParaRPr lang="en-US" sz="1700" dirty="0"/>
          </a:p>
        </p:txBody>
      </p:sp>
      <p:sp>
        <p:nvSpPr>
          <p:cNvPr id="35" name="Shape 27"/>
          <p:cNvSpPr/>
          <p:nvPr/>
        </p:nvSpPr>
        <p:spPr>
          <a:xfrm>
            <a:off x="5440680" y="5276088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5669280" y="5129784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 absent; rhythm is irregularly irregular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138160" y="320040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DIAGNOSIS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783080"/>
            <a:ext cx="10698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4400" dirty="0"/>
          </a:p>
        </p:txBody>
      </p:sp>
      <p:sp>
        <p:nvSpPr>
          <p:cNvPr id="8" name="Shape 4"/>
          <p:cNvSpPr/>
          <p:nvPr/>
        </p:nvSpPr>
        <p:spPr>
          <a:xfrm>
            <a:off x="68580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94183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005072"/>
            <a:ext cx="219456" cy="2194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5448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on 12-lead ECG</a:t>
            </a:r>
            <a:endParaRPr lang="en-US" sz="1800" dirty="0"/>
          </a:p>
        </p:txBody>
      </p:sp>
      <p:sp>
        <p:nvSpPr>
          <p:cNvPr id="12" name="Text 7"/>
          <p:cNvSpPr/>
          <p:nvPr/>
        </p:nvSpPr>
        <p:spPr>
          <a:xfrm>
            <a:off x="155448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bpm · irregularly irregular · no P waves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26364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51967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005072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13232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Structurally normal heart</a:t>
            </a:r>
            <a:endParaRPr lang="en-US" sz="1800" dirty="0"/>
          </a:p>
        </p:txBody>
      </p:sp>
      <p:sp>
        <p:nvSpPr>
          <p:cNvPr id="17" name="Text 11"/>
          <p:cNvSpPr/>
          <p:nvPr/>
        </p:nvSpPr>
        <p:spPr>
          <a:xfrm>
            <a:off x="713232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 65% · no clot in LA or LV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8580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94183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5157216"/>
            <a:ext cx="219456" cy="21945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55448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 hypertension</a:t>
            </a:r>
            <a:endParaRPr lang="en-US" sz="1800" dirty="0"/>
          </a:p>
        </p:txBody>
      </p:sp>
      <p:sp>
        <p:nvSpPr>
          <p:cNvPr id="22" name="Text 15"/>
          <p:cNvSpPr/>
          <p:nvPr/>
        </p:nvSpPr>
        <p:spPr>
          <a:xfrm>
            <a:off x="155448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comorbidity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626364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51967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157216"/>
            <a:ext cx="219456" cy="219456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13232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Mild normocytic anaemia</a:t>
            </a:r>
            <a:endParaRPr lang="en-US" sz="1800" dirty="0"/>
          </a:p>
        </p:txBody>
      </p:sp>
      <p:sp>
        <p:nvSpPr>
          <p:cNvPr id="27" name="Text 19"/>
          <p:cNvSpPr/>
          <p:nvPr/>
        </p:nvSpPr>
        <p:spPr>
          <a:xfrm>
            <a:off x="713232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Incidental haematology finding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29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7863840" y="31089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965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600" dirty="0"/>
          </a:p>
        </p:txBody>
      </p:sp>
      <p:sp>
        <p:nvSpPr>
          <p:cNvPr id="8" name="Shape 4"/>
          <p:cNvSpPr/>
          <p:nvPr/>
        </p:nvSpPr>
        <p:spPr>
          <a:xfrm>
            <a:off x="685800" y="320040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60120" y="36576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" y="3785616"/>
            <a:ext cx="384048" cy="38404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737360" y="3493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settled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173736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controlled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709160" y="320040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4983480" y="36576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1496" y="3785616"/>
            <a:ext cx="384048" cy="38404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760720" y="3493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 home</a:t>
            </a:r>
            <a:endParaRPr lang="en-US" sz="1900" dirty="0"/>
          </a:p>
        </p:txBody>
      </p:sp>
      <p:sp>
        <p:nvSpPr>
          <p:cNvPr id="17" name="Text 11"/>
          <p:cNvSpPr/>
          <p:nvPr/>
        </p:nvSpPr>
        <p:spPr>
          <a:xfrm>
            <a:off x="576072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for outpatient follow-up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731520" y="548640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 flipV="1">
            <a:off x="2752344" y="534009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3108960" y="534009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 flipV="1">
            <a:off x="3465576" y="498348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3822192" y="498348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 flipV="1">
            <a:off x="4178808" y="548640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535424" y="548640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85800" y="5715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 in context — Atrial Fibrillation</a:t>
            </a:r>
            <a:endParaRPr lang="en-US" sz="220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680960" y="100584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757123" y="1280160"/>
            <a:ext cx="163860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92098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9121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143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36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26040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89156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517904" y="1280160"/>
            <a:ext cx="46817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1564721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34947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1705173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7103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1904147" y="1280160"/>
            <a:ext cx="12874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03289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0312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217334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25527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237231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1067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2629814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58562" y="1257300"/>
            <a:ext cx="93635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85219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242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99264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74579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3191622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320369" y="1248156"/>
            <a:ext cx="175565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349593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56616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363638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71831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3835359" y="1280160"/>
            <a:ext cx="15800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3993368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63594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4133820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1575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332793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461540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4590288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719036" y="1257300"/>
            <a:ext cx="64374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783409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853635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4923861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05791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283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251582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380330" y="1280160"/>
            <a:ext cx="163860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544190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14416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5684642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66572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88361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012363" y="1248156"/>
            <a:ext cx="117043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12940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19963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626985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351788" y="1280160"/>
            <a:ext cx="140452" cy="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8580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CARDIOLOGY  ·  CLINICAL TOPIC REVIEW</a:t>
            </a:r>
            <a:endParaRPr lang="en-US" sz="1400" dirty="0"/>
          </a:p>
        </p:txBody>
      </p:sp>
      <p:sp>
        <p:nvSpPr>
          <p:cNvPr id="63" name="Text 60"/>
          <p:cNvSpPr/>
          <p:nvPr/>
        </p:nvSpPr>
        <p:spPr>
          <a:xfrm>
            <a:off x="621792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7000" dirty="0"/>
          </a:p>
        </p:txBody>
      </p:sp>
      <p:sp>
        <p:nvSpPr>
          <p:cNvPr id="64" name="Text 61"/>
          <p:cNvSpPr/>
          <p:nvPr/>
        </p:nvSpPr>
        <p:spPr>
          <a:xfrm>
            <a:off x="685800" y="3703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  ·  Clinical Features  ·  Differential Diagnosis  ·  Management</a:t>
            </a:r>
            <a:endParaRPr lang="en-US" sz="1650" dirty="0"/>
          </a:p>
        </p:txBody>
      </p:sp>
      <p:sp>
        <p:nvSpPr>
          <p:cNvPr id="65" name="Shape 62"/>
          <p:cNvSpPr/>
          <p:nvPr/>
        </p:nvSpPr>
        <p:spPr>
          <a:xfrm>
            <a:off x="685800" y="4572000"/>
            <a:ext cx="59436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6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73168"/>
            <a:ext cx="457200" cy="457200"/>
          </a:xfrm>
          <a:prstGeom prst="rect">
            <a:avLst/>
          </a:prstGeom>
        </p:spPr>
      </p:pic>
      <p:sp>
        <p:nvSpPr>
          <p:cNvPr id="67" name="Text 63"/>
          <p:cNvSpPr/>
          <p:nvPr/>
        </p:nvSpPr>
        <p:spPr>
          <a:xfrm>
            <a:off x="1600200" y="45720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sustained cardiac arrhythmia</a:t>
            </a:r>
            <a:endParaRPr lang="en-US" sz="1450" dirty="0"/>
          </a:p>
        </p:txBody>
      </p:sp>
      <p:sp>
        <p:nvSpPr>
          <p:cNvPr id="68" name="Text 6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69" name="Text 65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Atrial Fibrillation?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126480" cy="4297680"/>
          </a:xfrm>
          <a:prstGeom prst="roundRect">
            <a:avLst>
              <a:gd name="adj" fmla="val 2553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4937760" y="470916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68680" y="2560320"/>
            <a:ext cx="5349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supraventricular tachyarrhythmia with rapid, disorganised atrial electrical activity — producing uncoordinated, ineffective atrial contraction and an irregularly irregular ventricular response.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858000" y="1783080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040880" y="200253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8823960" y="1783080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sustained cardiac arrhythmia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858000" y="3264408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040880" y="348386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~1–2%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8823960" y="3264408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general population — rises sharply with age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858000" y="4745736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040880" y="496519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5×</a:t>
            </a:r>
            <a:endParaRPr lang="en-US" sz="4000" dirty="0"/>
          </a:p>
        </p:txBody>
      </p:sp>
      <p:sp>
        <p:nvSpPr>
          <p:cNvPr id="18" name="Text 14"/>
          <p:cNvSpPr/>
          <p:nvPr/>
        </p:nvSpPr>
        <p:spPr>
          <a:xfrm>
            <a:off x="8823960" y="4745736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risk of ischaemic stroke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Atrial Fibrillation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89304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36" y="249631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Paroxysmal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04088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Self-terminating, usually within 48 h (≤ 7 days)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3346704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33088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49631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83864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3547872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&gt; 7 days; needs cardioversion to stop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190488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976872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904" y="249631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27648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Long-standing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6391656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&gt; 12 months, rhythm control still intended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9034272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820656" y="2240280"/>
            <a:ext cx="1097280" cy="10972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6688" y="2496312"/>
            <a:ext cx="585216" cy="58521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71432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</a:t>
            </a:r>
            <a:endParaRPr lang="en-US" sz="2000" dirty="0"/>
          </a:p>
        </p:txBody>
      </p:sp>
      <p:sp>
        <p:nvSpPr>
          <p:cNvPr id="25" name="Text 18"/>
          <p:cNvSpPr/>
          <p:nvPr/>
        </p:nvSpPr>
        <p:spPr>
          <a:xfrm>
            <a:off x="9235440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Accepted; no further attempts to restore sinus rhythm</a:t>
            </a:r>
            <a:endParaRPr lang="en-US" sz="1350" dirty="0"/>
          </a:p>
        </p:txBody>
      </p:sp>
      <p:sp>
        <p:nvSpPr>
          <p:cNvPr id="26" name="Shape 19"/>
          <p:cNvSpPr/>
          <p:nvPr/>
        </p:nvSpPr>
        <p:spPr>
          <a:xfrm>
            <a:off x="502920" y="5440680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4406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First-diagnosed AF  </a:t>
            </a:r>
            <a:pPr algn="l" indent="0" marL="0">
              <a:buNone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detected for the first time, whatever its duration or symptom burden.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AF Develops &amp; Sustains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68780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263347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Triggers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777240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Ectopic foci — most often from the pulmonary veins — fire rapidly and initiate AF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79976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545836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868" y="263347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62856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Re-entry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54296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re-entrant wavelets &amp; rotors sustain disorganised atrial activity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57032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22892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8924" y="263347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3991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Remodelling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531352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&amp; structural atrial remodelling — “AF begets AF”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 rot="5400000">
            <a:off x="3968496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2" name="Shape 16"/>
          <p:cNvSpPr/>
          <p:nvPr/>
        </p:nvSpPr>
        <p:spPr>
          <a:xfrm rot="5400000">
            <a:off x="7845552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3" name="Shape 17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923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914400" y="51023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“kick” + irregular AV conduction </a:t>
            </a:r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reduced cardiac output and blood stasis in the left atrial appendage → thrombus formation.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&amp; Risk Factors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6868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1498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2907792"/>
            <a:ext cx="265176" cy="2651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1848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40614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244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6" y="2907792"/>
            <a:ext cx="265176" cy="2651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5594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Ischaemic heart disease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6868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1498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3931920"/>
            <a:ext cx="265176" cy="26517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1848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Valvular disease (mitral stenosis)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40614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55244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1316" y="3931920"/>
            <a:ext cx="265176" cy="26517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15594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86868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101498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3856" y="4956048"/>
            <a:ext cx="265176" cy="26517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61848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Cardiomyopathy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340614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355244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71316" y="4956048"/>
            <a:ext cx="265176" cy="265176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15594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Post-cardiac surgery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6153912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3" name="Text 24"/>
          <p:cNvSpPr/>
          <p:nvPr/>
        </p:nvSpPr>
        <p:spPr>
          <a:xfrm>
            <a:off x="6519672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NON-CARDIAC / SYSTEMIC</a:t>
            </a:r>
            <a:endParaRPr lang="en-US" sz="1350" dirty="0"/>
          </a:p>
        </p:txBody>
      </p:sp>
      <p:sp>
        <p:nvSpPr>
          <p:cNvPr id="34" name="Shape 25"/>
          <p:cNvSpPr/>
          <p:nvPr/>
        </p:nvSpPr>
        <p:spPr>
          <a:xfrm>
            <a:off x="651967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666597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4848" y="2907792"/>
            <a:ext cx="265176" cy="265176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726948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Hyperthyroidism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905713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920343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2308" y="2907792"/>
            <a:ext cx="265176" cy="265176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980694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(“holiday heart”)</a:t>
            </a:r>
            <a:endParaRPr lang="en-US" sz="1300" dirty="0"/>
          </a:p>
        </p:txBody>
      </p:sp>
      <p:sp>
        <p:nvSpPr>
          <p:cNvPr id="42" name="Shape 31"/>
          <p:cNvSpPr/>
          <p:nvPr/>
        </p:nvSpPr>
        <p:spPr>
          <a:xfrm>
            <a:off x="651967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666597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4848" y="3931920"/>
            <a:ext cx="265176" cy="265176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726948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/ sleep apnoea</a:t>
            </a:r>
            <a:endParaRPr lang="en-US" sz="1300" dirty="0"/>
          </a:p>
        </p:txBody>
      </p:sp>
      <p:sp>
        <p:nvSpPr>
          <p:cNvPr id="46" name="Shape 34"/>
          <p:cNvSpPr/>
          <p:nvPr/>
        </p:nvSpPr>
        <p:spPr>
          <a:xfrm>
            <a:off x="905713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920343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2308" y="3931920"/>
            <a:ext cx="265176" cy="265176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980694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Sepsis / infection</a:t>
            </a:r>
            <a:endParaRPr lang="en-US" sz="1300" dirty="0"/>
          </a:p>
        </p:txBody>
      </p:sp>
      <p:sp>
        <p:nvSpPr>
          <p:cNvPr id="50" name="Shape 37"/>
          <p:cNvSpPr/>
          <p:nvPr/>
        </p:nvSpPr>
        <p:spPr>
          <a:xfrm>
            <a:off x="651967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1" name="Shape 38"/>
          <p:cNvSpPr/>
          <p:nvPr/>
        </p:nvSpPr>
        <p:spPr>
          <a:xfrm>
            <a:off x="666597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84848" y="4956048"/>
            <a:ext cx="265176" cy="265176"/>
          </a:xfrm>
          <a:prstGeom prst="rect">
            <a:avLst/>
          </a:prstGeom>
        </p:spPr>
      </p:pic>
      <p:sp>
        <p:nvSpPr>
          <p:cNvPr id="53" name="Text 39"/>
          <p:cNvSpPr/>
          <p:nvPr/>
        </p:nvSpPr>
        <p:spPr>
          <a:xfrm>
            <a:off x="726948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— PE, COPD</a:t>
            </a:r>
            <a:endParaRPr lang="en-US" sz="1300" dirty="0"/>
          </a:p>
        </p:txBody>
      </p:sp>
      <p:sp>
        <p:nvSpPr>
          <p:cNvPr id="54" name="Shape 40"/>
          <p:cNvSpPr/>
          <p:nvPr/>
        </p:nvSpPr>
        <p:spPr>
          <a:xfrm>
            <a:off x="905713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920343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22308" y="4956048"/>
            <a:ext cx="265176" cy="265176"/>
          </a:xfrm>
          <a:prstGeom prst="rect">
            <a:avLst/>
          </a:prstGeom>
        </p:spPr>
      </p:pic>
      <p:sp>
        <p:nvSpPr>
          <p:cNvPr id="57" name="Text 42"/>
          <p:cNvSpPr/>
          <p:nvPr/>
        </p:nvSpPr>
        <p:spPr>
          <a:xfrm>
            <a:off x="980694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Electrolytes / diabetes / age</a:t>
            </a:r>
            <a:endParaRPr lang="en-US" sz="1300" dirty="0"/>
          </a:p>
        </p:txBody>
      </p:sp>
      <p:sp>
        <p:nvSpPr>
          <p:cNvPr id="58" name="Text 4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59" name="Text 4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FEATURES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&amp; Signs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Racing / irregular heartbeat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36499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51129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Dyspnoea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Breathlessness on exertion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1879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33425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exercise tolerance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868680" y="501091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5157216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1848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161848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Light-headedness, rarely syncope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5532120"/>
            <a:ext cx="4800600" cy="384048"/>
          </a:xfrm>
          <a:prstGeom prst="roundRect">
            <a:avLst>
              <a:gd name="adj" fmla="val 50000"/>
            </a:avLst>
          </a:prstGeom>
          <a:solidFill>
            <a:srgbClr val="FBD8DF"/>
          </a:solidFill>
          <a:ln/>
        </p:spPr>
      </p:sp>
      <p:sp>
        <p:nvSpPr>
          <p:cNvPr id="25" name="Text 18"/>
          <p:cNvSpPr/>
          <p:nvPr/>
        </p:nvSpPr>
        <p:spPr>
          <a:xfrm>
            <a:off x="868680" y="5532120"/>
            <a:ext cx="4800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asymptomatic — found incidentally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653796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537960" y="254203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2688336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28776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 pulse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728776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hallmark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6537960" y="336499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4264" y="3511296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28776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Apex–radial pulse deficit</a:t>
            </a:r>
            <a:endParaRPr lang="en-US" sz="1600" dirty="0"/>
          </a:p>
        </p:txBody>
      </p:sp>
      <p:sp>
        <p:nvSpPr>
          <p:cNvPr id="35" name="Text 26"/>
          <p:cNvSpPr/>
          <p:nvPr/>
        </p:nvSpPr>
        <p:spPr>
          <a:xfrm>
            <a:off x="728776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 rate &gt; radial rate</a:t>
            </a:r>
            <a:endParaRPr lang="en-US" sz="1250" dirty="0"/>
          </a:p>
        </p:txBody>
      </p:sp>
      <p:sp>
        <p:nvSpPr>
          <p:cNvPr id="36" name="Shape 27"/>
          <p:cNvSpPr/>
          <p:nvPr/>
        </p:nvSpPr>
        <p:spPr>
          <a:xfrm>
            <a:off x="6537960" y="418795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4264" y="4334256"/>
            <a:ext cx="274320" cy="27432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28776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 heart sounds</a:t>
            </a:r>
            <a:endParaRPr lang="en-US" sz="1600" dirty="0"/>
          </a:p>
        </p:txBody>
      </p:sp>
      <p:sp>
        <p:nvSpPr>
          <p:cNvPr id="39" name="Text 29"/>
          <p:cNvSpPr/>
          <p:nvPr/>
        </p:nvSpPr>
        <p:spPr>
          <a:xfrm>
            <a:off x="728776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S1 intensity</a:t>
            </a:r>
            <a:endParaRPr lang="en-US" sz="1250" dirty="0"/>
          </a:p>
        </p:txBody>
      </p:sp>
      <p:sp>
        <p:nvSpPr>
          <p:cNvPr id="40" name="Shape 30"/>
          <p:cNvSpPr/>
          <p:nvPr/>
        </p:nvSpPr>
        <p:spPr>
          <a:xfrm>
            <a:off x="6537960" y="501091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4264" y="5157216"/>
            <a:ext cx="274320" cy="27432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728776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Signs of complications</a:t>
            </a:r>
            <a:endParaRPr lang="en-US" sz="1600" dirty="0"/>
          </a:p>
        </p:txBody>
      </p:sp>
      <p:sp>
        <p:nvSpPr>
          <p:cNvPr id="43" name="Text 32"/>
          <p:cNvSpPr/>
          <p:nvPr/>
        </p:nvSpPr>
        <p:spPr>
          <a:xfrm>
            <a:off x="728776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or embolic stroke</a:t>
            </a:r>
            <a:endParaRPr lang="en-US" sz="1250" dirty="0"/>
          </a:p>
        </p:txBody>
      </p:sp>
      <p:sp>
        <p:nvSpPr>
          <p:cNvPr id="44" name="Text 3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ECG Hallmarks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21054" y="2743200"/>
            <a:ext cx="289316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41037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34363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1658356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03014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2009668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36988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2464308" y="2743200"/>
            <a:ext cx="82662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546970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67096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79495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3961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3146268" y="2743200"/>
            <a:ext cx="22732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337358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9758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362157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6623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3972885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00205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427525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54845" y="2720340"/>
            <a:ext cx="16532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820168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4416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0681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1281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41946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46786" y="2711196"/>
            <a:ext cx="309982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V="1">
            <a:off x="595676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08076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62047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34941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6556065" y="2743200"/>
            <a:ext cx="278983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683504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95904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7083034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22769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743434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661666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7888986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16306" y="2720340"/>
            <a:ext cx="11366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8229966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353958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7951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622609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8829264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056583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9283903" y="2743200"/>
            <a:ext cx="289316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V="1">
            <a:off x="957321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69721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982120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96586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10172517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399837" y="2711196"/>
            <a:ext cx="206654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1060649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730484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10854477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999135" y="2743200"/>
            <a:ext cx="247985" cy="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14400" y="34015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II — irregular R–R, no P waves, fibrillatory baseline</a:t>
            </a:r>
            <a:endParaRPr lang="en-US" sz="1150" dirty="0"/>
          </a:p>
        </p:txBody>
      </p:sp>
      <p:sp>
        <p:nvSpPr>
          <p:cNvPr id="66" name="Shape 63"/>
          <p:cNvSpPr/>
          <p:nvPr/>
        </p:nvSpPr>
        <p:spPr>
          <a:xfrm>
            <a:off x="502920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1380744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6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471416"/>
            <a:ext cx="475488" cy="475488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640080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</a:t>
            </a:r>
            <a:endParaRPr lang="en-US" sz="1550" dirty="0"/>
          </a:p>
        </p:txBody>
      </p:sp>
      <p:sp>
        <p:nvSpPr>
          <p:cNvPr id="70" name="Text 66"/>
          <p:cNvSpPr/>
          <p:nvPr/>
        </p:nvSpPr>
        <p:spPr>
          <a:xfrm>
            <a:off x="685800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R–R intervals vary with no pattern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3346704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2" name="Shape 68"/>
          <p:cNvSpPr/>
          <p:nvPr/>
        </p:nvSpPr>
        <p:spPr>
          <a:xfrm>
            <a:off x="4224528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471416"/>
            <a:ext cx="475488" cy="475488"/>
          </a:xfrm>
          <a:prstGeom prst="rect">
            <a:avLst/>
          </a:prstGeom>
        </p:spPr>
      </p:pic>
      <p:sp>
        <p:nvSpPr>
          <p:cNvPr id="74" name="Text 69"/>
          <p:cNvSpPr/>
          <p:nvPr/>
        </p:nvSpPr>
        <p:spPr>
          <a:xfrm>
            <a:off x="3483864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Absent P waves</a:t>
            </a:r>
            <a:endParaRPr lang="en-US" sz="1550" dirty="0"/>
          </a:p>
        </p:txBody>
      </p:sp>
      <p:sp>
        <p:nvSpPr>
          <p:cNvPr id="75" name="Text 70"/>
          <p:cNvSpPr/>
          <p:nvPr/>
        </p:nvSpPr>
        <p:spPr>
          <a:xfrm>
            <a:off x="3529584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organised atrial depolarisation</a:t>
            </a:r>
            <a:endParaRPr lang="en-US" sz="1200" dirty="0"/>
          </a:p>
        </p:txBody>
      </p:sp>
      <p:sp>
        <p:nvSpPr>
          <p:cNvPr id="76" name="Shape 71"/>
          <p:cNvSpPr/>
          <p:nvPr/>
        </p:nvSpPr>
        <p:spPr>
          <a:xfrm>
            <a:off x="6190488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7" name="Shape 72"/>
          <p:cNvSpPr/>
          <p:nvPr/>
        </p:nvSpPr>
        <p:spPr>
          <a:xfrm>
            <a:off x="7068312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4471416"/>
            <a:ext cx="475488" cy="475488"/>
          </a:xfrm>
          <a:prstGeom prst="rect">
            <a:avLst/>
          </a:prstGeom>
        </p:spPr>
      </p:pic>
      <p:sp>
        <p:nvSpPr>
          <p:cNvPr id="79" name="Text 73"/>
          <p:cNvSpPr/>
          <p:nvPr/>
        </p:nvSpPr>
        <p:spPr>
          <a:xfrm>
            <a:off x="6327648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Fibrillatory f-waves</a:t>
            </a:r>
            <a:endParaRPr lang="en-US" sz="1550" dirty="0"/>
          </a:p>
        </p:txBody>
      </p:sp>
      <p:sp>
        <p:nvSpPr>
          <p:cNvPr id="80" name="Text 74"/>
          <p:cNvSpPr/>
          <p:nvPr/>
        </p:nvSpPr>
        <p:spPr>
          <a:xfrm>
            <a:off x="6373368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baseline (~300–600/min)</a:t>
            </a:r>
            <a:endParaRPr lang="en-US" sz="1200" dirty="0"/>
          </a:p>
        </p:txBody>
      </p:sp>
      <p:sp>
        <p:nvSpPr>
          <p:cNvPr id="81" name="Shape 75"/>
          <p:cNvSpPr/>
          <p:nvPr/>
        </p:nvSpPr>
        <p:spPr>
          <a:xfrm>
            <a:off x="9034272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2" name="Shape 76"/>
          <p:cNvSpPr/>
          <p:nvPr/>
        </p:nvSpPr>
        <p:spPr>
          <a:xfrm>
            <a:off x="9912096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2" y="4471416"/>
            <a:ext cx="475488" cy="475488"/>
          </a:xfrm>
          <a:prstGeom prst="rect">
            <a:avLst/>
          </a:prstGeom>
        </p:spPr>
      </p:pic>
      <p:sp>
        <p:nvSpPr>
          <p:cNvPr id="84" name="Text 77"/>
          <p:cNvSpPr/>
          <p:nvPr/>
        </p:nvSpPr>
        <p:spPr>
          <a:xfrm>
            <a:off x="9171432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QRS</a:t>
            </a:r>
            <a:endParaRPr lang="en-US" sz="1550" dirty="0"/>
          </a:p>
        </p:txBody>
      </p:sp>
      <p:sp>
        <p:nvSpPr>
          <p:cNvPr id="85" name="Text 78"/>
          <p:cNvSpPr/>
          <p:nvPr/>
        </p:nvSpPr>
        <p:spPr>
          <a:xfrm>
            <a:off x="9217152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Unless aberrancy / bundle branch block</a:t>
            </a:r>
            <a:endParaRPr lang="en-US" sz="1200" dirty="0"/>
          </a:p>
        </p:txBody>
      </p:sp>
      <p:sp>
        <p:nvSpPr>
          <p:cNvPr id="86" name="Text 7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  <p:sp>
        <p:nvSpPr>
          <p:cNvPr id="87" name="Text 8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377440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09928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22960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diagnosis — first-line test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377440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95544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Ambulatory / Holter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608576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paroxysmal or intermittent AF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8784" y="2377440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81160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8394192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LA size, valves, LV; TOE for LA thrombus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434840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709928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tests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822960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TFTs, U&amp;E, FBC, glucose, coagulation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434840"/>
            <a:ext cx="393192" cy="39319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495544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Chest X-ray</a:t>
            </a:r>
            <a:endParaRPr lang="en-US" sz="1800" dirty="0"/>
          </a:p>
        </p:txBody>
      </p:sp>
      <p:sp>
        <p:nvSpPr>
          <p:cNvPr id="30" name="Text 22"/>
          <p:cNvSpPr/>
          <p:nvPr/>
        </p:nvSpPr>
        <p:spPr>
          <a:xfrm>
            <a:off x="4608576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size &amp; pulmonary causes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784" y="4434840"/>
            <a:ext cx="393192" cy="3931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281160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the cause</a:t>
            </a:r>
            <a:endParaRPr lang="en-US" sz="1800" dirty="0"/>
          </a:p>
        </p:txBody>
      </p:sp>
      <p:sp>
        <p:nvSpPr>
          <p:cNvPr id="35" name="Text 26"/>
          <p:cNvSpPr/>
          <p:nvPr/>
        </p:nvSpPr>
        <p:spPr>
          <a:xfrm>
            <a:off x="8394192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for reversible triggers &amp; risk factors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Mimics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671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322576"/>
            <a:ext cx="329184" cy="3291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21305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650" dirty="0"/>
          </a:p>
        </p:txBody>
      </p:sp>
      <p:sp>
        <p:nvSpPr>
          <p:cNvPr id="10" name="Text 6"/>
          <p:cNvSpPr/>
          <p:nvPr/>
        </p:nvSpPr>
        <p:spPr>
          <a:xfrm>
            <a:off x="822960" y="29718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sawtooth flutter waves; often 2:1 (ventricular ~150)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671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2322576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385816" y="21305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4608576" y="29718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P-wave morphologies; irregular; linked to COPD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671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2208" y="2322576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71432" y="21305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650" dirty="0"/>
          </a:p>
        </p:txBody>
      </p:sp>
      <p:sp>
        <p:nvSpPr>
          <p:cNvPr id="20" name="Text 14"/>
          <p:cNvSpPr/>
          <p:nvPr/>
        </p:nvSpPr>
        <p:spPr>
          <a:xfrm>
            <a:off x="8394192" y="29718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Irregular, but discrete P waves precede each QRS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245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4379976"/>
            <a:ext cx="329184" cy="32918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600200" y="41879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822960" y="50292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narrow-complex tachycardia; abrupt onset/offset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245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4379976"/>
            <a:ext cx="329184" cy="32918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385816" y="41879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Tachycardia</a:t>
            </a:r>
            <a:endParaRPr lang="en-US" sz="1650" dirty="0"/>
          </a:p>
        </p:txBody>
      </p:sp>
      <p:sp>
        <p:nvSpPr>
          <p:cNvPr id="30" name="Text 22"/>
          <p:cNvSpPr/>
          <p:nvPr/>
        </p:nvSpPr>
        <p:spPr>
          <a:xfrm>
            <a:off x="4608576" y="50292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Regular; abnormal P-wave axis, may have variable block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24528"/>
            <a:ext cx="640080" cy="6400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22208" y="4379976"/>
            <a:ext cx="329184" cy="329184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171432" y="41879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Pre-excited AF (WPW) / VT</a:t>
            </a:r>
            <a:endParaRPr lang="en-US" sz="1650" dirty="0"/>
          </a:p>
        </p:txBody>
      </p:sp>
      <p:sp>
        <p:nvSpPr>
          <p:cNvPr id="35" name="Text 26"/>
          <p:cNvSpPr/>
          <p:nvPr/>
        </p:nvSpPr>
        <p:spPr>
          <a:xfrm>
            <a:off x="8394192" y="50292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but broad &amp; very fast — a red flag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the Irregular Rhythms Apart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223113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9659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843784" y="1965960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0" y="1965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activity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78424" y="1965960"/>
            <a:ext cx="23225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55864" y="1965960"/>
            <a:ext cx="3630168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3" name="Text 10"/>
          <p:cNvSpPr/>
          <p:nvPr/>
        </p:nvSpPr>
        <p:spPr>
          <a:xfrm>
            <a:off x="8138160" y="196596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distinguishing clue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265176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843784" y="260604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65176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 waves; fibrillatory baseline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78424" y="260604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88152" y="265176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55864" y="260604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65592" y="265176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— no organised atrial activity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370332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74904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2843784" y="370332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374904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Sawtooth flutter waves (~300/min)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78424" y="370332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88152" y="374904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regular (2:1, 3:1)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055864" y="370332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165592" y="374904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“picket-fence” baseline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480060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" y="484632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Tach.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2843784" y="480060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484632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distinct P-wave shapes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78424" y="480060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788152" y="484632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55864" y="480060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65592" y="484632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varying P waves; COPD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02920" y="5806440"/>
            <a:ext cx="11183112" cy="457200"/>
          </a:xfrm>
          <a:prstGeom prst="roundRect">
            <a:avLst>
              <a:gd name="adj" fmla="val 16000"/>
            </a:avLst>
          </a:prstGeom>
          <a:solidFill>
            <a:srgbClr val="FFF0F3"/>
          </a:solidFill>
          <a:ln/>
        </p:spPr>
      </p:sp>
      <p:sp>
        <p:nvSpPr>
          <p:cNvPr id="39" name="Text 36"/>
          <p:cNvSpPr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question:  </a:t>
            </a:r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rhythm regular or irregular?  Then look at the atrial activity — P waves, flutter waves, or fibrillation.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AF Matters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Thromboembolism &amp; Stroke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822960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Stasis in the left atrial appendage forms thrombi — the leading danger, with ~5× stroke risk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5429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624328"/>
            <a:ext cx="466344" cy="4663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08576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 Failure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08576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kick plus rapid rates reduce cardiac output and worsen existing HF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39912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624328"/>
            <a:ext cx="466344" cy="4663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Tachycardia-induced Cardiomyopathy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394192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rapid ventricular rates can cause reversible LV dysfunction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Stroke &amp; Bleeding Risk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69037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574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-VASc</a:t>
            </a:r>
            <a:pPr algn="l" indent="0" marL="0">
              <a:buNone/>
            </a:pPr>
            <a:r>
              <a:rPr lang="en-US" sz="2000" b="1" dirty="0">
                <a:solidFill>
                  <a:srgbClr val="6B6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stroke risk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1732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Congestive HF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333756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2" name="Text 9"/>
          <p:cNvSpPr/>
          <p:nvPr/>
        </p:nvSpPr>
        <p:spPr>
          <a:xfrm>
            <a:off x="333756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06908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4" name="Text 11"/>
          <p:cNvSpPr/>
          <p:nvPr/>
        </p:nvSpPr>
        <p:spPr>
          <a:xfrm>
            <a:off x="402336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6344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8368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7" name="Text 14"/>
          <p:cNvSpPr/>
          <p:nvPr/>
        </p:nvSpPr>
        <p:spPr>
          <a:xfrm>
            <a:off x="658368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2296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A₂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41732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 75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333756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2" name="Text 19"/>
          <p:cNvSpPr/>
          <p:nvPr/>
        </p:nvSpPr>
        <p:spPr>
          <a:xfrm>
            <a:off x="333756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06908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4" name="Text 21"/>
          <p:cNvSpPr/>
          <p:nvPr/>
        </p:nvSpPr>
        <p:spPr>
          <a:xfrm>
            <a:off x="402336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66344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58368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2296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9" name="Text 26"/>
          <p:cNvSpPr/>
          <p:nvPr/>
        </p:nvSpPr>
        <p:spPr>
          <a:xfrm>
            <a:off x="77724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S₂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41732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stroke / TIA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333756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2" name="Text 29"/>
          <p:cNvSpPr/>
          <p:nvPr/>
        </p:nvSpPr>
        <p:spPr>
          <a:xfrm>
            <a:off x="333756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06908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4" name="Text 31"/>
          <p:cNvSpPr/>
          <p:nvPr/>
        </p:nvSpPr>
        <p:spPr>
          <a:xfrm>
            <a:off x="402336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466344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Vascular disease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58368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7" name="Text 34"/>
          <p:cNvSpPr/>
          <p:nvPr/>
        </p:nvSpPr>
        <p:spPr>
          <a:xfrm>
            <a:off x="658368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2296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141732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65–74</a:t>
            </a:r>
            <a:endParaRPr lang="en-US" sz="1350" dirty="0"/>
          </a:p>
        </p:txBody>
      </p:sp>
      <p:sp>
        <p:nvSpPr>
          <p:cNvPr id="41" name="Shape 38"/>
          <p:cNvSpPr/>
          <p:nvPr/>
        </p:nvSpPr>
        <p:spPr>
          <a:xfrm>
            <a:off x="333756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2" name="Text 39"/>
          <p:cNvSpPr/>
          <p:nvPr/>
        </p:nvSpPr>
        <p:spPr>
          <a:xfrm>
            <a:off x="333756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406908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44" name="Text 41"/>
          <p:cNvSpPr/>
          <p:nvPr/>
        </p:nvSpPr>
        <p:spPr>
          <a:xfrm>
            <a:off x="402336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466344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(female)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658368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7" name="Text 44"/>
          <p:cNvSpPr/>
          <p:nvPr/>
        </p:nvSpPr>
        <p:spPr>
          <a:xfrm>
            <a:off x="658368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822960" y="5440680"/>
            <a:ext cx="6263640" cy="457200"/>
          </a:xfrm>
          <a:prstGeom prst="roundRect">
            <a:avLst>
              <a:gd name="adj" fmla="val 16000"/>
            </a:avLst>
          </a:prstGeom>
          <a:solidFill>
            <a:srgbClr val="590D22"/>
          </a:solidFill>
          <a:ln/>
        </p:spPr>
      </p:sp>
      <p:sp>
        <p:nvSpPr>
          <p:cNvPr id="49" name="Text 46"/>
          <p:cNvSpPr/>
          <p:nvPr/>
        </p:nvSpPr>
        <p:spPr>
          <a:xfrm>
            <a:off x="1051560" y="5440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Anticoagulate if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 (men)  /  ≥ 3 (women)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7543800" y="1828800"/>
            <a:ext cx="4160520" cy="4206240"/>
          </a:xfrm>
          <a:prstGeom prst="roundRect">
            <a:avLst>
              <a:gd name="adj" fmla="val 263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786384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HAS-BLED</a:t>
            </a:r>
            <a:endParaRPr lang="en-US" sz="2000" dirty="0"/>
          </a:p>
        </p:txBody>
      </p:sp>
      <p:sp>
        <p:nvSpPr>
          <p:cNvPr id="52" name="Text 49"/>
          <p:cNvSpPr/>
          <p:nvPr/>
        </p:nvSpPr>
        <p:spPr>
          <a:xfrm>
            <a:off x="7863840" y="243230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risk on anticoagulation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7863840" y="28803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Hypertension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7863840" y="33101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Abnormal renal / liver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7863840" y="373989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Stroke history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7863840" y="416966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Bleeding tendency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7863840" y="459943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Labile INR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863840" y="50292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Elderly (&gt; 65)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7863840" y="545896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Drugs / alcohol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ABC Pathway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7400" dirty="0"/>
          </a:p>
        </p:txBody>
      </p:sp>
      <p:sp>
        <p:nvSpPr>
          <p:cNvPr id="8" name="Shape 5"/>
          <p:cNvSpPr/>
          <p:nvPr/>
        </p:nvSpPr>
        <p:spPr>
          <a:xfrm>
            <a:off x="2788920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664" y="261518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stroke — assess with CHA₂DS₂-VASc, then a DOAC (or warfarin where indicated)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562856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7400" dirty="0"/>
          </a:p>
        </p:txBody>
      </p:sp>
      <p:sp>
        <p:nvSpPr>
          <p:cNvPr id="14" name="Shape 10"/>
          <p:cNvSpPr/>
          <p:nvPr/>
        </p:nvSpPr>
        <p:spPr>
          <a:xfrm>
            <a:off x="6574536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6151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08576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symptom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4608576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control and/or rhythm control to relieve symptoms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348472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7400" dirty="0"/>
          </a:p>
        </p:txBody>
      </p:sp>
      <p:sp>
        <p:nvSpPr>
          <p:cNvPr id="20" name="Shape 15"/>
          <p:cNvSpPr/>
          <p:nvPr/>
        </p:nvSpPr>
        <p:spPr>
          <a:xfrm>
            <a:off x="10360152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7896" y="261518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394192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Comorbidities &amp; risk factors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8394192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HTN, sleep apnoea, obesity, alcohol excess, diabetes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vs Rhythm Control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04288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914400" y="32004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(e.g. bisoprolol, metoprolol)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14400" y="41148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calcium 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914400" y="50292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Add-on; sedentary patients or heart failure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304288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6583680" y="32004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(electrical) or pharmacological — flecainide, amiodarone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83680" y="41148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Antiarrhythmic drugs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Flecainide/propafenone (no structural disease), amiodarone, sotalol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583680" y="50292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for refractory cases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PREVENTION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75688"/>
            <a:ext cx="512064" cy="512064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874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 — first-line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846320" y="18745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dabigatran, edoxaban — preferred for most patients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02920" y="292608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77240" y="312724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3255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2926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846320" y="29260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mechanical heart valves and moderate–severe mitral stenosis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502920" y="3977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30682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4846320" y="3977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closure when long-term anticoagulation is contraindicated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94960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63040" y="512064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the decision on CHA₂DS₂-VASc, weigh bleeding risk (HAS-BLED), and note that antiplatelets alone are </a:t>
            </a:r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adequate stroke prevention.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395728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51176"/>
            <a:ext cx="283464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3500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LMWH (enoxaparin)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508760" y="270662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cross the placenta — the agent of choice; weight-adjusted, monitor anti-Xa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22960" y="3511296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66744"/>
            <a:ext cx="283464" cy="2468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4655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Unfractionated heparin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508760" y="382219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placenta-safe; useful peri-delivery — short-acting &amp; reversible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17220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649224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492240" y="2395728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255117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78040" y="23500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650" dirty="0"/>
          </a:p>
        </p:txBody>
      </p:sp>
      <p:sp>
        <p:nvSpPr>
          <p:cNvPr id="21" name="Text 15"/>
          <p:cNvSpPr/>
          <p:nvPr/>
        </p:nvSpPr>
        <p:spPr>
          <a:xfrm>
            <a:off x="7178040" y="270662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Teratogenic — embryopathy at weeks 6–12 and fetal bleeding near term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6492240" y="351129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66674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78040" y="34655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7178040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— cross the placenta with limited safety data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4937760"/>
            <a:ext cx="11183112" cy="1051560"/>
          </a:xfrm>
          <a:prstGeom prst="roundRect">
            <a:avLst>
              <a:gd name="adj" fmla="val 10435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Peri-delivery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LMWH → UFH (or briefly hold) to allow neuraxial anaesthesia and limit bleeding.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914400" y="54681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warfarin, LMWH and UFH are compatible; DOACs are avoided. Plan with a specialist team.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&amp; Rate Control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57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SAFE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rate control (metoprolol, bisoprolol) — avoid atenolol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621024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76732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584448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895344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option for rate control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70001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8463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663440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Flecainide / sotalol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974336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rhythm control when needed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172200" y="178308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92240" y="214884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2377440"/>
            <a:ext cx="402336" cy="40233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</a:t>
            </a:r>
            <a:endParaRPr lang="en-US" sz="2100" dirty="0"/>
          </a:p>
        </p:txBody>
      </p:sp>
      <p:sp>
        <p:nvSpPr>
          <p:cNvPr id="24" name="Text 17"/>
          <p:cNvSpPr/>
          <p:nvPr/>
        </p:nvSpPr>
        <p:spPr>
          <a:xfrm>
            <a:off x="6537960" y="285292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is safe in all trimesters — perform with fetal monitoring.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172200" y="397764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Text 19"/>
          <p:cNvSpPr/>
          <p:nvPr/>
        </p:nvSpPr>
        <p:spPr>
          <a:xfrm>
            <a:off x="6537960" y="42062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WITH CAUTION / AVOID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537960" y="4645152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  </a:t>
            </a:r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fetal thyroid dysfunction &amp; IUGR; only if life-threatening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537960" y="5285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Atenolol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linked to fetal growth restriction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321040" y="3291840"/>
            <a:ext cx="45720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6858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905256"/>
            <a:ext cx="521208" cy="5212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6916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Points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713232" y="25968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60904"/>
            <a:ext cx="164592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8720" y="25786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 = irregularly irregular rhythm with absent P waves and a fibrillatory baseline.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713232" y="314553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09544"/>
            <a:ext cx="164592" cy="16459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31272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commonest sustained arrhythmia — linked to hypertension, age and structural heart disease.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713232" y="369417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58184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88720" y="367588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main danger is thromboembolic stroke — always assess stroke risk (CHA₂DS₂-VASc).</a:t>
            </a:r>
            <a:endParaRPr lang="en-US" sz="1500" dirty="0"/>
          </a:p>
        </p:txBody>
      </p:sp>
      <p:sp>
        <p:nvSpPr>
          <p:cNvPr id="17" name="Shape 10"/>
          <p:cNvSpPr/>
          <p:nvPr/>
        </p:nvSpPr>
        <p:spPr>
          <a:xfrm>
            <a:off x="713232" y="424281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306824"/>
            <a:ext cx="164592" cy="16459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88720" y="4224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Differentials: atrial flutter, multifocal atrial tachycardia, frequent PACs, SVT, pre-excited AF / VT.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713232" y="479145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855464"/>
            <a:ext cx="164592" cy="16459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188720" y="477316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with the ABC pathway: Anticoagulation, Better symptom control, Comorbidities.</a:t>
            </a:r>
            <a:endParaRPr lang="en-US" sz="1500" dirty="0"/>
          </a:p>
        </p:txBody>
      </p:sp>
      <p:sp>
        <p:nvSpPr>
          <p:cNvPr id="23" name="Shape 14"/>
          <p:cNvSpPr/>
          <p:nvPr/>
        </p:nvSpPr>
        <p:spPr>
          <a:xfrm>
            <a:off x="713232" y="53400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04104"/>
            <a:ext cx="164592" cy="16459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188720" y="5321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pregnancy: LMWH is the anticoagulant of choice — avoid warfarin and DOACs.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100" dirty="0"/>
          </a:p>
        </p:txBody>
      </p:sp>
      <p:sp>
        <p:nvSpPr>
          <p:cNvPr id="27" name="Text 17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4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092440" y="3063240"/>
            <a:ext cx="4754880" cy="4754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-822960" y="-960120"/>
            <a:ext cx="4023360" cy="4023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711800" y="1234440"/>
            <a:ext cx="768096" cy="768096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1399032"/>
            <a:ext cx="457200" cy="4572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57200" y="2286000"/>
            <a:ext cx="1127455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8800" dirty="0"/>
          </a:p>
        </p:txBody>
      </p:sp>
      <p:sp>
        <p:nvSpPr>
          <p:cNvPr id="8" name="Text 3"/>
          <p:cNvSpPr/>
          <p:nvPr/>
        </p:nvSpPr>
        <p:spPr>
          <a:xfrm>
            <a:off x="457200" y="4114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2200" dirty="0"/>
          </a:p>
        </p:txBody>
      </p:sp>
      <p:sp>
        <p:nvSpPr>
          <p:cNvPr id="9" name="Shape 4"/>
          <p:cNvSpPr/>
          <p:nvPr/>
        </p:nvSpPr>
        <p:spPr>
          <a:xfrm>
            <a:off x="3355848" y="5212080"/>
            <a:ext cx="1865376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 flipV="1">
            <a:off x="5221224" y="5065776"/>
            <a:ext cx="329184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5550408" y="5065776"/>
            <a:ext cx="329184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 flipV="1">
            <a:off x="5879592" y="4709160"/>
            <a:ext cx="329184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208776" y="4709160"/>
            <a:ext cx="329184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 flipV="1">
            <a:off x="6537960" y="5212080"/>
            <a:ext cx="329184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867144" y="5212080"/>
            <a:ext cx="1975104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621128" y="5486400"/>
            <a:ext cx="694944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621128" y="5486400"/>
            <a:ext cx="6949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Mubashir Aziz</a:t>
            </a:r>
            <a:pPr algn="ctr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Department of Cardiology · PEIC, Bahawalpur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2026-07-21T21:17:50Z</dcterms:created>
  <dcterms:modified xsi:type="dcterms:W3CDTF">2026-07-21T21:17:50Z</dcterms:modified>
</cp:coreProperties>
</file>