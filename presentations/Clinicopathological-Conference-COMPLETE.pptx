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image" Target="../media/image-43-6.png"/><Relationship Id="rId7" Type="http://schemas.openxmlformats.org/officeDocument/2006/relationships/image" Target="../media/image-43-7.png"/><Relationship Id="rId8" Type="http://schemas.openxmlformats.org/officeDocument/2006/relationships/image" Target="../media/image-4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12080" y="19019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03911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25312" y="1901952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925312" y="21488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 normal, no scar, no pulsations visible over the precordium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4937760" y="2651760"/>
            <a:ext cx="6766560" cy="1554480"/>
          </a:xfrm>
          <a:prstGeom prst="roundRect">
            <a:avLst>
              <a:gd name="adj" fmla="val 588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12080" y="281635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95351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25312" y="28529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394960" y="32552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1"/>
          <p:cNvSpPr/>
          <p:nvPr/>
        </p:nvSpPr>
        <p:spPr>
          <a:xfrm>
            <a:off x="5669280" y="31821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Apex beat in 5th intercostal space, medial to midclavicular line — normal character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5394960" y="371246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9" name="Text 23"/>
          <p:cNvSpPr/>
          <p:nvPr/>
        </p:nvSpPr>
        <p:spPr>
          <a:xfrm>
            <a:off x="5669280" y="363931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thrill; no other palpable sounds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5394960" y="402336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1" name="Text 25"/>
          <p:cNvSpPr/>
          <p:nvPr/>
        </p:nvSpPr>
        <p:spPr>
          <a:xfrm>
            <a:off x="5669280" y="3950208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left parasternal heave</a:t>
            </a:r>
            <a:endParaRPr lang="en-US" sz="1250" dirty="0"/>
          </a:p>
        </p:txBody>
      </p:sp>
      <p:sp>
        <p:nvSpPr>
          <p:cNvPr id="32" name="Shape 26"/>
          <p:cNvSpPr/>
          <p:nvPr/>
        </p:nvSpPr>
        <p:spPr>
          <a:xfrm>
            <a:off x="4937760" y="4297680"/>
            <a:ext cx="6766560" cy="1691640"/>
          </a:xfrm>
          <a:prstGeom prst="roundRect">
            <a:avLst>
              <a:gd name="adj" fmla="val 540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212080" y="4462272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599432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925312" y="44988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394960" y="490118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0"/>
          <p:cNvSpPr/>
          <p:nvPr/>
        </p:nvSpPr>
        <p:spPr>
          <a:xfrm>
            <a:off x="5669280" y="4828032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8" name="Shape 31"/>
          <p:cNvSpPr/>
          <p:nvPr/>
        </p:nvSpPr>
        <p:spPr>
          <a:xfrm>
            <a:off x="5394960" y="5340096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9" name="Text 32"/>
          <p:cNvSpPr/>
          <p:nvPr/>
        </p:nvSpPr>
        <p:spPr>
          <a:xfrm>
            <a:off x="5669280" y="5266944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50" dirty="0"/>
          </a:p>
        </p:txBody>
      </p:sp>
      <p:sp>
        <p:nvSpPr>
          <p:cNvPr id="40" name="Shape 33"/>
          <p:cNvSpPr/>
          <p:nvPr/>
        </p:nvSpPr>
        <p:spPr>
          <a:xfrm>
            <a:off x="5394960" y="577900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1" name="Text 34"/>
          <p:cNvSpPr/>
          <p:nvPr/>
        </p:nvSpPr>
        <p:spPr>
          <a:xfrm>
            <a:off x="5669280" y="5705856"/>
            <a:ext cx="5623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43" name="Text 3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in Pregnancy — Overview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72768"/>
            <a:ext cx="11183112" cy="914400"/>
          </a:xfrm>
          <a:prstGeom prst="roundRect">
            <a:avLst>
              <a:gd name="adj" fmla="val 12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72768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— ~60 / 100,000 pregnancies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often congenital / valvular disease, thyrotoxicosis or electrolyte disturbance   ·   hypercoagulable, but no proven rise in AF-related thromboembolism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81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95528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9"/>
          <p:cNvSpPr/>
          <p:nvPr/>
        </p:nvSpPr>
        <p:spPr>
          <a:xfrm>
            <a:off x="1033272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criteria as non-pregnant women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1"/>
          <p:cNvSpPr/>
          <p:nvPr/>
        </p:nvSpPr>
        <p:spPr>
          <a:xfrm>
            <a:off x="1033272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(not DOAC) — 2nd trimester to 1 month before delivery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LMWH (SC) — 1st trimester &amp; final month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288536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62856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3081528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40096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Management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581144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4818888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— safe at all stages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81144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4818888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metoprolol — rate control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581144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 or sotalol — conversion to sinus rhythm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074152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348472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081528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25712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Long-term Rhythm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8366760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7"/>
          <p:cNvSpPr/>
          <p:nvPr/>
        </p:nvSpPr>
        <p:spPr>
          <a:xfrm>
            <a:off x="8604504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disease — flecainide, sotalol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366760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29"/>
          <p:cNvSpPr/>
          <p:nvPr/>
        </p:nvSpPr>
        <p:spPr>
          <a:xfrm>
            <a:off x="8604504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disease — amiodarone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8366760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1"/>
          <p:cNvSpPr/>
          <p:nvPr/>
        </p:nvSpPr>
        <p:spPr>
          <a:xfrm>
            <a:off x="8604504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digoxin; beta-blocker only after 1st trimester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2026-07-25T13:53:17Z</dcterms:created>
  <dcterms:modified xsi:type="dcterms:W3CDTF">2026-07-25T13:53:17Z</dcterms:modified>
</cp:coreProperties>
</file>