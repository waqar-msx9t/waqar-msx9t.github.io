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png"/><Relationship Id="rId15" Type="http://schemas.openxmlformats.org/officeDocument/2006/relationships/image" Target="../media/image-2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image" Target="../media/image-44-7.png"/><Relationship Id="rId8" Type="http://schemas.openxmlformats.org/officeDocument/2006/relationships/image" Target="../media/image-4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7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589520" y="1051560"/>
            <a:ext cx="4663440" cy="4663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234440"/>
            <a:ext cx="1927555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V="1">
            <a:off x="2567635" y="1088136"/>
            <a:ext cx="340157" cy="146304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07792" y="1088136"/>
            <a:ext cx="340157" cy="4572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3247949" y="731520"/>
            <a:ext cx="340157" cy="813816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88106" y="731520"/>
            <a:ext cx="340157" cy="6858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3928262" y="1234440"/>
            <a:ext cx="340157" cy="18288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68419" y="1234440"/>
            <a:ext cx="2040941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spc="25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CARDIOLOGY  ·  PIC, BAHAWALPUR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1792" y="214884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Clinicopathological</a:t>
            </a:r>
            <a:endParaRPr lang="en-US" sz="6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Conference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685800" y="42245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case-based clinical discussion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85800" y="489204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5400000">
              <a:srgbClr val="8A8A8A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32688" y="5166360"/>
            <a:ext cx="749808" cy="7498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5312664"/>
            <a:ext cx="448056" cy="4480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01952" y="502920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 Mubashir Aziz
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PGR Cardiology  ·  PIC, BWP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Biodata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3931920" cy="4297680"/>
          </a:xfrm>
          <a:prstGeom prst="roundRect">
            <a:avLst>
              <a:gd name="adj" fmla="val 3256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737360" y="2286000"/>
            <a:ext cx="1463040" cy="146304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2633472"/>
            <a:ext cx="768096" cy="7680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Shazia Bibi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640080" y="4370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w/o Nicholan George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234440" y="5074920"/>
            <a:ext cx="839419" cy="0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flipV="1">
            <a:off x="2073859" y="4928616"/>
            <a:ext cx="148133" cy="146304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221992" y="4928616"/>
            <a:ext cx="148133" cy="457200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flipV="1">
            <a:off x="2370125" y="4572000"/>
            <a:ext cx="148133" cy="813816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18258" y="4572000"/>
            <a:ext cx="148133" cy="685800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 flipV="1">
            <a:off x="2666390" y="5074920"/>
            <a:ext cx="148133" cy="182880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814523" y="5074920"/>
            <a:ext cx="888797" cy="0"/>
          </a:xfrm>
          <a:prstGeom prst="line">
            <a:avLst/>
          </a:prstGeom>
          <a:noFill/>
          <a:ln w="28575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09160" y="178308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965192" y="209397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22402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76072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760720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years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8485632" y="178308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741664" y="209397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224028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537192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537192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Female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4709160" y="333756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965192" y="364845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379476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76072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760720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Bahawalpur</a:t>
            </a:r>
            <a:endParaRPr lang="en-US" sz="2000" dirty="0"/>
          </a:p>
        </p:txBody>
      </p:sp>
      <p:sp>
        <p:nvSpPr>
          <p:cNvPr id="33" name="Shape 26"/>
          <p:cNvSpPr/>
          <p:nvPr/>
        </p:nvSpPr>
        <p:spPr>
          <a:xfrm>
            <a:off x="8485632" y="3337560"/>
            <a:ext cx="352044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741664" y="3648456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968" y="379476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537192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9537192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Nurse</a:t>
            </a:r>
            <a:endParaRPr lang="en-US" sz="2000" dirty="0"/>
          </a:p>
        </p:txBody>
      </p:sp>
      <p:sp>
        <p:nvSpPr>
          <p:cNvPr id="38" name="Text 3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7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229600" y="914400"/>
            <a:ext cx="493776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1371600"/>
            <a:ext cx="960120" cy="96012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581912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0" y="15727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COMPLAINT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40080" y="26517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Palpitations</a:t>
            </a:r>
            <a:endParaRPr lang="en-US" sz="7600" dirty="0"/>
          </a:p>
        </p:txBody>
      </p:sp>
      <p:sp>
        <p:nvSpPr>
          <p:cNvPr id="8" name="Text 4"/>
          <p:cNvSpPr/>
          <p:nvPr/>
        </p:nvSpPr>
        <p:spPr>
          <a:xfrm>
            <a:off x="685800" y="3886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dirty="0">
                <a:solidFill>
                  <a:srgbClr val="FBD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</a:t>
            </a:r>
            <a:pPr algn="l" indent="0" marL="0">
              <a:buNone/>
            </a:pPr>
            <a:r>
              <a:rPr lang="en-US" sz="46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hours</a:t>
            </a:r>
            <a:endParaRPr lang="en-US" sz="4600" dirty="0"/>
          </a:p>
        </p:txBody>
      </p:sp>
      <p:sp>
        <p:nvSpPr>
          <p:cNvPr id="9" name="Shape 5"/>
          <p:cNvSpPr/>
          <p:nvPr/>
        </p:nvSpPr>
        <p:spPr>
          <a:xfrm>
            <a:off x="731520" y="5349240"/>
            <a:ext cx="2020824" cy="0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 flipV="1">
            <a:off x="2752344" y="5202936"/>
            <a:ext cx="356616" cy="146304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108960" y="5202936"/>
            <a:ext cx="356616" cy="457200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flipV="1">
            <a:off x="3465576" y="4846320"/>
            <a:ext cx="356616" cy="813816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822192" y="4846320"/>
            <a:ext cx="356616" cy="685800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flipV="1">
            <a:off x="4178808" y="5349240"/>
            <a:ext cx="356616" cy="182880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35424" y="5349240"/>
            <a:ext cx="2139696" cy="0"/>
          </a:xfrm>
          <a:prstGeom prst="line">
            <a:avLst/>
          </a:prstGeom>
          <a:noFill/>
          <a:ln w="28575">
            <a:solidFill>
              <a:srgbClr val="FF4D6D">
                <a:alpha val="9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5532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onset  ·  sensation of racing heart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PRESENT ILLNESS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So Far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5989320" cy="4297680"/>
          </a:xfrm>
          <a:prstGeom prst="roundRect">
            <a:avLst>
              <a:gd name="adj" fmla="val 2553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10312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46-year-old female</a:t>
            </a:r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previously in her usual state of health, developed </a:t>
            </a:r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sudden-onset palpitations 4 hours ago</a:t>
            </a:r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sensation that her heart was racing.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22960" y="3639312"/>
            <a:ext cx="5349240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84048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prior identical episodes</a:t>
            </a:r>
            <a:pPr algn="l"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required admission to the cardiac emergency and settled after IV medication. She was told her </a:t>
            </a:r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rhythm is irregular.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720840" y="1783080"/>
            <a:ext cx="4983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95160" y="1984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SYMPTOMS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95160" y="242316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0F3"/>
          </a:solidFill>
          <a:ln/>
        </p:spPr>
      </p:sp>
      <p:sp>
        <p:nvSpPr>
          <p:cNvPr id="13" name="Shape 10"/>
          <p:cNvSpPr/>
          <p:nvPr/>
        </p:nvSpPr>
        <p:spPr>
          <a:xfrm>
            <a:off x="7251192" y="26791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280720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27848" y="267919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Dizziness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9326880" y="242316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0F3"/>
          </a:solidFill>
          <a:ln/>
        </p:spPr>
      </p:sp>
      <p:sp>
        <p:nvSpPr>
          <p:cNvPr id="17" name="Shape 13"/>
          <p:cNvSpPr/>
          <p:nvPr/>
        </p:nvSpPr>
        <p:spPr>
          <a:xfrm>
            <a:off x="9582912" y="26791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280720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59568" y="267919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Fatigue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720840" y="4023360"/>
            <a:ext cx="4983480" cy="2057400"/>
          </a:xfrm>
          <a:prstGeom prst="roundRect">
            <a:avLst>
              <a:gd name="adj" fmla="val 4444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995160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</a:t>
            </a:r>
            <a:pPr algn="l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PERTINENT NEGATIVES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040880" y="46268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9326880" y="46268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Shortness of breath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040880" y="50840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Syncope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9326880" y="50840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040880" y="5541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Tremor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HISTORY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History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4114800" cy="4206240"/>
          </a:xfrm>
          <a:prstGeom prst="roundRect">
            <a:avLst>
              <a:gd name="adj" fmla="val 3111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2423160"/>
            <a:ext cx="1737360" cy="173736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8892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4434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Medications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1280160" y="5349240"/>
            <a:ext cx="839419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flipV="1">
            <a:off x="2119579" y="5202936"/>
            <a:ext cx="148133" cy="146304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67712" y="5202936"/>
            <a:ext cx="148133" cy="4572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2415845" y="4846320"/>
            <a:ext cx="148133" cy="813816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3978" y="4846320"/>
            <a:ext cx="148133" cy="6858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2712110" y="5349240"/>
            <a:ext cx="148133" cy="18288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60243" y="5349240"/>
            <a:ext cx="888797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37760" y="1783080"/>
            <a:ext cx="6766560" cy="1325880"/>
          </a:xfrm>
          <a:prstGeom prst="roundRect">
            <a:avLst>
              <a:gd name="adj" fmla="val 689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257800" y="2084832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26771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0391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Vadil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217920" y="25328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/ rhythm control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4937760" y="3291840"/>
            <a:ext cx="6766560" cy="1325880"/>
          </a:xfrm>
          <a:prstGeom prst="roundRect">
            <a:avLst>
              <a:gd name="adj" fmla="val 689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257800" y="3593592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77647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17920" y="35478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Rivaroxaban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6217920" y="40416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anticoagulation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4937760" y="4800600"/>
            <a:ext cx="6766560" cy="1188720"/>
          </a:xfrm>
          <a:prstGeom prst="roundRect">
            <a:avLst>
              <a:gd name="adj" fmla="val 7692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5394960" y="480060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</a:t>
            </a:r>
            <a:pPr algn="l" indent="0" marL="0">
              <a:buNone/>
            </a:pPr>
            <a:r>
              <a:rPr lang="en-US" sz="16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control with stroke-risk protection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HISTORY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History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4114800" cy="4206240"/>
          </a:xfrm>
          <a:prstGeom prst="roundRect">
            <a:avLst>
              <a:gd name="adj" fmla="val 3111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2423160"/>
            <a:ext cx="1737360" cy="173736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8892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4434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1280160" y="5349240"/>
            <a:ext cx="839419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flipV="1">
            <a:off x="2119579" y="5202936"/>
            <a:ext cx="148133" cy="146304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67712" y="5202936"/>
            <a:ext cx="148133" cy="4572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2415845" y="4846320"/>
            <a:ext cx="148133" cy="813816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3978" y="4846320"/>
            <a:ext cx="148133" cy="6858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2712110" y="5349240"/>
            <a:ext cx="148133" cy="18288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60243" y="5349240"/>
            <a:ext cx="888797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37760" y="1783080"/>
            <a:ext cx="676656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440680" y="2194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COMORBIDITY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40680" y="26060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Hypertension</a:t>
            </a:r>
            <a:endParaRPr lang="en-US" sz="4400" dirty="0"/>
          </a:p>
        </p:txBody>
      </p:sp>
      <p:sp>
        <p:nvSpPr>
          <p:cNvPr id="20" name="Text 16"/>
          <p:cNvSpPr/>
          <p:nvPr/>
        </p:nvSpPr>
        <p:spPr>
          <a:xfrm>
            <a:off x="5458968" y="36118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oral antihypertensive medication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5440680" y="457200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/>
        </p:spPr>
      </p:sp>
      <p:sp>
        <p:nvSpPr>
          <p:cNvPr id="22" name="Text 18"/>
          <p:cNvSpPr/>
          <p:nvPr/>
        </p:nvSpPr>
        <p:spPr>
          <a:xfrm>
            <a:off x="5440680" y="457200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HTN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HISTORY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 Surgical History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4114800" cy="4206240"/>
          </a:xfrm>
          <a:prstGeom prst="roundRect">
            <a:avLst>
              <a:gd name="adj" fmla="val 3111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2423160"/>
            <a:ext cx="1737360" cy="173736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8892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4434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Surgical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1280160" y="5349240"/>
            <a:ext cx="839419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flipV="1">
            <a:off x="2119579" y="5202936"/>
            <a:ext cx="148133" cy="146304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67712" y="5202936"/>
            <a:ext cx="148133" cy="4572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2415845" y="4846320"/>
            <a:ext cx="148133" cy="813816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3978" y="4846320"/>
            <a:ext cx="148133" cy="6858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2712110" y="5349240"/>
            <a:ext cx="148133" cy="18288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60243" y="5349240"/>
            <a:ext cx="888797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37760" y="1783080"/>
            <a:ext cx="676656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440680" y="2194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40680" y="260604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significant</a:t>
            </a:r>
            <a:endParaRPr lang="en-US" sz="4200" dirty="0"/>
          </a:p>
        </p:txBody>
      </p:sp>
      <p:sp>
        <p:nvSpPr>
          <p:cNvPr id="20" name="Text 16"/>
          <p:cNvSpPr/>
          <p:nvPr/>
        </p:nvSpPr>
        <p:spPr>
          <a:xfrm>
            <a:off x="5458968" y="41148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operative history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440680" y="48920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/>
        </p:spPr>
      </p:sp>
      <p:sp>
        <p:nvSpPr>
          <p:cNvPr id="22" name="Text 18"/>
          <p:cNvSpPr/>
          <p:nvPr/>
        </p:nvSpPr>
        <p:spPr>
          <a:xfrm>
            <a:off x="5440680" y="48920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REPORTED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FAMILY HISTORY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Context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6766560" cy="4114800"/>
          </a:xfrm>
          <a:prstGeom prst="roundRect">
            <a:avLst>
              <a:gd name="adj" fmla="val 266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240280"/>
            <a:ext cx="868680" cy="86868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42316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23317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Socioeconomic History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868680" y="338328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557016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73736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by profession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069080" y="338328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3557016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3776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93776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868680" y="4590288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764024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737360" y="4608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1737360" y="4864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middle class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4069080" y="4590288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2816" y="4764024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937760" y="4608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937760" y="4864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Bahawalpur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7498080" y="1874520"/>
            <a:ext cx="4206240" cy="4114800"/>
          </a:xfrm>
          <a:prstGeom prst="roundRect">
            <a:avLst>
              <a:gd name="adj" fmla="val 2667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8915400" y="2514600"/>
            <a:ext cx="1371600" cy="137160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834640"/>
            <a:ext cx="731520" cy="7315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680960" y="4114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History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8366760" y="470916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/>
        </p:spPr>
      </p:sp>
      <p:sp>
        <p:nvSpPr>
          <p:cNvPr id="31" name="Text 22"/>
          <p:cNvSpPr/>
          <p:nvPr/>
        </p:nvSpPr>
        <p:spPr>
          <a:xfrm>
            <a:off x="8366760" y="47091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7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1000"/>
          </a:blip>
          <a:stretch>
            <a:fillRect/>
          </a:stretch>
        </p:blipFill>
        <p:spPr>
          <a:xfrm>
            <a:off x="8046720" y="1051560"/>
            <a:ext cx="4754880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1783080"/>
            <a:ext cx="1927555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V="1">
            <a:off x="2613355" y="1636776"/>
            <a:ext cx="340157" cy="146304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53512" y="1636776"/>
            <a:ext cx="340157" cy="4572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3293669" y="1280160"/>
            <a:ext cx="340157" cy="813816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33826" y="1280160"/>
            <a:ext cx="340157" cy="6858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3973982" y="1783080"/>
            <a:ext cx="340157" cy="18288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14139" y="1783080"/>
            <a:ext cx="2040941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ASSESSMENT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21792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Examination</a:t>
            </a:r>
            <a:endParaRPr lang="en-US" sz="6800" dirty="0"/>
          </a:p>
        </p:txBody>
      </p:sp>
      <p:sp>
        <p:nvSpPr>
          <p:cNvPr id="13" name="Text 10"/>
          <p:cNvSpPr/>
          <p:nvPr/>
        </p:nvSpPr>
        <p:spPr>
          <a:xfrm>
            <a:off x="68580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physical &amp; systemic examination findings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85800" y="4892040"/>
            <a:ext cx="2183587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4892040"/>
            <a:ext cx="21835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Physical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097987" y="4892040"/>
            <a:ext cx="1967789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97987" y="4892040"/>
            <a:ext cx="1967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294376" y="4892040"/>
            <a:ext cx="1644091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94376" y="4892040"/>
            <a:ext cx="16440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167067" y="4892040"/>
            <a:ext cx="780898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67067" y="4892040"/>
            <a:ext cx="780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176565" y="4892040"/>
            <a:ext cx="2183587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76565" y="4892040"/>
            <a:ext cx="21835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Gastrointestinal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PHYSICAL EXAMINATION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Presentation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" y="160934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6072" y="18470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12648" y="241401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61488" y="1463040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71216" y="160934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PULSE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834640" y="18470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2871216" y="241401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020056" y="1463040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9784" y="160934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93208" y="18470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110/70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129784" y="241401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mmHg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278624" y="1463040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88352" y="160934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51776" y="18470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7388352" y="241401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°F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537192" y="1463040"/>
            <a:ext cx="2084832" cy="1261872"/>
          </a:xfrm>
          <a:prstGeom prst="roundRect">
            <a:avLst>
              <a:gd name="adj" fmla="val 7246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646920" y="160934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RATE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610344" y="18470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9646920" y="241401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/min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02920" y="2816352"/>
            <a:ext cx="11183112" cy="548640"/>
          </a:xfrm>
          <a:prstGeom prst="roundRect">
            <a:avLst>
              <a:gd name="adj" fmla="val 16667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26080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280160" y="281635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Apex–radial pulse deficit ≈ 40 bpm</a:t>
            </a:r>
            <a:pPr algn="l" indent="0" marL="0">
              <a:buNone/>
            </a:pPr>
            <a:r>
              <a:rPr lang="en-US" sz="14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(heart rate 136 vs radial pulse 96) — a hallmark of atrial fibrillation.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502920" y="3474720"/>
            <a:ext cx="3611880" cy="2514600"/>
          </a:xfrm>
          <a:prstGeom prst="roundRect">
            <a:avLst>
              <a:gd name="adj" fmla="val 436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777240" y="369417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840480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463040" y="369417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795528" y="4443984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4" name="Text 29"/>
          <p:cNvSpPr/>
          <p:nvPr/>
        </p:nvSpPr>
        <p:spPr>
          <a:xfrm>
            <a:off x="1014984" y="4389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Thin, lean, middle-aged female; comfortable in bed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795528" y="4946904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6" name="Text 31"/>
          <p:cNvSpPr/>
          <p:nvPr/>
        </p:nvSpPr>
        <p:spPr>
          <a:xfrm>
            <a:off x="1014984" y="4892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cannula in situ (right hand)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795528" y="5449824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8" name="Text 33"/>
          <p:cNvSpPr/>
          <p:nvPr/>
        </p:nvSpPr>
        <p:spPr>
          <a:xfrm>
            <a:off x="1014984" y="5394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oriented — time, place, person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4288536" y="3474720"/>
            <a:ext cx="3611880" cy="2514600"/>
          </a:xfrm>
          <a:prstGeom prst="roundRect">
            <a:avLst>
              <a:gd name="adj" fmla="val 436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4562856" y="369417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840480"/>
            <a:ext cx="274320" cy="27432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248656" y="369417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 Character</a:t>
            </a:r>
            <a:endParaRPr lang="en-US" sz="1600" dirty="0"/>
          </a:p>
        </p:txBody>
      </p:sp>
      <p:sp>
        <p:nvSpPr>
          <p:cNvPr id="43" name="Shape 37"/>
          <p:cNvSpPr/>
          <p:nvPr/>
        </p:nvSpPr>
        <p:spPr>
          <a:xfrm>
            <a:off x="4581144" y="4443984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44" name="Text 38"/>
          <p:cNvSpPr/>
          <p:nvPr/>
        </p:nvSpPr>
        <p:spPr>
          <a:xfrm>
            <a:off x="4800600" y="4389120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Irregularly irregular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4581144" y="4745736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46" name="Text 40"/>
          <p:cNvSpPr/>
          <p:nvPr/>
        </p:nvSpPr>
        <p:spPr>
          <a:xfrm>
            <a:off x="4800600" y="469087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volume &amp; character</a:t>
            </a:r>
            <a:endParaRPr lang="en-US" sz="1200" dirty="0"/>
          </a:p>
        </p:txBody>
      </p:sp>
      <p:sp>
        <p:nvSpPr>
          <p:cNvPr id="47" name="Shape 41"/>
          <p:cNvSpPr/>
          <p:nvPr/>
        </p:nvSpPr>
        <p:spPr>
          <a:xfrm>
            <a:off x="4581144" y="5047488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48" name="Text 42"/>
          <p:cNvSpPr/>
          <p:nvPr/>
        </p:nvSpPr>
        <p:spPr>
          <a:xfrm>
            <a:off x="4800600" y="4992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wall not palpable</a:t>
            </a:r>
            <a:endParaRPr lang="en-US" sz="1200" dirty="0"/>
          </a:p>
        </p:txBody>
      </p:sp>
      <p:sp>
        <p:nvSpPr>
          <p:cNvPr id="49" name="Shape 43"/>
          <p:cNvSpPr/>
          <p:nvPr/>
        </p:nvSpPr>
        <p:spPr>
          <a:xfrm>
            <a:off x="4581144" y="5349240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50" name="Text 44"/>
          <p:cNvSpPr/>
          <p:nvPr/>
        </p:nvSpPr>
        <p:spPr>
          <a:xfrm>
            <a:off x="4800600" y="5294376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radio-radial / femoral delay</a:t>
            </a:r>
            <a:endParaRPr lang="en-US" sz="1200" dirty="0"/>
          </a:p>
        </p:txBody>
      </p:sp>
      <p:sp>
        <p:nvSpPr>
          <p:cNvPr id="51" name="Shape 45"/>
          <p:cNvSpPr/>
          <p:nvPr/>
        </p:nvSpPr>
        <p:spPr>
          <a:xfrm>
            <a:off x="4581144" y="5650992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52" name="Text 46"/>
          <p:cNvSpPr/>
          <p:nvPr/>
        </p:nvSpPr>
        <p:spPr>
          <a:xfrm>
            <a:off x="4800600" y="559612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deficit present</a:t>
            </a:r>
            <a:endParaRPr lang="en-US" sz="1200" dirty="0"/>
          </a:p>
        </p:txBody>
      </p:sp>
      <p:sp>
        <p:nvSpPr>
          <p:cNvPr id="53" name="Shape 47"/>
          <p:cNvSpPr/>
          <p:nvPr/>
        </p:nvSpPr>
        <p:spPr>
          <a:xfrm>
            <a:off x="8074152" y="3474720"/>
            <a:ext cx="3611880" cy="2514600"/>
          </a:xfrm>
          <a:prstGeom prst="roundRect">
            <a:avLst>
              <a:gd name="adj" fmla="val 436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8348472" y="369417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776" y="3840480"/>
            <a:ext cx="274320" cy="274320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9034272" y="369417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Pressure</a:t>
            </a:r>
            <a:endParaRPr lang="en-US" sz="1600" dirty="0"/>
          </a:p>
        </p:txBody>
      </p:sp>
      <p:sp>
        <p:nvSpPr>
          <p:cNvPr id="57" name="Shape 50"/>
          <p:cNvSpPr/>
          <p:nvPr/>
        </p:nvSpPr>
        <p:spPr>
          <a:xfrm>
            <a:off x="8366760" y="4443984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58" name="Text 51"/>
          <p:cNvSpPr/>
          <p:nvPr/>
        </p:nvSpPr>
        <p:spPr>
          <a:xfrm>
            <a:off x="8586216" y="4389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110/70 mmHg — right arm, lying</a:t>
            </a:r>
            <a:endParaRPr lang="en-US" sz="1200" dirty="0"/>
          </a:p>
        </p:txBody>
      </p:sp>
      <p:sp>
        <p:nvSpPr>
          <p:cNvPr id="59" name="Shape 52"/>
          <p:cNvSpPr/>
          <p:nvPr/>
        </p:nvSpPr>
        <p:spPr>
          <a:xfrm>
            <a:off x="8366760" y="4946904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60" name="Text 53"/>
          <p:cNvSpPr/>
          <p:nvPr/>
        </p:nvSpPr>
        <p:spPr>
          <a:xfrm>
            <a:off x="8586216" y="4892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inter-arm difference</a:t>
            </a:r>
            <a:endParaRPr lang="en-US" sz="1200" dirty="0"/>
          </a:p>
        </p:txBody>
      </p:sp>
      <p:sp>
        <p:nvSpPr>
          <p:cNvPr id="61" name="Shape 54"/>
          <p:cNvSpPr/>
          <p:nvPr/>
        </p:nvSpPr>
        <p:spPr>
          <a:xfrm>
            <a:off x="8366760" y="5449824"/>
            <a:ext cx="109728" cy="10972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62" name="Text 55"/>
          <p:cNvSpPr/>
          <p:nvPr/>
        </p:nvSpPr>
        <p:spPr>
          <a:xfrm>
            <a:off x="8586216" y="5394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postural drop</a:t>
            </a:r>
            <a:endParaRPr lang="en-US" sz="1200" dirty="0"/>
          </a:p>
        </p:txBody>
      </p:sp>
      <p:sp>
        <p:nvSpPr>
          <p:cNvPr id="63" name="Text 5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4" name="Text 57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EXAMINATION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Cardiovascular System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11183112" cy="1097280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56232"/>
            <a:ext cx="768096" cy="768096"/>
          </a:xfrm>
          <a:prstGeom prst="ellipse">
            <a:avLst/>
          </a:prstGeom>
          <a:solidFill>
            <a:srgbClr val="A4133C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07568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16916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246120" y="1929384"/>
            <a:ext cx="0" cy="621792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520440" y="2002536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2" name="Text 8"/>
          <p:cNvSpPr/>
          <p:nvPr/>
        </p:nvSpPr>
        <p:spPr>
          <a:xfrm>
            <a:off x="3767328" y="18745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of the precordium — normal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520440" y="2386584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4" name="Text 10"/>
          <p:cNvSpPr/>
          <p:nvPr/>
        </p:nvSpPr>
        <p:spPr>
          <a:xfrm>
            <a:off x="3767328" y="225856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 of the inspection limited by exposure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02920" y="2926080"/>
            <a:ext cx="11183112" cy="1444752"/>
          </a:xfrm>
          <a:prstGeom prst="roundRect">
            <a:avLst>
              <a:gd name="adj" fmla="val 7595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3264408"/>
            <a:ext cx="768096" cy="768096"/>
          </a:xfrm>
          <a:prstGeom prst="ellipse">
            <a:avLst/>
          </a:prstGeom>
          <a:solidFill>
            <a:srgbClr val="A4133C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348386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2926080"/>
            <a:ext cx="14173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PALPATION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246120" y="3163824"/>
            <a:ext cx="0" cy="969264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520440" y="3218688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1" name="Text 16"/>
          <p:cNvSpPr/>
          <p:nvPr/>
        </p:nvSpPr>
        <p:spPr>
          <a:xfrm>
            <a:off x="3767328" y="30906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beat: 5th intercostal space, medial to the midclavicular line — normal character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3520440" y="3602736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3" name="Text 18"/>
          <p:cNvSpPr/>
          <p:nvPr/>
        </p:nvSpPr>
        <p:spPr>
          <a:xfrm>
            <a:off x="3767328" y="34747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thrill; no other palpable sounds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3520440" y="3986784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5" name="Text 20"/>
          <p:cNvSpPr/>
          <p:nvPr/>
        </p:nvSpPr>
        <p:spPr>
          <a:xfrm>
            <a:off x="3767328" y="385876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left parasternal heave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02920" y="4507992"/>
            <a:ext cx="11183112" cy="1444752"/>
          </a:xfrm>
          <a:prstGeom prst="roundRect">
            <a:avLst>
              <a:gd name="adj" fmla="val 7595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68680" y="4846320"/>
            <a:ext cx="768096" cy="768096"/>
          </a:xfrm>
          <a:prstGeom prst="ellipse">
            <a:avLst/>
          </a:prstGeom>
          <a:solidFill>
            <a:srgbClr val="A4133C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5065776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783080" y="4507992"/>
            <a:ext cx="14173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AUSCULTATION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3246120" y="4745736"/>
            <a:ext cx="0" cy="969264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520440" y="4800600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2" name="Text 26"/>
          <p:cNvSpPr/>
          <p:nvPr/>
        </p:nvSpPr>
        <p:spPr>
          <a:xfrm>
            <a:off x="3767328" y="467258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heart sound &amp; both components of 2nd heart sound audible at their respective areas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3520440" y="5184648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4" name="Text 28"/>
          <p:cNvSpPr/>
          <p:nvPr/>
        </p:nvSpPr>
        <p:spPr>
          <a:xfrm>
            <a:off x="3767328" y="50566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heart sound: variable intensity;  2nd heart sound: both components normal intensity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3520440" y="5568696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6" name="Text 30"/>
          <p:cNvSpPr/>
          <p:nvPr/>
        </p:nvSpPr>
        <p:spPr>
          <a:xfrm>
            <a:off x="3767328" y="54406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added sounds audible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EXAMINATION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Respiratory System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4114800" cy="4206240"/>
          </a:xfrm>
          <a:prstGeom prst="roundRect">
            <a:avLst>
              <a:gd name="adj" fmla="val 3111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2423160"/>
            <a:ext cx="1737360" cy="173736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8892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4434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Respiratory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1280160" y="5349240"/>
            <a:ext cx="839419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flipV="1">
            <a:off x="2119579" y="5202936"/>
            <a:ext cx="148133" cy="146304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67712" y="5202936"/>
            <a:ext cx="148133" cy="4572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2415845" y="4846320"/>
            <a:ext cx="148133" cy="813816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3978" y="4846320"/>
            <a:ext cx="148133" cy="6858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2712110" y="5349240"/>
            <a:ext cx="148133" cy="18288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60243" y="5349240"/>
            <a:ext cx="888797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37760" y="1783080"/>
            <a:ext cx="676656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440680" y="2194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40680" y="260604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entry equal &amp; adequate bilaterally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5458968" y="41148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chest examination unremarkable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440680" y="48920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22" name="Text 18"/>
          <p:cNvSpPr/>
          <p:nvPr/>
        </p:nvSpPr>
        <p:spPr>
          <a:xfrm>
            <a:off x="5440680" y="48920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EXAMINATION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Nervous System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4114800" cy="4206240"/>
          </a:xfrm>
          <a:prstGeom prst="roundRect">
            <a:avLst>
              <a:gd name="adj" fmla="val 3111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2423160"/>
            <a:ext cx="1737360" cy="173736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8892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4434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CNS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1280160" y="5349240"/>
            <a:ext cx="839419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flipV="1">
            <a:off x="2119579" y="5202936"/>
            <a:ext cx="148133" cy="146304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67712" y="5202936"/>
            <a:ext cx="148133" cy="4572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2415845" y="4846320"/>
            <a:ext cx="148133" cy="813816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3978" y="4846320"/>
            <a:ext cx="148133" cy="6858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2712110" y="5349240"/>
            <a:ext cx="148133" cy="18288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60243" y="5349240"/>
            <a:ext cx="888797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37760" y="1783080"/>
            <a:ext cx="676656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440680" y="2194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40680" y="260604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significant</a:t>
            </a:r>
            <a:endParaRPr lang="en-US" sz="4200" dirty="0"/>
          </a:p>
        </p:txBody>
      </p:sp>
      <p:sp>
        <p:nvSpPr>
          <p:cNvPr id="20" name="Text 16"/>
          <p:cNvSpPr/>
          <p:nvPr/>
        </p:nvSpPr>
        <p:spPr>
          <a:xfrm>
            <a:off x="5458968" y="41148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Neurological examination unremarkable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440680" y="48920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/>
        </p:spPr>
      </p:sp>
      <p:sp>
        <p:nvSpPr>
          <p:cNvPr id="22" name="Text 18"/>
          <p:cNvSpPr/>
          <p:nvPr/>
        </p:nvSpPr>
        <p:spPr>
          <a:xfrm>
            <a:off x="5440680" y="48920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UNREMARKABLE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EXAMINATION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Gastrointestinal System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4114800" cy="4206240"/>
          </a:xfrm>
          <a:prstGeom prst="roundRect">
            <a:avLst>
              <a:gd name="adj" fmla="val 3111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2423160"/>
            <a:ext cx="1737360" cy="1737360"/>
          </a:xfrm>
          <a:prstGeom prst="ellipse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8892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4434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1280160" y="5349240"/>
            <a:ext cx="839419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flipV="1">
            <a:off x="2119579" y="5202936"/>
            <a:ext cx="148133" cy="146304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67712" y="5202936"/>
            <a:ext cx="148133" cy="4572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flipV="1">
            <a:off x="2415845" y="4846320"/>
            <a:ext cx="148133" cy="813816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63978" y="4846320"/>
            <a:ext cx="148133" cy="68580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2712110" y="5349240"/>
            <a:ext cx="148133" cy="18288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60243" y="5349240"/>
            <a:ext cx="888797" cy="0"/>
          </a:xfrm>
          <a:prstGeom prst="line">
            <a:avLst/>
          </a:prstGeom>
          <a:noFill/>
          <a:ln w="28575">
            <a:solidFill>
              <a:srgbClr val="FF4D6D">
                <a:alpha val="8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37760" y="1783080"/>
            <a:ext cx="676656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440680" y="2194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40680" y="260604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significant</a:t>
            </a:r>
            <a:endParaRPr lang="en-US" sz="4200" dirty="0"/>
          </a:p>
        </p:txBody>
      </p:sp>
      <p:sp>
        <p:nvSpPr>
          <p:cNvPr id="20" name="Text 16"/>
          <p:cNvSpPr/>
          <p:nvPr/>
        </p:nvSpPr>
        <p:spPr>
          <a:xfrm>
            <a:off x="5458968" y="41148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 examination unremarkable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440680" y="48920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A4133C"/>
          </a:solidFill>
          <a:ln/>
        </p:spPr>
      </p:sp>
      <p:sp>
        <p:nvSpPr>
          <p:cNvPr id="22" name="Text 18"/>
          <p:cNvSpPr/>
          <p:nvPr/>
        </p:nvSpPr>
        <p:spPr>
          <a:xfrm>
            <a:off x="5440680" y="48920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UNREMARKABLE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7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1000"/>
          </a:blip>
          <a:stretch>
            <a:fillRect/>
          </a:stretch>
        </p:blipFill>
        <p:spPr>
          <a:xfrm>
            <a:off x="8046720" y="1051560"/>
            <a:ext cx="4754880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1783080"/>
            <a:ext cx="1927555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V="1">
            <a:off x="2613355" y="1636776"/>
            <a:ext cx="340157" cy="146304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53512" y="1636776"/>
            <a:ext cx="340157" cy="4572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3293669" y="1280160"/>
            <a:ext cx="340157" cy="813816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33826" y="1280160"/>
            <a:ext cx="340157" cy="6858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3973982" y="1783080"/>
            <a:ext cx="340157" cy="18288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14139" y="1783080"/>
            <a:ext cx="2040941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WORK-UP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21792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Investigations</a:t>
            </a:r>
            <a:endParaRPr lang="en-US" sz="6800" dirty="0"/>
          </a:p>
        </p:txBody>
      </p:sp>
      <p:sp>
        <p:nvSpPr>
          <p:cNvPr id="13" name="Text 10"/>
          <p:cNvSpPr/>
          <p:nvPr/>
        </p:nvSpPr>
        <p:spPr>
          <a:xfrm>
            <a:off x="68580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Bedside, laboratory &amp; imaging findings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85800" y="4892040"/>
            <a:ext cx="1644091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4892040"/>
            <a:ext cx="16440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12-Lead ECG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558491" y="4892040"/>
            <a:ext cx="175199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58491" y="489204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counts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39082" y="4892040"/>
            <a:ext cx="175199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39082" y="489204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Biochemistry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19672" y="4892040"/>
            <a:ext cx="2183587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9672" y="4892040"/>
            <a:ext cx="21835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screen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931859" y="4892040"/>
            <a:ext cx="2183587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31859" y="4892040"/>
            <a:ext cx="21835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Echocardiography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· ELECTROCARDIOGRAM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12-Lead ECG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5669280" cy="4279392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19656"/>
            <a:ext cx="5458968" cy="4114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55080" y="1737360"/>
            <a:ext cx="5349240" cy="1481328"/>
          </a:xfrm>
          <a:prstGeom prst="roundRect">
            <a:avLst>
              <a:gd name="adj" fmla="val 7407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611112" y="1956816"/>
            <a:ext cx="548640" cy="54864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209397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87768" y="182880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Atrial Fibrillation with Rapid Ventricular Response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7287768" y="279806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rhythm ECG · </a:t>
            </a:r>
            <a:pPr algn="l" indent="0" marL="0">
              <a:buNone/>
            </a:pPr>
            <a:r>
              <a:rPr lang="en-US" sz="12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06-Jul-2026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355080" y="3364992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611112" y="3493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VENTRICULAR RATE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611112" y="376732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</a:t>
            </a:r>
            <a:pPr algn="l" indent="0" marL="0">
              <a:buNone/>
            </a:pPr>
            <a:r>
              <a:rPr lang="en-US" sz="15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bpm</a:t>
            </a:r>
            <a:endParaRPr lang="en-US" sz="3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3493008"/>
            <a:ext cx="292608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0424160" y="3785616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/>
        </p:spPr>
      </p:sp>
      <p:sp>
        <p:nvSpPr>
          <p:cNvPr id="18" name="Text 12"/>
          <p:cNvSpPr/>
          <p:nvPr/>
        </p:nvSpPr>
        <p:spPr>
          <a:xfrm>
            <a:off x="10424160" y="3785616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355080" y="4389120"/>
            <a:ext cx="2615184" cy="749808"/>
          </a:xfrm>
          <a:prstGeom prst="roundRect">
            <a:avLst>
              <a:gd name="adj" fmla="val 12195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556248" y="451713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556248" y="47731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9089136" y="4389120"/>
            <a:ext cx="2615184" cy="749808"/>
          </a:xfrm>
          <a:prstGeom prst="roundRect">
            <a:avLst>
              <a:gd name="adj" fmla="val 12195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290304" y="451713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WAVES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9290304" y="47731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355080" y="5239512"/>
            <a:ext cx="2615184" cy="749808"/>
          </a:xfrm>
          <a:prstGeom prst="roundRect">
            <a:avLst>
              <a:gd name="adj" fmla="val 12195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556248" y="536752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· QRS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556248" y="56235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· 80 ms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9089136" y="5239512"/>
            <a:ext cx="2615184" cy="749808"/>
          </a:xfrm>
          <a:prstGeom prst="roundRect">
            <a:avLst>
              <a:gd name="adj" fmla="val 12195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290304" y="536752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/ QTC · AXIS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9290304" y="56235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 / 382 ms · 38°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· HAEMATOLOGY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Blood Count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485632" y="1024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date: 10-Jun-2022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719072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A4133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190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984248" y="17190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282696" y="1719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RANGE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855464" y="17190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2176272"/>
            <a:ext cx="5449824" cy="502920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267919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1762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Haemoglobin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984248" y="21762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</a:t>
            </a:r>
            <a:pPr algn="l"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282696" y="2176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11.5–16.5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855464" y="21762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g/dL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318211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26791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984248" y="26791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6.94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3282696" y="26791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4.0–11.0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855464" y="26791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×10³/µL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3182112"/>
            <a:ext cx="5449824" cy="502920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24" name="Shape 21"/>
          <p:cNvSpPr/>
          <p:nvPr/>
        </p:nvSpPr>
        <p:spPr>
          <a:xfrm>
            <a:off x="502920" y="368503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31821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Neutrophils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984248" y="31821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3282696" y="31821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40–75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855464" y="31821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02920" y="418795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36850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Lymphocytes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984248" y="36850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3282696" y="36850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4855464" y="368503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02920" y="4187952"/>
            <a:ext cx="5449824" cy="502920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35" name="Shape 32"/>
          <p:cNvSpPr/>
          <p:nvPr/>
        </p:nvSpPr>
        <p:spPr>
          <a:xfrm>
            <a:off x="502920" y="469087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0080" y="41879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Monocytes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984248" y="41879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3282696" y="4187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4855464" y="41879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02920" y="519379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0080" y="46908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Eosinophils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984248" y="46908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algn="l"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3282696" y="46908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1–6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4855464" y="46908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236208" y="1719072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A4133C"/>
          </a:solidFill>
          <a:ln/>
        </p:spPr>
      </p:sp>
      <p:sp>
        <p:nvSpPr>
          <p:cNvPr id="46" name="Text 43"/>
          <p:cNvSpPr/>
          <p:nvPr/>
        </p:nvSpPr>
        <p:spPr>
          <a:xfrm>
            <a:off x="6373368" y="17190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7717536" y="17190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9015984" y="1719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RANGE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10588752" y="17190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6236208" y="2176272"/>
            <a:ext cx="5449824" cy="502920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51" name="Shape 48"/>
          <p:cNvSpPr/>
          <p:nvPr/>
        </p:nvSpPr>
        <p:spPr>
          <a:xfrm>
            <a:off x="6236208" y="267919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373368" y="21762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7717536" y="21762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</a:t>
            </a:r>
            <a:endParaRPr lang="en-US" sz="1350" dirty="0"/>
          </a:p>
        </p:txBody>
      </p:sp>
      <p:sp>
        <p:nvSpPr>
          <p:cNvPr id="54" name="Text 51"/>
          <p:cNvSpPr/>
          <p:nvPr/>
        </p:nvSpPr>
        <p:spPr>
          <a:xfrm>
            <a:off x="9015984" y="21762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150–400</a:t>
            </a:r>
            <a:endParaRPr lang="en-US" sz="1250" dirty="0"/>
          </a:p>
        </p:txBody>
      </p:sp>
      <p:sp>
        <p:nvSpPr>
          <p:cNvPr id="55" name="Text 52"/>
          <p:cNvSpPr/>
          <p:nvPr/>
        </p:nvSpPr>
        <p:spPr>
          <a:xfrm>
            <a:off x="10588752" y="21762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×10³/µL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6236208" y="318211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373368" y="26791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7717536" y="26791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3.53</a:t>
            </a:r>
            <a:pPr algn="l"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</a:t>
            </a:r>
            <a:endParaRPr lang="en-US" sz="1350" dirty="0"/>
          </a:p>
        </p:txBody>
      </p:sp>
      <p:sp>
        <p:nvSpPr>
          <p:cNvPr id="59" name="Text 56"/>
          <p:cNvSpPr/>
          <p:nvPr/>
        </p:nvSpPr>
        <p:spPr>
          <a:xfrm>
            <a:off x="9015984" y="26791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3.6–5.8</a:t>
            </a:r>
            <a:endParaRPr lang="en-US" sz="1250" dirty="0"/>
          </a:p>
        </p:txBody>
      </p:sp>
      <p:sp>
        <p:nvSpPr>
          <p:cNvPr id="60" name="Text 57"/>
          <p:cNvSpPr/>
          <p:nvPr/>
        </p:nvSpPr>
        <p:spPr>
          <a:xfrm>
            <a:off x="10588752" y="26791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×10⁶/µL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6236208" y="3182112"/>
            <a:ext cx="5449824" cy="502920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62" name="Shape 59"/>
          <p:cNvSpPr/>
          <p:nvPr/>
        </p:nvSpPr>
        <p:spPr>
          <a:xfrm>
            <a:off x="6236208" y="368503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373368" y="31821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MCV</a:t>
            </a:r>
            <a:endParaRPr lang="en-US" sz="1300" dirty="0"/>
          </a:p>
        </p:txBody>
      </p:sp>
      <p:sp>
        <p:nvSpPr>
          <p:cNvPr id="64" name="Text 61"/>
          <p:cNvSpPr/>
          <p:nvPr/>
        </p:nvSpPr>
        <p:spPr>
          <a:xfrm>
            <a:off x="7717536" y="31821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</a:t>
            </a:r>
            <a:endParaRPr lang="en-US" sz="1350" dirty="0"/>
          </a:p>
        </p:txBody>
      </p:sp>
      <p:sp>
        <p:nvSpPr>
          <p:cNvPr id="65" name="Text 62"/>
          <p:cNvSpPr/>
          <p:nvPr/>
        </p:nvSpPr>
        <p:spPr>
          <a:xfrm>
            <a:off x="9015984" y="31821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</a:t>
            </a:r>
            <a:endParaRPr lang="en-US" sz="1250" dirty="0"/>
          </a:p>
        </p:txBody>
      </p:sp>
      <p:sp>
        <p:nvSpPr>
          <p:cNvPr id="66" name="Text 63"/>
          <p:cNvSpPr/>
          <p:nvPr/>
        </p:nvSpPr>
        <p:spPr>
          <a:xfrm>
            <a:off x="10588752" y="31821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6236208" y="418795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373368" y="36850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7717536" y="36850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</a:t>
            </a:r>
            <a:endParaRPr lang="en-US" sz="1350" dirty="0"/>
          </a:p>
        </p:txBody>
      </p:sp>
      <p:sp>
        <p:nvSpPr>
          <p:cNvPr id="70" name="Text 67"/>
          <p:cNvSpPr/>
          <p:nvPr/>
        </p:nvSpPr>
        <p:spPr>
          <a:xfrm>
            <a:off x="9015984" y="36850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27–34</a:t>
            </a:r>
            <a:endParaRPr lang="en-US" sz="1250" dirty="0"/>
          </a:p>
        </p:txBody>
      </p:sp>
      <p:sp>
        <p:nvSpPr>
          <p:cNvPr id="71" name="Text 68"/>
          <p:cNvSpPr/>
          <p:nvPr/>
        </p:nvSpPr>
        <p:spPr>
          <a:xfrm>
            <a:off x="10588752" y="368503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6236208" y="4187952"/>
            <a:ext cx="5449824" cy="502920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73" name="Shape 70"/>
          <p:cNvSpPr/>
          <p:nvPr/>
        </p:nvSpPr>
        <p:spPr>
          <a:xfrm>
            <a:off x="6236208" y="469087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373368" y="41879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MCHC</a:t>
            </a:r>
            <a:endParaRPr lang="en-US" sz="1300" dirty="0"/>
          </a:p>
        </p:txBody>
      </p:sp>
      <p:sp>
        <p:nvSpPr>
          <p:cNvPr id="75" name="Text 72"/>
          <p:cNvSpPr/>
          <p:nvPr/>
        </p:nvSpPr>
        <p:spPr>
          <a:xfrm>
            <a:off x="7717536" y="41879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</a:t>
            </a:r>
            <a:endParaRPr lang="en-US" sz="1350" dirty="0"/>
          </a:p>
        </p:txBody>
      </p:sp>
      <p:sp>
        <p:nvSpPr>
          <p:cNvPr id="76" name="Text 73"/>
          <p:cNvSpPr/>
          <p:nvPr/>
        </p:nvSpPr>
        <p:spPr>
          <a:xfrm>
            <a:off x="9015984" y="41879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30–35</a:t>
            </a:r>
            <a:endParaRPr lang="en-US" sz="1250" dirty="0"/>
          </a:p>
        </p:txBody>
      </p:sp>
      <p:sp>
        <p:nvSpPr>
          <p:cNvPr id="77" name="Text 74"/>
          <p:cNvSpPr/>
          <p:nvPr/>
        </p:nvSpPr>
        <p:spPr>
          <a:xfrm>
            <a:off x="10588752" y="41879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g/dL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6236208" y="5193792"/>
            <a:ext cx="5449824" cy="0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373368" y="46908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HCT</a:t>
            </a:r>
            <a:endParaRPr lang="en-US" sz="1300" dirty="0"/>
          </a:p>
        </p:txBody>
      </p:sp>
      <p:sp>
        <p:nvSpPr>
          <p:cNvPr id="80" name="Text 77"/>
          <p:cNvSpPr/>
          <p:nvPr/>
        </p:nvSpPr>
        <p:spPr>
          <a:xfrm>
            <a:off x="7717536" y="46908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30.3</a:t>
            </a:r>
            <a:pPr algn="l" indent="0" marL="0">
              <a:buNone/>
            </a:pPr>
            <a:r>
              <a:rPr lang="en-US" sz="9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</a:t>
            </a:r>
            <a:endParaRPr lang="en-US" sz="1350" dirty="0"/>
          </a:p>
        </p:txBody>
      </p:sp>
      <p:sp>
        <p:nvSpPr>
          <p:cNvPr id="81" name="Text 78"/>
          <p:cNvSpPr/>
          <p:nvPr/>
        </p:nvSpPr>
        <p:spPr>
          <a:xfrm>
            <a:off x="9015984" y="46908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35–47</a:t>
            </a:r>
            <a:endParaRPr lang="en-US" sz="1250" dirty="0"/>
          </a:p>
        </p:txBody>
      </p:sp>
      <p:sp>
        <p:nvSpPr>
          <p:cNvPr id="82" name="Text 79"/>
          <p:cNvSpPr/>
          <p:nvPr/>
        </p:nvSpPr>
        <p:spPr>
          <a:xfrm>
            <a:off x="10588752" y="46908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200" dirty="0"/>
          </a:p>
        </p:txBody>
      </p:sp>
      <p:sp>
        <p:nvSpPr>
          <p:cNvPr id="83" name="Shape 80"/>
          <p:cNvSpPr/>
          <p:nvPr/>
        </p:nvSpPr>
        <p:spPr>
          <a:xfrm>
            <a:off x="502920" y="5431536"/>
            <a:ext cx="11183112" cy="658368"/>
          </a:xfrm>
          <a:prstGeom prst="roundRect">
            <a:avLst>
              <a:gd name="adj" fmla="val 16667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84" name="Text 81"/>
          <p:cNvSpPr/>
          <p:nvPr/>
        </p:nvSpPr>
        <p:spPr>
          <a:xfrm>
            <a:off x="868680" y="543153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normocytic anaemia (low Hb, RBC &amp; HCT) with mild eosinophilia.</a:t>
            </a:r>
            <a:endParaRPr lang="en-US" sz="1500" dirty="0"/>
          </a:p>
        </p:txBody>
      </p:sp>
      <p:sp>
        <p:nvSpPr>
          <p:cNvPr id="85" name="Text 8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86" name="Text 83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· ROUTINE CHEMISTRY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Renal, Electrolytes &amp; Viral Screen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485632" y="1024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date: 06-Jul-2026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0391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FUNCTION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58952" y="2496312"/>
            <a:ext cx="3099816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6243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Urea</a:t>
            </a:r>
            <a:endParaRPr lang="en-US" sz="13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264261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926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mg/dL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960120" y="3355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16.6–48.6 mg/dL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58952" y="3794760"/>
            <a:ext cx="3099816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0120" y="39227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</a:t>
            </a:r>
            <a:endParaRPr lang="en-US" sz="13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394106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4224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</a:t>
            </a:r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mg/dL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960120" y="4654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0.6–1.2 mg/dL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288536" y="178308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562856" y="20391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ELECTROLYTES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544568" y="2496312"/>
            <a:ext cx="3099816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45736" y="26243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</a:t>
            </a:r>
            <a:endParaRPr lang="en-US" sz="13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264261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45736" y="2926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</a:t>
            </a:r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mmol/L</a:t>
            </a:r>
            <a:endParaRPr lang="en-US" sz="2100" dirty="0"/>
          </a:p>
        </p:txBody>
      </p:sp>
      <p:sp>
        <p:nvSpPr>
          <p:cNvPr id="25" name="Text 19"/>
          <p:cNvSpPr/>
          <p:nvPr/>
        </p:nvSpPr>
        <p:spPr>
          <a:xfrm>
            <a:off x="4745736" y="3355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135–155 mmol/L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544568" y="3794760"/>
            <a:ext cx="3099816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745736" y="39227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</a:t>
            </a:r>
            <a:endParaRPr lang="en-US" sz="13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394106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745736" y="4224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</a:t>
            </a:r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mmol/L</a:t>
            </a:r>
            <a:endParaRPr lang="en-US" sz="2100" dirty="0"/>
          </a:p>
        </p:txBody>
      </p:sp>
      <p:sp>
        <p:nvSpPr>
          <p:cNvPr id="30" name="Text 23"/>
          <p:cNvSpPr/>
          <p:nvPr/>
        </p:nvSpPr>
        <p:spPr>
          <a:xfrm>
            <a:off x="4745736" y="4654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3.5–5.5 mmol/L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074152" y="1783080"/>
            <a:ext cx="3611880" cy="3429000"/>
          </a:xfrm>
          <a:prstGeom prst="roundRect">
            <a:avLst>
              <a:gd name="adj" fmla="val 32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8348472" y="20391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SCREEN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8330184" y="2532888"/>
            <a:ext cx="30998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2770632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933688" y="2532888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HBsAg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10113264" y="2724912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37" name="Text 29"/>
          <p:cNvSpPr/>
          <p:nvPr/>
        </p:nvSpPr>
        <p:spPr>
          <a:xfrm>
            <a:off x="10113264" y="27249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8330184" y="3429000"/>
            <a:ext cx="30998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3666744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933688" y="3429000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 Ag/Ab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10113264" y="3621024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42" name="Text 33"/>
          <p:cNvSpPr/>
          <p:nvPr/>
        </p:nvSpPr>
        <p:spPr>
          <a:xfrm>
            <a:off x="10113264" y="362102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50" dirty="0"/>
          </a:p>
        </p:txBody>
      </p:sp>
      <p:sp>
        <p:nvSpPr>
          <p:cNvPr id="43" name="Shape 34"/>
          <p:cNvSpPr/>
          <p:nvPr/>
        </p:nvSpPr>
        <p:spPr>
          <a:xfrm>
            <a:off x="8330184" y="4325112"/>
            <a:ext cx="30998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3064" y="4562856"/>
            <a:ext cx="274320" cy="27432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8933688" y="4325112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HCV (ICT)</a:t>
            </a:r>
            <a:endParaRPr lang="en-US" sz="1400" dirty="0"/>
          </a:p>
        </p:txBody>
      </p:sp>
      <p:sp>
        <p:nvSpPr>
          <p:cNvPr id="46" name="Shape 36"/>
          <p:cNvSpPr/>
          <p:nvPr/>
        </p:nvSpPr>
        <p:spPr>
          <a:xfrm>
            <a:off x="10113264" y="4517136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47" name="Text 37"/>
          <p:cNvSpPr/>
          <p:nvPr/>
        </p:nvSpPr>
        <p:spPr>
          <a:xfrm>
            <a:off x="10113264" y="451713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50" dirty="0"/>
          </a:p>
        </p:txBody>
      </p:sp>
      <p:sp>
        <p:nvSpPr>
          <p:cNvPr id="48" name="Shape 38"/>
          <p:cNvSpPr/>
          <p:nvPr/>
        </p:nvSpPr>
        <p:spPr>
          <a:xfrm>
            <a:off x="502920" y="5431536"/>
            <a:ext cx="11183112" cy="658368"/>
          </a:xfrm>
          <a:prstGeom prst="roundRect">
            <a:avLst>
              <a:gd name="adj" fmla="val 16667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49" name="Text 39"/>
          <p:cNvSpPr/>
          <p:nvPr/>
        </p:nvSpPr>
        <p:spPr>
          <a:xfrm>
            <a:off x="868680" y="543153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renal function and electrolytes; viral screen negative.</a:t>
            </a:r>
            <a:endParaRPr lang="en-US" sz="1500" dirty="0"/>
          </a:p>
        </p:txBody>
      </p:sp>
      <p:sp>
        <p:nvSpPr>
          <p:cNvPr id="50" name="Text 4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1" name="Text 41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· BIOCHEMISTRY &amp; ENDOCRINE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Investigations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028432" y="1024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Chughtai Lab · 18-Dec-2025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A4133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7830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26280" y="17830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95160" y="17830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range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46920" y="1783080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2313432"/>
            <a:ext cx="11183112" cy="475488"/>
          </a:xfrm>
          <a:prstGeom prst="roundRect">
            <a:avLst>
              <a:gd name="adj" fmla="val 9615"/>
            </a:avLst>
          </a:prstGeom>
          <a:solidFill>
            <a:srgbClr val="FFF0F3"/>
          </a:solidFill>
          <a:ln w="9525">
            <a:solidFill>
              <a:srgbClr val="FBD8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28600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Serum Magnesium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26280" y="22860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mg/dL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95160" y="22860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– 2.6</a:t>
            </a:r>
            <a:endParaRPr lang="en-US" sz="13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432304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957816" y="2286000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02920" y="2843784"/>
            <a:ext cx="1118311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FBD8D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281635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Vitamin B12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26280" y="28163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pg/mL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995160" y="28163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– 883</a:t>
            </a:r>
            <a:endParaRPr lang="en-US" sz="13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62656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957816" y="2816352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02920" y="3374136"/>
            <a:ext cx="11183112" cy="475488"/>
          </a:xfrm>
          <a:prstGeom prst="roundRect">
            <a:avLst>
              <a:gd name="adj" fmla="val 9615"/>
            </a:avLst>
          </a:prstGeom>
          <a:solidFill>
            <a:srgbClr val="FFF0F3"/>
          </a:solidFill>
          <a:ln w="9525">
            <a:solidFill>
              <a:srgbClr val="FBD8D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85800" y="334670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Serum Potassium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4526280" y="334670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mmol/L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995160" y="334670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– 5.1</a:t>
            </a:r>
            <a:endParaRPr lang="en-US" sz="13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349300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957816" y="3346704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02920" y="3904488"/>
            <a:ext cx="1118311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FBD8D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85800" y="387705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Serum Total T3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4526280" y="387705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73.85 ng/dL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995160" y="38770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– 204</a:t>
            </a:r>
            <a:endParaRPr lang="en-US" sz="135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0" y="4023360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957816" y="3877056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502920" y="4434840"/>
            <a:ext cx="11183112" cy="475488"/>
          </a:xfrm>
          <a:prstGeom prst="roundRect">
            <a:avLst>
              <a:gd name="adj" fmla="val 9615"/>
            </a:avLst>
          </a:prstGeom>
          <a:solidFill>
            <a:srgbClr val="FFF0F3"/>
          </a:solidFill>
          <a:ln w="9525">
            <a:solidFill>
              <a:srgbClr val="FBD8D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85800" y="440740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Serum Total T4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4526280" y="44074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7.99 µg/dL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6995160" y="440740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– 11</a:t>
            </a:r>
            <a:endParaRPr lang="en-US" sz="135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0" y="4553712"/>
            <a:ext cx="237744" cy="23774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957816" y="4407408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42" name="Shape 34"/>
          <p:cNvSpPr/>
          <p:nvPr/>
        </p:nvSpPr>
        <p:spPr>
          <a:xfrm>
            <a:off x="502920" y="4965192"/>
            <a:ext cx="1118311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FBD8DF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85800" y="493776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HbA1c (Glycated Hb)</a:t>
            </a:r>
            <a:endParaRPr lang="en-US" sz="1450" dirty="0"/>
          </a:p>
        </p:txBody>
      </p:sp>
      <p:sp>
        <p:nvSpPr>
          <p:cNvPr id="44" name="Text 36"/>
          <p:cNvSpPr/>
          <p:nvPr/>
        </p:nvSpPr>
        <p:spPr>
          <a:xfrm>
            <a:off x="4526280" y="49377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5.1 %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6995160" y="49377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5.7</a:t>
            </a:r>
            <a:endParaRPr lang="en-US" sz="1350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0" y="5084064"/>
            <a:ext cx="237744" cy="237744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9957816" y="4937760"/>
            <a:ext cx="1673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48" name="Shape 39"/>
          <p:cNvSpPr/>
          <p:nvPr/>
        </p:nvSpPr>
        <p:spPr>
          <a:xfrm>
            <a:off x="502920" y="5541264"/>
            <a:ext cx="11183112" cy="566928"/>
          </a:xfrm>
          <a:prstGeom prst="roundRect">
            <a:avLst>
              <a:gd name="adj" fmla="val 16129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49" name="Text 40"/>
          <p:cNvSpPr/>
          <p:nvPr/>
        </p:nvSpPr>
        <p:spPr>
          <a:xfrm>
            <a:off x="868680" y="554126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 </a:t>
            </a:r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thyroid function, electrolytes, magnesium, B12 and HbA1c — no thyrotoxic or metabolic trigger for AF.</a:t>
            </a:r>
            <a:endParaRPr lang="en-US" sz="1350" dirty="0"/>
          </a:p>
        </p:txBody>
      </p:sp>
      <p:sp>
        <p:nvSpPr>
          <p:cNvPr id="50" name="Text 4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51" name="Text 42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· ECHOCARDIOGRAPHY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Echocardiography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028432" y="1024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27-Jan-2023 · Dr Ussama Munir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011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EJECTION FRACTION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23042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LVEF 65%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77240" y="30906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 57–73%)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3703320"/>
            <a:ext cx="3383280" cy="1645920"/>
          </a:xfrm>
          <a:prstGeom prst="roundRect">
            <a:avLst>
              <a:gd name="adj" fmla="val 666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3931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TO AF</a:t>
            </a:r>
            <a:endParaRPr lang="en-US" sz="11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31596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98448" y="422452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clot in LA / LV</a:t>
            </a:r>
            <a:endParaRPr lang="en-US" sz="2300" dirty="0"/>
          </a:p>
        </p:txBody>
      </p:sp>
      <p:sp>
        <p:nvSpPr>
          <p:cNvPr id="15" name="Shape 11"/>
          <p:cNvSpPr/>
          <p:nvPr/>
        </p:nvSpPr>
        <p:spPr>
          <a:xfrm>
            <a:off x="4114800" y="1783080"/>
            <a:ext cx="37033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343400" y="195681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224528" y="2304288"/>
            <a:ext cx="3483864" cy="420624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18" name="Text 14"/>
          <p:cNvSpPr/>
          <p:nvPr/>
        </p:nvSpPr>
        <p:spPr>
          <a:xfrm>
            <a:off x="4343400" y="23042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LVEF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40680" y="23042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172200" y="230428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57–73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7059168" y="230428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343400" y="272491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LVIDD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440680" y="272491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172200" y="272491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35–56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7059168" y="272491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224528" y="3145536"/>
            <a:ext cx="3483864" cy="420624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27" name="Text 23"/>
          <p:cNvSpPr/>
          <p:nvPr/>
        </p:nvSpPr>
        <p:spPr>
          <a:xfrm>
            <a:off x="4343400" y="31455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IVS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5440680" y="3145536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6172200" y="31455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6–11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7059168" y="3145536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4343400" y="35661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LVPW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5440680" y="35661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6172200" y="356616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6–11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7059168" y="356616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4224528" y="3986784"/>
            <a:ext cx="3483864" cy="420624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36" name="Text 32"/>
          <p:cNvSpPr/>
          <p:nvPr/>
        </p:nvSpPr>
        <p:spPr>
          <a:xfrm>
            <a:off x="4343400" y="398678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5440680" y="398678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350" dirty="0"/>
          </a:p>
        </p:txBody>
      </p:sp>
      <p:sp>
        <p:nvSpPr>
          <p:cNvPr id="38" name="Text 34"/>
          <p:cNvSpPr/>
          <p:nvPr/>
        </p:nvSpPr>
        <p:spPr>
          <a:xfrm>
            <a:off x="6172200" y="398678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19–40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7059168" y="398678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150" dirty="0"/>
          </a:p>
        </p:txBody>
      </p:sp>
      <p:sp>
        <p:nvSpPr>
          <p:cNvPr id="40" name="Text 36"/>
          <p:cNvSpPr/>
          <p:nvPr/>
        </p:nvSpPr>
        <p:spPr>
          <a:xfrm>
            <a:off x="4343400" y="440740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E/A</a:t>
            </a:r>
            <a:endParaRPr lang="en-US" sz="1250" dirty="0"/>
          </a:p>
        </p:txBody>
      </p:sp>
      <p:sp>
        <p:nvSpPr>
          <p:cNvPr id="41" name="Text 37"/>
          <p:cNvSpPr/>
          <p:nvPr/>
        </p:nvSpPr>
        <p:spPr>
          <a:xfrm>
            <a:off x="5440680" y="440740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1350" dirty="0"/>
          </a:p>
        </p:txBody>
      </p:sp>
      <p:sp>
        <p:nvSpPr>
          <p:cNvPr id="42" name="Text 38"/>
          <p:cNvSpPr/>
          <p:nvPr/>
        </p:nvSpPr>
        <p:spPr>
          <a:xfrm>
            <a:off x="6172200" y="440740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7059168" y="440740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4224528" y="4828032"/>
            <a:ext cx="3483864" cy="420624"/>
          </a:xfrm>
          <a:prstGeom prst="rect">
            <a:avLst/>
          </a:prstGeom>
          <a:solidFill>
            <a:srgbClr val="FFF0F3"/>
          </a:solidFill>
          <a:ln/>
        </p:spPr>
      </p:sp>
      <p:sp>
        <p:nvSpPr>
          <p:cNvPr id="45" name="Text 41"/>
          <p:cNvSpPr/>
          <p:nvPr/>
        </p:nvSpPr>
        <p:spPr>
          <a:xfrm>
            <a:off x="4343400" y="482803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PASP</a:t>
            </a:r>
            <a:endParaRPr lang="en-US" sz="1250" dirty="0"/>
          </a:p>
        </p:txBody>
      </p:sp>
      <p:sp>
        <p:nvSpPr>
          <p:cNvPr id="46" name="Text 42"/>
          <p:cNvSpPr/>
          <p:nvPr/>
        </p:nvSpPr>
        <p:spPr>
          <a:xfrm>
            <a:off x="5440680" y="482803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50" dirty="0"/>
          </a:p>
        </p:txBody>
      </p:sp>
      <p:sp>
        <p:nvSpPr>
          <p:cNvPr id="47" name="Text 43"/>
          <p:cNvSpPr/>
          <p:nvPr/>
        </p:nvSpPr>
        <p:spPr>
          <a:xfrm>
            <a:off x="6172200" y="48280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48" name="Text 44"/>
          <p:cNvSpPr/>
          <p:nvPr/>
        </p:nvSpPr>
        <p:spPr>
          <a:xfrm>
            <a:off x="7059168" y="482803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mmHg</a:t>
            </a:r>
            <a:endParaRPr lang="en-US" sz="1150" dirty="0"/>
          </a:p>
        </p:txBody>
      </p:sp>
      <p:sp>
        <p:nvSpPr>
          <p:cNvPr id="49" name="Shape 45"/>
          <p:cNvSpPr/>
          <p:nvPr/>
        </p:nvSpPr>
        <p:spPr>
          <a:xfrm>
            <a:off x="7955280" y="1783080"/>
            <a:ext cx="3730752" cy="3566160"/>
          </a:xfrm>
          <a:prstGeom prst="roundRect">
            <a:avLst>
              <a:gd name="adj" fmla="val 307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50" name="Text 46"/>
          <p:cNvSpPr/>
          <p:nvPr/>
        </p:nvSpPr>
        <p:spPr>
          <a:xfrm>
            <a:off x="8211312" y="1956816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50" dirty="0"/>
          </a:p>
        </p:txBody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359152"/>
            <a:ext cx="219456" cy="219456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8577072" y="233172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LV size &amp; good systolic function</a:t>
            </a:r>
            <a:endParaRPr lang="en-US" sz="1250" dirty="0"/>
          </a:p>
        </p:txBody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953512"/>
            <a:ext cx="219456" cy="219456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8577072" y="29260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regional wall-motion abnormality</a:t>
            </a:r>
            <a:endParaRPr lang="en-US" sz="1250" dirty="0"/>
          </a:p>
        </p:txBody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547872"/>
            <a:ext cx="219456" cy="219456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8577072" y="352044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clot in LA or LV</a:t>
            </a:r>
            <a:endParaRPr lang="en-US" sz="1250" dirty="0"/>
          </a:p>
        </p:txBody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142232"/>
            <a:ext cx="219456" cy="219456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8577072" y="411480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chambers, valves, IAS &amp; IVS</a:t>
            </a:r>
            <a:endParaRPr lang="en-US" sz="1250" dirty="0"/>
          </a:p>
        </p:txBody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4736592"/>
            <a:ext cx="219456" cy="219456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8577072" y="470916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pericardium</a:t>
            </a:r>
            <a:endParaRPr lang="en-US" sz="1250" dirty="0"/>
          </a:p>
        </p:txBody>
      </p:sp>
      <p:sp>
        <p:nvSpPr>
          <p:cNvPr id="61" name="Shape 52"/>
          <p:cNvSpPr/>
          <p:nvPr/>
        </p:nvSpPr>
        <p:spPr>
          <a:xfrm>
            <a:off x="502920" y="5559552"/>
            <a:ext cx="11183112" cy="566928"/>
          </a:xfrm>
          <a:prstGeom prst="roundRect">
            <a:avLst>
              <a:gd name="adj" fmla="val 50000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62" name="Text 53"/>
          <p:cNvSpPr/>
          <p:nvPr/>
        </p:nvSpPr>
        <p:spPr>
          <a:xfrm>
            <a:off x="502920" y="55595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biventricular size and systolic function.</a:t>
            </a:r>
            <a:endParaRPr lang="en-US" sz="1500" dirty="0"/>
          </a:p>
        </p:txBody>
      </p:sp>
      <p:sp>
        <p:nvSpPr>
          <p:cNvPr id="63" name="Text 5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4" name="Text 55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DISCUSSION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Diagnosis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4813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of an irregular tachycardia — each excluded on ECG grounds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11183112" cy="731520"/>
          </a:xfrm>
          <a:prstGeom prst="roundRect">
            <a:avLst>
              <a:gd name="adj" fmla="val 125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4825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1214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18745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Atrial flutter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40680" y="2020824"/>
            <a:ext cx="0" cy="438912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69280" y="187452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sawtooth flutter waves; R–R interval is irregular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2920" y="2688336"/>
            <a:ext cx="11183112" cy="731520"/>
          </a:xfrm>
          <a:prstGeom prst="roundRect">
            <a:avLst>
              <a:gd name="adj" fmla="val 125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286207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93522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688336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Multifocal atrial tachycardia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40680" y="2834640"/>
            <a:ext cx="0" cy="438912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669280" y="2688336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≥ 3 differing P-wave morphologies present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02920" y="3502152"/>
            <a:ext cx="11183112" cy="731520"/>
          </a:xfrm>
          <a:prstGeom prst="roundRect">
            <a:avLst>
              <a:gd name="adj" fmla="val 125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7588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74904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50215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 atrial ectopics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5440680" y="3648456"/>
            <a:ext cx="0" cy="438912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669280" y="3502152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discrete P waves preceding each QRS complex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02920" y="4315968"/>
            <a:ext cx="11183112" cy="731520"/>
          </a:xfrm>
          <a:prstGeom prst="roundRect">
            <a:avLst>
              <a:gd name="adj" fmla="val 125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7240" y="448970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562856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71600" y="431596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AVNRT / AVRT (SVT)</a:t>
            </a:r>
            <a:endParaRPr lang="en-US" sz="1700" dirty="0"/>
          </a:p>
        </p:txBody>
      </p:sp>
      <p:sp>
        <p:nvSpPr>
          <p:cNvPr id="29" name="Shape 22"/>
          <p:cNvSpPr/>
          <p:nvPr/>
        </p:nvSpPr>
        <p:spPr>
          <a:xfrm>
            <a:off x="5440680" y="4462272"/>
            <a:ext cx="0" cy="438912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669280" y="4315968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Paroxysmal SVT is regular — here the rhythm is irregular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502920" y="5129784"/>
            <a:ext cx="11183112" cy="731520"/>
          </a:xfrm>
          <a:prstGeom prst="roundRect">
            <a:avLst>
              <a:gd name="adj" fmla="val 125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777240" y="530352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5376672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371600" y="5129784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Sinus tachycardia + ectopics</a:t>
            </a:r>
            <a:endParaRPr lang="en-US" sz="1700" dirty="0"/>
          </a:p>
        </p:txBody>
      </p:sp>
      <p:sp>
        <p:nvSpPr>
          <p:cNvPr id="35" name="Shape 27"/>
          <p:cNvSpPr/>
          <p:nvPr/>
        </p:nvSpPr>
        <p:spPr>
          <a:xfrm>
            <a:off x="5440680" y="5276088"/>
            <a:ext cx="0" cy="438912"/>
          </a:xfrm>
          <a:prstGeom prst="line">
            <a:avLst/>
          </a:prstGeom>
          <a:noFill/>
          <a:ln w="12700">
            <a:solidFill>
              <a:srgbClr val="FBD8D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669280" y="5129784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waves absent; rhythm is irregularly irregular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6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9000"/>
          </a:blip>
          <a:stretch>
            <a:fillRect/>
          </a:stretch>
        </p:blipFill>
        <p:spPr>
          <a:xfrm>
            <a:off x="8138160" y="3200400"/>
            <a:ext cx="4663440" cy="4663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777240"/>
            <a:ext cx="960120" cy="96012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987552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DIAGNOSIS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40080" y="1783080"/>
            <a:ext cx="10698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Atrial Fibrillation with Rapid Ventricular Response</a:t>
            </a:r>
            <a:endParaRPr lang="en-US" sz="4400" dirty="0"/>
          </a:p>
        </p:txBody>
      </p:sp>
      <p:sp>
        <p:nvSpPr>
          <p:cNvPr id="8" name="Shape 4"/>
          <p:cNvSpPr/>
          <p:nvPr/>
        </p:nvSpPr>
        <p:spPr>
          <a:xfrm>
            <a:off x="685800" y="361188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41832" y="3895344"/>
            <a:ext cx="438912" cy="43891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00507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3794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on 12-lead ECG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554480" y="41605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bpm · irregularly irregular · no P waves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263640" y="361188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519672" y="3895344"/>
            <a:ext cx="438912" cy="43891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00507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32320" y="3794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Structurally normal heart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7132320" y="41605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LVEF 65% · no clot in LA or LV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85800" y="4764024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941832" y="5047488"/>
            <a:ext cx="438912" cy="43891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157216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54480" y="49469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hypertension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1554480" y="531266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comorbidity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263640" y="4764024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519672" y="5047488"/>
            <a:ext cx="438912" cy="43891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5157216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32320" y="49469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Mild normocytic anaemia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7132320" y="531266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Incidental haematology finding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6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8321040" y="-960120"/>
            <a:ext cx="4114800" cy="41148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8046720" y="3749040"/>
            <a:ext cx="4663440" cy="46634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85800" y="731520"/>
            <a:ext cx="960120" cy="96012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941832"/>
            <a:ext cx="548640" cy="5486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8288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spc="25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COURSE &amp; OUTCOME</a:t>
            </a:r>
            <a:endParaRPr lang="en-US" sz="1700" dirty="0"/>
          </a:p>
        </p:txBody>
      </p:sp>
      <p:sp>
        <p:nvSpPr>
          <p:cNvPr id="8" name="Text 3"/>
          <p:cNvSpPr/>
          <p:nvPr/>
        </p:nvSpPr>
        <p:spPr>
          <a:xfrm>
            <a:off x="640080" y="17830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Clinically Improved</a:t>
            </a:r>
            <a:endParaRPr lang="en-US" sz="5200" dirty="0"/>
          </a:p>
        </p:txBody>
      </p:sp>
      <p:sp>
        <p:nvSpPr>
          <p:cNvPr id="9" name="Text 4"/>
          <p:cNvSpPr/>
          <p:nvPr/>
        </p:nvSpPr>
        <p:spPr>
          <a:xfrm>
            <a:off x="685800" y="2697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cardiac emergency to safe discharge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874520" y="4133088"/>
            <a:ext cx="8503920" cy="54864"/>
          </a:xfrm>
          <a:prstGeom prst="roundRect">
            <a:avLst>
              <a:gd name="adj" fmla="val 50000"/>
            </a:avLst>
          </a:prstGeom>
          <a:solidFill>
            <a:srgbClr val="FF4D6D">
              <a:alpha val="55000"/>
            </a:srgbClr>
          </a:solidFill>
          <a:ln/>
        </p:spPr>
      </p:sp>
      <p:sp>
        <p:nvSpPr>
          <p:cNvPr id="11" name="Shape 6"/>
          <p:cNvSpPr/>
          <p:nvPr/>
        </p:nvSpPr>
        <p:spPr>
          <a:xfrm>
            <a:off x="1371600" y="3657600"/>
            <a:ext cx="1005840" cy="1005840"/>
          </a:xfrm>
          <a:prstGeom prst="ellipse">
            <a:avLst/>
          </a:prstGeom>
          <a:solidFill>
            <a:srgbClr val="A4133C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344" y="3895344"/>
            <a:ext cx="530352" cy="5303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640" y="48188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Admitted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548640" y="51480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emergency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4206240" y="3657600"/>
            <a:ext cx="1005840" cy="1005840"/>
          </a:xfrm>
          <a:prstGeom prst="ellipse">
            <a:avLst/>
          </a:prstGeom>
          <a:solidFill>
            <a:srgbClr val="A4133C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3895344"/>
            <a:ext cx="530352" cy="53035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383280" y="48188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Treated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3383280" y="51480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medication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7040880" y="3657600"/>
            <a:ext cx="1005840" cy="1005840"/>
          </a:xfrm>
          <a:prstGeom prst="ellipse">
            <a:avLst/>
          </a:prstGeom>
          <a:solidFill>
            <a:srgbClr val="A4133C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624" y="3895344"/>
            <a:ext cx="530352" cy="53035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217920" y="48188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</a:t>
            </a:r>
            <a:endParaRPr lang="en-US" sz="1900" dirty="0"/>
          </a:p>
        </p:txBody>
      </p:sp>
      <p:sp>
        <p:nvSpPr>
          <p:cNvPr id="22" name="Text 14"/>
          <p:cNvSpPr/>
          <p:nvPr/>
        </p:nvSpPr>
        <p:spPr>
          <a:xfrm>
            <a:off x="6217920" y="51480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 &amp; symptoms settled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9875520" y="3657600"/>
            <a:ext cx="1005840" cy="1005840"/>
          </a:xfrm>
          <a:prstGeom prst="ellipse">
            <a:avLst/>
          </a:prstGeom>
          <a:solidFill>
            <a:srgbClr val="A4133C"/>
          </a:solidFill>
          <a:ln w="19050">
            <a:solidFill>
              <a:srgbClr val="FF4D6D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264" y="3895344"/>
            <a:ext cx="530352" cy="53035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52560" y="48188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Discharged</a:t>
            </a:r>
            <a:endParaRPr lang="en-US" sz="1900" dirty="0"/>
          </a:p>
        </p:txBody>
      </p:sp>
      <p:sp>
        <p:nvSpPr>
          <p:cNvPr id="26" name="Text 17"/>
          <p:cNvSpPr/>
          <p:nvPr/>
        </p:nvSpPr>
        <p:spPr>
          <a:xfrm>
            <a:off x="9052560" y="51480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for follow-up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685800" y="5943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FBD8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in context — Atrial Fibrillation</a:t>
            </a:r>
            <a:endParaRPr lang="en-US" sz="2000" dirty="0"/>
          </a:p>
        </p:txBody>
      </p:sp>
      <p:sp>
        <p:nvSpPr>
          <p:cNvPr id="28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50292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Clinicopathological Conference · Atrial Fibrillation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7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680960" y="1005840"/>
            <a:ext cx="4663440" cy="4663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V="1">
            <a:off x="757123" y="1280160"/>
            <a:ext cx="163860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920984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91210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1061436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366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1260409" y="1248156"/>
            <a:ext cx="128748" cy="54864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89156" y="1248156"/>
            <a:ext cx="128748" cy="59436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1517904" y="1280160"/>
            <a:ext cx="46817" cy="27432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1564721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34947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1705173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87103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1904147" y="1280160"/>
            <a:ext cx="128748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2032894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03120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2173346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255276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2372319" y="1248156"/>
            <a:ext cx="128748" cy="54864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01067" y="1248156"/>
            <a:ext cx="128748" cy="59436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2629814" y="1257300"/>
            <a:ext cx="128748" cy="50292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58562" y="1257300"/>
            <a:ext cx="93635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2852196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22422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2992648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074579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V="1">
            <a:off x="3191622" y="1248156"/>
            <a:ext cx="128748" cy="54864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320369" y="1248156"/>
            <a:ext cx="175565" cy="32004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3495934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566160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V="1">
            <a:off x="3636386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718316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V="1">
            <a:off x="3835359" y="1280160"/>
            <a:ext cx="158008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3993368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063594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V="1">
            <a:off x="4133820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215750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V="1">
            <a:off x="4332793" y="1248156"/>
            <a:ext cx="128748" cy="54864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461540" y="1248156"/>
            <a:ext cx="128748" cy="59436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V="1">
            <a:off x="4590288" y="1257300"/>
            <a:ext cx="128748" cy="50292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719036" y="1257300"/>
            <a:ext cx="64374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4783409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853635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4923861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005791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5122835" y="1248156"/>
            <a:ext cx="128748" cy="54864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251582" y="1248156"/>
            <a:ext cx="128748" cy="59436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flipV="1">
            <a:off x="5380330" y="1280160"/>
            <a:ext cx="163860" cy="27432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5544190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614416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flipV="1">
            <a:off x="5684642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766572" y="1280160"/>
            <a:ext cx="117043" cy="2286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 flipV="1">
            <a:off x="5883615" y="1248156"/>
            <a:ext cx="128748" cy="54864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012363" y="1248156"/>
            <a:ext cx="117043" cy="32004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flipV="1">
            <a:off x="6129406" y="594360"/>
            <a:ext cx="70226" cy="68580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199632" y="594360"/>
            <a:ext cx="70226" cy="7498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flipV="1">
            <a:off x="6269858" y="1280160"/>
            <a:ext cx="81930" cy="64008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351788" y="1280160"/>
            <a:ext cx="140452" cy="0"/>
          </a:xfrm>
          <a:prstGeom prst="line">
            <a:avLst/>
          </a:prstGeom>
          <a:noFill/>
          <a:ln w="30480">
            <a:solidFill>
              <a:srgbClr val="FF4D6D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8580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  ·  CLINICAL TOPIC REVIEW</a:t>
            </a:r>
            <a:endParaRPr lang="en-US" sz="1400" dirty="0"/>
          </a:p>
        </p:txBody>
      </p:sp>
      <p:sp>
        <p:nvSpPr>
          <p:cNvPr id="63" name="Text 60"/>
          <p:cNvSpPr/>
          <p:nvPr/>
        </p:nvSpPr>
        <p:spPr>
          <a:xfrm>
            <a:off x="621792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Atrial Fibrillation</a:t>
            </a:r>
            <a:endParaRPr lang="en-US" sz="7000" dirty="0"/>
          </a:p>
        </p:txBody>
      </p:sp>
      <p:sp>
        <p:nvSpPr>
          <p:cNvPr id="64" name="Text 61"/>
          <p:cNvSpPr/>
          <p:nvPr/>
        </p:nvSpPr>
        <p:spPr>
          <a:xfrm>
            <a:off x="68580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  ·  Clinical Features  ·  Differential Diagnosis  ·  Management</a:t>
            </a:r>
            <a:endParaRPr lang="en-US" sz="1650" dirty="0"/>
          </a:p>
        </p:txBody>
      </p:sp>
      <p:sp>
        <p:nvSpPr>
          <p:cNvPr id="65" name="Shape 62"/>
          <p:cNvSpPr/>
          <p:nvPr/>
        </p:nvSpPr>
        <p:spPr>
          <a:xfrm>
            <a:off x="685800" y="4572000"/>
            <a:ext cx="59436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4D6D"/>
            </a:solidFill>
            <a:prstDash val="solid"/>
          </a:ln>
        </p:spPr>
      </p:sp>
      <p:pic>
        <p:nvPicPr>
          <p:cNvPr id="6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773168"/>
            <a:ext cx="457200" cy="457200"/>
          </a:xfrm>
          <a:prstGeom prst="rect">
            <a:avLst/>
          </a:prstGeom>
        </p:spPr>
      </p:pic>
      <p:sp>
        <p:nvSpPr>
          <p:cNvPr id="67" name="Text 63"/>
          <p:cNvSpPr/>
          <p:nvPr/>
        </p:nvSpPr>
        <p:spPr>
          <a:xfrm>
            <a:off x="1600200" y="45720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sustained cardiac arrhythmia</a:t>
            </a:r>
            <a:endParaRPr lang="en-US" sz="1450" dirty="0"/>
          </a:p>
        </p:txBody>
      </p:sp>
      <p:sp>
        <p:nvSpPr>
          <p:cNvPr id="68" name="Text 6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69" name="Text 65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Atrial Fibrillation?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6126480" cy="4297680"/>
          </a:xfrm>
          <a:prstGeom prst="roundRect">
            <a:avLst>
              <a:gd name="adj" fmla="val 2553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4937760" y="4709160"/>
            <a:ext cx="1463040" cy="1463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68680" y="2560320"/>
            <a:ext cx="5349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supraventricular tachyarrhythmia with rapid, disorganised atrial electrical activity — producing uncoordinated, ineffective atrial contraction and an irregularly irregular ventricular response.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858000" y="1783080"/>
            <a:ext cx="484632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040880" y="2002536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8823960" y="1783080"/>
            <a:ext cx="2743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sustained cardiac arrhythmia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0" y="3264408"/>
            <a:ext cx="484632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040880" y="348386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~1–2%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8823960" y="3264408"/>
            <a:ext cx="2743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general population — rises sharply with age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858000" y="4745736"/>
            <a:ext cx="4846320" cy="1298448"/>
          </a:xfrm>
          <a:prstGeom prst="roundRect">
            <a:avLst>
              <a:gd name="adj" fmla="val 704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040880" y="496519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5×</a:t>
            </a:r>
            <a:endParaRPr lang="en-US" sz="4000" dirty="0"/>
          </a:p>
        </p:txBody>
      </p:sp>
      <p:sp>
        <p:nvSpPr>
          <p:cNvPr id="18" name="Text 14"/>
          <p:cNvSpPr/>
          <p:nvPr/>
        </p:nvSpPr>
        <p:spPr>
          <a:xfrm>
            <a:off x="8823960" y="4745736"/>
            <a:ext cx="2743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risk of ischaemic stroke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Atrial Fibrillation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2670048" cy="3291840"/>
          </a:xfrm>
          <a:prstGeom prst="roundRect">
            <a:avLst>
              <a:gd name="adj" fmla="val 411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289304" y="22402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336" y="2496312"/>
            <a:ext cx="585216" cy="5852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502152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Paroxysmal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04088" y="3977640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Self-terminating, usually within 48 h (≤ 7 days)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3346704" y="1874520"/>
            <a:ext cx="2670048" cy="3291840"/>
          </a:xfrm>
          <a:prstGeom prst="roundRect">
            <a:avLst>
              <a:gd name="adj" fmla="val 411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133088" y="22402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496312"/>
            <a:ext cx="585216" cy="5852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83864" y="3502152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3547872" y="3977640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&gt; 7 days; needs cardioversion to stop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190488" y="1874520"/>
            <a:ext cx="2670048" cy="3291840"/>
          </a:xfrm>
          <a:prstGeom prst="roundRect">
            <a:avLst>
              <a:gd name="adj" fmla="val 411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976872" y="224028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496312"/>
            <a:ext cx="585216" cy="5852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27648" y="3502152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Long-standing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391656" y="3977640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&gt; 12 months, rhythm control still intended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9034272" y="1874520"/>
            <a:ext cx="2670048" cy="3291840"/>
          </a:xfrm>
          <a:prstGeom prst="roundRect">
            <a:avLst>
              <a:gd name="adj" fmla="val 4110"/>
            </a:avLst>
          </a:prstGeom>
          <a:solidFill>
            <a:srgbClr val="590D22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820656" y="2240280"/>
            <a:ext cx="1097280" cy="1097280"/>
          </a:xfrm>
          <a:prstGeom prst="ellipse">
            <a:avLst/>
          </a:prstGeom>
          <a:solidFill>
            <a:srgbClr val="A4133C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496312"/>
            <a:ext cx="585216" cy="58521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71432" y="3502152"/>
            <a:ext cx="23957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Permanent</a:t>
            </a:r>
            <a:endParaRPr lang="en-US" sz="2000" dirty="0"/>
          </a:p>
        </p:txBody>
      </p:sp>
      <p:sp>
        <p:nvSpPr>
          <p:cNvPr id="25" name="Text 18"/>
          <p:cNvSpPr/>
          <p:nvPr/>
        </p:nvSpPr>
        <p:spPr>
          <a:xfrm>
            <a:off x="9235440" y="3977640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Accepted; no further attempts to restore sinus rhythm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02920" y="5440680"/>
            <a:ext cx="11183112" cy="658368"/>
          </a:xfrm>
          <a:prstGeom prst="roundRect">
            <a:avLst>
              <a:gd name="adj" fmla="val 13889"/>
            </a:avLst>
          </a:prstGeom>
          <a:solidFill>
            <a:srgbClr val="FBD8DF"/>
          </a:solidFill>
          <a:ln/>
        </p:spPr>
      </p:sp>
      <p:sp>
        <p:nvSpPr>
          <p:cNvPr id="27" name="Text 20"/>
          <p:cNvSpPr/>
          <p:nvPr/>
        </p:nvSpPr>
        <p:spPr>
          <a:xfrm>
            <a:off x="914400" y="544068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First-diagnosed AF  </a:t>
            </a:r>
            <a:pPr algn="l" indent="0" marL="0"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detected for the first time, whatever its duration or symptom burden.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AF Develops &amp; Sustains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205740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68780" y="2377440"/>
            <a:ext cx="1097280" cy="109728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812" y="2633472"/>
            <a:ext cx="585216" cy="5852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3611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Triggers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777240" y="399592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Ectopic foci — most often from the pulmonary veins — fire rapidly and initiate AF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379976" y="205740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545836" y="2377440"/>
            <a:ext cx="1097280" cy="109728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868" y="2633472"/>
            <a:ext cx="585216" cy="5852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2856" y="3611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Re-entry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654296" y="399592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re-entrant wavelets &amp; rotors sustain disorganised atrial activity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57032" y="205740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422892" y="2377440"/>
            <a:ext cx="1097280" cy="109728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8924" y="2633472"/>
            <a:ext cx="585216" cy="5852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39912" y="3611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Remodelling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8531352" y="399592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&amp; structural atrial remodelling — “AF begets AF”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 rot="5400000">
            <a:off x="3968496" y="3154680"/>
            <a:ext cx="329184" cy="384048"/>
          </a:xfrm>
          <a:prstGeom prst="triangle">
            <a:avLst/>
          </a:prstGeom>
          <a:solidFill>
            <a:srgbClr val="FF4D6D"/>
          </a:solidFill>
          <a:ln/>
        </p:spPr>
      </p:sp>
      <p:sp>
        <p:nvSpPr>
          <p:cNvPr id="22" name="Shape 16"/>
          <p:cNvSpPr/>
          <p:nvPr/>
        </p:nvSpPr>
        <p:spPr>
          <a:xfrm rot="5400000">
            <a:off x="7845552" y="3154680"/>
            <a:ext cx="329184" cy="384048"/>
          </a:xfrm>
          <a:prstGeom prst="triangle">
            <a:avLst/>
          </a:prstGeom>
          <a:solidFill>
            <a:srgbClr val="FF4D6D"/>
          </a:solidFill>
          <a:ln/>
        </p:spPr>
      </p:sp>
      <p:sp>
        <p:nvSpPr>
          <p:cNvPr id="23" name="Shape 17"/>
          <p:cNvSpPr/>
          <p:nvPr/>
        </p:nvSpPr>
        <p:spPr>
          <a:xfrm>
            <a:off x="502920" y="4892040"/>
            <a:ext cx="11183112" cy="1188720"/>
          </a:xfrm>
          <a:prstGeom prst="roundRect">
            <a:avLst>
              <a:gd name="adj" fmla="val 9231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914400" y="5102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atrial “kick” + irregular AV conduction </a:t>
            </a:r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reduced cardiac output and blood stasis in the left atrial appendage → thrombus formation.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ETIOLOGY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Causes &amp; Risk Factors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8483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254203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268833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79349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45336" y="254203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06140" y="254203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43300" y="268833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028" y="2793492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82796" y="254203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Ischaemic heart disease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68680" y="336499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05840" y="351129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616452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45336" y="336499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Valvular disease (mitral stenosis)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3406140" y="336499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543300" y="351129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3028" y="3616452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82796" y="336499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68680" y="418795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005840" y="433425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4439412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545336" y="418795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Cardiomyopathy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3406140" y="418795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543300" y="433425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3028" y="4439412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082796" y="418795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Pericarditis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868680" y="501091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1005840" y="515721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8" y="5262372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545336" y="501091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Post-cardiac surgery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6153912" y="182880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37" name="Text 27"/>
          <p:cNvSpPr/>
          <p:nvPr/>
        </p:nvSpPr>
        <p:spPr>
          <a:xfrm>
            <a:off x="6519672" y="208483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NON-CARDIAC / SYSTEMIC</a:t>
            </a:r>
            <a:endParaRPr lang="en-US" sz="1350" dirty="0"/>
          </a:p>
        </p:txBody>
      </p:sp>
      <p:sp>
        <p:nvSpPr>
          <p:cNvPr id="38" name="Shape 28"/>
          <p:cNvSpPr/>
          <p:nvPr/>
        </p:nvSpPr>
        <p:spPr>
          <a:xfrm>
            <a:off x="6519672" y="254203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6656832" y="268833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2793492"/>
            <a:ext cx="228600" cy="22860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196328" y="254203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Hyperthyroidism</a:t>
            </a:r>
            <a:endParaRPr lang="en-US" sz="1250" dirty="0"/>
          </a:p>
        </p:txBody>
      </p:sp>
      <p:sp>
        <p:nvSpPr>
          <p:cNvPr id="42" name="Shape 31"/>
          <p:cNvSpPr/>
          <p:nvPr/>
        </p:nvSpPr>
        <p:spPr>
          <a:xfrm>
            <a:off x="9057132" y="254203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9194292" y="268833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4020" y="2793492"/>
            <a:ext cx="228600" cy="22860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9733788" y="254203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(“holiday heart”)</a:t>
            </a:r>
            <a:endParaRPr lang="en-US" sz="1250" dirty="0"/>
          </a:p>
        </p:txBody>
      </p:sp>
      <p:sp>
        <p:nvSpPr>
          <p:cNvPr id="46" name="Shape 34"/>
          <p:cNvSpPr/>
          <p:nvPr/>
        </p:nvSpPr>
        <p:spPr>
          <a:xfrm>
            <a:off x="6519672" y="336499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6656832" y="351129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6560" y="3616452"/>
            <a:ext cx="228600" cy="22860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196328" y="336499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/ sleep apnoea</a:t>
            </a:r>
            <a:endParaRPr lang="en-US" sz="1250" dirty="0"/>
          </a:p>
        </p:txBody>
      </p:sp>
      <p:sp>
        <p:nvSpPr>
          <p:cNvPr id="50" name="Shape 37"/>
          <p:cNvSpPr/>
          <p:nvPr/>
        </p:nvSpPr>
        <p:spPr>
          <a:xfrm>
            <a:off x="9057132" y="336499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51" name="Shape 38"/>
          <p:cNvSpPr/>
          <p:nvPr/>
        </p:nvSpPr>
        <p:spPr>
          <a:xfrm>
            <a:off x="9194292" y="351129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04020" y="3616452"/>
            <a:ext cx="228600" cy="228600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9733788" y="336499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/ infection</a:t>
            </a:r>
            <a:endParaRPr lang="en-US" sz="1250" dirty="0"/>
          </a:p>
        </p:txBody>
      </p:sp>
      <p:sp>
        <p:nvSpPr>
          <p:cNvPr id="54" name="Shape 40"/>
          <p:cNvSpPr/>
          <p:nvPr/>
        </p:nvSpPr>
        <p:spPr>
          <a:xfrm>
            <a:off x="6519672" y="418795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6656832" y="433425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6560" y="4439412"/>
            <a:ext cx="228600" cy="228600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7196328" y="418795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— PE, COPD</a:t>
            </a:r>
            <a:endParaRPr lang="en-US" sz="1250" dirty="0"/>
          </a:p>
        </p:txBody>
      </p:sp>
      <p:sp>
        <p:nvSpPr>
          <p:cNvPr id="58" name="Shape 43"/>
          <p:cNvSpPr/>
          <p:nvPr/>
        </p:nvSpPr>
        <p:spPr>
          <a:xfrm>
            <a:off x="9057132" y="418795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59" name="Shape 44"/>
          <p:cNvSpPr/>
          <p:nvPr/>
        </p:nvSpPr>
        <p:spPr>
          <a:xfrm>
            <a:off x="9194292" y="433425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6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04020" y="4439412"/>
            <a:ext cx="228600" cy="228600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9733788" y="418795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Electrolytes / diabetes</a:t>
            </a:r>
            <a:endParaRPr lang="en-US" sz="1250" dirty="0"/>
          </a:p>
        </p:txBody>
      </p:sp>
      <p:sp>
        <p:nvSpPr>
          <p:cNvPr id="62" name="Shape 46"/>
          <p:cNvSpPr/>
          <p:nvPr/>
        </p:nvSpPr>
        <p:spPr>
          <a:xfrm>
            <a:off x="6519672" y="5010912"/>
            <a:ext cx="22631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63" name="Shape 47"/>
          <p:cNvSpPr/>
          <p:nvPr/>
        </p:nvSpPr>
        <p:spPr>
          <a:xfrm>
            <a:off x="6656832" y="5157216"/>
            <a:ext cx="438912" cy="438912"/>
          </a:xfrm>
          <a:prstGeom prst="ellipse">
            <a:avLst/>
          </a:prstGeom>
          <a:solidFill>
            <a:srgbClr val="FFF0F3"/>
          </a:solidFill>
          <a:ln/>
        </p:spPr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6560" y="5262372"/>
            <a:ext cx="228600" cy="228600"/>
          </a:xfrm>
          <a:prstGeom prst="rect">
            <a:avLst/>
          </a:prstGeom>
        </p:spPr>
      </p:pic>
      <p:sp>
        <p:nvSpPr>
          <p:cNvPr id="65" name="Text 48"/>
          <p:cNvSpPr/>
          <p:nvPr/>
        </p:nvSpPr>
        <p:spPr>
          <a:xfrm>
            <a:off x="7196328" y="5010912"/>
            <a:ext cx="14950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 age</a:t>
            </a:r>
            <a:endParaRPr lang="en-US" sz="1250" dirty="0"/>
          </a:p>
        </p:txBody>
      </p:sp>
      <p:sp>
        <p:nvSpPr>
          <p:cNvPr id="66" name="Text 4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67" name="Text 50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Symptoms &amp; Signs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84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254203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68833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18488" y="250545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Palpitations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18488" y="281635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Racing / irregular heartbeat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336499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51129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18488" y="332841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Dyspnoea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18488" y="363931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Breathlessness on exertion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68680" y="418795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33425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18488" y="415137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Fatigue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618488" y="446227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exercise tolerance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68680" y="501091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157216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18488" y="497433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Dizziness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618488" y="528523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Light-headedness, rarely syncope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68680" y="5532120"/>
            <a:ext cx="4800600" cy="384048"/>
          </a:xfrm>
          <a:prstGeom prst="roundRect">
            <a:avLst>
              <a:gd name="adj" fmla="val 50000"/>
            </a:avLst>
          </a:prstGeom>
          <a:solidFill>
            <a:srgbClr val="FBD8DF"/>
          </a:solidFill>
          <a:ln/>
        </p:spPr>
      </p:sp>
      <p:sp>
        <p:nvSpPr>
          <p:cNvPr id="25" name="Text 18"/>
          <p:cNvSpPr/>
          <p:nvPr/>
        </p:nvSpPr>
        <p:spPr>
          <a:xfrm>
            <a:off x="868680" y="553212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asymptomatic — found incidentally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172200" y="182880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6537960" y="2084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537960" y="2542032"/>
            <a:ext cx="566928" cy="566928"/>
          </a:xfrm>
          <a:prstGeom prst="ellipse">
            <a:avLst/>
          </a:prstGeom>
          <a:solidFill>
            <a:srgbClr val="A4133C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2688336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287768" y="250545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Irregularly irregular pulse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7287768" y="281635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hallmark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6537960" y="3364992"/>
            <a:ext cx="566928" cy="566928"/>
          </a:xfrm>
          <a:prstGeom prst="ellipse">
            <a:avLst/>
          </a:prstGeom>
          <a:solidFill>
            <a:srgbClr val="A4133C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264" y="3511296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287768" y="332841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Apex–radial pulse deficit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7287768" y="363931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Apical rate &gt; radial rate</a:t>
            </a:r>
            <a:endParaRPr 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6537960" y="4187952"/>
            <a:ext cx="566928" cy="566928"/>
          </a:xfrm>
          <a:prstGeom prst="ellipse">
            <a:avLst/>
          </a:prstGeom>
          <a:solidFill>
            <a:srgbClr val="A4133C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4264" y="4334256"/>
            <a:ext cx="274320" cy="27432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287768" y="415137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heart sounds</a:t>
            </a:r>
            <a:endParaRPr lang="en-US" sz="1600" dirty="0"/>
          </a:p>
        </p:txBody>
      </p:sp>
      <p:sp>
        <p:nvSpPr>
          <p:cNvPr id="39" name="Text 29"/>
          <p:cNvSpPr/>
          <p:nvPr/>
        </p:nvSpPr>
        <p:spPr>
          <a:xfrm>
            <a:off x="7287768" y="446227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S1 intensity</a:t>
            </a:r>
            <a:endParaRPr lang="en-US" sz="1250" dirty="0"/>
          </a:p>
        </p:txBody>
      </p:sp>
      <p:sp>
        <p:nvSpPr>
          <p:cNvPr id="40" name="Shape 30"/>
          <p:cNvSpPr/>
          <p:nvPr/>
        </p:nvSpPr>
        <p:spPr>
          <a:xfrm>
            <a:off x="6537960" y="5010912"/>
            <a:ext cx="566928" cy="566928"/>
          </a:xfrm>
          <a:prstGeom prst="ellipse">
            <a:avLst/>
          </a:prstGeom>
          <a:solidFill>
            <a:srgbClr val="A4133C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4264" y="5157216"/>
            <a:ext cx="274320" cy="27432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7287768" y="497433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Signs of complications</a:t>
            </a:r>
            <a:endParaRPr lang="en-US" sz="1600" dirty="0"/>
          </a:p>
        </p:txBody>
      </p:sp>
      <p:sp>
        <p:nvSpPr>
          <p:cNvPr id="43" name="Text 32"/>
          <p:cNvSpPr/>
          <p:nvPr/>
        </p:nvSpPr>
        <p:spPr>
          <a:xfrm>
            <a:off x="7287768" y="528523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or embolic stroke</a:t>
            </a:r>
            <a:endParaRPr lang="en-US" sz="1250" dirty="0"/>
          </a:p>
        </p:txBody>
      </p:sp>
      <p:sp>
        <p:nvSpPr>
          <p:cNvPr id="44" name="Text 3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45" name="Text 34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ELECTROCARDIOGRAM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ECG Hallmarks of AF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11183112" cy="1965960"/>
          </a:xfrm>
          <a:prstGeom prst="roundRect">
            <a:avLst>
              <a:gd name="adj" fmla="val 5581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1121054" y="2743200"/>
            <a:ext cx="289316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1410371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34363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1658356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03014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2009668" y="2711196"/>
            <a:ext cx="227320" cy="54864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36988" y="2711196"/>
            <a:ext cx="227320" cy="59436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2464308" y="2743200"/>
            <a:ext cx="82662" cy="27432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2546970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670962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2794955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939613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3146268" y="2743200"/>
            <a:ext cx="227320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3373587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97580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3621573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766231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3972885" y="2711196"/>
            <a:ext cx="227320" cy="54864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00205" y="2711196"/>
            <a:ext cx="227320" cy="59436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V="1">
            <a:off x="4427525" y="2720340"/>
            <a:ext cx="227320" cy="50292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54845" y="2720340"/>
            <a:ext cx="16532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V="1">
            <a:off x="4820168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944161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5068153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212812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5419466" y="2711196"/>
            <a:ext cx="227320" cy="54864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46786" y="2711196"/>
            <a:ext cx="309982" cy="32004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flipV="1">
            <a:off x="5956767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80760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6204753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49411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V="1">
            <a:off x="6556065" y="2743200"/>
            <a:ext cx="278983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6835049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959041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V="1">
            <a:off x="7083034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227692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V="1">
            <a:off x="7434346" y="2711196"/>
            <a:ext cx="227320" cy="54864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661666" y="2711196"/>
            <a:ext cx="227320" cy="59436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V="1">
            <a:off x="7888986" y="2720340"/>
            <a:ext cx="227320" cy="50292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116306" y="2720340"/>
            <a:ext cx="113660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V="1">
            <a:off x="8229966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353958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flipV="1">
            <a:off x="8477951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622609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8829264" y="2711196"/>
            <a:ext cx="227320" cy="54864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056583" y="2711196"/>
            <a:ext cx="227320" cy="59436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flipV="1">
            <a:off x="9283903" y="2743200"/>
            <a:ext cx="289316" cy="27432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V="1">
            <a:off x="9573219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697212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flipV="1">
            <a:off x="9821205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965863" y="2743200"/>
            <a:ext cx="206654" cy="2286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flipV="1">
            <a:off x="10172517" y="2711196"/>
            <a:ext cx="227320" cy="54864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399837" y="2711196"/>
            <a:ext cx="206654" cy="32004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10606491" y="2057400"/>
            <a:ext cx="123993" cy="68580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730484" y="2057400"/>
            <a:ext cx="123993" cy="7498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 flipV="1">
            <a:off x="10854477" y="2743200"/>
            <a:ext cx="144658" cy="64008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999135" y="2743200"/>
            <a:ext cx="247985" cy="0"/>
          </a:xfrm>
          <a:prstGeom prst="line">
            <a:avLst/>
          </a:prstGeom>
          <a:noFill/>
          <a:ln w="33020">
            <a:solidFill>
              <a:srgbClr val="FF4D6D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14400" y="34015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II — irregular R–R, no P waves, fibrillatory baseline</a:t>
            </a:r>
            <a:endParaRPr lang="en-US" sz="1150" dirty="0"/>
          </a:p>
        </p:txBody>
      </p:sp>
      <p:sp>
        <p:nvSpPr>
          <p:cNvPr id="66" name="Shape 63"/>
          <p:cNvSpPr/>
          <p:nvPr/>
        </p:nvSpPr>
        <p:spPr>
          <a:xfrm>
            <a:off x="502920" y="397764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1380744" y="425196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6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4471416"/>
            <a:ext cx="475488" cy="475488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640080" y="527608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Irregularly irregular</a:t>
            </a:r>
            <a:endParaRPr lang="en-US" sz="1550" dirty="0"/>
          </a:p>
        </p:txBody>
      </p:sp>
      <p:sp>
        <p:nvSpPr>
          <p:cNvPr id="70" name="Text 66"/>
          <p:cNvSpPr/>
          <p:nvPr/>
        </p:nvSpPr>
        <p:spPr>
          <a:xfrm>
            <a:off x="685800" y="560527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R–R intervals vary with no pattern</a:t>
            </a:r>
            <a:endParaRPr lang="en-US" sz="1200" dirty="0"/>
          </a:p>
        </p:txBody>
      </p:sp>
      <p:sp>
        <p:nvSpPr>
          <p:cNvPr id="71" name="Shape 67"/>
          <p:cNvSpPr/>
          <p:nvPr/>
        </p:nvSpPr>
        <p:spPr>
          <a:xfrm>
            <a:off x="3346704" y="397764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2" name="Shape 68"/>
          <p:cNvSpPr/>
          <p:nvPr/>
        </p:nvSpPr>
        <p:spPr>
          <a:xfrm>
            <a:off x="4224528" y="425196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7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4471416"/>
            <a:ext cx="475488" cy="475488"/>
          </a:xfrm>
          <a:prstGeom prst="rect">
            <a:avLst/>
          </a:prstGeom>
        </p:spPr>
      </p:pic>
      <p:sp>
        <p:nvSpPr>
          <p:cNvPr id="74" name="Text 69"/>
          <p:cNvSpPr/>
          <p:nvPr/>
        </p:nvSpPr>
        <p:spPr>
          <a:xfrm>
            <a:off x="3483864" y="527608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Absent P waves</a:t>
            </a:r>
            <a:endParaRPr lang="en-US" sz="1550" dirty="0"/>
          </a:p>
        </p:txBody>
      </p:sp>
      <p:sp>
        <p:nvSpPr>
          <p:cNvPr id="75" name="Text 70"/>
          <p:cNvSpPr/>
          <p:nvPr/>
        </p:nvSpPr>
        <p:spPr>
          <a:xfrm>
            <a:off x="3529584" y="560527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organised atrial depolarisation</a:t>
            </a:r>
            <a:endParaRPr lang="en-US" sz="1200" dirty="0"/>
          </a:p>
        </p:txBody>
      </p:sp>
      <p:sp>
        <p:nvSpPr>
          <p:cNvPr id="76" name="Shape 71"/>
          <p:cNvSpPr/>
          <p:nvPr/>
        </p:nvSpPr>
        <p:spPr>
          <a:xfrm>
            <a:off x="6190488" y="397764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7" name="Shape 72"/>
          <p:cNvSpPr/>
          <p:nvPr/>
        </p:nvSpPr>
        <p:spPr>
          <a:xfrm>
            <a:off x="7068312" y="425196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7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4471416"/>
            <a:ext cx="475488" cy="475488"/>
          </a:xfrm>
          <a:prstGeom prst="rect">
            <a:avLst/>
          </a:prstGeom>
        </p:spPr>
      </p:pic>
      <p:sp>
        <p:nvSpPr>
          <p:cNvPr id="79" name="Text 73"/>
          <p:cNvSpPr/>
          <p:nvPr/>
        </p:nvSpPr>
        <p:spPr>
          <a:xfrm>
            <a:off x="6327648" y="527608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Fibrillatory f-waves</a:t>
            </a:r>
            <a:endParaRPr lang="en-US" sz="1550" dirty="0"/>
          </a:p>
        </p:txBody>
      </p:sp>
      <p:sp>
        <p:nvSpPr>
          <p:cNvPr id="80" name="Text 74"/>
          <p:cNvSpPr/>
          <p:nvPr/>
        </p:nvSpPr>
        <p:spPr>
          <a:xfrm>
            <a:off x="6373368" y="560527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baseline (~300–600/min)</a:t>
            </a:r>
            <a:endParaRPr lang="en-US" sz="1200" dirty="0"/>
          </a:p>
        </p:txBody>
      </p:sp>
      <p:sp>
        <p:nvSpPr>
          <p:cNvPr id="81" name="Shape 75"/>
          <p:cNvSpPr/>
          <p:nvPr/>
        </p:nvSpPr>
        <p:spPr>
          <a:xfrm>
            <a:off x="9034272" y="397764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82" name="Shape 76"/>
          <p:cNvSpPr/>
          <p:nvPr/>
        </p:nvSpPr>
        <p:spPr>
          <a:xfrm>
            <a:off x="9912096" y="425196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8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552" y="4471416"/>
            <a:ext cx="475488" cy="475488"/>
          </a:xfrm>
          <a:prstGeom prst="rect">
            <a:avLst/>
          </a:prstGeom>
        </p:spPr>
      </p:pic>
      <p:sp>
        <p:nvSpPr>
          <p:cNvPr id="84" name="Text 77"/>
          <p:cNvSpPr/>
          <p:nvPr/>
        </p:nvSpPr>
        <p:spPr>
          <a:xfrm>
            <a:off x="9171432" y="527608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QRS</a:t>
            </a:r>
            <a:endParaRPr lang="en-US" sz="1550" dirty="0"/>
          </a:p>
        </p:txBody>
      </p:sp>
      <p:sp>
        <p:nvSpPr>
          <p:cNvPr id="85" name="Text 78"/>
          <p:cNvSpPr/>
          <p:nvPr/>
        </p:nvSpPr>
        <p:spPr>
          <a:xfrm>
            <a:off x="9217152" y="560527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aberrancy / bundle branch block</a:t>
            </a:r>
            <a:endParaRPr lang="en-US" sz="1200" dirty="0"/>
          </a:p>
        </p:txBody>
      </p:sp>
      <p:sp>
        <p:nvSpPr>
          <p:cNvPr id="86" name="Text 7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87" name="Text 80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2185416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377440"/>
            <a:ext cx="393192" cy="3931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09928" y="218541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12-lead ECG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22960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diagnosis — first-line test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288536" y="18745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81144" y="2185416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377440"/>
            <a:ext cx="393192" cy="3931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95544" y="218541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Ambulatory / Holter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608576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paroxysmal or intermittent AF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074152" y="18745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66760" y="2185416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784" y="2377440"/>
            <a:ext cx="393192" cy="3931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81160" y="218541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Echocardiography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394192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LA size, valves, LV; TOE for LA thrombus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02920" y="39319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95528" y="4242816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434840"/>
            <a:ext cx="393192" cy="3931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709928" y="424281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tests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822960" y="51389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TFTs, U&amp;E, FBC, glucose, coagulation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4288536" y="39319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81144" y="4242816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4434840"/>
            <a:ext cx="393192" cy="3931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95544" y="424281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Chest X-ray</a:t>
            </a:r>
            <a:endParaRPr lang="en-US" sz="1800" dirty="0"/>
          </a:p>
        </p:txBody>
      </p:sp>
      <p:sp>
        <p:nvSpPr>
          <p:cNvPr id="30" name="Text 22"/>
          <p:cNvSpPr/>
          <p:nvPr/>
        </p:nvSpPr>
        <p:spPr>
          <a:xfrm>
            <a:off x="4608576" y="51389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size &amp; pulmonary causes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8074152" y="393192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66760" y="4242816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8784" y="4434840"/>
            <a:ext cx="393192" cy="39319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281160" y="424281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the cause</a:t>
            </a:r>
            <a:endParaRPr lang="en-US" sz="1800" dirty="0"/>
          </a:p>
        </p:txBody>
      </p:sp>
      <p:sp>
        <p:nvSpPr>
          <p:cNvPr id="35" name="Text 26"/>
          <p:cNvSpPr/>
          <p:nvPr/>
        </p:nvSpPr>
        <p:spPr>
          <a:xfrm>
            <a:off x="8394192" y="51389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for reversible triggers &amp; risk factors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DIAGNOSIS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Telling the Irregular Rhythms Apart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2231136" cy="548640"/>
          </a:xfrm>
          <a:prstGeom prst="roundRect">
            <a:avLst>
              <a:gd name="adj" fmla="val 10000"/>
            </a:avLst>
          </a:prstGeom>
          <a:solidFill>
            <a:srgbClr val="A4133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843784" y="1965960"/>
            <a:ext cx="2779776" cy="548640"/>
          </a:xfrm>
          <a:prstGeom prst="roundRect">
            <a:avLst>
              <a:gd name="adj" fmla="val 10000"/>
            </a:avLst>
          </a:prstGeom>
          <a:solidFill>
            <a:srgbClr val="A4133C"/>
          </a:solidFill>
          <a:ln/>
        </p:spPr>
      </p:sp>
      <p:sp>
        <p:nvSpPr>
          <p:cNvPr id="9" name="Text 6"/>
          <p:cNvSpPr/>
          <p:nvPr/>
        </p:nvSpPr>
        <p:spPr>
          <a:xfrm>
            <a:off x="292608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activity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78424" y="1965960"/>
            <a:ext cx="2322576" cy="548640"/>
          </a:xfrm>
          <a:prstGeom prst="roundRect">
            <a:avLst>
              <a:gd name="adj" fmla="val 10000"/>
            </a:avLst>
          </a:prstGeom>
          <a:solidFill>
            <a:srgbClr val="A4133C"/>
          </a:solidFill>
          <a:ln/>
        </p:spPr>
      </p:sp>
      <p:sp>
        <p:nvSpPr>
          <p:cNvPr id="11" name="Text 8"/>
          <p:cNvSpPr/>
          <p:nvPr/>
        </p:nvSpPr>
        <p:spPr>
          <a:xfrm>
            <a:off x="576072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Ventricular rate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55864" y="1965960"/>
            <a:ext cx="3630168" cy="548640"/>
          </a:xfrm>
          <a:prstGeom prst="roundRect">
            <a:avLst>
              <a:gd name="adj" fmla="val 10000"/>
            </a:avLst>
          </a:prstGeom>
          <a:solidFill>
            <a:srgbClr val="A4133C"/>
          </a:solidFill>
          <a:ln/>
        </p:spPr>
      </p:sp>
      <p:sp>
        <p:nvSpPr>
          <p:cNvPr id="13" name="Text 10"/>
          <p:cNvSpPr/>
          <p:nvPr/>
        </p:nvSpPr>
        <p:spPr>
          <a:xfrm>
            <a:off x="8138160" y="1965960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distinguishing clue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2606040"/>
            <a:ext cx="2231136" cy="1051560"/>
          </a:xfrm>
          <a:prstGeom prst="roundRect">
            <a:avLst>
              <a:gd name="adj" fmla="val 5217"/>
            </a:avLst>
          </a:prstGeom>
          <a:solidFill>
            <a:srgbClr val="590D22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" y="2651760"/>
            <a:ext cx="1975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Atrial Fibrillation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843784" y="2606040"/>
            <a:ext cx="2779776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53512" y="2651760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 waves; fibrillatory baseline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678424" y="2606040"/>
            <a:ext cx="2322576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88152" y="265176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Irregularly irregular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55864" y="2606040"/>
            <a:ext cx="3630168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65592" y="2651760"/>
            <a:ext cx="3374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— no organised atrial activity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02920" y="3703320"/>
            <a:ext cx="2231136" cy="1051560"/>
          </a:xfrm>
          <a:prstGeom prst="roundRect">
            <a:avLst>
              <a:gd name="adj" fmla="val 5217"/>
            </a:avLst>
          </a:prstGeom>
          <a:solidFill>
            <a:srgbClr val="FBD8D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3749040"/>
            <a:ext cx="1975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Atrial Flutter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2843784" y="3703320"/>
            <a:ext cx="2779776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53512" y="3749040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Sawtooth flutter waves (~300/min)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678424" y="3703320"/>
            <a:ext cx="2322576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88152" y="374904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regular (2:1, 3:1)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055864" y="3703320"/>
            <a:ext cx="3630168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65592" y="3749040"/>
            <a:ext cx="3374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“picket-fence” baseline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02920" y="4800600"/>
            <a:ext cx="2231136" cy="1051560"/>
          </a:xfrm>
          <a:prstGeom prst="roundRect">
            <a:avLst>
              <a:gd name="adj" fmla="val 5217"/>
            </a:avLst>
          </a:prstGeom>
          <a:solidFill>
            <a:srgbClr val="FBD8D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7512" y="4846320"/>
            <a:ext cx="1975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Multifocal Atrial Tach.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2843784" y="4800600"/>
            <a:ext cx="2779776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953512" y="4846320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distinct P-wave shapes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678424" y="4800600"/>
            <a:ext cx="2322576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88152" y="4846320"/>
            <a:ext cx="2066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055864" y="4800600"/>
            <a:ext cx="3630168" cy="1051560"/>
          </a:xfrm>
          <a:prstGeom prst="roundRect">
            <a:avLst>
              <a:gd name="adj" fmla="val 5217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65592" y="4846320"/>
            <a:ext cx="3374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varying P waves; COPD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502920" y="580644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FF0F3"/>
          </a:solidFill>
          <a:ln/>
        </p:spPr>
      </p:sp>
      <p:sp>
        <p:nvSpPr>
          <p:cNvPr id="39" name="Text 36"/>
          <p:cNvSpPr/>
          <p:nvPr/>
        </p:nvSpPr>
        <p:spPr>
          <a:xfrm>
            <a:off x="82296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question:  </a:t>
            </a:r>
            <a:pPr algn="l"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rhythm regular or irregular?  Then look at the atrial activity — P waves, flutter waves, or fibrillation.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AF Matters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590D22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331720"/>
            <a:ext cx="1051560" cy="1051560"/>
          </a:xfrm>
          <a:prstGeom prst="ellipse">
            <a:avLst/>
          </a:prstGeom>
          <a:solidFill>
            <a:srgbClr val="A4133C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2624328"/>
            <a:ext cx="466344" cy="4663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6576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Thromboembolism &amp; Stroke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22960" y="45720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Stasis in the left atrial appendage forms thrombi — the leading danger, with ~5× stroke risk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288536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54296" y="233172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2624328"/>
            <a:ext cx="466344" cy="4663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08576" y="36576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Failure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608576" y="45720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atrial kick plus rapid rates reduce cardiac output and worsen existing HF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74152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39912" y="233172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2624328"/>
            <a:ext cx="466344" cy="4663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94192" y="36576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Tachycardia-induced Cardiomyopathy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8394192" y="45720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Persistently rapid ventricular rates can cause reversible LV dysfunction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STRATIFICATION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Stroke &amp; Bleeding Risk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690372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0574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</a:t>
            </a:r>
            <a:pPr algn="l" indent="0" marL="0">
              <a:buNone/>
            </a:pPr>
            <a:r>
              <a:rPr lang="en-US" sz="20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₂</a:t>
            </a:r>
            <a:pPr algn="l" indent="0" marL="0">
              <a:buNone/>
            </a:pPr>
            <a:r>
              <a:rPr lang="en-US" sz="20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</a:t>
            </a:r>
            <a:pPr algn="l" indent="0" marL="0">
              <a:buNone/>
            </a:pPr>
            <a:r>
              <a:rPr lang="en-US" sz="20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₂</a:t>
            </a:r>
            <a:pPr algn="l" indent="0" marL="0">
              <a:buNone/>
            </a:pPr>
            <a:r>
              <a:rPr lang="en-US" sz="20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-VASc</a:t>
            </a:r>
            <a:pPr algn="l" indent="0" marL="0">
              <a:buNone/>
            </a:pPr>
            <a:r>
              <a:rPr lang="en-US" sz="2000" b="1" dirty="0">
                <a:solidFill>
                  <a:srgbClr val="6B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stroke risk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4133C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1732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Congestive HF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337560" y="2670048"/>
            <a:ext cx="329184" cy="329184"/>
          </a:xfrm>
          <a:prstGeom prst="ellipse">
            <a:avLst/>
          </a:prstGeom>
          <a:solidFill>
            <a:srgbClr val="FBD8DF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069080" y="2606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4133C"/>
          </a:solidFill>
          <a:ln/>
        </p:spPr>
      </p:sp>
      <p:sp>
        <p:nvSpPr>
          <p:cNvPr id="14" name="Text 11"/>
          <p:cNvSpPr/>
          <p:nvPr/>
        </p:nvSpPr>
        <p:spPr>
          <a:xfrm>
            <a:off x="402336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6344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583680" y="2670048"/>
            <a:ext cx="329184" cy="329184"/>
          </a:xfrm>
          <a:prstGeom prst="ellipse">
            <a:avLst/>
          </a:prstGeom>
          <a:solidFill>
            <a:srgbClr val="FBD8DF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2960" y="32644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4133C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264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A₂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17320" y="32644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≥ 75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3337560" y="3328416"/>
            <a:ext cx="329184" cy="329184"/>
          </a:xfrm>
          <a:prstGeom prst="ellipse">
            <a:avLst/>
          </a:prstGeom>
          <a:solidFill>
            <a:srgbClr val="FBD8DF"/>
          </a:solidFill>
          <a:ln/>
        </p:spPr>
      </p:sp>
      <p:sp>
        <p:nvSpPr>
          <p:cNvPr id="22" name="Text 19"/>
          <p:cNvSpPr/>
          <p:nvPr/>
        </p:nvSpPr>
        <p:spPr>
          <a:xfrm>
            <a:off x="3337560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069080" y="32644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4133C"/>
          </a:solidFill>
          <a:ln/>
        </p:spPr>
      </p:sp>
      <p:sp>
        <p:nvSpPr>
          <p:cNvPr id="24" name="Text 21"/>
          <p:cNvSpPr/>
          <p:nvPr/>
        </p:nvSpPr>
        <p:spPr>
          <a:xfrm>
            <a:off x="4023360" y="32644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663440" y="32644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583680" y="3328416"/>
            <a:ext cx="329184" cy="329184"/>
          </a:xfrm>
          <a:prstGeom prst="ellipse">
            <a:avLst/>
          </a:prstGeom>
          <a:solidFill>
            <a:srgbClr val="FBD8DF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22960" y="39227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4133C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39227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S₂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417320" y="392277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stroke / TIA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3337560" y="3986784"/>
            <a:ext cx="329184" cy="329184"/>
          </a:xfrm>
          <a:prstGeom prst="ellipse">
            <a:avLst/>
          </a:prstGeom>
          <a:solidFill>
            <a:srgbClr val="FBD8DF"/>
          </a:solidFill>
          <a:ln/>
        </p:spPr>
      </p:sp>
      <p:sp>
        <p:nvSpPr>
          <p:cNvPr id="32" name="Text 29"/>
          <p:cNvSpPr/>
          <p:nvPr/>
        </p:nvSpPr>
        <p:spPr>
          <a:xfrm>
            <a:off x="333756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069080" y="39227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4133C"/>
          </a:solidFill>
          <a:ln/>
        </p:spPr>
      </p:sp>
      <p:sp>
        <p:nvSpPr>
          <p:cNvPr id="34" name="Text 31"/>
          <p:cNvSpPr/>
          <p:nvPr/>
        </p:nvSpPr>
        <p:spPr>
          <a:xfrm>
            <a:off x="4023360" y="392277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4663440" y="392277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disease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6583680" y="3986784"/>
            <a:ext cx="329184" cy="329184"/>
          </a:xfrm>
          <a:prstGeom prst="ellipse">
            <a:avLst/>
          </a:prstGeom>
          <a:solidFill>
            <a:srgbClr val="FBD8DF"/>
          </a:solidFill>
          <a:ln/>
        </p:spPr>
      </p:sp>
      <p:sp>
        <p:nvSpPr>
          <p:cNvPr id="37" name="Text 34"/>
          <p:cNvSpPr/>
          <p:nvPr/>
        </p:nvSpPr>
        <p:spPr>
          <a:xfrm>
            <a:off x="658368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822960" y="4581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4133C"/>
          </a:solidFill>
          <a:ln/>
        </p:spPr>
      </p:sp>
      <p:sp>
        <p:nvSpPr>
          <p:cNvPr id="39" name="Text 36"/>
          <p:cNvSpPr/>
          <p:nvPr/>
        </p:nvSpPr>
        <p:spPr>
          <a:xfrm>
            <a:off x="777240" y="4581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1417320" y="45811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65–74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3337560" y="4645152"/>
            <a:ext cx="329184" cy="329184"/>
          </a:xfrm>
          <a:prstGeom prst="ellipse">
            <a:avLst/>
          </a:prstGeom>
          <a:solidFill>
            <a:srgbClr val="FBD8DF"/>
          </a:solidFill>
          <a:ln/>
        </p:spPr>
      </p:sp>
      <p:sp>
        <p:nvSpPr>
          <p:cNvPr id="42" name="Text 39"/>
          <p:cNvSpPr/>
          <p:nvPr/>
        </p:nvSpPr>
        <p:spPr>
          <a:xfrm>
            <a:off x="3337560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4069080" y="4581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4133C"/>
          </a:solidFill>
          <a:ln/>
        </p:spPr>
      </p:sp>
      <p:sp>
        <p:nvSpPr>
          <p:cNvPr id="44" name="Text 41"/>
          <p:cNvSpPr/>
          <p:nvPr/>
        </p:nvSpPr>
        <p:spPr>
          <a:xfrm>
            <a:off x="4023360" y="4581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4663440" y="45811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(female)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6583680" y="4645152"/>
            <a:ext cx="329184" cy="329184"/>
          </a:xfrm>
          <a:prstGeom prst="ellipse">
            <a:avLst/>
          </a:prstGeom>
          <a:solidFill>
            <a:srgbClr val="FBD8DF"/>
          </a:solidFill>
          <a:ln/>
        </p:spPr>
      </p:sp>
      <p:sp>
        <p:nvSpPr>
          <p:cNvPr id="47" name="Text 44"/>
          <p:cNvSpPr/>
          <p:nvPr/>
        </p:nvSpPr>
        <p:spPr>
          <a:xfrm>
            <a:off x="6583680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822960" y="5440680"/>
            <a:ext cx="6263640" cy="457200"/>
          </a:xfrm>
          <a:prstGeom prst="roundRect">
            <a:avLst>
              <a:gd name="adj" fmla="val 16000"/>
            </a:avLst>
          </a:prstGeom>
          <a:solidFill>
            <a:srgbClr val="590D22"/>
          </a:solidFill>
          <a:ln/>
        </p:spPr>
      </p:sp>
      <p:sp>
        <p:nvSpPr>
          <p:cNvPr id="49" name="Text 46"/>
          <p:cNvSpPr/>
          <p:nvPr/>
        </p:nvSpPr>
        <p:spPr>
          <a:xfrm>
            <a:off x="1051560" y="5440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Anticoagulate if 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(men)  /  ≥ 3 (women)</a:t>
            </a:r>
            <a:endParaRPr 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7543800" y="1828800"/>
            <a:ext cx="4160520" cy="4206240"/>
          </a:xfrm>
          <a:prstGeom prst="roundRect">
            <a:avLst>
              <a:gd name="adj" fmla="val 2637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786384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HAS-BLED</a:t>
            </a:r>
            <a:endParaRPr lang="en-US" sz="2000" dirty="0"/>
          </a:p>
        </p:txBody>
      </p:sp>
      <p:sp>
        <p:nvSpPr>
          <p:cNvPr id="52" name="Text 49"/>
          <p:cNvSpPr/>
          <p:nvPr/>
        </p:nvSpPr>
        <p:spPr>
          <a:xfrm>
            <a:off x="7863840" y="2432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 risk on anticoagulation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863840" y="288036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</a:t>
            </a:r>
            <a:pPr algn="l" indent="0" marL="0"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Hypertension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7863840" y="331012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algn="l" indent="0" marL="0"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Abnormal renal / liver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7863840" y="373989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</a:t>
            </a:r>
            <a:pPr algn="l" indent="0" marL="0"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Stroke history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7863840" y="416966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algn="l" indent="0" marL="0"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Bleeding tendency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7863840" y="459943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 </a:t>
            </a:r>
            <a:pPr algn="l" indent="0" marL="0"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Labile INR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7863840" y="502920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</a:t>
            </a:r>
            <a:pPr algn="l" indent="0" marL="0"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Elderly (&gt; 65)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7863840" y="545896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pPr algn="l" indent="0" marL="0"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Drugs / alcohol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ABC Pathway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1945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7400" dirty="0"/>
          </a:p>
        </p:txBody>
      </p:sp>
      <p:sp>
        <p:nvSpPr>
          <p:cNvPr id="8" name="Shape 5"/>
          <p:cNvSpPr/>
          <p:nvPr/>
        </p:nvSpPr>
        <p:spPr>
          <a:xfrm>
            <a:off x="2788920" y="2377440"/>
            <a:ext cx="914400" cy="91440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664" y="261518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7490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Anticoagulation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22960" y="461772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stroke — assess with CHA₂DS₂-VASc, then a DOAC (or warfarin where indicated)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88536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562856" y="21945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7400" dirty="0"/>
          </a:p>
        </p:txBody>
      </p:sp>
      <p:sp>
        <p:nvSpPr>
          <p:cNvPr id="14" name="Shape 10"/>
          <p:cNvSpPr/>
          <p:nvPr/>
        </p:nvSpPr>
        <p:spPr>
          <a:xfrm>
            <a:off x="6574536" y="2377440"/>
            <a:ext cx="914400" cy="91440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61518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08576" y="37490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symptom control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608576" y="461772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control and/or rhythm control to relieve symptoms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074152" y="19202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8348472" y="21945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7400" dirty="0"/>
          </a:p>
        </p:txBody>
      </p:sp>
      <p:sp>
        <p:nvSpPr>
          <p:cNvPr id="20" name="Shape 15"/>
          <p:cNvSpPr/>
          <p:nvPr/>
        </p:nvSpPr>
        <p:spPr>
          <a:xfrm>
            <a:off x="10360152" y="2377440"/>
            <a:ext cx="914400" cy="91440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7896" y="261518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94192" y="37490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Comorbidities &amp; risk factors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8394192" y="461772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HTN, sleep apnoea, obesity, alcohol excess, diabetes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· MEDICAL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Treatment of AF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039112"/>
            <a:ext cx="658368" cy="65836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1945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0391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Control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795528" y="2935224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1" name="Text 7"/>
          <p:cNvSpPr/>
          <p:nvPr/>
        </p:nvSpPr>
        <p:spPr>
          <a:xfrm>
            <a:off x="1033272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Beta-blockers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33272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— metoprolol, bisoprolol, carvedilol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95528" y="368503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4" name="Text 10"/>
          <p:cNvSpPr/>
          <p:nvPr/>
        </p:nvSpPr>
        <p:spPr>
          <a:xfrm>
            <a:off x="1033272" y="3630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Non-DHP CCB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Diltiazem or verapamil (avoid in decompensated HF)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5528" y="4434840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7" name="Text 13"/>
          <p:cNvSpPr/>
          <p:nvPr/>
        </p:nvSpPr>
        <p:spPr>
          <a:xfrm>
            <a:off x="1033272" y="4379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Digoxin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033272" y="46542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Adjunct or LV systolic dysfunction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95528" y="5184648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0" name="Text 16"/>
          <p:cNvSpPr/>
          <p:nvPr/>
        </p:nvSpPr>
        <p:spPr>
          <a:xfrm>
            <a:off x="1033272" y="5129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033272" y="54041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HR &lt; 80 bpm (lenient &lt; 110)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288536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62856" y="2039112"/>
            <a:ext cx="658368" cy="65836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2194560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40096" y="20391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Rhythm Control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4581144" y="2935224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7" name="Text 22"/>
          <p:cNvSpPr/>
          <p:nvPr/>
        </p:nvSpPr>
        <p:spPr>
          <a:xfrm>
            <a:off x="4818888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 cardioversion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4818888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AF → immediate DCCV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4581144" y="368503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0" name="Text 25"/>
          <p:cNvSpPr/>
          <p:nvPr/>
        </p:nvSpPr>
        <p:spPr>
          <a:xfrm>
            <a:off x="4818888" y="3630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structural disease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4818888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Flecainide, propafenone, sotalol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4581144" y="4434840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3" name="Text 28"/>
          <p:cNvSpPr/>
          <p:nvPr/>
        </p:nvSpPr>
        <p:spPr>
          <a:xfrm>
            <a:off x="4818888" y="4379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/ HF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4818888" y="46542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Amiodarone, dofetilide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4581144" y="5184648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6" name="Text 31"/>
          <p:cNvSpPr/>
          <p:nvPr/>
        </p:nvSpPr>
        <p:spPr>
          <a:xfrm>
            <a:off x="4818888" y="5129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Catheter ablation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4818888" y="54041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antiarrhythmic drugs fail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8074152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8348472" y="2039112"/>
            <a:ext cx="658368" cy="65836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194560"/>
            <a:ext cx="347472" cy="34747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9125712" y="20391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Anticoagulation</a:t>
            </a:r>
            <a:endParaRPr lang="en-US" sz="1800" dirty="0"/>
          </a:p>
        </p:txBody>
      </p:sp>
      <p:sp>
        <p:nvSpPr>
          <p:cNvPr id="42" name="Shape 36"/>
          <p:cNvSpPr/>
          <p:nvPr/>
        </p:nvSpPr>
        <p:spPr>
          <a:xfrm>
            <a:off x="8366760" y="2935224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43" name="Text 37"/>
          <p:cNvSpPr/>
          <p:nvPr/>
        </p:nvSpPr>
        <p:spPr>
          <a:xfrm>
            <a:off x="8604504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risk</a:t>
            </a:r>
            <a:endParaRPr lang="en-US" sz="1400" dirty="0"/>
          </a:p>
        </p:txBody>
      </p:sp>
      <p:sp>
        <p:nvSpPr>
          <p:cNvPr id="44" name="Text 38"/>
          <p:cNvSpPr/>
          <p:nvPr/>
        </p:nvSpPr>
        <p:spPr>
          <a:xfrm>
            <a:off x="8604504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CHA₂DS₂-VASc score</a:t>
            </a:r>
            <a:endParaRPr lang="en-US" sz="1150" dirty="0"/>
          </a:p>
        </p:txBody>
      </p:sp>
      <p:sp>
        <p:nvSpPr>
          <p:cNvPr id="45" name="Shape 39"/>
          <p:cNvSpPr/>
          <p:nvPr/>
        </p:nvSpPr>
        <p:spPr>
          <a:xfrm>
            <a:off x="8366760" y="368503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46" name="Text 40"/>
          <p:cNvSpPr/>
          <p:nvPr/>
        </p:nvSpPr>
        <p:spPr>
          <a:xfrm>
            <a:off x="8604504" y="3630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DOACs</a:t>
            </a:r>
            <a:endParaRPr lang="en-US" sz="1400" dirty="0"/>
          </a:p>
        </p:txBody>
      </p:sp>
      <p:sp>
        <p:nvSpPr>
          <p:cNvPr id="47" name="Text 41"/>
          <p:cNvSpPr/>
          <p:nvPr/>
        </p:nvSpPr>
        <p:spPr>
          <a:xfrm>
            <a:off x="8604504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Apixaban, rivaroxaban, dabigatran</a:t>
            </a:r>
            <a:endParaRPr lang="en-US" sz="1150" dirty="0"/>
          </a:p>
        </p:txBody>
      </p:sp>
      <p:sp>
        <p:nvSpPr>
          <p:cNvPr id="48" name="Shape 42"/>
          <p:cNvSpPr/>
          <p:nvPr/>
        </p:nvSpPr>
        <p:spPr>
          <a:xfrm>
            <a:off x="8366760" y="4434840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49" name="Text 43"/>
          <p:cNvSpPr/>
          <p:nvPr/>
        </p:nvSpPr>
        <p:spPr>
          <a:xfrm>
            <a:off x="8604504" y="4379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Warfarin</a:t>
            </a:r>
            <a:endParaRPr lang="en-US" sz="1400" dirty="0"/>
          </a:p>
        </p:txBody>
      </p:sp>
      <p:sp>
        <p:nvSpPr>
          <p:cNvPr id="50" name="Text 44"/>
          <p:cNvSpPr/>
          <p:nvPr/>
        </p:nvSpPr>
        <p:spPr>
          <a:xfrm>
            <a:off x="8604504" y="46542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Mitral stenosis / mechanical valve</a:t>
            </a:r>
            <a:endParaRPr lang="en-US" sz="1150" dirty="0"/>
          </a:p>
        </p:txBody>
      </p:sp>
      <p:sp>
        <p:nvSpPr>
          <p:cNvPr id="51" name="Shape 45"/>
          <p:cNvSpPr/>
          <p:nvPr/>
        </p:nvSpPr>
        <p:spPr>
          <a:xfrm>
            <a:off x="8366760" y="5184648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52" name="Text 46"/>
          <p:cNvSpPr/>
          <p:nvPr/>
        </p:nvSpPr>
        <p:spPr>
          <a:xfrm>
            <a:off x="8604504" y="5129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 &gt; 48 h</a:t>
            </a:r>
            <a:endParaRPr lang="en-US" sz="1400" dirty="0"/>
          </a:p>
        </p:txBody>
      </p:sp>
      <p:sp>
        <p:nvSpPr>
          <p:cNvPr id="53" name="Text 47"/>
          <p:cNvSpPr/>
          <p:nvPr/>
        </p:nvSpPr>
        <p:spPr>
          <a:xfrm>
            <a:off x="8604504" y="54041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or 3 weeks before cardioversion</a:t>
            </a:r>
            <a:endParaRPr lang="en-US" sz="1150" dirty="0"/>
          </a:p>
        </p:txBody>
      </p:sp>
      <p:sp>
        <p:nvSpPr>
          <p:cNvPr id="54" name="Text 4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55" name="Text 49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· INTERVENTIONAL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Surgical Treatment of AF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295144"/>
            <a:ext cx="393192" cy="3931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08483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Catheter Ablation (PVI)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68680" y="294436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vein isolation ablates the triggering foci — first-line interventional rhythm control.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99632" y="182880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19672" y="210312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2295144"/>
            <a:ext cx="393192" cy="3931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79792" y="208483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Surgical Maze (Cox-Maze IV)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565392" y="294436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lesion lines block re-entry, usually with concomitant cardiac surgery — highest rhythm success.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379476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406908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261104"/>
            <a:ext cx="393192" cy="3931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83080" y="405079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 Node Ablation + Pacemaker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68680" y="491032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“Ablate &amp; pace” for refractory rate control; requires a permanent pacemaker.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99632" y="379476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19672" y="406908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4261104"/>
            <a:ext cx="393192" cy="3931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79792" y="405079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LAA Occlusion / Exclusion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6565392" y="491032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Watchman device or surgical clip prevents stroke when anticoagulation is unsuitable.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502920" y="5669280"/>
            <a:ext cx="11183112" cy="502920"/>
          </a:xfrm>
          <a:prstGeom prst="roundRect">
            <a:avLst>
              <a:gd name="adj" fmla="val 18182"/>
            </a:avLst>
          </a:prstGeom>
          <a:solidFill>
            <a:srgbClr val="590D22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669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/ convergent ablation  </a:t>
            </a:r>
            <a:pPr algn="l" indent="0" marL="0"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catheter and minimally-invasive epicardial approaches for persistent AF.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CONTROL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vs Rhythm Control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21408"/>
            <a:ext cx="822960" cy="82296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0428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1945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Control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914400" y="32004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Beta-blockers
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(e.g. bisoprolol, metoprolol)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14400" y="4114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Non-DHP calcium blockers
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Diltiazem or verapamil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14400" y="50292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Digoxin
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Add-on; sedentary patients or heart failure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172200" y="182880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92240" y="2121408"/>
            <a:ext cx="822960" cy="82296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30428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52360" y="21945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Rhythm Control</a:t>
            </a:r>
            <a:endParaRPr lang="en-US" sz="2300" dirty="0"/>
          </a:p>
        </p:txBody>
      </p:sp>
      <p:sp>
        <p:nvSpPr>
          <p:cNvPr id="17" name="Text 12"/>
          <p:cNvSpPr/>
          <p:nvPr/>
        </p:nvSpPr>
        <p:spPr>
          <a:xfrm>
            <a:off x="6583680" y="32004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Cardioversion
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(electrical) or pharmacological — flecainide, amiodarone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83680" y="41148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Antiarrhythmic drugs
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Flecainide/propafenone (no structural disease), amiodarone, sotalol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83680" y="50292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Catheter ablation
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vein isolation for refractory cases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PREVENTION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Anticoagulation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075688"/>
            <a:ext cx="512064" cy="51206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2037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874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DOACs — first-line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846320" y="18745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Apixaban, rivaroxaban, dabigatran, edoxaban — preferred for most patients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02920" y="292608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3127248"/>
            <a:ext cx="512064" cy="512064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25526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2926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Warfarin (VKA)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846320" y="29260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mechanical heart valves and moderate–severe mitral stenosis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02920" y="397764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178808"/>
            <a:ext cx="512064" cy="512064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30682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977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LAA occlusion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4846320" y="39776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closure when long-term anticoagulation is contraindicated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502920" y="512064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39496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51206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the decision on CHA₂DS₂-VASc, weigh bleeding risk (HAS-BLED), and note that antiplatelets alone are </a:t>
            </a:r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adequate stroke prevention.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PREVENTION · VALVULAR VS NONVALVULAR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 of Anticoagulant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084832"/>
            <a:ext cx="749808" cy="7498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3042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08483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Nonvalvular AF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68680" y="2944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Broadest choice of agents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14400" y="3419856"/>
            <a:ext cx="128016" cy="128016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2" name="Text 8"/>
          <p:cNvSpPr/>
          <p:nvPr/>
        </p:nvSpPr>
        <p:spPr>
          <a:xfrm>
            <a:off x="1170432" y="33467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heparin / LMWH  </a:t>
            </a:r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Parenteral anticoagulation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914400" y="3968496"/>
            <a:ext cx="128016" cy="128016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4" name="Text 10"/>
          <p:cNvSpPr/>
          <p:nvPr/>
        </p:nvSpPr>
        <p:spPr>
          <a:xfrm>
            <a:off x="1170432" y="3895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  </a:t>
            </a:r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Vitamin-K antagonist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914400" y="4517136"/>
            <a:ext cx="128016" cy="128016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6" name="Text 12"/>
          <p:cNvSpPr/>
          <p:nvPr/>
        </p:nvSpPr>
        <p:spPr>
          <a:xfrm>
            <a:off x="1170432" y="44439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DOACs  </a:t>
            </a:r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New oral anticoagulants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22960" y="5175504"/>
            <a:ext cx="4892040" cy="566928"/>
          </a:xfrm>
          <a:prstGeom prst="roundRect">
            <a:avLst>
              <a:gd name="adj" fmla="val 50000"/>
            </a:avLst>
          </a:prstGeom>
          <a:solidFill>
            <a:srgbClr val="590D22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517550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these may be considered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153912" y="178308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73952" y="2084832"/>
            <a:ext cx="749808" cy="7498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3042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34072" y="208483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Valvular AF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519672" y="2944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depends on the valve lesion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473952" y="3246120"/>
            <a:ext cx="4892040" cy="1170432"/>
          </a:xfrm>
          <a:prstGeom prst="roundRect">
            <a:avLst>
              <a:gd name="adj" fmla="val 7813"/>
            </a:avLst>
          </a:prstGeom>
          <a:solidFill>
            <a:srgbClr val="590D22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720840" y="34107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Mitral stenosis + AF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720840" y="375818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 — the only proven oral anticoagulant to date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473952" y="4544568"/>
            <a:ext cx="4892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720840" y="4709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41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valve disease + AF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720840" y="505663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Non-coumadin agents (DOACs) supported — ACC/AHA guidelines (registry data)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POPULATIONS · PREGNANCY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Anticoagulation in Pregnancy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5532120" cy="2971800"/>
          </a:xfrm>
          <a:prstGeom prst="roundRect">
            <a:avLst>
              <a:gd name="adj" fmla="val 3692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51176"/>
            <a:ext cx="283464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3500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LMWH (enoxaparin)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508760" y="270662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cross the placenta — the agent of choice; weight-adjusted, monitor anti-Xa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3511296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66744"/>
            <a:ext cx="283464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46557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Unfractionated heparin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508760" y="382219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placenta-safe; useful peri-delivery — short-acting &amp; reversible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72200" y="1783080"/>
            <a:ext cx="5532120" cy="2971800"/>
          </a:xfrm>
          <a:prstGeom prst="roundRect">
            <a:avLst>
              <a:gd name="adj" fmla="val 3692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492240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92240" y="2395728"/>
            <a:ext cx="548640" cy="54864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255117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78040" y="2350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Warfarin (VKA)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7178040" y="270662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Teratogenic — embryopathy at weeks 6–12 and fetal bleeding near term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92240" y="3511296"/>
            <a:ext cx="548640" cy="54864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666744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78040" y="34655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DOACs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7178040" y="382219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 — cross the placenta with limited safety data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502920" y="4937760"/>
            <a:ext cx="11183112" cy="1051560"/>
          </a:xfrm>
          <a:prstGeom prst="roundRect">
            <a:avLst>
              <a:gd name="adj" fmla="val 10435"/>
            </a:avLst>
          </a:prstGeom>
          <a:solidFill>
            <a:srgbClr val="FBD8DF"/>
          </a:solidFill>
          <a:ln/>
        </p:spPr>
      </p:sp>
      <p:sp>
        <p:nvSpPr>
          <p:cNvPr id="27" name="Text 20"/>
          <p:cNvSpPr/>
          <p:nvPr/>
        </p:nvSpPr>
        <p:spPr>
          <a:xfrm>
            <a:off x="914400" y="50840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Peri-delivery   </a:t>
            </a:r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LMWH → UFH (or briefly hold) to allow neuraxial anaesthesia and limit bleeding.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14400" y="54681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Breastfeeding   </a:t>
            </a:r>
            <a:pPr algn="l"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warfarin, LMWH and UFH are compatible; DOACs are avoided. Plan with a specialist team.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POPULATIONS · PREGNANCY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Rhythm &amp; Rate Control in Pregnancy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5532120" cy="4206240"/>
          </a:xfrm>
          <a:prstGeom prst="roundRect">
            <a:avLst>
              <a:gd name="adj" fmla="val 2609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3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SAFE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254203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68833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18488" y="2505456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Beta-blockers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18488" y="2816352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rate control (metoprolol, bisoprolol) — avoid atenolol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3621024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76732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18488" y="3584448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Digoxin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18488" y="3895344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option for rate control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68680" y="470001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8463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18488" y="466344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Flecainide / sotalol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618488" y="4974336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rhythm control when needed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172200" y="1783080"/>
            <a:ext cx="5532120" cy="2011680"/>
          </a:xfrm>
          <a:prstGeom prst="roundRect">
            <a:avLst>
              <a:gd name="adj" fmla="val 5455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92240" y="2148840"/>
            <a:ext cx="868680" cy="86868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377440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98080" y="2194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Cardioversion</a:t>
            </a:r>
            <a:endParaRPr lang="en-US" sz="2100" dirty="0"/>
          </a:p>
        </p:txBody>
      </p:sp>
      <p:sp>
        <p:nvSpPr>
          <p:cNvPr id="24" name="Text 17"/>
          <p:cNvSpPr/>
          <p:nvPr/>
        </p:nvSpPr>
        <p:spPr>
          <a:xfrm>
            <a:off x="6537960" y="28529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cardioversion is safe in all trimesters — perform with fetal monitoring.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172200" y="3977640"/>
            <a:ext cx="5532120" cy="2011680"/>
          </a:xfrm>
          <a:prstGeom prst="roundRect">
            <a:avLst>
              <a:gd name="adj" fmla="val 5455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6537960" y="42062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algn="l" indent="0" marL="0">
              <a:buNone/>
            </a:pPr>
            <a:r>
              <a:rPr lang="en-US" sz="1300" b="1" spc="12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CAUTION / AVOID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537960" y="464515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Amiodarone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fetal thyroid dysfunction &amp; IUGR; only if life-threatening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537960" y="5285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Atenolol  </a:t>
            </a:r>
            <a:pPr algn="l" indent="0" marL="0">
              <a:buNone/>
            </a:pPr>
            <a:r>
              <a:rPr lang="en-US" sz="13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linked to fetal growth restriction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68680" cy="868680"/>
          </a:xfrm>
          <a:prstGeom prst="ellipse">
            <a:avLst/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484632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POPULATIONS · PREGNANCY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 in Pregnancy — Overview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572768"/>
            <a:ext cx="11183112" cy="914400"/>
          </a:xfrm>
          <a:prstGeom prst="roundRect">
            <a:avLst>
              <a:gd name="adj" fmla="val 12000"/>
            </a:avLst>
          </a:prstGeom>
          <a:solidFill>
            <a:srgbClr val="590D22"/>
          </a:solidFill>
          <a:ln/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572768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— ~60 / 100,000 pregnancies</a:t>
            </a:r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often congenital / valvular disease, thyrotoxicosis or electrolyte disturbance   ·   hypercoagulable, but no proven rise in AF-related thromboembolism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2670048"/>
            <a:ext cx="3611880" cy="3319272"/>
          </a:xfrm>
          <a:prstGeom prst="roundRect">
            <a:avLst>
              <a:gd name="adj" fmla="val 3306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926080"/>
            <a:ext cx="658368" cy="65836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08152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9260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Anticoagulation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95528" y="382219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3" name="Text 9"/>
          <p:cNvSpPr/>
          <p:nvPr/>
        </p:nvSpPr>
        <p:spPr>
          <a:xfrm>
            <a:off x="1033272" y="376732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criteria as non-pregnant women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" y="455371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5" name="Text 11"/>
          <p:cNvSpPr/>
          <p:nvPr/>
        </p:nvSpPr>
        <p:spPr>
          <a:xfrm>
            <a:off x="1033272" y="449884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Warfarin (not DOAC) — 2nd trimester to 1 month before delivery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5528" y="528523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7" name="Text 13"/>
          <p:cNvSpPr/>
          <p:nvPr/>
        </p:nvSpPr>
        <p:spPr>
          <a:xfrm>
            <a:off x="1033272" y="523036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LMWH (SC) — 1st trimester &amp; final month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288536" y="2670048"/>
            <a:ext cx="3611880" cy="3319272"/>
          </a:xfrm>
          <a:prstGeom prst="roundRect">
            <a:avLst>
              <a:gd name="adj" fmla="val 3306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62856" y="2926080"/>
            <a:ext cx="658368" cy="65836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308152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40096" y="29260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Acute Management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4581144" y="382219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3" name="Text 18"/>
          <p:cNvSpPr/>
          <p:nvPr/>
        </p:nvSpPr>
        <p:spPr>
          <a:xfrm>
            <a:off x="4818888" y="376732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cardioversion — safe at all stages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581144" y="455371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5" name="Text 20"/>
          <p:cNvSpPr/>
          <p:nvPr/>
        </p:nvSpPr>
        <p:spPr>
          <a:xfrm>
            <a:off x="4818888" y="449884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metoprolol — rate control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581144" y="528523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7" name="Text 22"/>
          <p:cNvSpPr/>
          <p:nvPr/>
        </p:nvSpPr>
        <p:spPr>
          <a:xfrm>
            <a:off x="4818888" y="523036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Flecainide or sotalol — conversion to sinus rhythm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8074152" y="2670048"/>
            <a:ext cx="3611880" cy="3319272"/>
          </a:xfrm>
          <a:prstGeom prst="roundRect">
            <a:avLst>
              <a:gd name="adj" fmla="val 3306"/>
            </a:avLst>
          </a:prstGeom>
          <a:solidFill>
            <a:srgbClr val="FFF0F3"/>
          </a:solidFill>
          <a:ln w="12700">
            <a:solidFill>
              <a:srgbClr val="FBD8DF"/>
            </a:solidFill>
            <a:prstDash val="solid"/>
          </a:ln>
          <a:effectLst>
            <a:outerShdw sx="100000" sy="100000" kx="0" ky="0" algn="bl" rotWithShape="0" blurRad="127000" dist="50800" dir="5400000">
              <a:srgbClr val="C9A3AC">
                <a:alpha val="4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348472" y="2926080"/>
            <a:ext cx="658368" cy="65836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3081528"/>
            <a:ext cx="347472" cy="34747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25712" y="29260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Rhythm</a:t>
            </a:r>
            <a:endParaRPr lang="en-US" sz="1700" dirty="0"/>
          </a:p>
        </p:txBody>
      </p:sp>
      <p:sp>
        <p:nvSpPr>
          <p:cNvPr id="32" name="Shape 26"/>
          <p:cNvSpPr/>
          <p:nvPr/>
        </p:nvSpPr>
        <p:spPr>
          <a:xfrm>
            <a:off x="8366760" y="382219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3" name="Text 27"/>
          <p:cNvSpPr/>
          <p:nvPr/>
        </p:nvSpPr>
        <p:spPr>
          <a:xfrm>
            <a:off x="8604504" y="376732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structural disease — flecainide, sotalol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8366760" y="455371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5" name="Text 29"/>
          <p:cNvSpPr/>
          <p:nvPr/>
        </p:nvSpPr>
        <p:spPr>
          <a:xfrm>
            <a:off x="8604504" y="449884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disease — amiodarone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8366760" y="5285232"/>
            <a:ext cx="118872" cy="11887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7" name="Text 31"/>
          <p:cNvSpPr/>
          <p:nvPr/>
        </p:nvSpPr>
        <p:spPr>
          <a:xfrm>
            <a:off x="8604504" y="523036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digoxin; beta-blocker only after 1st trimester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6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9000"/>
          </a:blip>
          <a:stretch>
            <a:fillRect/>
          </a:stretch>
        </p:blipFill>
        <p:spPr>
          <a:xfrm>
            <a:off x="8321040" y="3291840"/>
            <a:ext cx="4572000" cy="457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" y="685800"/>
            <a:ext cx="960120" cy="960120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905256"/>
            <a:ext cx="521208" cy="5212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40080" y="1691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4600" dirty="0"/>
          </a:p>
        </p:txBody>
      </p:sp>
      <p:sp>
        <p:nvSpPr>
          <p:cNvPr id="8" name="Shape 4"/>
          <p:cNvSpPr/>
          <p:nvPr/>
        </p:nvSpPr>
        <p:spPr>
          <a:xfrm>
            <a:off x="713232" y="2596896"/>
            <a:ext cx="292608" cy="2926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60904"/>
            <a:ext cx="164592" cy="164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25786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 = irregularly irregular rhythm with absent P waves and a fibrillatory baseline.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713232" y="3145536"/>
            <a:ext cx="292608" cy="2926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09544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31272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commonest sustained arrhythmia — linked to hypertension, age and structural heart disease.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713232" y="3694176"/>
            <a:ext cx="292608" cy="2926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58184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36758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main danger is thromboembolic stroke — always assess stroke risk (CHA₂DS₂-VASc).</a:t>
            </a:r>
            <a:endParaRPr lang="en-US" sz="1500" dirty="0"/>
          </a:p>
        </p:txBody>
      </p:sp>
      <p:sp>
        <p:nvSpPr>
          <p:cNvPr id="17" name="Shape 10"/>
          <p:cNvSpPr/>
          <p:nvPr/>
        </p:nvSpPr>
        <p:spPr>
          <a:xfrm>
            <a:off x="713232" y="4242816"/>
            <a:ext cx="292608" cy="2926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306824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88720" y="42245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Differentials: atrial flutter, multifocal atrial tachycardia, frequent PACs, SVT, pre-excited AF / VT.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713232" y="4791456"/>
            <a:ext cx="292608" cy="2926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855464"/>
            <a:ext cx="164592" cy="16459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188720" y="47731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with the ABC pathway: Anticoagulation, Better symptom control, Comorbidities.</a:t>
            </a:r>
            <a:endParaRPr lang="en-US" sz="1500" dirty="0"/>
          </a:p>
        </p:txBody>
      </p:sp>
      <p:sp>
        <p:nvSpPr>
          <p:cNvPr id="23" name="Shape 14"/>
          <p:cNvSpPr/>
          <p:nvPr/>
        </p:nvSpPr>
        <p:spPr>
          <a:xfrm>
            <a:off x="713232" y="5340096"/>
            <a:ext cx="292608" cy="292608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404104"/>
            <a:ext cx="164592" cy="16459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188720" y="5321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pregnancy: LMWH is the anticoagulant of choice — avoid warfarin and DOACs.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27" name="Text 17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Fibrillation — Topic Review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59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A17">
              <a:alpha val="74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092440" y="3063240"/>
            <a:ext cx="4754880" cy="4754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-822960" y="-960120"/>
            <a:ext cx="4023360" cy="40233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711800" y="1234440"/>
            <a:ext cx="768096" cy="768096"/>
          </a:xfrm>
          <a:prstGeom prst="ellipse">
            <a:avLst/>
          </a:prstGeom>
          <a:solidFill>
            <a:srgbClr val="A4133C"/>
          </a:solidFill>
          <a:ln/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1399032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2286000"/>
            <a:ext cx="1127455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8" name="Text 3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2200" dirty="0"/>
          </a:p>
        </p:txBody>
      </p:sp>
      <p:sp>
        <p:nvSpPr>
          <p:cNvPr id="9" name="Shape 4"/>
          <p:cNvSpPr/>
          <p:nvPr/>
        </p:nvSpPr>
        <p:spPr>
          <a:xfrm>
            <a:off x="3355848" y="5212080"/>
            <a:ext cx="1865376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 flipV="1">
            <a:off x="5221224" y="5065776"/>
            <a:ext cx="329184" cy="146304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550408" y="5065776"/>
            <a:ext cx="329184" cy="4572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 flipV="1">
            <a:off x="5879592" y="4709160"/>
            <a:ext cx="329184" cy="813816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208776" y="4709160"/>
            <a:ext cx="329184" cy="68580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 flipV="1">
            <a:off x="6537960" y="5212080"/>
            <a:ext cx="329184" cy="18288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867144" y="5212080"/>
            <a:ext cx="1975104" cy="0"/>
          </a:xfrm>
          <a:prstGeom prst="line">
            <a:avLst/>
          </a:prstGeom>
          <a:noFill/>
          <a:ln w="28575">
            <a:solidFill>
              <a:srgbClr val="FF4D6D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2621128" y="5486400"/>
            <a:ext cx="6949440" cy="65836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621128" y="5486400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Mubashir Aziz</a:t>
            </a:r>
            <a:pPr algn="ctr" indent="0" marL="0">
              <a:buNone/>
            </a:pPr>
            <a:r>
              <a:rPr lang="en-US" sz="1400" dirty="0">
                <a:solidFill>
                  <a:srgbClr val="FB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Department of Cardiology · PEIC, Bahawalpur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2026-07-26T16:23:58Z</dcterms:created>
  <dcterms:modified xsi:type="dcterms:W3CDTF">2026-07-26T16:23:58Z</dcterms:modified>
</cp:coreProperties>
</file>