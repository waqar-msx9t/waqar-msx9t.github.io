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image" Target="../media/image-23-8.png"/><Relationship Id="rId9" Type="http://schemas.openxmlformats.org/officeDocument/2006/relationships/image" Target="../media/image-23-9.png"/><Relationship Id="rId10" Type="http://schemas.openxmlformats.org/officeDocument/2006/relationships/image" Target="../media/image-23-10.png"/><Relationship Id="rId11" Type="http://schemas.openxmlformats.org/officeDocument/2006/relationships/image" Target="../media/image-23-11.png"/><Relationship Id="rId12" Type="http://schemas.openxmlformats.org/officeDocument/2006/relationships/image" Target="../media/image-23-12.png"/><Relationship Id="rId13" Type="http://schemas.openxmlformats.org/officeDocument/2006/relationships/image" Target="../media/image-23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image" Target="../media/image-24-8.png"/><Relationship Id="rId9" Type="http://schemas.openxmlformats.org/officeDocument/2006/relationships/image" Target="../media/image-24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image" Target="../media/image-3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image" Target="../media/image-34-4.png"/><Relationship Id="rId5" Type="http://schemas.openxmlformats.org/officeDocument/2006/relationships/image" Target="../media/image-3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image" Target="../media/image-3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image" Target="../media/image-36-5.png"/><Relationship Id="rId6" Type="http://schemas.openxmlformats.org/officeDocument/2006/relationships/image" Target="../media/image-36-6.png"/><Relationship Id="rId7" Type="http://schemas.openxmlformats.org/officeDocument/2006/relationships/image" Target="../media/image-36-7.png"/><Relationship Id="rId8" Type="http://schemas.openxmlformats.org/officeDocument/2006/relationships/image" Target="../media/image-3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7589520" y="1051560"/>
            <a:ext cx="4663440" cy="4663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234440"/>
            <a:ext cx="1927555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2567635" y="1088136"/>
            <a:ext cx="340157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907792" y="1088136"/>
            <a:ext cx="340157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flipV="1">
            <a:off x="3247949" y="731520"/>
            <a:ext cx="340157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88106" y="731520"/>
            <a:ext cx="340157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3928262" y="1234440"/>
            <a:ext cx="340157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268419" y="1234440"/>
            <a:ext cx="2040941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" y="17373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spc="2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CARDIOLOGY  ·  PEIC, BAHAWALPUR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21792" y="214884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Clinicopathological</a:t>
            </a:r>
            <a:endParaRPr lang="en-US" sz="60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Conference</a:t>
            </a:r>
            <a:endParaRPr lang="en-US" sz="6000" dirty="0"/>
          </a:p>
        </p:txBody>
      </p:sp>
      <p:sp>
        <p:nvSpPr>
          <p:cNvPr id="13" name="Text 10"/>
          <p:cNvSpPr/>
          <p:nvPr/>
        </p:nvSpPr>
        <p:spPr>
          <a:xfrm>
            <a:off x="685800" y="4224528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case-based clinical discussion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85800" y="4892040"/>
            <a:ext cx="5394960" cy="1280160"/>
          </a:xfrm>
          <a:prstGeom prst="roundRect">
            <a:avLst>
              <a:gd name="adj" fmla="val 8571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  <a:effectLst>
            <a:outerShdw sx="100000" sy="100000" kx="0" ky="0" algn="bl" rotWithShape="0" blurRad="101600" dist="38100" dir="5400000">
              <a:srgbClr val="8A8A8A">
                <a:alpha val="35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932688" y="5166360"/>
            <a:ext cx="749808" cy="7498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5312664"/>
            <a:ext cx="448056" cy="44805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901952" y="5029200"/>
            <a:ext cx="3977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 Mubashir Aziz
</a:t>
            </a:r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PGR Cardiology  ·  PEIC, BWP</a:t>
            </a:r>
            <a:endParaRPr lang="en-US" sz="1900" dirty="0"/>
          </a:p>
        </p:txBody>
      </p:sp>
      <p:sp>
        <p:nvSpPr>
          <p:cNvPr id="18" name="Text 1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PROFILE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Biodata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3931920" cy="4297680"/>
          </a:xfrm>
          <a:prstGeom prst="roundRect">
            <a:avLst>
              <a:gd name="adj" fmla="val 3256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737360" y="2286000"/>
            <a:ext cx="1463040" cy="146304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4832" y="2633472"/>
            <a:ext cx="768096" cy="76809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38862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Shazia Bibi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640080" y="437083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w/o Nicholan George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1234440" y="507492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V="1">
            <a:off x="2073859" y="492861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2221992" y="492861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2370125" y="457200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518258" y="457200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 flipV="1">
            <a:off x="2666390" y="507492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814523" y="507492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709160" y="178308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965192" y="209397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1496" y="2240280"/>
            <a:ext cx="365760" cy="36576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760720" y="20574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5760720" y="2331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 years</a:t>
            </a:r>
            <a:endParaRPr lang="en-US" sz="2000" dirty="0"/>
          </a:p>
        </p:txBody>
      </p:sp>
      <p:sp>
        <p:nvSpPr>
          <p:cNvPr id="23" name="Shape 18"/>
          <p:cNvSpPr/>
          <p:nvPr/>
        </p:nvSpPr>
        <p:spPr>
          <a:xfrm>
            <a:off x="8485632" y="178308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8741664" y="209397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87968" y="2240280"/>
            <a:ext cx="365760" cy="36576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9537192" y="20574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GENDER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9537192" y="2331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Female</a:t>
            </a:r>
            <a:endParaRPr lang="en-US" sz="2000" dirty="0"/>
          </a:p>
        </p:txBody>
      </p:sp>
      <p:sp>
        <p:nvSpPr>
          <p:cNvPr id="28" name="Shape 22"/>
          <p:cNvSpPr/>
          <p:nvPr/>
        </p:nvSpPr>
        <p:spPr>
          <a:xfrm>
            <a:off x="4709160" y="333756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4965192" y="364845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11496" y="3794760"/>
            <a:ext cx="365760" cy="365760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5760720" y="36118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RESIDENCE</a:t>
            </a:r>
            <a:endParaRPr lang="en-US" sz="1100" dirty="0"/>
          </a:p>
        </p:txBody>
      </p:sp>
      <p:sp>
        <p:nvSpPr>
          <p:cNvPr id="32" name="Text 25"/>
          <p:cNvSpPr/>
          <p:nvPr/>
        </p:nvSpPr>
        <p:spPr>
          <a:xfrm>
            <a:off x="5760720" y="38862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Bahawalpur</a:t>
            </a:r>
            <a:endParaRPr lang="en-US" sz="2000" dirty="0"/>
          </a:p>
        </p:txBody>
      </p:sp>
      <p:sp>
        <p:nvSpPr>
          <p:cNvPr id="33" name="Shape 26"/>
          <p:cNvSpPr/>
          <p:nvPr/>
        </p:nvSpPr>
        <p:spPr>
          <a:xfrm>
            <a:off x="8485632" y="333756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8741664" y="364845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87968" y="3794760"/>
            <a:ext cx="365760" cy="365760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9537192" y="36118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</a:t>
            </a:r>
            <a:endParaRPr lang="en-US" sz="1100" dirty="0"/>
          </a:p>
        </p:txBody>
      </p:sp>
      <p:sp>
        <p:nvSpPr>
          <p:cNvPr id="37" name="Text 29"/>
          <p:cNvSpPr/>
          <p:nvPr/>
        </p:nvSpPr>
        <p:spPr>
          <a:xfrm>
            <a:off x="9537192" y="38862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Nurse</a:t>
            </a:r>
            <a:endParaRPr lang="en-US" sz="2000" dirty="0"/>
          </a:p>
        </p:txBody>
      </p:sp>
      <p:sp>
        <p:nvSpPr>
          <p:cNvPr id="38" name="Text 3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39" name="Text 3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0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0000"/>
          </a:blip>
          <a:stretch>
            <a:fillRect/>
          </a:stretch>
        </p:blipFill>
        <p:spPr>
          <a:xfrm>
            <a:off x="8229600" y="914400"/>
            <a:ext cx="493776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137160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581912"/>
            <a:ext cx="548640" cy="5486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1572768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COMPLAINT</a:t>
            </a:r>
            <a:endParaRPr lang="en-US" sz="1800" dirty="0"/>
          </a:p>
        </p:txBody>
      </p:sp>
      <p:sp>
        <p:nvSpPr>
          <p:cNvPr id="7" name="Text 3"/>
          <p:cNvSpPr/>
          <p:nvPr/>
        </p:nvSpPr>
        <p:spPr>
          <a:xfrm>
            <a:off x="640080" y="265176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Palpitations</a:t>
            </a:r>
            <a:endParaRPr lang="en-US" sz="7600" dirty="0"/>
          </a:p>
        </p:txBody>
      </p:sp>
      <p:sp>
        <p:nvSpPr>
          <p:cNvPr id="8" name="Text 4"/>
          <p:cNvSpPr/>
          <p:nvPr/>
        </p:nvSpPr>
        <p:spPr>
          <a:xfrm>
            <a:off x="685800" y="38862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</a:t>
            </a:r>
            <a:pPr algn="l" indent="0" marL="0">
              <a:buNone/>
            </a:pPr>
            <a:r>
              <a:rPr lang="en-US" sz="4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hours</a:t>
            </a:r>
            <a:endParaRPr lang="en-US" sz="4600" dirty="0"/>
          </a:p>
        </p:txBody>
      </p:sp>
      <p:sp>
        <p:nvSpPr>
          <p:cNvPr id="9" name="Shape 5"/>
          <p:cNvSpPr/>
          <p:nvPr/>
        </p:nvSpPr>
        <p:spPr>
          <a:xfrm>
            <a:off x="731520" y="5349240"/>
            <a:ext cx="2020824" cy="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 flipV="1">
            <a:off x="2752344" y="5202936"/>
            <a:ext cx="356616" cy="146304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108960" y="5202936"/>
            <a:ext cx="356616" cy="45720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V="1">
            <a:off x="3465576" y="4846320"/>
            <a:ext cx="356616" cy="813816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822192" y="4846320"/>
            <a:ext cx="356616" cy="68580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4178808" y="5349240"/>
            <a:ext cx="356616" cy="18288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535424" y="5349240"/>
            <a:ext cx="2139696" cy="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31520" y="5532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Sudden onset  ·  sensation of racing heart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OF PRESENT ILLNESS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Story So Far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5989320" cy="4297680"/>
          </a:xfrm>
          <a:prstGeom prst="roundRect">
            <a:avLst>
              <a:gd name="adj" fmla="val 2553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103120"/>
            <a:ext cx="53492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46-year-old female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previously in her usual state of health, developed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sudden-onset palpitations 4 hours ago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a sensation that her heart was racing.</a:t>
            </a:r>
            <a:endParaRPr lang="en-US" sz="1650" dirty="0"/>
          </a:p>
        </p:txBody>
      </p:sp>
      <p:sp>
        <p:nvSpPr>
          <p:cNvPr id="8" name="Shape 5"/>
          <p:cNvSpPr/>
          <p:nvPr/>
        </p:nvSpPr>
        <p:spPr>
          <a:xfrm>
            <a:off x="822960" y="3639312"/>
            <a:ext cx="5349240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3840480"/>
            <a:ext cx="53492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prior identical episodes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required admission to the cardiac emergency and settled after IV medication. She was told her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rhythm is irregular.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6720840" y="1783080"/>
            <a:ext cx="4983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995160" y="198424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ASSOCIATED SYMPTOMS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995160" y="2423160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/>
        </p:spPr>
      </p:sp>
      <p:sp>
        <p:nvSpPr>
          <p:cNvPr id="13" name="Shape 10"/>
          <p:cNvSpPr/>
          <p:nvPr/>
        </p:nvSpPr>
        <p:spPr>
          <a:xfrm>
            <a:off x="7251192" y="267919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9208" y="2807208"/>
            <a:ext cx="310896" cy="31089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927848" y="2679192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Dizziness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9326880" y="2423160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/>
        </p:spPr>
      </p:sp>
      <p:sp>
        <p:nvSpPr>
          <p:cNvPr id="17" name="Shape 13"/>
          <p:cNvSpPr/>
          <p:nvPr/>
        </p:nvSpPr>
        <p:spPr>
          <a:xfrm>
            <a:off x="9582912" y="267919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0928" y="2807208"/>
            <a:ext cx="310896" cy="31089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0259568" y="2679192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Fatigue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6720840" y="4023360"/>
            <a:ext cx="4983480" cy="2057400"/>
          </a:xfrm>
          <a:prstGeom prst="roundRect">
            <a:avLst>
              <a:gd name="adj" fmla="val 4444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1" name="Text 16"/>
          <p:cNvSpPr/>
          <p:nvPr/>
        </p:nvSpPr>
        <p:spPr>
          <a:xfrm>
            <a:off x="6995160" y="422452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12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 </a:t>
            </a:r>
            <a:pPr algn="l" indent="0" marL="0">
              <a:buNone/>
            </a:pPr>
            <a:r>
              <a:rPr lang="en-US" sz="120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PERTINENT NEGATIVES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7040880" y="46268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 pain</a:t>
            </a:r>
            <a:endParaRPr lang="en-US" sz="1350" dirty="0"/>
          </a:p>
        </p:txBody>
      </p:sp>
      <p:sp>
        <p:nvSpPr>
          <p:cNvPr id="23" name="Text 18"/>
          <p:cNvSpPr/>
          <p:nvPr/>
        </p:nvSpPr>
        <p:spPr>
          <a:xfrm>
            <a:off x="9326880" y="46268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Shortness of breath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7040880" y="50840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Syncope</a:t>
            </a:r>
            <a:endParaRPr lang="en-US" sz="1350" dirty="0"/>
          </a:p>
        </p:txBody>
      </p:sp>
      <p:sp>
        <p:nvSpPr>
          <p:cNvPr id="25" name="Text 20"/>
          <p:cNvSpPr/>
          <p:nvPr/>
        </p:nvSpPr>
        <p:spPr>
          <a:xfrm>
            <a:off x="9326880" y="50840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loss</a:t>
            </a:r>
            <a:endParaRPr lang="en-US" sz="1350" dirty="0"/>
          </a:p>
        </p:txBody>
      </p:sp>
      <p:sp>
        <p:nvSpPr>
          <p:cNvPr id="26" name="Text 21"/>
          <p:cNvSpPr/>
          <p:nvPr/>
        </p:nvSpPr>
        <p:spPr>
          <a:xfrm>
            <a:off x="7040880" y="55412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Tremor</a:t>
            </a:r>
            <a:endParaRPr lang="en-US" sz="1350" dirty="0"/>
          </a:p>
        </p:txBody>
      </p:sp>
      <p:sp>
        <p:nvSpPr>
          <p:cNvPr id="27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8" name="Text 23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Medical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Medical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COMORBIDITY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Hypertension</a:t>
            </a:r>
            <a:endParaRPr lang="en-US" sz="4400" dirty="0"/>
          </a:p>
        </p:txBody>
      </p:sp>
      <p:sp>
        <p:nvSpPr>
          <p:cNvPr id="20" name="Text 16"/>
          <p:cNvSpPr/>
          <p:nvPr/>
        </p:nvSpPr>
        <p:spPr>
          <a:xfrm>
            <a:off x="5458968" y="361188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oral antihypertensive medication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440680" y="4572000"/>
            <a:ext cx="214884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572000"/>
            <a:ext cx="21488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HTN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Drug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Medications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1325880"/>
          </a:xfrm>
          <a:prstGeom prst="roundRect">
            <a:avLst>
              <a:gd name="adj" fmla="val 689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257800" y="2084832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2267712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217920" y="203911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 Vadil</a:t>
            </a:r>
            <a:endParaRPr lang="en-US" sz="2400" dirty="0"/>
          </a:p>
        </p:txBody>
      </p:sp>
      <p:sp>
        <p:nvSpPr>
          <p:cNvPr id="21" name="Text 16"/>
          <p:cNvSpPr/>
          <p:nvPr/>
        </p:nvSpPr>
        <p:spPr>
          <a:xfrm>
            <a:off x="6217920" y="253288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/ rhythm control</a:t>
            </a:r>
            <a:endParaRPr lang="en-US" sz="1450" dirty="0"/>
          </a:p>
        </p:txBody>
      </p:sp>
      <p:sp>
        <p:nvSpPr>
          <p:cNvPr id="22" name="Shape 17"/>
          <p:cNvSpPr/>
          <p:nvPr/>
        </p:nvSpPr>
        <p:spPr>
          <a:xfrm>
            <a:off x="4937760" y="3291840"/>
            <a:ext cx="6766560" cy="1325880"/>
          </a:xfrm>
          <a:prstGeom prst="roundRect">
            <a:avLst>
              <a:gd name="adj" fmla="val 689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257800" y="3593592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3776472"/>
            <a:ext cx="365760" cy="36576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217920" y="354787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 Rivaroxaban</a:t>
            </a:r>
            <a:endParaRPr lang="en-US" sz="2400" dirty="0"/>
          </a:p>
        </p:txBody>
      </p:sp>
      <p:sp>
        <p:nvSpPr>
          <p:cNvPr id="26" name="Text 20"/>
          <p:cNvSpPr/>
          <p:nvPr/>
        </p:nvSpPr>
        <p:spPr>
          <a:xfrm>
            <a:off x="6217920" y="404164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Oral anticoagulation</a:t>
            </a:r>
            <a:endParaRPr lang="en-US" sz="1450" dirty="0"/>
          </a:p>
        </p:txBody>
      </p:sp>
      <p:sp>
        <p:nvSpPr>
          <p:cNvPr id="27" name="Shape 21"/>
          <p:cNvSpPr/>
          <p:nvPr/>
        </p:nvSpPr>
        <p:spPr>
          <a:xfrm>
            <a:off x="4937760" y="4800600"/>
            <a:ext cx="6766560" cy="1188720"/>
          </a:xfrm>
          <a:prstGeom prst="roundRect">
            <a:avLst>
              <a:gd name="adj" fmla="val 7692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8" name="Text 22"/>
          <p:cNvSpPr/>
          <p:nvPr/>
        </p:nvSpPr>
        <p:spPr>
          <a:xfrm>
            <a:off x="5394960" y="4800600"/>
            <a:ext cx="5852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  </a:t>
            </a:r>
            <a:pPr algn="l" indent="0" marL="0">
              <a:buNone/>
            </a:pPr>
            <a:r>
              <a:rPr lang="en-US" sz="16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 control with stroke-risk protection</a:t>
            </a:r>
            <a:endParaRPr lang="en-US" sz="1600" dirty="0"/>
          </a:p>
        </p:txBody>
      </p:sp>
      <p:sp>
        <p:nvSpPr>
          <p:cNvPr id="29" name="Text 2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30" name="Text 2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Past Surgical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Surgical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prior operative history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REPORTED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&amp; FAMILY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 Context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6766560" cy="4114800"/>
          </a:xfrm>
          <a:prstGeom prst="roundRect">
            <a:avLst>
              <a:gd name="adj" fmla="val 266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2240280"/>
            <a:ext cx="868680" cy="8686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423160"/>
            <a:ext cx="502920" cy="5029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920240" y="233172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Socioeconomic History</a:t>
            </a:r>
            <a:endParaRPr lang="en-US" sz="2400" dirty="0"/>
          </a:p>
        </p:txBody>
      </p:sp>
      <p:sp>
        <p:nvSpPr>
          <p:cNvPr id="10" name="Shape 6"/>
          <p:cNvSpPr/>
          <p:nvPr/>
        </p:nvSpPr>
        <p:spPr>
          <a:xfrm>
            <a:off x="868680" y="3383280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3557016"/>
            <a:ext cx="365760" cy="36576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737360" y="3401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OCCUPATION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737360" y="3657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Nurse by profession</a:t>
            </a:r>
            <a:endParaRPr lang="en-US" sz="1500" dirty="0"/>
          </a:p>
        </p:txBody>
      </p:sp>
      <p:sp>
        <p:nvSpPr>
          <p:cNvPr id="14" name="Shape 9"/>
          <p:cNvSpPr/>
          <p:nvPr/>
        </p:nvSpPr>
        <p:spPr>
          <a:xfrm>
            <a:off x="4069080" y="3383280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2816" y="3557016"/>
            <a:ext cx="365760" cy="3657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4937760" y="3401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MARITAL STATUS</a:t>
            </a:r>
            <a:endParaRPr lang="en-US" sz="1100" dirty="0"/>
          </a:p>
        </p:txBody>
      </p:sp>
      <p:sp>
        <p:nvSpPr>
          <p:cNvPr id="17" name="Text 11"/>
          <p:cNvSpPr/>
          <p:nvPr/>
        </p:nvSpPr>
        <p:spPr>
          <a:xfrm>
            <a:off x="4937760" y="3657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Married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868680" y="4590288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2416" y="4764024"/>
            <a:ext cx="365760" cy="36576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737360" y="46085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</a:t>
            </a:r>
            <a:endParaRPr lang="en-US" sz="1100" dirty="0"/>
          </a:p>
        </p:txBody>
      </p:sp>
      <p:sp>
        <p:nvSpPr>
          <p:cNvPr id="21" name="Text 14"/>
          <p:cNvSpPr/>
          <p:nvPr/>
        </p:nvSpPr>
        <p:spPr>
          <a:xfrm>
            <a:off x="1737360" y="486460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middle class</a:t>
            </a:r>
            <a:endParaRPr lang="en-US" sz="1500" dirty="0"/>
          </a:p>
        </p:txBody>
      </p:sp>
      <p:sp>
        <p:nvSpPr>
          <p:cNvPr id="22" name="Shape 15"/>
          <p:cNvSpPr/>
          <p:nvPr/>
        </p:nvSpPr>
        <p:spPr>
          <a:xfrm>
            <a:off x="4069080" y="4590288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42816" y="4764024"/>
            <a:ext cx="365760" cy="365760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4937760" y="46085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RESIDENCE</a:t>
            </a:r>
            <a:endParaRPr lang="en-US" sz="1100" dirty="0"/>
          </a:p>
        </p:txBody>
      </p:sp>
      <p:sp>
        <p:nvSpPr>
          <p:cNvPr id="25" name="Text 17"/>
          <p:cNvSpPr/>
          <p:nvPr/>
        </p:nvSpPr>
        <p:spPr>
          <a:xfrm>
            <a:off x="4937760" y="486460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Bahawalpur</a:t>
            </a:r>
            <a:endParaRPr lang="en-US" sz="1500" dirty="0"/>
          </a:p>
        </p:txBody>
      </p:sp>
      <p:sp>
        <p:nvSpPr>
          <p:cNvPr id="26" name="Shape 18"/>
          <p:cNvSpPr/>
          <p:nvPr/>
        </p:nvSpPr>
        <p:spPr>
          <a:xfrm>
            <a:off x="7498080" y="1874520"/>
            <a:ext cx="4206240" cy="4114800"/>
          </a:xfrm>
          <a:prstGeom prst="roundRect">
            <a:avLst>
              <a:gd name="adj" fmla="val 2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8915400" y="2514600"/>
            <a:ext cx="1371600" cy="137160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35440" y="2834640"/>
            <a:ext cx="731520" cy="73152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7680960" y="41148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Family History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8366760" y="4709160"/>
            <a:ext cx="246888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31" name="Text 22"/>
          <p:cNvSpPr/>
          <p:nvPr/>
        </p:nvSpPr>
        <p:spPr>
          <a:xfrm>
            <a:off x="8366760" y="4709160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significant</a:t>
            </a:r>
            <a:endParaRPr lang="en-US" sz="1500" dirty="0"/>
          </a:p>
        </p:txBody>
      </p:sp>
      <p:sp>
        <p:nvSpPr>
          <p:cNvPr id="32" name="Text 2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33" name="Text 2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PHYSICAL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Presentation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" y="2624328"/>
            <a:ext cx="466344" cy="4663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063240" y="228600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886968" y="3703320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886968" y="4069080"/>
            <a:ext cx="28803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Thin, lean, middle-aged female lying comfortably in bed</a:t>
            </a:r>
            <a:endParaRPr lang="en-US" sz="1650" dirty="0"/>
          </a:p>
        </p:txBody>
      </p:sp>
      <p:sp>
        <p:nvSpPr>
          <p:cNvPr id="12" name="Shape 8"/>
          <p:cNvSpPr/>
          <p:nvPr/>
        </p:nvSpPr>
        <p:spPr>
          <a:xfrm>
            <a:off x="4407408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773168" y="2331720"/>
            <a:ext cx="1051560" cy="1051560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5776" y="2624328"/>
            <a:ext cx="466344" cy="46634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67728" y="228600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7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4000" dirty="0"/>
          </a:p>
        </p:txBody>
      </p:sp>
      <p:sp>
        <p:nvSpPr>
          <p:cNvPr id="16" name="Text 11"/>
          <p:cNvSpPr/>
          <p:nvPr/>
        </p:nvSpPr>
        <p:spPr>
          <a:xfrm>
            <a:off x="4791456" y="3703320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2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4791456" y="4069080"/>
            <a:ext cx="28803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cannula in situ — right hand</a:t>
            </a:r>
            <a:endParaRPr lang="en-US" sz="1650" dirty="0"/>
          </a:p>
        </p:txBody>
      </p:sp>
      <p:sp>
        <p:nvSpPr>
          <p:cNvPr id="18" name="Shape 13"/>
          <p:cNvSpPr/>
          <p:nvPr/>
        </p:nvSpPr>
        <p:spPr>
          <a:xfrm>
            <a:off x="8311896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8677656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0264" y="2624328"/>
            <a:ext cx="466344" cy="46634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0872216" y="228600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4000" dirty="0"/>
          </a:p>
        </p:txBody>
      </p:sp>
      <p:sp>
        <p:nvSpPr>
          <p:cNvPr id="22" name="Text 16"/>
          <p:cNvSpPr/>
          <p:nvPr/>
        </p:nvSpPr>
        <p:spPr>
          <a:xfrm>
            <a:off x="8695944" y="3703320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CONSCIOUSNESS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8695944" y="4069080"/>
            <a:ext cx="28803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&amp; oriented to time, place and person</a:t>
            </a:r>
            <a:endParaRPr lang="en-US" sz="1650" dirty="0"/>
          </a:p>
        </p:txBody>
      </p:sp>
      <p:sp>
        <p:nvSpPr>
          <p:cNvPr id="24" name="Text 18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Cardiovascular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CVS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1280160"/>
          </a:xfrm>
          <a:prstGeom prst="roundRect">
            <a:avLst>
              <a:gd name="adj" fmla="val 7143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257800" y="2075688"/>
            <a:ext cx="694944" cy="6949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1536" y="2249424"/>
            <a:ext cx="347472" cy="34747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172200" y="2002536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6172200" y="233172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visible pulsations or striae marks</a:t>
            </a:r>
            <a:endParaRPr lang="en-US" sz="1900" dirty="0"/>
          </a:p>
        </p:txBody>
      </p:sp>
      <p:sp>
        <p:nvSpPr>
          <p:cNvPr id="22" name="Shape 17"/>
          <p:cNvSpPr/>
          <p:nvPr/>
        </p:nvSpPr>
        <p:spPr>
          <a:xfrm>
            <a:off x="4937760" y="3246120"/>
            <a:ext cx="6766560" cy="1280160"/>
          </a:xfrm>
          <a:prstGeom prst="roundRect">
            <a:avLst>
              <a:gd name="adj" fmla="val 7143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257800" y="3538728"/>
            <a:ext cx="694944" cy="6949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1536" y="3712464"/>
            <a:ext cx="347472" cy="347472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172200" y="3465576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PALPATION</a:t>
            </a:r>
            <a:endParaRPr lang="en-US" sz="1250" dirty="0"/>
          </a:p>
        </p:txBody>
      </p:sp>
      <p:sp>
        <p:nvSpPr>
          <p:cNvPr id="26" name="Text 20"/>
          <p:cNvSpPr/>
          <p:nvPr/>
        </p:nvSpPr>
        <p:spPr>
          <a:xfrm>
            <a:off x="6172200" y="379476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Examined</a:t>
            </a:r>
            <a:endParaRPr lang="en-US" sz="1900" dirty="0"/>
          </a:p>
        </p:txBody>
      </p:sp>
      <p:sp>
        <p:nvSpPr>
          <p:cNvPr id="27" name="Shape 21"/>
          <p:cNvSpPr/>
          <p:nvPr/>
        </p:nvSpPr>
        <p:spPr>
          <a:xfrm>
            <a:off x="4937760" y="4709160"/>
            <a:ext cx="6766560" cy="1280160"/>
          </a:xfrm>
          <a:prstGeom prst="roundRect">
            <a:avLst>
              <a:gd name="adj" fmla="val 7143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5257800" y="5001768"/>
            <a:ext cx="694944" cy="6949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1536" y="5175504"/>
            <a:ext cx="347472" cy="347472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6172200" y="4928616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AUSCULTATION</a:t>
            </a:r>
            <a:endParaRPr lang="en-US" sz="1250" dirty="0"/>
          </a:p>
        </p:txBody>
      </p:sp>
      <p:sp>
        <p:nvSpPr>
          <p:cNvPr id="31" name="Text 24"/>
          <p:cNvSpPr/>
          <p:nvPr/>
        </p:nvSpPr>
        <p:spPr>
          <a:xfrm>
            <a:off x="6172200" y="525780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Examined</a:t>
            </a:r>
            <a:endParaRPr lang="en-US" sz="1900" dirty="0"/>
          </a:p>
        </p:txBody>
      </p:sp>
      <p:sp>
        <p:nvSpPr>
          <p:cNvPr id="32" name="Text 2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33" name="Text 26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Respiratory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Respiratory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Air entry equal &amp; adequate bilaterally</a:t>
            </a:r>
            <a:endParaRPr lang="en-US" sz="30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 chest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Central Nervous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CNS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Neurological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UNREMARKABLE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Gastrointestinal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Abdominal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UNREMARKABLE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ELECTROCARDIOGRAM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12-Lead ECG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627632"/>
            <a:ext cx="11183112" cy="1078992"/>
          </a:xfrm>
          <a:prstGeom prst="roundRect">
            <a:avLst>
              <a:gd name="adj" fmla="val 10169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1856232"/>
            <a:ext cx="621792" cy="621792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2011680"/>
            <a:ext cx="310896" cy="31089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600200" y="1783080"/>
            <a:ext cx="9921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 with Rapid Ventricular Response</a:t>
            </a:r>
            <a:endParaRPr lang="en-US" sz="2800" dirty="0"/>
          </a:p>
        </p:txBody>
      </p:sp>
      <p:sp>
        <p:nvSpPr>
          <p:cNvPr id="10" name="Text 6"/>
          <p:cNvSpPr/>
          <p:nvPr/>
        </p:nvSpPr>
        <p:spPr>
          <a:xfrm>
            <a:off x="1600200" y="2331720"/>
            <a:ext cx="9921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Abnormal rhythm ECG · 06-Jul-2026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502920" y="2889504"/>
            <a:ext cx="3246120" cy="2615184"/>
          </a:xfrm>
          <a:prstGeom prst="roundRect">
            <a:avLst>
              <a:gd name="adj" fmla="val 419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777240" y="31455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VENTRICULAR RATE</a:t>
            </a:r>
            <a:endParaRPr lang="en-US" sz="125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3127248"/>
            <a:ext cx="292608" cy="29260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77240" y="3511296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146</a:t>
            </a:r>
            <a:pPr algn="l" indent="0" marL="0">
              <a:buNone/>
            </a:pPr>
            <a:r>
              <a:rPr lang="en-US" sz="18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bpm</a:t>
            </a:r>
            <a:endParaRPr lang="en-US" sz="4400" dirty="0"/>
          </a:p>
        </p:txBody>
      </p:sp>
      <p:sp>
        <p:nvSpPr>
          <p:cNvPr id="15" name="Shape 10"/>
          <p:cNvSpPr/>
          <p:nvPr/>
        </p:nvSpPr>
        <p:spPr>
          <a:xfrm>
            <a:off x="777240" y="45262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FF4D6D"/>
          </a:solidFill>
          <a:ln/>
        </p:spPr>
      </p:sp>
      <p:sp>
        <p:nvSpPr>
          <p:cNvPr id="16" name="Text 11"/>
          <p:cNvSpPr/>
          <p:nvPr/>
        </p:nvSpPr>
        <p:spPr>
          <a:xfrm>
            <a:off x="777240" y="45262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868680" y="5193792"/>
            <a:ext cx="854964" cy="0"/>
          </a:xfrm>
          <a:prstGeom prst="line">
            <a:avLst/>
          </a:prstGeom>
          <a:noFill/>
          <a:ln w="28575">
            <a:solidFill>
              <a:srgbClr val="FF4D6D">
                <a:alpha val="75000"/>
              </a:srgbClr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 flipV="1">
            <a:off x="1723644" y="5047488"/>
            <a:ext cx="150876" cy="146304"/>
          </a:xfrm>
          <a:prstGeom prst="line">
            <a:avLst/>
          </a:prstGeom>
          <a:noFill/>
          <a:ln w="28575">
            <a:solidFill>
              <a:srgbClr val="FF4D6D">
                <a:alpha val="75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1874520" y="5047488"/>
            <a:ext cx="150876" cy="457200"/>
          </a:xfrm>
          <a:prstGeom prst="line">
            <a:avLst/>
          </a:prstGeom>
          <a:noFill/>
          <a:ln w="28575">
            <a:solidFill>
              <a:srgbClr val="FF4D6D">
                <a:alpha val="7500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 flipV="1">
            <a:off x="2025396" y="4690872"/>
            <a:ext cx="150876" cy="813816"/>
          </a:xfrm>
          <a:prstGeom prst="line">
            <a:avLst/>
          </a:prstGeom>
          <a:noFill/>
          <a:ln w="28575">
            <a:solidFill>
              <a:srgbClr val="FF4D6D">
                <a:alpha val="7500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2176272" y="4690872"/>
            <a:ext cx="150876" cy="685800"/>
          </a:xfrm>
          <a:prstGeom prst="line">
            <a:avLst/>
          </a:prstGeom>
          <a:noFill/>
          <a:ln w="28575">
            <a:solidFill>
              <a:srgbClr val="FF4D6D">
                <a:alpha val="75000"/>
              </a:srgbClr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 flipV="1">
            <a:off x="2327148" y="5193792"/>
            <a:ext cx="150876" cy="182880"/>
          </a:xfrm>
          <a:prstGeom prst="line">
            <a:avLst/>
          </a:prstGeom>
          <a:noFill/>
          <a:ln w="28575">
            <a:solidFill>
              <a:srgbClr val="FF4D6D">
                <a:alpha val="75000"/>
              </a:srgbClr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2478024" y="5193792"/>
            <a:ext cx="905256" cy="0"/>
          </a:xfrm>
          <a:prstGeom prst="line">
            <a:avLst/>
          </a:prstGeom>
          <a:noFill/>
          <a:ln w="28575">
            <a:solidFill>
              <a:srgbClr val="FF4D6D">
                <a:alpha val="75000"/>
              </a:srgbClr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3977640" y="2889504"/>
            <a:ext cx="3739896" cy="777240"/>
          </a:xfrm>
          <a:prstGeom prst="roundRect">
            <a:avLst>
              <a:gd name="adj" fmla="val 1176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4206240" y="3008376"/>
            <a:ext cx="3328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</a:t>
            </a:r>
            <a:endParaRPr lang="en-US" sz="1100" dirty="0"/>
          </a:p>
        </p:txBody>
      </p:sp>
      <p:sp>
        <p:nvSpPr>
          <p:cNvPr id="26" name="Text 21"/>
          <p:cNvSpPr/>
          <p:nvPr/>
        </p:nvSpPr>
        <p:spPr>
          <a:xfrm>
            <a:off x="4206240" y="3236976"/>
            <a:ext cx="33284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(irregularly irregular)</a:t>
            </a:r>
            <a:endParaRPr lang="en-US" sz="1300" dirty="0"/>
          </a:p>
        </p:txBody>
      </p:sp>
      <p:sp>
        <p:nvSpPr>
          <p:cNvPr id="27" name="Shape 22"/>
          <p:cNvSpPr/>
          <p:nvPr/>
        </p:nvSpPr>
        <p:spPr>
          <a:xfrm>
            <a:off x="7946136" y="2889504"/>
            <a:ext cx="3739896" cy="777240"/>
          </a:xfrm>
          <a:prstGeom prst="roundRect">
            <a:avLst>
              <a:gd name="adj" fmla="val 1176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8174736" y="3008376"/>
            <a:ext cx="3328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WAVES</a:t>
            </a:r>
            <a:endParaRPr lang="en-US" sz="1100" dirty="0"/>
          </a:p>
        </p:txBody>
      </p:sp>
      <p:sp>
        <p:nvSpPr>
          <p:cNvPr id="29" name="Text 24"/>
          <p:cNvSpPr/>
          <p:nvPr/>
        </p:nvSpPr>
        <p:spPr>
          <a:xfrm>
            <a:off x="8174736" y="3236976"/>
            <a:ext cx="33284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Absent (no organised atrial activity)</a:t>
            </a:r>
            <a:endParaRPr lang="en-US" sz="1300" dirty="0"/>
          </a:p>
        </p:txBody>
      </p:sp>
      <p:sp>
        <p:nvSpPr>
          <p:cNvPr id="30" name="Shape 25"/>
          <p:cNvSpPr/>
          <p:nvPr/>
        </p:nvSpPr>
        <p:spPr>
          <a:xfrm>
            <a:off x="3977640" y="3808476"/>
            <a:ext cx="3739896" cy="777240"/>
          </a:xfrm>
          <a:prstGeom prst="roundRect">
            <a:avLst>
              <a:gd name="adj" fmla="val 1176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4206240" y="3927348"/>
            <a:ext cx="3328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INTERVAL</a:t>
            </a:r>
            <a:endParaRPr lang="en-US" sz="1100" dirty="0"/>
          </a:p>
        </p:txBody>
      </p:sp>
      <p:sp>
        <p:nvSpPr>
          <p:cNvPr id="32" name="Text 27"/>
          <p:cNvSpPr/>
          <p:nvPr/>
        </p:nvSpPr>
        <p:spPr>
          <a:xfrm>
            <a:off x="4206240" y="4155948"/>
            <a:ext cx="33284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measurable</a:t>
            </a:r>
            <a:endParaRPr lang="en-US" sz="1300" dirty="0"/>
          </a:p>
        </p:txBody>
      </p:sp>
      <p:sp>
        <p:nvSpPr>
          <p:cNvPr id="33" name="Shape 28"/>
          <p:cNvSpPr/>
          <p:nvPr/>
        </p:nvSpPr>
        <p:spPr>
          <a:xfrm>
            <a:off x="7946136" y="3808476"/>
            <a:ext cx="3739896" cy="777240"/>
          </a:xfrm>
          <a:prstGeom prst="roundRect">
            <a:avLst>
              <a:gd name="adj" fmla="val 1176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8174736" y="3927348"/>
            <a:ext cx="3328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QRS DURATION</a:t>
            </a:r>
            <a:endParaRPr lang="en-US" sz="1100" dirty="0"/>
          </a:p>
        </p:txBody>
      </p:sp>
      <p:sp>
        <p:nvSpPr>
          <p:cNvPr id="35" name="Text 30"/>
          <p:cNvSpPr/>
          <p:nvPr/>
        </p:nvSpPr>
        <p:spPr>
          <a:xfrm>
            <a:off x="8174736" y="4155948"/>
            <a:ext cx="33284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ms</a:t>
            </a:r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normal</a:t>
            </a:r>
            <a:endParaRPr lang="en-US" sz="1300" dirty="0"/>
          </a:p>
        </p:txBody>
      </p:sp>
      <p:sp>
        <p:nvSpPr>
          <p:cNvPr id="36" name="Shape 31"/>
          <p:cNvSpPr/>
          <p:nvPr/>
        </p:nvSpPr>
        <p:spPr>
          <a:xfrm>
            <a:off x="3977640" y="4727448"/>
            <a:ext cx="3739896" cy="777240"/>
          </a:xfrm>
          <a:prstGeom prst="roundRect">
            <a:avLst>
              <a:gd name="adj" fmla="val 1176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4206240" y="4846320"/>
            <a:ext cx="3328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 / QTC</a:t>
            </a:r>
            <a:endParaRPr lang="en-US" sz="1100" dirty="0"/>
          </a:p>
        </p:txBody>
      </p:sp>
      <p:sp>
        <p:nvSpPr>
          <p:cNvPr id="38" name="Text 33"/>
          <p:cNvSpPr/>
          <p:nvPr/>
        </p:nvSpPr>
        <p:spPr>
          <a:xfrm>
            <a:off x="4206240" y="5074920"/>
            <a:ext cx="33284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298 / 382 ms</a:t>
            </a:r>
            <a:endParaRPr lang="en-US" sz="1300" dirty="0"/>
          </a:p>
        </p:txBody>
      </p:sp>
      <p:sp>
        <p:nvSpPr>
          <p:cNvPr id="39" name="Shape 34"/>
          <p:cNvSpPr/>
          <p:nvPr/>
        </p:nvSpPr>
        <p:spPr>
          <a:xfrm>
            <a:off x="7946136" y="4727448"/>
            <a:ext cx="3739896" cy="777240"/>
          </a:xfrm>
          <a:prstGeom prst="roundRect">
            <a:avLst>
              <a:gd name="adj" fmla="val 1176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40" name="Text 35"/>
          <p:cNvSpPr/>
          <p:nvPr/>
        </p:nvSpPr>
        <p:spPr>
          <a:xfrm>
            <a:off x="8174736" y="4846320"/>
            <a:ext cx="3328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QRS AXIS</a:t>
            </a:r>
            <a:endParaRPr lang="en-US" sz="1100" dirty="0"/>
          </a:p>
        </p:txBody>
      </p:sp>
      <p:sp>
        <p:nvSpPr>
          <p:cNvPr id="41" name="Text 36"/>
          <p:cNvSpPr/>
          <p:nvPr/>
        </p:nvSpPr>
        <p:spPr>
          <a:xfrm>
            <a:off x="8174736" y="5074920"/>
            <a:ext cx="33284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38°</a:t>
            </a:r>
            <a:endParaRPr lang="en-US" sz="1300" dirty="0"/>
          </a:p>
        </p:txBody>
      </p:sp>
      <p:sp>
        <p:nvSpPr>
          <p:cNvPr id="42" name="Shape 37"/>
          <p:cNvSpPr/>
          <p:nvPr/>
        </p:nvSpPr>
        <p:spPr>
          <a:xfrm>
            <a:off x="502920" y="5687568"/>
            <a:ext cx="11183112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4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5797296"/>
            <a:ext cx="237744" cy="237744"/>
          </a:xfrm>
          <a:prstGeom prst="rect">
            <a:avLst/>
          </a:prstGeom>
        </p:spPr>
      </p:pic>
      <p:sp>
        <p:nvSpPr>
          <p:cNvPr id="44" name="Text 38"/>
          <p:cNvSpPr/>
          <p:nvPr/>
        </p:nvSpPr>
        <p:spPr>
          <a:xfrm>
            <a:off x="1097280" y="568756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atrial fibrillation with a fast ventricular rate.</a:t>
            </a:r>
            <a:endParaRPr lang="en-US" sz="1350" dirty="0"/>
          </a:p>
        </p:txBody>
      </p:sp>
      <p:sp>
        <p:nvSpPr>
          <p:cNvPr id="45" name="Text 3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46" name="Text 4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HAEMATOLOGY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 Blood Count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485632" y="10241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date: 10-Jun-2022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19072"/>
            <a:ext cx="5449824" cy="384048"/>
          </a:xfrm>
          <a:prstGeom prst="roundRect">
            <a:avLst>
              <a:gd name="adj" fmla="val 19048"/>
            </a:avLst>
          </a:prstGeom>
          <a:solidFill>
            <a:srgbClr val="A4133C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1719072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1984248" y="171907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3282696" y="171907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RANGE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4855464" y="171907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02920" y="217627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13" name="Shape 10"/>
          <p:cNvSpPr/>
          <p:nvPr/>
        </p:nvSpPr>
        <p:spPr>
          <a:xfrm>
            <a:off x="502920" y="26791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0080" y="21762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Haemoglobin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984248" y="21762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10.6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3282696" y="21762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11.5–16.5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4855464" y="21762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g/dL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02920" y="318211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" y="267919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WBC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984248" y="267919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6.94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3282696" y="267919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4.0–11.0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855464" y="267919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×10³/µL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02920" y="318211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24" name="Shape 21"/>
          <p:cNvSpPr/>
          <p:nvPr/>
        </p:nvSpPr>
        <p:spPr>
          <a:xfrm>
            <a:off x="502920" y="368503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0080" y="318211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Neutrophils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1984248" y="318211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1350" dirty="0"/>
          </a:p>
        </p:txBody>
      </p:sp>
      <p:sp>
        <p:nvSpPr>
          <p:cNvPr id="27" name="Text 24"/>
          <p:cNvSpPr/>
          <p:nvPr/>
        </p:nvSpPr>
        <p:spPr>
          <a:xfrm>
            <a:off x="3282696" y="318211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40–75</a:t>
            </a:r>
            <a:endParaRPr lang="en-US" sz="1250" dirty="0"/>
          </a:p>
        </p:txBody>
      </p:sp>
      <p:sp>
        <p:nvSpPr>
          <p:cNvPr id="28" name="Text 25"/>
          <p:cNvSpPr/>
          <p:nvPr/>
        </p:nvSpPr>
        <p:spPr>
          <a:xfrm>
            <a:off x="4855464" y="318211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02920" y="418795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40080" y="368503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Lymphocytes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1984248" y="368503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350" dirty="0"/>
          </a:p>
        </p:txBody>
      </p:sp>
      <p:sp>
        <p:nvSpPr>
          <p:cNvPr id="32" name="Text 29"/>
          <p:cNvSpPr/>
          <p:nvPr/>
        </p:nvSpPr>
        <p:spPr>
          <a:xfrm>
            <a:off x="3282696" y="368503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20–45</a:t>
            </a:r>
            <a:endParaRPr lang="en-US" sz="1250" dirty="0"/>
          </a:p>
        </p:txBody>
      </p:sp>
      <p:sp>
        <p:nvSpPr>
          <p:cNvPr id="33" name="Text 30"/>
          <p:cNvSpPr/>
          <p:nvPr/>
        </p:nvSpPr>
        <p:spPr>
          <a:xfrm>
            <a:off x="4855464" y="368503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502920" y="418795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35" name="Shape 32"/>
          <p:cNvSpPr/>
          <p:nvPr/>
        </p:nvSpPr>
        <p:spPr>
          <a:xfrm>
            <a:off x="502920" y="469087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40080" y="418795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Monocytes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1984248" y="418795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50" dirty="0"/>
          </a:p>
        </p:txBody>
      </p:sp>
      <p:sp>
        <p:nvSpPr>
          <p:cNvPr id="38" name="Text 35"/>
          <p:cNvSpPr/>
          <p:nvPr/>
        </p:nvSpPr>
        <p:spPr>
          <a:xfrm>
            <a:off x="3282696" y="418795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2–10</a:t>
            </a:r>
            <a:endParaRPr lang="en-US" sz="1250" dirty="0"/>
          </a:p>
        </p:txBody>
      </p:sp>
      <p:sp>
        <p:nvSpPr>
          <p:cNvPr id="39" name="Text 36"/>
          <p:cNvSpPr/>
          <p:nvPr/>
        </p:nvSpPr>
        <p:spPr>
          <a:xfrm>
            <a:off x="4855464" y="418795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502920" y="51937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40080" y="46908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Eosinophils</a:t>
            </a:r>
            <a:endParaRPr lang="en-US" sz="1300" dirty="0"/>
          </a:p>
        </p:txBody>
      </p:sp>
      <p:sp>
        <p:nvSpPr>
          <p:cNvPr id="42" name="Text 39"/>
          <p:cNvSpPr/>
          <p:nvPr/>
        </p:nvSpPr>
        <p:spPr>
          <a:xfrm>
            <a:off x="1984248" y="46908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HIGH</a:t>
            </a:r>
            <a:endParaRPr lang="en-US" sz="1350" dirty="0"/>
          </a:p>
        </p:txBody>
      </p:sp>
      <p:sp>
        <p:nvSpPr>
          <p:cNvPr id="43" name="Text 40"/>
          <p:cNvSpPr/>
          <p:nvPr/>
        </p:nvSpPr>
        <p:spPr>
          <a:xfrm>
            <a:off x="3282696" y="46908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1–6</a:t>
            </a:r>
            <a:endParaRPr lang="en-US" sz="1250" dirty="0"/>
          </a:p>
        </p:txBody>
      </p:sp>
      <p:sp>
        <p:nvSpPr>
          <p:cNvPr id="44" name="Text 41"/>
          <p:cNvSpPr/>
          <p:nvPr/>
        </p:nvSpPr>
        <p:spPr>
          <a:xfrm>
            <a:off x="4855464" y="46908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6236208" y="1719072"/>
            <a:ext cx="5449824" cy="384048"/>
          </a:xfrm>
          <a:prstGeom prst="roundRect">
            <a:avLst>
              <a:gd name="adj" fmla="val 19048"/>
            </a:avLst>
          </a:prstGeom>
          <a:solidFill>
            <a:srgbClr val="A4133C"/>
          </a:solidFill>
          <a:ln/>
        </p:spPr>
      </p:sp>
      <p:sp>
        <p:nvSpPr>
          <p:cNvPr id="46" name="Text 43"/>
          <p:cNvSpPr/>
          <p:nvPr/>
        </p:nvSpPr>
        <p:spPr>
          <a:xfrm>
            <a:off x="6373368" y="1719072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50" dirty="0"/>
          </a:p>
        </p:txBody>
      </p:sp>
      <p:sp>
        <p:nvSpPr>
          <p:cNvPr id="47" name="Text 44"/>
          <p:cNvSpPr/>
          <p:nvPr/>
        </p:nvSpPr>
        <p:spPr>
          <a:xfrm>
            <a:off x="7717536" y="171907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150" dirty="0"/>
          </a:p>
        </p:txBody>
      </p:sp>
      <p:sp>
        <p:nvSpPr>
          <p:cNvPr id="48" name="Text 45"/>
          <p:cNvSpPr/>
          <p:nvPr/>
        </p:nvSpPr>
        <p:spPr>
          <a:xfrm>
            <a:off x="9015984" y="171907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RANGE</a:t>
            </a:r>
            <a:endParaRPr lang="en-US" sz="1150" dirty="0"/>
          </a:p>
        </p:txBody>
      </p:sp>
      <p:sp>
        <p:nvSpPr>
          <p:cNvPr id="49" name="Text 46"/>
          <p:cNvSpPr/>
          <p:nvPr/>
        </p:nvSpPr>
        <p:spPr>
          <a:xfrm>
            <a:off x="10588752" y="171907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</a:t>
            </a:r>
            <a:endParaRPr lang="en-US" sz="1150" dirty="0"/>
          </a:p>
        </p:txBody>
      </p:sp>
      <p:sp>
        <p:nvSpPr>
          <p:cNvPr id="50" name="Shape 47"/>
          <p:cNvSpPr/>
          <p:nvPr/>
        </p:nvSpPr>
        <p:spPr>
          <a:xfrm>
            <a:off x="6236208" y="217627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51" name="Shape 48"/>
          <p:cNvSpPr/>
          <p:nvPr/>
        </p:nvSpPr>
        <p:spPr>
          <a:xfrm>
            <a:off x="6236208" y="26791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373368" y="21762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Platelets</a:t>
            </a:r>
            <a:endParaRPr lang="en-US" sz="1300" dirty="0"/>
          </a:p>
        </p:txBody>
      </p:sp>
      <p:sp>
        <p:nvSpPr>
          <p:cNvPr id="53" name="Text 50"/>
          <p:cNvSpPr/>
          <p:nvPr/>
        </p:nvSpPr>
        <p:spPr>
          <a:xfrm>
            <a:off x="7717536" y="21762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296</a:t>
            </a:r>
            <a:endParaRPr lang="en-US" sz="1350" dirty="0"/>
          </a:p>
        </p:txBody>
      </p:sp>
      <p:sp>
        <p:nvSpPr>
          <p:cNvPr id="54" name="Text 51"/>
          <p:cNvSpPr/>
          <p:nvPr/>
        </p:nvSpPr>
        <p:spPr>
          <a:xfrm>
            <a:off x="9015984" y="21762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150–400</a:t>
            </a:r>
            <a:endParaRPr lang="en-US" sz="1250" dirty="0"/>
          </a:p>
        </p:txBody>
      </p:sp>
      <p:sp>
        <p:nvSpPr>
          <p:cNvPr id="55" name="Text 52"/>
          <p:cNvSpPr/>
          <p:nvPr/>
        </p:nvSpPr>
        <p:spPr>
          <a:xfrm>
            <a:off x="10588752" y="21762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×10³/µL</a:t>
            </a:r>
            <a:endParaRPr lang="en-US" sz="1200" dirty="0"/>
          </a:p>
        </p:txBody>
      </p:sp>
      <p:sp>
        <p:nvSpPr>
          <p:cNvPr id="56" name="Shape 53"/>
          <p:cNvSpPr/>
          <p:nvPr/>
        </p:nvSpPr>
        <p:spPr>
          <a:xfrm>
            <a:off x="6236208" y="318211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6373368" y="267919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RBC</a:t>
            </a:r>
            <a:endParaRPr lang="en-US" sz="1300" dirty="0"/>
          </a:p>
        </p:txBody>
      </p:sp>
      <p:sp>
        <p:nvSpPr>
          <p:cNvPr id="58" name="Text 55"/>
          <p:cNvSpPr/>
          <p:nvPr/>
        </p:nvSpPr>
        <p:spPr>
          <a:xfrm>
            <a:off x="7717536" y="267919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3.53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59" name="Text 56"/>
          <p:cNvSpPr/>
          <p:nvPr/>
        </p:nvSpPr>
        <p:spPr>
          <a:xfrm>
            <a:off x="9015984" y="267919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3.6–5.8</a:t>
            </a:r>
            <a:endParaRPr lang="en-US" sz="1250" dirty="0"/>
          </a:p>
        </p:txBody>
      </p:sp>
      <p:sp>
        <p:nvSpPr>
          <p:cNvPr id="60" name="Text 57"/>
          <p:cNvSpPr/>
          <p:nvPr/>
        </p:nvSpPr>
        <p:spPr>
          <a:xfrm>
            <a:off x="10588752" y="267919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×10⁶/µL</a:t>
            </a:r>
            <a:endParaRPr lang="en-US" sz="1200" dirty="0"/>
          </a:p>
        </p:txBody>
      </p:sp>
      <p:sp>
        <p:nvSpPr>
          <p:cNvPr id="61" name="Shape 58"/>
          <p:cNvSpPr/>
          <p:nvPr/>
        </p:nvSpPr>
        <p:spPr>
          <a:xfrm>
            <a:off x="6236208" y="318211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62" name="Shape 59"/>
          <p:cNvSpPr/>
          <p:nvPr/>
        </p:nvSpPr>
        <p:spPr>
          <a:xfrm>
            <a:off x="6236208" y="368503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6373368" y="318211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MCV</a:t>
            </a:r>
            <a:endParaRPr lang="en-US" sz="1300" dirty="0"/>
          </a:p>
        </p:txBody>
      </p:sp>
      <p:sp>
        <p:nvSpPr>
          <p:cNvPr id="64" name="Text 61"/>
          <p:cNvSpPr/>
          <p:nvPr/>
        </p:nvSpPr>
        <p:spPr>
          <a:xfrm>
            <a:off x="7717536" y="318211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85.7</a:t>
            </a:r>
            <a:endParaRPr lang="en-US" sz="1350" dirty="0"/>
          </a:p>
        </p:txBody>
      </p:sp>
      <p:sp>
        <p:nvSpPr>
          <p:cNvPr id="65" name="Text 62"/>
          <p:cNvSpPr/>
          <p:nvPr/>
        </p:nvSpPr>
        <p:spPr>
          <a:xfrm>
            <a:off x="9015984" y="318211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80–100</a:t>
            </a:r>
            <a:endParaRPr lang="en-US" sz="1250" dirty="0"/>
          </a:p>
        </p:txBody>
      </p:sp>
      <p:sp>
        <p:nvSpPr>
          <p:cNvPr id="66" name="Text 63"/>
          <p:cNvSpPr/>
          <p:nvPr/>
        </p:nvSpPr>
        <p:spPr>
          <a:xfrm>
            <a:off x="10588752" y="318211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</a:t>
            </a:r>
            <a:endParaRPr lang="en-US" sz="1200" dirty="0"/>
          </a:p>
        </p:txBody>
      </p:sp>
      <p:sp>
        <p:nvSpPr>
          <p:cNvPr id="67" name="Shape 64"/>
          <p:cNvSpPr/>
          <p:nvPr/>
        </p:nvSpPr>
        <p:spPr>
          <a:xfrm>
            <a:off x="6236208" y="418795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6373368" y="368503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MCH</a:t>
            </a:r>
            <a:endParaRPr lang="en-US" sz="1300" dirty="0"/>
          </a:p>
        </p:txBody>
      </p:sp>
      <p:sp>
        <p:nvSpPr>
          <p:cNvPr id="69" name="Text 66"/>
          <p:cNvSpPr/>
          <p:nvPr/>
        </p:nvSpPr>
        <p:spPr>
          <a:xfrm>
            <a:off x="7717536" y="368503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30.0</a:t>
            </a:r>
            <a:endParaRPr lang="en-US" sz="1350" dirty="0"/>
          </a:p>
        </p:txBody>
      </p:sp>
      <p:sp>
        <p:nvSpPr>
          <p:cNvPr id="70" name="Text 67"/>
          <p:cNvSpPr/>
          <p:nvPr/>
        </p:nvSpPr>
        <p:spPr>
          <a:xfrm>
            <a:off x="9015984" y="368503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27–34</a:t>
            </a:r>
            <a:endParaRPr lang="en-US" sz="1250" dirty="0"/>
          </a:p>
        </p:txBody>
      </p:sp>
      <p:sp>
        <p:nvSpPr>
          <p:cNvPr id="71" name="Text 68"/>
          <p:cNvSpPr/>
          <p:nvPr/>
        </p:nvSpPr>
        <p:spPr>
          <a:xfrm>
            <a:off x="10588752" y="368503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</a:t>
            </a:r>
            <a:endParaRPr lang="en-US" sz="1200" dirty="0"/>
          </a:p>
        </p:txBody>
      </p:sp>
      <p:sp>
        <p:nvSpPr>
          <p:cNvPr id="72" name="Shape 69"/>
          <p:cNvSpPr/>
          <p:nvPr/>
        </p:nvSpPr>
        <p:spPr>
          <a:xfrm>
            <a:off x="6236208" y="418795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73" name="Shape 70"/>
          <p:cNvSpPr/>
          <p:nvPr/>
        </p:nvSpPr>
        <p:spPr>
          <a:xfrm>
            <a:off x="6236208" y="469087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6373368" y="418795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MCHC</a:t>
            </a:r>
            <a:endParaRPr lang="en-US" sz="1300" dirty="0"/>
          </a:p>
        </p:txBody>
      </p:sp>
      <p:sp>
        <p:nvSpPr>
          <p:cNvPr id="75" name="Text 72"/>
          <p:cNvSpPr/>
          <p:nvPr/>
        </p:nvSpPr>
        <p:spPr>
          <a:xfrm>
            <a:off x="7717536" y="418795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35.0</a:t>
            </a:r>
            <a:endParaRPr lang="en-US" sz="1350" dirty="0"/>
          </a:p>
        </p:txBody>
      </p:sp>
      <p:sp>
        <p:nvSpPr>
          <p:cNvPr id="76" name="Text 73"/>
          <p:cNvSpPr/>
          <p:nvPr/>
        </p:nvSpPr>
        <p:spPr>
          <a:xfrm>
            <a:off x="9015984" y="418795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30–35</a:t>
            </a:r>
            <a:endParaRPr lang="en-US" sz="1250" dirty="0"/>
          </a:p>
        </p:txBody>
      </p:sp>
      <p:sp>
        <p:nvSpPr>
          <p:cNvPr id="77" name="Text 74"/>
          <p:cNvSpPr/>
          <p:nvPr/>
        </p:nvSpPr>
        <p:spPr>
          <a:xfrm>
            <a:off x="10588752" y="418795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g/dL</a:t>
            </a:r>
            <a:endParaRPr lang="en-US" sz="1200" dirty="0"/>
          </a:p>
        </p:txBody>
      </p:sp>
      <p:sp>
        <p:nvSpPr>
          <p:cNvPr id="78" name="Shape 75"/>
          <p:cNvSpPr/>
          <p:nvPr/>
        </p:nvSpPr>
        <p:spPr>
          <a:xfrm>
            <a:off x="6236208" y="51937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79" name="Text 76"/>
          <p:cNvSpPr/>
          <p:nvPr/>
        </p:nvSpPr>
        <p:spPr>
          <a:xfrm>
            <a:off x="6373368" y="46908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HCT</a:t>
            </a:r>
            <a:endParaRPr lang="en-US" sz="1300" dirty="0"/>
          </a:p>
        </p:txBody>
      </p:sp>
      <p:sp>
        <p:nvSpPr>
          <p:cNvPr id="80" name="Text 77"/>
          <p:cNvSpPr/>
          <p:nvPr/>
        </p:nvSpPr>
        <p:spPr>
          <a:xfrm>
            <a:off x="7717536" y="46908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30.3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81" name="Text 78"/>
          <p:cNvSpPr/>
          <p:nvPr/>
        </p:nvSpPr>
        <p:spPr>
          <a:xfrm>
            <a:off x="9015984" y="46908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35–47</a:t>
            </a:r>
            <a:endParaRPr lang="en-US" sz="1250" dirty="0"/>
          </a:p>
        </p:txBody>
      </p:sp>
      <p:sp>
        <p:nvSpPr>
          <p:cNvPr id="82" name="Text 79"/>
          <p:cNvSpPr/>
          <p:nvPr/>
        </p:nvSpPr>
        <p:spPr>
          <a:xfrm>
            <a:off x="10588752" y="46908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83" name="Shape 80"/>
          <p:cNvSpPr/>
          <p:nvPr/>
        </p:nvSpPr>
        <p:spPr>
          <a:xfrm>
            <a:off x="502920" y="5431536"/>
            <a:ext cx="11183112" cy="658368"/>
          </a:xfrm>
          <a:prstGeom prst="roundRect">
            <a:avLst>
              <a:gd name="adj" fmla="val 16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4" name="Text 81"/>
          <p:cNvSpPr/>
          <p:nvPr/>
        </p:nvSpPr>
        <p:spPr>
          <a:xfrm>
            <a:off x="868680" y="543153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   </a:t>
            </a:r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Mild normocytic anaemia (low Hb, RBC &amp; HCT) with mild eosinophilia.</a:t>
            </a:r>
            <a:endParaRPr lang="en-US" sz="1500" dirty="0"/>
          </a:p>
        </p:txBody>
      </p:sp>
      <p:sp>
        <p:nvSpPr>
          <p:cNvPr id="85" name="Text 8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86" name="Text 83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ROUTINE CHEMISTRY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Renal, Electrolytes &amp; Viral Screen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485632" y="10241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date: 06-Jul-2026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RENAL FUNCTION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58952" y="2496312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60120" y="262432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Urea</a:t>
            </a:r>
            <a:endParaRPr lang="en-US" sz="13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4992" y="2642616"/>
            <a:ext cx="256032" cy="2560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60120" y="29260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mg/dL</a:t>
            </a:r>
            <a:endParaRPr lang="en-US" sz="2100" dirty="0"/>
          </a:p>
        </p:txBody>
      </p:sp>
      <p:sp>
        <p:nvSpPr>
          <p:cNvPr id="13" name="Text 9"/>
          <p:cNvSpPr/>
          <p:nvPr/>
        </p:nvSpPr>
        <p:spPr>
          <a:xfrm>
            <a:off x="960120" y="335584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16.6–48.6 mg/dL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758952" y="3794760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960120" y="3922776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Creatinine</a:t>
            </a:r>
            <a:endParaRPr lang="en-US" sz="135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4992" y="3941064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60120" y="42245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mg/dL</a:t>
            </a:r>
            <a:endParaRPr lang="en-US" sz="2100" dirty="0"/>
          </a:p>
        </p:txBody>
      </p:sp>
      <p:sp>
        <p:nvSpPr>
          <p:cNvPr id="18" name="Text 13"/>
          <p:cNvSpPr/>
          <p:nvPr/>
        </p:nvSpPr>
        <p:spPr>
          <a:xfrm>
            <a:off x="960120" y="46542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0.6–1.2 mg/dL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4288536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0" name="Text 15"/>
          <p:cNvSpPr/>
          <p:nvPr/>
        </p:nvSpPr>
        <p:spPr>
          <a:xfrm>
            <a:off x="4562856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SERUM ELECTROLYTES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4544568" y="2496312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745736" y="262432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Sodium</a:t>
            </a:r>
            <a:endParaRPr lang="en-US" sz="1350" dirty="0"/>
          </a:p>
        </p:txBody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0608" y="2642616"/>
            <a:ext cx="256032" cy="256032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4745736" y="29260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141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mmol/L</a:t>
            </a:r>
            <a:endParaRPr lang="en-US" sz="2100" dirty="0"/>
          </a:p>
        </p:txBody>
      </p:sp>
      <p:sp>
        <p:nvSpPr>
          <p:cNvPr id="25" name="Text 19"/>
          <p:cNvSpPr/>
          <p:nvPr/>
        </p:nvSpPr>
        <p:spPr>
          <a:xfrm>
            <a:off x="4745736" y="335584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135–155 mmol/L</a:t>
            </a:r>
            <a:endParaRPr lang="en-US" sz="1150" dirty="0"/>
          </a:p>
        </p:txBody>
      </p:sp>
      <p:sp>
        <p:nvSpPr>
          <p:cNvPr id="26" name="Shape 20"/>
          <p:cNvSpPr/>
          <p:nvPr/>
        </p:nvSpPr>
        <p:spPr>
          <a:xfrm>
            <a:off x="4544568" y="3794760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4745736" y="3922776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Potassium</a:t>
            </a:r>
            <a:endParaRPr lang="en-US" sz="1350" dirty="0"/>
          </a:p>
        </p:txBody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0608" y="3941064"/>
            <a:ext cx="256032" cy="256032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4745736" y="42245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3.9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mmol/L</a:t>
            </a:r>
            <a:endParaRPr lang="en-US" sz="2100" dirty="0"/>
          </a:p>
        </p:txBody>
      </p:sp>
      <p:sp>
        <p:nvSpPr>
          <p:cNvPr id="30" name="Text 23"/>
          <p:cNvSpPr/>
          <p:nvPr/>
        </p:nvSpPr>
        <p:spPr>
          <a:xfrm>
            <a:off x="4745736" y="46542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3.5–5.5 mmol/L</a:t>
            </a:r>
            <a:endParaRPr lang="en-US" sz="1150" dirty="0"/>
          </a:p>
        </p:txBody>
      </p:sp>
      <p:sp>
        <p:nvSpPr>
          <p:cNvPr id="31" name="Shape 24"/>
          <p:cNvSpPr/>
          <p:nvPr/>
        </p:nvSpPr>
        <p:spPr>
          <a:xfrm>
            <a:off x="8074152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Text 25"/>
          <p:cNvSpPr/>
          <p:nvPr/>
        </p:nvSpPr>
        <p:spPr>
          <a:xfrm>
            <a:off x="8348472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VIRAL SCREEN</a:t>
            </a:r>
            <a:endParaRPr lang="en-US" sz="1250" dirty="0"/>
          </a:p>
        </p:txBody>
      </p:sp>
      <p:sp>
        <p:nvSpPr>
          <p:cNvPr id="33" name="Shape 26"/>
          <p:cNvSpPr/>
          <p:nvPr/>
        </p:nvSpPr>
        <p:spPr>
          <a:xfrm>
            <a:off x="8330184" y="2532888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13064" y="2770632"/>
            <a:ext cx="274320" cy="274320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8933688" y="2532888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HBsAg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10113264" y="2724912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37" name="Text 29"/>
          <p:cNvSpPr/>
          <p:nvPr/>
        </p:nvSpPr>
        <p:spPr>
          <a:xfrm>
            <a:off x="10113264" y="2724912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38" name="Shape 30"/>
          <p:cNvSpPr/>
          <p:nvPr/>
        </p:nvSpPr>
        <p:spPr>
          <a:xfrm>
            <a:off x="8330184" y="3429000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13064" y="3666744"/>
            <a:ext cx="274320" cy="274320"/>
          </a:xfrm>
          <a:prstGeom prst="rect">
            <a:avLst/>
          </a:prstGeom>
        </p:spPr>
      </p:pic>
      <p:sp>
        <p:nvSpPr>
          <p:cNvPr id="40" name="Text 31"/>
          <p:cNvSpPr/>
          <p:nvPr/>
        </p:nvSpPr>
        <p:spPr>
          <a:xfrm>
            <a:off x="8933688" y="3429000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HIV Ag/Ab</a:t>
            </a:r>
            <a:endParaRPr lang="en-US" sz="1400" dirty="0"/>
          </a:p>
        </p:txBody>
      </p:sp>
      <p:sp>
        <p:nvSpPr>
          <p:cNvPr id="41" name="Shape 32"/>
          <p:cNvSpPr/>
          <p:nvPr/>
        </p:nvSpPr>
        <p:spPr>
          <a:xfrm>
            <a:off x="10113264" y="3621024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42" name="Text 33"/>
          <p:cNvSpPr/>
          <p:nvPr/>
        </p:nvSpPr>
        <p:spPr>
          <a:xfrm>
            <a:off x="10113264" y="3621024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43" name="Shape 34"/>
          <p:cNvSpPr/>
          <p:nvPr/>
        </p:nvSpPr>
        <p:spPr>
          <a:xfrm>
            <a:off x="8330184" y="4325112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4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13064" y="4562856"/>
            <a:ext cx="274320" cy="274320"/>
          </a:xfrm>
          <a:prstGeom prst="rect">
            <a:avLst/>
          </a:prstGeom>
        </p:spPr>
      </p:pic>
      <p:sp>
        <p:nvSpPr>
          <p:cNvPr id="45" name="Text 35"/>
          <p:cNvSpPr/>
          <p:nvPr/>
        </p:nvSpPr>
        <p:spPr>
          <a:xfrm>
            <a:off x="8933688" y="4325112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HCV (ICT)</a:t>
            </a:r>
            <a:endParaRPr lang="en-US" sz="1400" dirty="0"/>
          </a:p>
        </p:txBody>
      </p:sp>
      <p:sp>
        <p:nvSpPr>
          <p:cNvPr id="46" name="Shape 36"/>
          <p:cNvSpPr/>
          <p:nvPr/>
        </p:nvSpPr>
        <p:spPr>
          <a:xfrm>
            <a:off x="10113264" y="4517136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47" name="Text 37"/>
          <p:cNvSpPr/>
          <p:nvPr/>
        </p:nvSpPr>
        <p:spPr>
          <a:xfrm>
            <a:off x="10113264" y="4517136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48" name="Shape 38"/>
          <p:cNvSpPr/>
          <p:nvPr/>
        </p:nvSpPr>
        <p:spPr>
          <a:xfrm>
            <a:off x="502920" y="5431536"/>
            <a:ext cx="11183112" cy="658368"/>
          </a:xfrm>
          <a:prstGeom prst="roundRect">
            <a:avLst>
              <a:gd name="adj" fmla="val 16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49" name="Text 39"/>
          <p:cNvSpPr/>
          <p:nvPr/>
        </p:nvSpPr>
        <p:spPr>
          <a:xfrm>
            <a:off x="868680" y="543153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   </a:t>
            </a:r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renal function and electrolytes; viral screen negative.</a:t>
            </a:r>
            <a:endParaRPr lang="en-US" sz="1500" dirty="0"/>
          </a:p>
        </p:txBody>
      </p:sp>
      <p:sp>
        <p:nvSpPr>
          <p:cNvPr id="50" name="Text 4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51" name="Text 4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ECHOCARDIOGRAPHY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Echocardiography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028432" y="102412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27-Jan-2023 · Dr Ussama Munir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83080"/>
            <a:ext cx="3383280" cy="1783080"/>
          </a:xfrm>
          <a:prstGeom prst="roundRect">
            <a:avLst>
              <a:gd name="adj" fmla="val 6154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201168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EJECTION FRACTION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77240" y="2304288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LVEF 65%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777240" y="309067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(Normal 57–73%)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02920" y="3703320"/>
            <a:ext cx="3383280" cy="164592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77240" y="393192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 TO AF</a:t>
            </a:r>
            <a:endParaRPr lang="en-US" sz="115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315968"/>
            <a:ext cx="384048" cy="38404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298448" y="4224528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clot in LA / LV</a:t>
            </a:r>
            <a:endParaRPr lang="en-US" sz="2300" dirty="0"/>
          </a:p>
        </p:txBody>
      </p:sp>
      <p:sp>
        <p:nvSpPr>
          <p:cNvPr id="15" name="Shape 11"/>
          <p:cNvSpPr/>
          <p:nvPr/>
        </p:nvSpPr>
        <p:spPr>
          <a:xfrm>
            <a:off x="4114800" y="1783080"/>
            <a:ext cx="37033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4343400" y="1956816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MEASUREMENTS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4224528" y="2304288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18" name="Text 14"/>
          <p:cNvSpPr/>
          <p:nvPr/>
        </p:nvSpPr>
        <p:spPr>
          <a:xfrm>
            <a:off x="4343400" y="2304288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LVEF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30428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1350" dirty="0"/>
          </a:p>
        </p:txBody>
      </p:sp>
      <p:sp>
        <p:nvSpPr>
          <p:cNvPr id="20" name="Text 16"/>
          <p:cNvSpPr/>
          <p:nvPr/>
        </p:nvSpPr>
        <p:spPr>
          <a:xfrm>
            <a:off x="6172200" y="2304288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57–73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7059168" y="230428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4343400" y="2724912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LVIDD</a:t>
            </a:r>
            <a:endParaRPr lang="en-US" sz="1250" dirty="0"/>
          </a:p>
        </p:txBody>
      </p:sp>
      <p:sp>
        <p:nvSpPr>
          <p:cNvPr id="23" name="Text 19"/>
          <p:cNvSpPr/>
          <p:nvPr/>
        </p:nvSpPr>
        <p:spPr>
          <a:xfrm>
            <a:off x="5440680" y="272491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350" dirty="0"/>
          </a:p>
        </p:txBody>
      </p:sp>
      <p:sp>
        <p:nvSpPr>
          <p:cNvPr id="24" name="Text 20"/>
          <p:cNvSpPr/>
          <p:nvPr/>
        </p:nvSpPr>
        <p:spPr>
          <a:xfrm>
            <a:off x="6172200" y="2724912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35–56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7059168" y="272491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4224528" y="3145536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27" name="Text 23"/>
          <p:cNvSpPr/>
          <p:nvPr/>
        </p:nvSpPr>
        <p:spPr>
          <a:xfrm>
            <a:off x="4343400" y="3145536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IVS</a:t>
            </a:r>
            <a:endParaRPr lang="en-US" sz="1250" dirty="0"/>
          </a:p>
        </p:txBody>
      </p:sp>
      <p:sp>
        <p:nvSpPr>
          <p:cNvPr id="28" name="Text 24"/>
          <p:cNvSpPr/>
          <p:nvPr/>
        </p:nvSpPr>
        <p:spPr>
          <a:xfrm>
            <a:off x="5440680" y="3145536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50" dirty="0"/>
          </a:p>
        </p:txBody>
      </p:sp>
      <p:sp>
        <p:nvSpPr>
          <p:cNvPr id="29" name="Text 25"/>
          <p:cNvSpPr/>
          <p:nvPr/>
        </p:nvSpPr>
        <p:spPr>
          <a:xfrm>
            <a:off x="6172200" y="3145536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6–11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7059168" y="3145536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31" name="Text 27"/>
          <p:cNvSpPr/>
          <p:nvPr/>
        </p:nvSpPr>
        <p:spPr>
          <a:xfrm>
            <a:off x="4343400" y="3566160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LVPW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5440680" y="35661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50" dirty="0"/>
          </a:p>
        </p:txBody>
      </p:sp>
      <p:sp>
        <p:nvSpPr>
          <p:cNvPr id="33" name="Text 29"/>
          <p:cNvSpPr/>
          <p:nvPr/>
        </p:nvSpPr>
        <p:spPr>
          <a:xfrm>
            <a:off x="6172200" y="3566160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6–11</a:t>
            </a:r>
            <a:endParaRPr lang="en-US" sz="1150" dirty="0"/>
          </a:p>
        </p:txBody>
      </p:sp>
      <p:sp>
        <p:nvSpPr>
          <p:cNvPr id="34" name="Text 30"/>
          <p:cNvSpPr/>
          <p:nvPr/>
        </p:nvSpPr>
        <p:spPr>
          <a:xfrm>
            <a:off x="7059168" y="35661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4224528" y="3986784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36" name="Text 32"/>
          <p:cNvSpPr/>
          <p:nvPr/>
        </p:nvSpPr>
        <p:spPr>
          <a:xfrm>
            <a:off x="4343400" y="3986784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LAD</a:t>
            </a:r>
            <a:endParaRPr lang="en-US" sz="1250" dirty="0"/>
          </a:p>
        </p:txBody>
      </p:sp>
      <p:sp>
        <p:nvSpPr>
          <p:cNvPr id="37" name="Text 33"/>
          <p:cNvSpPr/>
          <p:nvPr/>
        </p:nvSpPr>
        <p:spPr>
          <a:xfrm>
            <a:off x="5440680" y="3986784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350" dirty="0"/>
          </a:p>
        </p:txBody>
      </p:sp>
      <p:sp>
        <p:nvSpPr>
          <p:cNvPr id="38" name="Text 34"/>
          <p:cNvSpPr/>
          <p:nvPr/>
        </p:nvSpPr>
        <p:spPr>
          <a:xfrm>
            <a:off x="6172200" y="3986784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19–40</a:t>
            </a:r>
            <a:endParaRPr lang="en-US" sz="1150" dirty="0"/>
          </a:p>
        </p:txBody>
      </p:sp>
      <p:sp>
        <p:nvSpPr>
          <p:cNvPr id="39" name="Text 35"/>
          <p:cNvSpPr/>
          <p:nvPr/>
        </p:nvSpPr>
        <p:spPr>
          <a:xfrm>
            <a:off x="7059168" y="3986784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40" name="Text 36"/>
          <p:cNvSpPr/>
          <p:nvPr/>
        </p:nvSpPr>
        <p:spPr>
          <a:xfrm>
            <a:off x="4343400" y="4407408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E/A</a:t>
            </a:r>
            <a:endParaRPr lang="en-US" sz="1250" dirty="0"/>
          </a:p>
        </p:txBody>
      </p:sp>
      <p:sp>
        <p:nvSpPr>
          <p:cNvPr id="41" name="Text 37"/>
          <p:cNvSpPr/>
          <p:nvPr/>
        </p:nvSpPr>
        <p:spPr>
          <a:xfrm>
            <a:off x="5440680" y="440740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</a:t>
            </a:r>
            <a:endParaRPr lang="en-US" sz="1350" dirty="0"/>
          </a:p>
        </p:txBody>
      </p:sp>
      <p:sp>
        <p:nvSpPr>
          <p:cNvPr id="42" name="Text 38"/>
          <p:cNvSpPr/>
          <p:nvPr/>
        </p:nvSpPr>
        <p:spPr>
          <a:xfrm>
            <a:off x="6172200" y="4407408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50" dirty="0"/>
          </a:p>
        </p:txBody>
      </p:sp>
      <p:sp>
        <p:nvSpPr>
          <p:cNvPr id="43" name="Text 39"/>
          <p:cNvSpPr/>
          <p:nvPr/>
        </p:nvSpPr>
        <p:spPr>
          <a:xfrm>
            <a:off x="7059168" y="440740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44" name="Shape 40"/>
          <p:cNvSpPr/>
          <p:nvPr/>
        </p:nvSpPr>
        <p:spPr>
          <a:xfrm>
            <a:off x="4224528" y="4828032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45" name="Text 41"/>
          <p:cNvSpPr/>
          <p:nvPr/>
        </p:nvSpPr>
        <p:spPr>
          <a:xfrm>
            <a:off x="4343400" y="4828032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PASP</a:t>
            </a:r>
            <a:endParaRPr lang="en-US" sz="1250" dirty="0"/>
          </a:p>
        </p:txBody>
      </p:sp>
      <p:sp>
        <p:nvSpPr>
          <p:cNvPr id="46" name="Text 42"/>
          <p:cNvSpPr/>
          <p:nvPr/>
        </p:nvSpPr>
        <p:spPr>
          <a:xfrm>
            <a:off x="5440680" y="482803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350" dirty="0"/>
          </a:p>
        </p:txBody>
      </p:sp>
      <p:sp>
        <p:nvSpPr>
          <p:cNvPr id="47" name="Text 43"/>
          <p:cNvSpPr/>
          <p:nvPr/>
        </p:nvSpPr>
        <p:spPr>
          <a:xfrm>
            <a:off x="6172200" y="4828032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50" dirty="0"/>
          </a:p>
        </p:txBody>
      </p:sp>
      <p:sp>
        <p:nvSpPr>
          <p:cNvPr id="48" name="Text 44"/>
          <p:cNvSpPr/>
          <p:nvPr/>
        </p:nvSpPr>
        <p:spPr>
          <a:xfrm>
            <a:off x="7059168" y="482803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mmHg</a:t>
            </a:r>
            <a:endParaRPr lang="en-US" sz="1150" dirty="0"/>
          </a:p>
        </p:txBody>
      </p:sp>
      <p:sp>
        <p:nvSpPr>
          <p:cNvPr id="49" name="Shape 45"/>
          <p:cNvSpPr/>
          <p:nvPr/>
        </p:nvSpPr>
        <p:spPr>
          <a:xfrm>
            <a:off x="7955280" y="1783080"/>
            <a:ext cx="3730752" cy="3566160"/>
          </a:xfrm>
          <a:prstGeom prst="roundRect">
            <a:avLst>
              <a:gd name="adj" fmla="val 307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50" name="Text 46"/>
          <p:cNvSpPr/>
          <p:nvPr/>
        </p:nvSpPr>
        <p:spPr>
          <a:xfrm>
            <a:off x="8211312" y="1956816"/>
            <a:ext cx="3218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250" dirty="0"/>
          </a:p>
        </p:txBody>
      </p:sp>
      <p:pic>
        <p:nvPicPr>
          <p:cNvPr id="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2359152"/>
            <a:ext cx="219456" cy="219456"/>
          </a:xfrm>
          <a:prstGeom prst="rect">
            <a:avLst/>
          </a:prstGeom>
        </p:spPr>
      </p:pic>
      <p:sp>
        <p:nvSpPr>
          <p:cNvPr id="52" name="Text 47"/>
          <p:cNvSpPr/>
          <p:nvPr/>
        </p:nvSpPr>
        <p:spPr>
          <a:xfrm>
            <a:off x="8577072" y="233172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LV size &amp; good systolic function</a:t>
            </a:r>
            <a:endParaRPr lang="en-US" sz="1250" dirty="0"/>
          </a:p>
        </p:txBody>
      </p:sp>
      <p:pic>
        <p:nvPicPr>
          <p:cNvPr id="5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2953512"/>
            <a:ext cx="219456" cy="219456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8577072" y="292608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regional wall-motion abnormality</a:t>
            </a:r>
            <a:endParaRPr lang="en-US" sz="1250" dirty="0"/>
          </a:p>
        </p:txBody>
      </p:sp>
      <p:pic>
        <p:nvPicPr>
          <p:cNvPr id="5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0" y="3547872"/>
            <a:ext cx="219456" cy="219456"/>
          </a:xfrm>
          <a:prstGeom prst="rect">
            <a:avLst/>
          </a:prstGeom>
        </p:spPr>
      </p:pic>
      <p:sp>
        <p:nvSpPr>
          <p:cNvPr id="56" name="Text 49"/>
          <p:cNvSpPr/>
          <p:nvPr/>
        </p:nvSpPr>
        <p:spPr>
          <a:xfrm>
            <a:off x="8577072" y="352044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clot in LA or LV</a:t>
            </a:r>
            <a:endParaRPr lang="en-US" sz="1250" dirty="0"/>
          </a:p>
        </p:txBody>
      </p:sp>
      <p:pic>
        <p:nvPicPr>
          <p:cNvPr id="5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0" y="4142232"/>
            <a:ext cx="219456" cy="219456"/>
          </a:xfrm>
          <a:prstGeom prst="rect">
            <a:avLst/>
          </a:prstGeom>
        </p:spPr>
      </p:pic>
      <p:sp>
        <p:nvSpPr>
          <p:cNvPr id="58" name="Text 50"/>
          <p:cNvSpPr/>
          <p:nvPr/>
        </p:nvSpPr>
        <p:spPr>
          <a:xfrm>
            <a:off x="8577072" y="411480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chambers, valves, IAS &amp; IVS</a:t>
            </a:r>
            <a:endParaRPr lang="en-US" sz="1250" dirty="0"/>
          </a:p>
        </p:txBody>
      </p:sp>
      <p:pic>
        <p:nvPicPr>
          <p:cNvPr id="5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4736592"/>
            <a:ext cx="219456" cy="219456"/>
          </a:xfrm>
          <a:prstGeom prst="rect">
            <a:avLst/>
          </a:prstGeom>
        </p:spPr>
      </p:pic>
      <p:sp>
        <p:nvSpPr>
          <p:cNvPr id="60" name="Text 51"/>
          <p:cNvSpPr/>
          <p:nvPr/>
        </p:nvSpPr>
        <p:spPr>
          <a:xfrm>
            <a:off x="8577072" y="470916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pericardium</a:t>
            </a:r>
            <a:endParaRPr lang="en-US" sz="1250" dirty="0"/>
          </a:p>
        </p:txBody>
      </p:sp>
      <p:sp>
        <p:nvSpPr>
          <p:cNvPr id="61" name="Shape 52"/>
          <p:cNvSpPr/>
          <p:nvPr/>
        </p:nvSpPr>
        <p:spPr>
          <a:xfrm>
            <a:off x="502920" y="5559552"/>
            <a:ext cx="11183112" cy="566928"/>
          </a:xfrm>
          <a:prstGeom prst="roundRect">
            <a:avLst>
              <a:gd name="adj" fmla="val 50000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62" name="Text 53"/>
          <p:cNvSpPr/>
          <p:nvPr/>
        </p:nvSpPr>
        <p:spPr>
          <a:xfrm>
            <a:off x="502920" y="5559552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  </a:t>
            </a:r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biventricular size and systolic function.</a:t>
            </a:r>
            <a:endParaRPr lang="en-US" sz="1500" dirty="0"/>
          </a:p>
        </p:txBody>
      </p:sp>
      <p:sp>
        <p:nvSpPr>
          <p:cNvPr id="63" name="Text 5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64" name="Text 55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6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0000"/>
          </a:blip>
          <a:stretch>
            <a:fillRect/>
          </a:stretch>
        </p:blipFill>
        <p:spPr>
          <a:xfrm>
            <a:off x="7863840" y="3108960"/>
            <a:ext cx="4754880" cy="47548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77724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987552"/>
            <a:ext cx="548640" cy="5486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9601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spc="2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COURSE &amp; OUTCOME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640080" y="196596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Clinically Improved</a:t>
            </a:r>
            <a:endParaRPr lang="en-US" sz="5600" dirty="0"/>
          </a:p>
        </p:txBody>
      </p:sp>
      <p:sp>
        <p:nvSpPr>
          <p:cNvPr id="8" name="Shape 4"/>
          <p:cNvSpPr/>
          <p:nvPr/>
        </p:nvSpPr>
        <p:spPr>
          <a:xfrm>
            <a:off x="685800" y="3200400"/>
            <a:ext cx="3749040" cy="1554480"/>
          </a:xfrm>
          <a:prstGeom prst="roundRect">
            <a:avLst>
              <a:gd name="adj" fmla="val 7059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  <a:effectLst>
            <a:outerShdw sx="100000" sy="100000" kx="0" ky="0" algn="bl" rotWithShape="0" blurRad="101600" dist="38100" dir="5400000">
              <a:srgbClr val="8A8A8A">
                <a:alpha val="35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960120" y="365760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" y="3785616"/>
            <a:ext cx="384048" cy="384048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737360" y="349300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Symptoms settled</a:t>
            </a:r>
            <a:endParaRPr lang="en-US" sz="1900" dirty="0"/>
          </a:p>
        </p:txBody>
      </p:sp>
      <p:sp>
        <p:nvSpPr>
          <p:cNvPr id="12" name="Text 7"/>
          <p:cNvSpPr/>
          <p:nvPr/>
        </p:nvSpPr>
        <p:spPr>
          <a:xfrm>
            <a:off x="1737360" y="3950208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 &amp; symptoms controlled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4709160" y="3200400"/>
            <a:ext cx="3749040" cy="1554480"/>
          </a:xfrm>
          <a:prstGeom prst="roundRect">
            <a:avLst>
              <a:gd name="adj" fmla="val 7059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  <a:effectLst>
            <a:outerShdw sx="100000" sy="100000" kx="0" ky="0" algn="bl" rotWithShape="0" blurRad="101600" dist="38100" dir="5400000">
              <a:srgbClr val="8A8A8A">
                <a:alpha val="35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4983480" y="365760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1496" y="3785616"/>
            <a:ext cx="384048" cy="38404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5760720" y="349300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Discharged home</a:t>
            </a:r>
            <a:endParaRPr lang="en-US" sz="1900" dirty="0"/>
          </a:p>
        </p:txBody>
      </p:sp>
      <p:sp>
        <p:nvSpPr>
          <p:cNvPr id="17" name="Text 11"/>
          <p:cNvSpPr/>
          <p:nvPr/>
        </p:nvSpPr>
        <p:spPr>
          <a:xfrm>
            <a:off x="5760720" y="3950208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for outpatient follow-up</a:t>
            </a:r>
            <a:endParaRPr lang="en-US" sz="1250" dirty="0"/>
          </a:p>
        </p:txBody>
      </p:sp>
      <p:sp>
        <p:nvSpPr>
          <p:cNvPr id="18" name="Shape 12"/>
          <p:cNvSpPr/>
          <p:nvPr/>
        </p:nvSpPr>
        <p:spPr>
          <a:xfrm>
            <a:off x="731520" y="5486400"/>
            <a:ext cx="2020824" cy="0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 flipV="1">
            <a:off x="2752344" y="5340096"/>
            <a:ext cx="356616" cy="146304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3108960" y="5340096"/>
            <a:ext cx="356616" cy="457200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 flipV="1">
            <a:off x="3465576" y="4983480"/>
            <a:ext cx="356616" cy="813816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3822192" y="4983480"/>
            <a:ext cx="356616" cy="685800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 flipV="1">
            <a:off x="4178808" y="5486400"/>
            <a:ext cx="356616" cy="182880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4535424" y="5486400"/>
            <a:ext cx="2139696" cy="0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685800" y="57150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b="1" i="1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case in context — Atrial Fibrillation</a:t>
            </a:r>
            <a:endParaRPr lang="en-US" sz="2200" dirty="0"/>
          </a:p>
        </p:txBody>
      </p:sp>
      <p:sp>
        <p:nvSpPr>
          <p:cNvPr id="26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7680960" y="1005840"/>
            <a:ext cx="4663440" cy="4663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757123" y="1280160"/>
            <a:ext cx="163860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 flipV="1">
            <a:off x="920984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91210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061436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43366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flipV="1">
            <a:off x="1260409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389156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V="1">
            <a:off x="1517904" y="1280160"/>
            <a:ext cx="46817" cy="2743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V="1">
            <a:off x="1564721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634947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1705173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787103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V="1">
            <a:off x="1904147" y="1280160"/>
            <a:ext cx="128748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V="1">
            <a:off x="2032894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103120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V="1">
            <a:off x="2173346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255276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flipV="1">
            <a:off x="2372319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501067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flipV="1">
            <a:off x="2629814" y="1257300"/>
            <a:ext cx="128748" cy="5029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758562" y="1257300"/>
            <a:ext cx="93635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flipV="1">
            <a:off x="2852196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922422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flipV="1">
            <a:off x="2992648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074579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flipV="1">
            <a:off x="3191622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3320369" y="1248156"/>
            <a:ext cx="175565" cy="3200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flipV="1">
            <a:off x="3495934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566160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flipV="1">
            <a:off x="3636386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3718316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flipV="1">
            <a:off x="3835359" y="1280160"/>
            <a:ext cx="158008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3993368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063594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flipV="1">
            <a:off x="4133820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215750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flipV="1">
            <a:off x="4332793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4461540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 flipV="1">
            <a:off x="4590288" y="1257300"/>
            <a:ext cx="128748" cy="5029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719036" y="1257300"/>
            <a:ext cx="64374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 flipV="1">
            <a:off x="4783409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853635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 flipV="1">
            <a:off x="4923861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005791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5122835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251582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 flipV="1">
            <a:off x="5380330" y="1280160"/>
            <a:ext cx="163860" cy="2743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V="1">
            <a:off x="5544190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614416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 flipV="1">
            <a:off x="5684642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766572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 flipV="1">
            <a:off x="5883615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6012363" y="1248156"/>
            <a:ext cx="117043" cy="3200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6129406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6199632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 flipV="1">
            <a:off x="6269858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6351788" y="1280160"/>
            <a:ext cx="140452" cy="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685800" y="19659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CARDIOLOGY  ·  CLINICAL TOPIC REVIEW</a:t>
            </a:r>
            <a:endParaRPr lang="en-US" sz="1400" dirty="0"/>
          </a:p>
        </p:txBody>
      </p:sp>
      <p:sp>
        <p:nvSpPr>
          <p:cNvPr id="63" name="Text 60"/>
          <p:cNvSpPr/>
          <p:nvPr/>
        </p:nvSpPr>
        <p:spPr>
          <a:xfrm>
            <a:off x="621792" y="237744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</a:t>
            </a:r>
            <a:endParaRPr lang="en-US" sz="7000" dirty="0"/>
          </a:p>
        </p:txBody>
      </p:sp>
      <p:sp>
        <p:nvSpPr>
          <p:cNvPr id="64" name="Text 61"/>
          <p:cNvSpPr/>
          <p:nvPr/>
        </p:nvSpPr>
        <p:spPr>
          <a:xfrm>
            <a:off x="685800" y="37033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Pathophysiology  ·  Clinical Features  ·  Differential Diagnosis  ·  Management</a:t>
            </a:r>
            <a:endParaRPr lang="en-US" sz="1650" dirty="0"/>
          </a:p>
        </p:txBody>
      </p:sp>
      <p:sp>
        <p:nvSpPr>
          <p:cNvPr id="65" name="Shape 62"/>
          <p:cNvSpPr/>
          <p:nvPr/>
        </p:nvSpPr>
        <p:spPr>
          <a:xfrm>
            <a:off x="685800" y="4572000"/>
            <a:ext cx="5943600" cy="868680"/>
          </a:xfrm>
          <a:prstGeom prst="roundRect">
            <a:avLst>
              <a:gd name="adj" fmla="val 1263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</p:spPr>
      </p:sp>
      <p:pic>
        <p:nvPicPr>
          <p:cNvPr id="6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4773168"/>
            <a:ext cx="457200" cy="457200"/>
          </a:xfrm>
          <a:prstGeom prst="rect">
            <a:avLst/>
          </a:prstGeom>
        </p:spPr>
      </p:pic>
      <p:sp>
        <p:nvSpPr>
          <p:cNvPr id="67" name="Text 63"/>
          <p:cNvSpPr/>
          <p:nvPr/>
        </p:nvSpPr>
        <p:spPr>
          <a:xfrm>
            <a:off x="1600200" y="457200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common sustained cardiac arrhythmia</a:t>
            </a:r>
            <a:endParaRPr lang="en-US" sz="1450" dirty="0"/>
          </a:p>
        </p:txBody>
      </p:sp>
      <p:sp>
        <p:nvSpPr>
          <p:cNvPr id="68" name="Text 6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  <p:sp>
        <p:nvSpPr>
          <p:cNvPr id="69" name="Text 65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Atrial Fibrillation?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6126480" cy="4297680"/>
          </a:xfrm>
          <a:prstGeom prst="roundRect">
            <a:avLst>
              <a:gd name="adj" fmla="val 2553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4937760" y="4709160"/>
            <a:ext cx="1463040" cy="14630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68680" y="2148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868680" y="2560320"/>
            <a:ext cx="53492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supraventricular tachyarrhythmia with rapid, disorganised atrial electrical activity — producing uncoordinated, ineffective atrial contraction and an irregularly irregular ventricular response.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6858000" y="1783080"/>
            <a:ext cx="484632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7040880" y="2002536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#1</a:t>
            </a:r>
            <a:endParaRPr lang="en-US" sz="4000" dirty="0"/>
          </a:p>
        </p:txBody>
      </p:sp>
      <p:sp>
        <p:nvSpPr>
          <p:cNvPr id="12" name="Text 8"/>
          <p:cNvSpPr/>
          <p:nvPr/>
        </p:nvSpPr>
        <p:spPr>
          <a:xfrm>
            <a:off x="8823960" y="1783080"/>
            <a:ext cx="2743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common sustained cardiac arrhythmia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858000" y="3264408"/>
            <a:ext cx="484632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7040880" y="3483864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~1–2%</a:t>
            </a:r>
            <a:endParaRPr lang="en-US" sz="4000" dirty="0"/>
          </a:p>
        </p:txBody>
      </p:sp>
      <p:sp>
        <p:nvSpPr>
          <p:cNvPr id="15" name="Text 11"/>
          <p:cNvSpPr/>
          <p:nvPr/>
        </p:nvSpPr>
        <p:spPr>
          <a:xfrm>
            <a:off x="8823960" y="3264408"/>
            <a:ext cx="2743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general population — rises sharply with age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6858000" y="4745736"/>
            <a:ext cx="484632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7040880" y="496519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5×</a:t>
            </a:r>
            <a:endParaRPr lang="en-US" sz="4000" dirty="0"/>
          </a:p>
        </p:txBody>
      </p:sp>
      <p:sp>
        <p:nvSpPr>
          <p:cNvPr id="18" name="Text 14"/>
          <p:cNvSpPr/>
          <p:nvPr/>
        </p:nvSpPr>
        <p:spPr>
          <a:xfrm>
            <a:off x="8823960" y="4745736"/>
            <a:ext cx="2743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Increased risk of ischaemic stroke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Types of Atrial Fibrillation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289304" y="2240280"/>
            <a:ext cx="10972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5336" y="2496312"/>
            <a:ext cx="585216" cy="5852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Paroxysmal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704088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Self-terminating, usually within 48 h (≤ 7 days)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3346704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133088" y="2240280"/>
            <a:ext cx="10972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2496312"/>
            <a:ext cx="585216" cy="58521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483864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Persistent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3547872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Sustained &gt; 7 days; needs cardioversion to stop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190488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6976872" y="2240280"/>
            <a:ext cx="10972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2904" y="2496312"/>
            <a:ext cx="585216" cy="58521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327648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Long-standing</a:t>
            </a:r>
            <a:endParaRPr lang="en-US" sz="2000" dirty="0"/>
          </a:p>
        </p:txBody>
      </p:sp>
      <p:sp>
        <p:nvSpPr>
          <p:cNvPr id="20" name="Text 14"/>
          <p:cNvSpPr/>
          <p:nvPr/>
        </p:nvSpPr>
        <p:spPr>
          <a:xfrm>
            <a:off x="6391656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&gt; 12 months, rhythm control still intended</a:t>
            </a:r>
            <a:endParaRPr lang="en-US" sz="1350" dirty="0"/>
          </a:p>
        </p:txBody>
      </p:sp>
      <p:sp>
        <p:nvSpPr>
          <p:cNvPr id="21" name="Shape 15"/>
          <p:cNvSpPr/>
          <p:nvPr/>
        </p:nvSpPr>
        <p:spPr>
          <a:xfrm>
            <a:off x="9034272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9820656" y="2240280"/>
            <a:ext cx="1097280" cy="1097280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6688" y="2496312"/>
            <a:ext cx="585216" cy="58521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9171432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Permanent</a:t>
            </a:r>
            <a:endParaRPr lang="en-US" sz="2000" dirty="0"/>
          </a:p>
        </p:txBody>
      </p:sp>
      <p:sp>
        <p:nvSpPr>
          <p:cNvPr id="25" name="Text 18"/>
          <p:cNvSpPr/>
          <p:nvPr/>
        </p:nvSpPr>
        <p:spPr>
          <a:xfrm>
            <a:off x="9235440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Accepted; no further attempts to restore sinus rhythm</a:t>
            </a:r>
            <a:endParaRPr lang="en-US" sz="1350" dirty="0"/>
          </a:p>
        </p:txBody>
      </p:sp>
      <p:sp>
        <p:nvSpPr>
          <p:cNvPr id="26" name="Shape 19"/>
          <p:cNvSpPr/>
          <p:nvPr/>
        </p:nvSpPr>
        <p:spPr>
          <a:xfrm>
            <a:off x="502920" y="5440680"/>
            <a:ext cx="11183112" cy="658368"/>
          </a:xfrm>
          <a:prstGeom prst="roundRect">
            <a:avLst>
              <a:gd name="adj" fmla="val 13889"/>
            </a:avLst>
          </a:prstGeom>
          <a:solidFill>
            <a:srgbClr val="FBD8DF"/>
          </a:solidFill>
          <a:ln/>
        </p:spPr>
      </p:sp>
      <p:sp>
        <p:nvSpPr>
          <p:cNvPr id="27" name="Text 20"/>
          <p:cNvSpPr/>
          <p:nvPr/>
        </p:nvSpPr>
        <p:spPr>
          <a:xfrm>
            <a:off x="914400" y="5440680"/>
            <a:ext cx="10515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First-diagnosed AF  </a:t>
            </a:r>
            <a:pPr algn="l" indent="0" marL="0">
              <a:buNone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detected for the first time, whatever its duration or symptom burden.</a:t>
            </a:r>
            <a:endParaRPr lang="en-US" sz="1450" dirty="0"/>
          </a:p>
        </p:txBody>
      </p:sp>
      <p:sp>
        <p:nvSpPr>
          <p:cNvPr id="28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100" dirty="0"/>
          </a:p>
        </p:txBody>
      </p:sp>
      <p:sp>
        <p:nvSpPr>
          <p:cNvPr id="29" name="Text 22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PATHOPHYSIOLOGY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AF Develops &amp; Sustains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2057400"/>
            <a:ext cx="342900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68780" y="2377440"/>
            <a:ext cx="1097280" cy="10972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4812" y="2633472"/>
            <a:ext cx="585216" cy="5852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3611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Triggers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777240" y="399592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Ectopic foci — most often from the pulmonary veins — fire rapidly and initiate AF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4379976" y="2057400"/>
            <a:ext cx="342900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5545836" y="2377440"/>
            <a:ext cx="1097280" cy="10972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1868" y="2633472"/>
            <a:ext cx="585216" cy="58521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562856" y="3611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Re-entry</a:t>
            </a:r>
            <a:endParaRPr lang="en-US" sz="1900" dirty="0"/>
          </a:p>
        </p:txBody>
      </p:sp>
      <p:sp>
        <p:nvSpPr>
          <p:cNvPr id="15" name="Text 10"/>
          <p:cNvSpPr/>
          <p:nvPr/>
        </p:nvSpPr>
        <p:spPr>
          <a:xfrm>
            <a:off x="4654296" y="399592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re-entrant wavelets &amp; rotors sustain disorganised atrial activity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257032" y="2057400"/>
            <a:ext cx="342900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9422892" y="2377440"/>
            <a:ext cx="1097280" cy="10972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78924" y="2633472"/>
            <a:ext cx="585216" cy="58521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439912" y="3611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Remodelling</a:t>
            </a:r>
            <a:endParaRPr lang="en-US" sz="1900" dirty="0"/>
          </a:p>
        </p:txBody>
      </p:sp>
      <p:sp>
        <p:nvSpPr>
          <p:cNvPr id="20" name="Text 14"/>
          <p:cNvSpPr/>
          <p:nvPr/>
        </p:nvSpPr>
        <p:spPr>
          <a:xfrm>
            <a:off x="8531352" y="399592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Electrical &amp; structural atrial remodelling — “AF begets AF”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 rot="5400000">
            <a:off x="3968496" y="3154680"/>
            <a:ext cx="329184" cy="384048"/>
          </a:xfrm>
          <a:prstGeom prst="triangle">
            <a:avLst/>
          </a:prstGeom>
          <a:solidFill>
            <a:srgbClr val="FF4D6D"/>
          </a:solidFill>
          <a:ln/>
        </p:spPr>
      </p:sp>
      <p:sp>
        <p:nvSpPr>
          <p:cNvPr id="22" name="Shape 16"/>
          <p:cNvSpPr/>
          <p:nvPr/>
        </p:nvSpPr>
        <p:spPr>
          <a:xfrm rot="5400000">
            <a:off x="7845552" y="3154680"/>
            <a:ext cx="329184" cy="384048"/>
          </a:xfrm>
          <a:prstGeom prst="triangle">
            <a:avLst/>
          </a:prstGeom>
          <a:solidFill>
            <a:srgbClr val="FF4D6D"/>
          </a:solidFill>
          <a:ln/>
        </p:spPr>
      </p:sp>
      <p:sp>
        <p:nvSpPr>
          <p:cNvPr id="23" name="Shape 17"/>
          <p:cNvSpPr/>
          <p:nvPr/>
        </p:nvSpPr>
        <p:spPr>
          <a:xfrm>
            <a:off x="502920" y="4892040"/>
            <a:ext cx="11183112" cy="1188720"/>
          </a:xfrm>
          <a:prstGeom prst="roundRect">
            <a:avLst>
              <a:gd name="adj" fmla="val 923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4" name="Text 18"/>
          <p:cNvSpPr/>
          <p:nvPr/>
        </p:nvSpPr>
        <p:spPr>
          <a:xfrm>
            <a:off x="914400" y="51023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914400" y="539496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of atrial “kick” + irregular AV conduction </a:t>
            </a:r>
            <a:pPr algn="l"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reduced cardiac output and blood stasis in the left atrial appendage → thrombus formation.</a:t>
            </a:r>
            <a:endParaRPr lang="en-US" sz="1550" dirty="0"/>
          </a:p>
        </p:txBody>
      </p:sp>
      <p:sp>
        <p:nvSpPr>
          <p:cNvPr id="26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ETIOLOGY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Causes &amp; Risk Factors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210312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868680" y="2606040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14984" y="2788920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856" y="2907792"/>
            <a:ext cx="265176" cy="26517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18488" y="2606040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Hypertension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3406140" y="2606040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552444" y="2788920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1316" y="2907792"/>
            <a:ext cx="265176" cy="26517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155948" y="2606040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Ischaemic heart disease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68680" y="3630168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1014984" y="3813048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3856" y="3931920"/>
            <a:ext cx="265176" cy="26517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18488" y="3630168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Valvular disease (mitral stenosis)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3406140" y="3630168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3552444" y="3813048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71316" y="3931920"/>
            <a:ext cx="265176" cy="26517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4155948" y="3630168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failure</a:t>
            </a:r>
            <a:endParaRPr lang="en-US" sz="1300" dirty="0"/>
          </a:p>
        </p:txBody>
      </p:sp>
      <p:sp>
        <p:nvSpPr>
          <p:cNvPr id="24" name="Shape 17"/>
          <p:cNvSpPr/>
          <p:nvPr/>
        </p:nvSpPr>
        <p:spPr>
          <a:xfrm>
            <a:off x="868680" y="4654296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1014984" y="4837176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3856" y="4956048"/>
            <a:ext cx="265176" cy="265176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618488" y="4654296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Cardiomyopathy</a:t>
            </a:r>
            <a:endParaRPr lang="en-US" sz="1300" dirty="0"/>
          </a:p>
        </p:txBody>
      </p:sp>
      <p:sp>
        <p:nvSpPr>
          <p:cNvPr id="28" name="Shape 20"/>
          <p:cNvSpPr/>
          <p:nvPr/>
        </p:nvSpPr>
        <p:spPr>
          <a:xfrm>
            <a:off x="3406140" y="4654296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3552444" y="4837176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71316" y="4956048"/>
            <a:ext cx="265176" cy="265176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4155948" y="4654296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Post-cardiac surgery</a:t>
            </a:r>
            <a:endParaRPr lang="en-US" sz="1300" dirty="0"/>
          </a:p>
        </p:txBody>
      </p:sp>
      <p:sp>
        <p:nvSpPr>
          <p:cNvPr id="32" name="Shape 23"/>
          <p:cNvSpPr/>
          <p:nvPr/>
        </p:nvSpPr>
        <p:spPr>
          <a:xfrm>
            <a:off x="6153912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3" name="Text 24"/>
          <p:cNvSpPr/>
          <p:nvPr/>
        </p:nvSpPr>
        <p:spPr>
          <a:xfrm>
            <a:off x="6519672" y="210312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NON-CARDIAC / SYSTEMIC</a:t>
            </a:r>
            <a:endParaRPr lang="en-US" sz="1350" dirty="0"/>
          </a:p>
        </p:txBody>
      </p:sp>
      <p:sp>
        <p:nvSpPr>
          <p:cNvPr id="34" name="Shape 25"/>
          <p:cNvSpPr/>
          <p:nvPr/>
        </p:nvSpPr>
        <p:spPr>
          <a:xfrm>
            <a:off x="6519672" y="2606040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5" name="Shape 26"/>
          <p:cNvSpPr/>
          <p:nvPr/>
        </p:nvSpPr>
        <p:spPr>
          <a:xfrm>
            <a:off x="6665976" y="2788920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3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84848" y="2907792"/>
            <a:ext cx="265176" cy="265176"/>
          </a:xfrm>
          <a:prstGeom prst="rect">
            <a:avLst/>
          </a:prstGeom>
        </p:spPr>
      </p:pic>
      <p:sp>
        <p:nvSpPr>
          <p:cNvPr id="37" name="Text 27"/>
          <p:cNvSpPr/>
          <p:nvPr/>
        </p:nvSpPr>
        <p:spPr>
          <a:xfrm>
            <a:off x="7269480" y="2606040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Hyperthyroidism</a:t>
            </a:r>
            <a:endParaRPr lang="en-US" sz="1300" dirty="0"/>
          </a:p>
        </p:txBody>
      </p:sp>
      <p:sp>
        <p:nvSpPr>
          <p:cNvPr id="38" name="Shape 28"/>
          <p:cNvSpPr/>
          <p:nvPr/>
        </p:nvSpPr>
        <p:spPr>
          <a:xfrm>
            <a:off x="9057132" y="2606040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9" name="Shape 29"/>
          <p:cNvSpPr/>
          <p:nvPr/>
        </p:nvSpPr>
        <p:spPr>
          <a:xfrm>
            <a:off x="9203436" y="2788920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4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22308" y="2907792"/>
            <a:ext cx="265176" cy="265176"/>
          </a:xfrm>
          <a:prstGeom prst="rect">
            <a:avLst/>
          </a:prstGeom>
        </p:spPr>
      </p:pic>
      <p:sp>
        <p:nvSpPr>
          <p:cNvPr id="41" name="Text 30"/>
          <p:cNvSpPr/>
          <p:nvPr/>
        </p:nvSpPr>
        <p:spPr>
          <a:xfrm>
            <a:off x="9806940" y="2606040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Alcohol (“holiday heart”)</a:t>
            </a:r>
            <a:endParaRPr lang="en-US" sz="1300" dirty="0"/>
          </a:p>
        </p:txBody>
      </p:sp>
      <p:sp>
        <p:nvSpPr>
          <p:cNvPr id="42" name="Shape 31"/>
          <p:cNvSpPr/>
          <p:nvPr/>
        </p:nvSpPr>
        <p:spPr>
          <a:xfrm>
            <a:off x="6519672" y="3630168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43" name="Shape 32"/>
          <p:cNvSpPr/>
          <p:nvPr/>
        </p:nvSpPr>
        <p:spPr>
          <a:xfrm>
            <a:off x="6665976" y="3813048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4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84848" y="3931920"/>
            <a:ext cx="265176" cy="265176"/>
          </a:xfrm>
          <a:prstGeom prst="rect">
            <a:avLst/>
          </a:prstGeom>
        </p:spPr>
      </p:pic>
      <p:sp>
        <p:nvSpPr>
          <p:cNvPr id="45" name="Text 33"/>
          <p:cNvSpPr/>
          <p:nvPr/>
        </p:nvSpPr>
        <p:spPr>
          <a:xfrm>
            <a:off x="7269480" y="3630168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Obesity / sleep apnoea</a:t>
            </a:r>
            <a:endParaRPr lang="en-US" sz="1300" dirty="0"/>
          </a:p>
        </p:txBody>
      </p:sp>
      <p:sp>
        <p:nvSpPr>
          <p:cNvPr id="46" name="Shape 34"/>
          <p:cNvSpPr/>
          <p:nvPr/>
        </p:nvSpPr>
        <p:spPr>
          <a:xfrm>
            <a:off x="9057132" y="3630168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47" name="Shape 35"/>
          <p:cNvSpPr/>
          <p:nvPr/>
        </p:nvSpPr>
        <p:spPr>
          <a:xfrm>
            <a:off x="9203436" y="3813048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48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22308" y="3931920"/>
            <a:ext cx="265176" cy="265176"/>
          </a:xfrm>
          <a:prstGeom prst="rect">
            <a:avLst/>
          </a:prstGeom>
        </p:spPr>
      </p:pic>
      <p:sp>
        <p:nvSpPr>
          <p:cNvPr id="49" name="Text 36"/>
          <p:cNvSpPr/>
          <p:nvPr/>
        </p:nvSpPr>
        <p:spPr>
          <a:xfrm>
            <a:off x="9806940" y="3630168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Sepsis / infection</a:t>
            </a:r>
            <a:endParaRPr lang="en-US" sz="1300" dirty="0"/>
          </a:p>
        </p:txBody>
      </p:sp>
      <p:sp>
        <p:nvSpPr>
          <p:cNvPr id="50" name="Shape 37"/>
          <p:cNvSpPr/>
          <p:nvPr/>
        </p:nvSpPr>
        <p:spPr>
          <a:xfrm>
            <a:off x="6519672" y="4654296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51" name="Shape 38"/>
          <p:cNvSpPr/>
          <p:nvPr/>
        </p:nvSpPr>
        <p:spPr>
          <a:xfrm>
            <a:off x="6665976" y="4837176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52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84848" y="4956048"/>
            <a:ext cx="265176" cy="265176"/>
          </a:xfrm>
          <a:prstGeom prst="rect">
            <a:avLst/>
          </a:prstGeom>
        </p:spPr>
      </p:pic>
      <p:sp>
        <p:nvSpPr>
          <p:cNvPr id="53" name="Text 39"/>
          <p:cNvSpPr/>
          <p:nvPr/>
        </p:nvSpPr>
        <p:spPr>
          <a:xfrm>
            <a:off x="7269480" y="4654296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Pulmonary — PE, COPD</a:t>
            </a:r>
            <a:endParaRPr lang="en-US" sz="1300" dirty="0"/>
          </a:p>
        </p:txBody>
      </p:sp>
      <p:sp>
        <p:nvSpPr>
          <p:cNvPr id="54" name="Shape 40"/>
          <p:cNvSpPr/>
          <p:nvPr/>
        </p:nvSpPr>
        <p:spPr>
          <a:xfrm>
            <a:off x="9057132" y="4654296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55" name="Shape 41"/>
          <p:cNvSpPr/>
          <p:nvPr/>
        </p:nvSpPr>
        <p:spPr>
          <a:xfrm>
            <a:off x="9203436" y="4837176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5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322308" y="4956048"/>
            <a:ext cx="265176" cy="265176"/>
          </a:xfrm>
          <a:prstGeom prst="rect">
            <a:avLst/>
          </a:prstGeom>
        </p:spPr>
      </p:pic>
      <p:sp>
        <p:nvSpPr>
          <p:cNvPr id="57" name="Text 42"/>
          <p:cNvSpPr/>
          <p:nvPr/>
        </p:nvSpPr>
        <p:spPr>
          <a:xfrm>
            <a:off x="9806940" y="4654296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Electrolytes / diabetes / age</a:t>
            </a:r>
            <a:endParaRPr lang="en-US" sz="1300" dirty="0"/>
          </a:p>
        </p:txBody>
      </p:sp>
      <p:sp>
        <p:nvSpPr>
          <p:cNvPr id="58" name="Text 4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100" dirty="0"/>
          </a:p>
        </p:txBody>
      </p:sp>
      <p:sp>
        <p:nvSpPr>
          <p:cNvPr id="59" name="Text 44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FEATURES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Symptoms &amp; Signs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208483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68680" y="254203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26883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18488" y="250545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Palpitations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618488" y="281635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Racing / irregular heartbeat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868680" y="336499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3511296"/>
            <a:ext cx="274320" cy="2743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618488" y="332841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Dyspnoea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618488" y="363931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Breathlessness on exertion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68680" y="418795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334256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618488" y="415137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Fatigue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1618488" y="446227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 exercise tolerance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868680" y="501091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4984" y="5157216"/>
            <a:ext cx="274320" cy="27432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618488" y="497433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Dizziness</a:t>
            </a:r>
            <a:endParaRPr lang="en-US" sz="1600" dirty="0"/>
          </a:p>
        </p:txBody>
      </p:sp>
      <p:sp>
        <p:nvSpPr>
          <p:cNvPr id="23" name="Text 16"/>
          <p:cNvSpPr/>
          <p:nvPr/>
        </p:nvSpPr>
        <p:spPr>
          <a:xfrm>
            <a:off x="1618488" y="528523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Light-headedness, rarely syncope</a:t>
            </a:r>
            <a:endParaRPr lang="en-US" sz="1250" dirty="0"/>
          </a:p>
        </p:txBody>
      </p:sp>
      <p:sp>
        <p:nvSpPr>
          <p:cNvPr id="24" name="Shape 17"/>
          <p:cNvSpPr/>
          <p:nvPr/>
        </p:nvSpPr>
        <p:spPr>
          <a:xfrm>
            <a:off x="868680" y="5532120"/>
            <a:ext cx="4800600" cy="384048"/>
          </a:xfrm>
          <a:prstGeom prst="roundRect">
            <a:avLst>
              <a:gd name="adj" fmla="val 50000"/>
            </a:avLst>
          </a:prstGeom>
          <a:solidFill>
            <a:srgbClr val="FBD8DF"/>
          </a:solidFill>
          <a:ln/>
        </p:spPr>
      </p:sp>
      <p:sp>
        <p:nvSpPr>
          <p:cNvPr id="25" name="Text 18"/>
          <p:cNvSpPr/>
          <p:nvPr/>
        </p:nvSpPr>
        <p:spPr>
          <a:xfrm>
            <a:off x="868680" y="5532120"/>
            <a:ext cx="4800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i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asymptomatic — found incidentally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617220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Text 20"/>
          <p:cNvSpPr/>
          <p:nvPr/>
        </p:nvSpPr>
        <p:spPr>
          <a:xfrm>
            <a:off x="6537960" y="208483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SIGNS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6537960" y="254203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4264" y="2688336"/>
            <a:ext cx="274320" cy="274320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7287768" y="250545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Irregularly irregular pulse</a:t>
            </a:r>
            <a:endParaRPr lang="en-US" sz="1600" dirty="0"/>
          </a:p>
        </p:txBody>
      </p:sp>
      <p:sp>
        <p:nvSpPr>
          <p:cNvPr id="31" name="Text 23"/>
          <p:cNvSpPr/>
          <p:nvPr/>
        </p:nvSpPr>
        <p:spPr>
          <a:xfrm>
            <a:off x="7287768" y="281635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clinical hallmark</a:t>
            </a:r>
            <a:endParaRPr lang="en-US" sz="1250" dirty="0"/>
          </a:p>
        </p:txBody>
      </p:sp>
      <p:sp>
        <p:nvSpPr>
          <p:cNvPr id="32" name="Shape 24"/>
          <p:cNvSpPr/>
          <p:nvPr/>
        </p:nvSpPr>
        <p:spPr>
          <a:xfrm>
            <a:off x="6537960" y="336499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84264" y="3511296"/>
            <a:ext cx="274320" cy="274320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7287768" y="332841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Apex–radial pulse deficit</a:t>
            </a:r>
            <a:endParaRPr lang="en-US" sz="1600" dirty="0"/>
          </a:p>
        </p:txBody>
      </p:sp>
      <p:sp>
        <p:nvSpPr>
          <p:cNvPr id="35" name="Text 26"/>
          <p:cNvSpPr/>
          <p:nvPr/>
        </p:nvSpPr>
        <p:spPr>
          <a:xfrm>
            <a:off x="7287768" y="363931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Apical rate &gt; radial rate</a:t>
            </a:r>
            <a:endParaRPr lang="en-US" sz="1250" dirty="0"/>
          </a:p>
        </p:txBody>
      </p:sp>
      <p:sp>
        <p:nvSpPr>
          <p:cNvPr id="36" name="Shape 27"/>
          <p:cNvSpPr/>
          <p:nvPr/>
        </p:nvSpPr>
        <p:spPr>
          <a:xfrm>
            <a:off x="6537960" y="418795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84264" y="4334256"/>
            <a:ext cx="274320" cy="274320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7287768" y="415137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Variable heart sounds</a:t>
            </a:r>
            <a:endParaRPr lang="en-US" sz="1600" dirty="0"/>
          </a:p>
        </p:txBody>
      </p:sp>
      <p:sp>
        <p:nvSpPr>
          <p:cNvPr id="39" name="Text 29"/>
          <p:cNvSpPr/>
          <p:nvPr/>
        </p:nvSpPr>
        <p:spPr>
          <a:xfrm>
            <a:off x="7287768" y="446227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Varying S1 intensity</a:t>
            </a:r>
            <a:endParaRPr lang="en-US" sz="1250" dirty="0"/>
          </a:p>
        </p:txBody>
      </p:sp>
      <p:sp>
        <p:nvSpPr>
          <p:cNvPr id="40" name="Shape 30"/>
          <p:cNvSpPr/>
          <p:nvPr/>
        </p:nvSpPr>
        <p:spPr>
          <a:xfrm>
            <a:off x="6537960" y="501091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4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84264" y="5157216"/>
            <a:ext cx="274320" cy="274320"/>
          </a:xfrm>
          <a:prstGeom prst="rect">
            <a:avLst/>
          </a:prstGeom>
        </p:spPr>
      </p:pic>
      <p:sp>
        <p:nvSpPr>
          <p:cNvPr id="42" name="Text 31"/>
          <p:cNvSpPr/>
          <p:nvPr/>
        </p:nvSpPr>
        <p:spPr>
          <a:xfrm>
            <a:off x="7287768" y="497433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Signs of complications</a:t>
            </a:r>
            <a:endParaRPr lang="en-US" sz="1600" dirty="0"/>
          </a:p>
        </p:txBody>
      </p:sp>
      <p:sp>
        <p:nvSpPr>
          <p:cNvPr id="43" name="Text 32"/>
          <p:cNvSpPr/>
          <p:nvPr/>
        </p:nvSpPr>
        <p:spPr>
          <a:xfrm>
            <a:off x="7287768" y="528523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failure or embolic stroke</a:t>
            </a:r>
            <a:endParaRPr lang="en-US" sz="1250" dirty="0"/>
          </a:p>
        </p:txBody>
      </p:sp>
      <p:sp>
        <p:nvSpPr>
          <p:cNvPr id="44" name="Text 3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100" dirty="0"/>
          </a:p>
        </p:txBody>
      </p:sp>
      <p:sp>
        <p:nvSpPr>
          <p:cNvPr id="45" name="Text 34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ELECTROCARDIOGRAM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ECG Hallmarks of AF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11183112" cy="1965960"/>
          </a:xfrm>
          <a:prstGeom prst="roundRect">
            <a:avLst>
              <a:gd name="adj" fmla="val 558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914400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121054" y="2743200"/>
            <a:ext cx="289316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1410371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534363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flipV="1">
            <a:off x="1658356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803014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V="1">
            <a:off x="2009668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236988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2464308" y="2743200"/>
            <a:ext cx="82662" cy="2743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V="1">
            <a:off x="2546970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670962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V="1">
            <a:off x="2794955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939613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V="1">
            <a:off x="3146268" y="2743200"/>
            <a:ext cx="227320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flipV="1">
            <a:off x="3373587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497580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flipV="1">
            <a:off x="3621573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766231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flipV="1">
            <a:off x="3972885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200205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V="1">
            <a:off x="4427525" y="2720340"/>
            <a:ext cx="227320" cy="5029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654845" y="2720340"/>
            <a:ext cx="16532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flipV="1">
            <a:off x="4820168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944161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flipV="1">
            <a:off x="5068153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212812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5419466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646786" y="2711196"/>
            <a:ext cx="309982" cy="3200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flipV="1">
            <a:off x="5956767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080760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6204753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6349411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flipV="1">
            <a:off x="6556065" y="2743200"/>
            <a:ext cx="278983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V="1">
            <a:off x="6835049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6959041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V="1">
            <a:off x="7083034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227692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 flipV="1">
            <a:off x="7434346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661666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 flipV="1">
            <a:off x="7888986" y="2720340"/>
            <a:ext cx="227320" cy="5029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8116306" y="2720340"/>
            <a:ext cx="113660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 flipV="1">
            <a:off x="8229966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8353958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 flipV="1">
            <a:off x="8477951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622609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V="1">
            <a:off x="8829264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9056583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 flipV="1">
            <a:off x="9283903" y="2743200"/>
            <a:ext cx="289316" cy="2743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 flipV="1">
            <a:off x="9573219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9697212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 flipV="1">
            <a:off x="9821205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9965863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 flipV="1">
            <a:off x="10172517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10399837" y="2711196"/>
            <a:ext cx="206654" cy="3200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10606491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10730484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 flipV="1">
            <a:off x="10854477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10999135" y="2743200"/>
            <a:ext cx="247985" cy="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914400" y="34015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II — irregular R–R, no P waves, fibrillatory baseline</a:t>
            </a:r>
            <a:endParaRPr lang="en-US" sz="1150" dirty="0"/>
          </a:p>
        </p:txBody>
      </p:sp>
      <p:sp>
        <p:nvSpPr>
          <p:cNvPr id="66" name="Shape 63"/>
          <p:cNvSpPr/>
          <p:nvPr/>
        </p:nvSpPr>
        <p:spPr>
          <a:xfrm>
            <a:off x="502920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67" name="Shape 64"/>
          <p:cNvSpPr/>
          <p:nvPr/>
        </p:nvSpPr>
        <p:spPr>
          <a:xfrm>
            <a:off x="1380744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6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4471416"/>
            <a:ext cx="475488" cy="475488"/>
          </a:xfrm>
          <a:prstGeom prst="rect">
            <a:avLst/>
          </a:prstGeom>
        </p:spPr>
      </p:pic>
      <p:sp>
        <p:nvSpPr>
          <p:cNvPr id="69" name="Text 65"/>
          <p:cNvSpPr/>
          <p:nvPr/>
        </p:nvSpPr>
        <p:spPr>
          <a:xfrm>
            <a:off x="640080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Irregularly irregular</a:t>
            </a:r>
            <a:endParaRPr lang="en-US" sz="1550" dirty="0"/>
          </a:p>
        </p:txBody>
      </p:sp>
      <p:sp>
        <p:nvSpPr>
          <p:cNvPr id="70" name="Text 66"/>
          <p:cNvSpPr/>
          <p:nvPr/>
        </p:nvSpPr>
        <p:spPr>
          <a:xfrm>
            <a:off x="685800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R–R intervals vary with no pattern</a:t>
            </a:r>
            <a:endParaRPr lang="en-US" sz="1200" dirty="0"/>
          </a:p>
        </p:txBody>
      </p:sp>
      <p:sp>
        <p:nvSpPr>
          <p:cNvPr id="71" name="Shape 67"/>
          <p:cNvSpPr/>
          <p:nvPr/>
        </p:nvSpPr>
        <p:spPr>
          <a:xfrm>
            <a:off x="3346704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2" name="Shape 68"/>
          <p:cNvSpPr/>
          <p:nvPr/>
        </p:nvSpPr>
        <p:spPr>
          <a:xfrm>
            <a:off x="4224528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7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3984" y="4471416"/>
            <a:ext cx="475488" cy="475488"/>
          </a:xfrm>
          <a:prstGeom prst="rect">
            <a:avLst/>
          </a:prstGeom>
        </p:spPr>
      </p:pic>
      <p:sp>
        <p:nvSpPr>
          <p:cNvPr id="74" name="Text 69"/>
          <p:cNvSpPr/>
          <p:nvPr/>
        </p:nvSpPr>
        <p:spPr>
          <a:xfrm>
            <a:off x="3483864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Absent P waves</a:t>
            </a:r>
            <a:endParaRPr lang="en-US" sz="1550" dirty="0"/>
          </a:p>
        </p:txBody>
      </p:sp>
      <p:sp>
        <p:nvSpPr>
          <p:cNvPr id="75" name="Text 70"/>
          <p:cNvSpPr/>
          <p:nvPr/>
        </p:nvSpPr>
        <p:spPr>
          <a:xfrm>
            <a:off x="3529584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organised atrial depolarisation</a:t>
            </a:r>
            <a:endParaRPr lang="en-US" sz="1200" dirty="0"/>
          </a:p>
        </p:txBody>
      </p:sp>
      <p:sp>
        <p:nvSpPr>
          <p:cNvPr id="76" name="Shape 71"/>
          <p:cNvSpPr/>
          <p:nvPr/>
        </p:nvSpPr>
        <p:spPr>
          <a:xfrm>
            <a:off x="6190488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7" name="Shape 72"/>
          <p:cNvSpPr/>
          <p:nvPr/>
        </p:nvSpPr>
        <p:spPr>
          <a:xfrm>
            <a:off x="7068312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7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7768" y="4471416"/>
            <a:ext cx="475488" cy="475488"/>
          </a:xfrm>
          <a:prstGeom prst="rect">
            <a:avLst/>
          </a:prstGeom>
        </p:spPr>
      </p:pic>
      <p:sp>
        <p:nvSpPr>
          <p:cNvPr id="79" name="Text 73"/>
          <p:cNvSpPr/>
          <p:nvPr/>
        </p:nvSpPr>
        <p:spPr>
          <a:xfrm>
            <a:off x="6327648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Fibrillatory f-waves</a:t>
            </a:r>
            <a:endParaRPr lang="en-US" sz="1550" dirty="0"/>
          </a:p>
        </p:txBody>
      </p:sp>
      <p:sp>
        <p:nvSpPr>
          <p:cNvPr id="80" name="Text 74"/>
          <p:cNvSpPr/>
          <p:nvPr/>
        </p:nvSpPr>
        <p:spPr>
          <a:xfrm>
            <a:off x="6373368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Chaotic baseline (~300–600/min)</a:t>
            </a:r>
            <a:endParaRPr lang="en-US" sz="1200" dirty="0"/>
          </a:p>
        </p:txBody>
      </p:sp>
      <p:sp>
        <p:nvSpPr>
          <p:cNvPr id="81" name="Shape 75"/>
          <p:cNvSpPr/>
          <p:nvPr/>
        </p:nvSpPr>
        <p:spPr>
          <a:xfrm>
            <a:off x="9034272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2" name="Shape 76"/>
          <p:cNvSpPr/>
          <p:nvPr/>
        </p:nvSpPr>
        <p:spPr>
          <a:xfrm>
            <a:off x="9912096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31552" y="4471416"/>
            <a:ext cx="475488" cy="475488"/>
          </a:xfrm>
          <a:prstGeom prst="rect">
            <a:avLst/>
          </a:prstGeom>
        </p:spPr>
      </p:pic>
      <p:sp>
        <p:nvSpPr>
          <p:cNvPr id="84" name="Text 77"/>
          <p:cNvSpPr/>
          <p:nvPr/>
        </p:nvSpPr>
        <p:spPr>
          <a:xfrm>
            <a:off x="9171432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Narrow QRS</a:t>
            </a:r>
            <a:endParaRPr lang="en-US" sz="1550" dirty="0"/>
          </a:p>
        </p:txBody>
      </p:sp>
      <p:sp>
        <p:nvSpPr>
          <p:cNvPr id="85" name="Text 78"/>
          <p:cNvSpPr/>
          <p:nvPr/>
        </p:nvSpPr>
        <p:spPr>
          <a:xfrm>
            <a:off x="9217152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Unless aberrancy / bundle branch block</a:t>
            </a:r>
            <a:endParaRPr lang="en-US" sz="1200" dirty="0"/>
          </a:p>
        </p:txBody>
      </p:sp>
      <p:sp>
        <p:nvSpPr>
          <p:cNvPr id="86" name="Text 7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100" dirty="0"/>
          </a:p>
        </p:txBody>
      </p:sp>
      <p:sp>
        <p:nvSpPr>
          <p:cNvPr id="87" name="Text 80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Investigations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95528" y="21854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2377440"/>
            <a:ext cx="393192" cy="3931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709928" y="21854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12-lead ECG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822960" y="30815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the diagnosis — first-line test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288536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581144" y="21854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3168" y="2377440"/>
            <a:ext cx="393192" cy="39319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495544" y="21854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Ambulatory / Holter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4608576" y="30815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paroxysmal or intermittent AF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074152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366760" y="21854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58784" y="2377440"/>
            <a:ext cx="393192" cy="39319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281160" y="21854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Echocardiography</a:t>
            </a:r>
            <a:endParaRPr lang="en-US" sz="1800" dirty="0"/>
          </a:p>
        </p:txBody>
      </p:sp>
      <p:sp>
        <p:nvSpPr>
          <p:cNvPr id="20" name="Text 14"/>
          <p:cNvSpPr/>
          <p:nvPr/>
        </p:nvSpPr>
        <p:spPr>
          <a:xfrm>
            <a:off x="8394192" y="30815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Structure, LA size, valves, LV; TOE for LA thrombus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502920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795528" y="42428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" y="4434840"/>
            <a:ext cx="393192" cy="39319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709928" y="42428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Blood tests</a:t>
            </a:r>
            <a:endParaRPr lang="en-US" sz="1800" dirty="0"/>
          </a:p>
        </p:txBody>
      </p:sp>
      <p:sp>
        <p:nvSpPr>
          <p:cNvPr id="25" name="Text 18"/>
          <p:cNvSpPr/>
          <p:nvPr/>
        </p:nvSpPr>
        <p:spPr>
          <a:xfrm>
            <a:off x="822960" y="51389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TFTs, U&amp;E, FBC, glucose, coagulation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4288536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4581144" y="42428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3168" y="4434840"/>
            <a:ext cx="393192" cy="393192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5495544" y="42428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Chest X-ray</a:t>
            </a:r>
            <a:endParaRPr lang="en-US" sz="1800" dirty="0"/>
          </a:p>
        </p:txBody>
      </p:sp>
      <p:sp>
        <p:nvSpPr>
          <p:cNvPr id="30" name="Text 22"/>
          <p:cNvSpPr/>
          <p:nvPr/>
        </p:nvSpPr>
        <p:spPr>
          <a:xfrm>
            <a:off x="4608576" y="51389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 size &amp; pulmonary causes</a:t>
            </a:r>
            <a:endParaRPr lang="en-US" sz="1250" dirty="0"/>
          </a:p>
        </p:txBody>
      </p:sp>
      <p:sp>
        <p:nvSpPr>
          <p:cNvPr id="31" name="Shape 23"/>
          <p:cNvSpPr/>
          <p:nvPr/>
        </p:nvSpPr>
        <p:spPr>
          <a:xfrm>
            <a:off x="8074152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Shape 24"/>
          <p:cNvSpPr/>
          <p:nvPr/>
        </p:nvSpPr>
        <p:spPr>
          <a:xfrm>
            <a:off x="8366760" y="42428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58784" y="4434840"/>
            <a:ext cx="393192" cy="393192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9281160" y="42428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 the cause</a:t>
            </a:r>
            <a:endParaRPr lang="en-US" sz="1800" dirty="0"/>
          </a:p>
        </p:txBody>
      </p:sp>
      <p:sp>
        <p:nvSpPr>
          <p:cNvPr id="35" name="Text 26"/>
          <p:cNvSpPr/>
          <p:nvPr/>
        </p:nvSpPr>
        <p:spPr>
          <a:xfrm>
            <a:off x="8394192" y="51389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for reversible triggers &amp; risk factors</a:t>
            </a:r>
            <a:endParaRPr lang="en-US" sz="1250" dirty="0"/>
          </a:p>
        </p:txBody>
      </p:sp>
      <p:sp>
        <p:nvSpPr>
          <p:cNvPr id="36" name="Text 2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100" dirty="0"/>
          </a:p>
        </p:txBody>
      </p:sp>
      <p:sp>
        <p:nvSpPr>
          <p:cNvPr id="37" name="Text 2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 DIAGNOSIS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Mimics of AF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95528" y="2167128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2322576"/>
            <a:ext cx="329184" cy="32918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600200" y="2130552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Flutter</a:t>
            </a:r>
            <a:endParaRPr lang="en-US" sz="1650" dirty="0"/>
          </a:p>
        </p:txBody>
      </p:sp>
      <p:sp>
        <p:nvSpPr>
          <p:cNvPr id="10" name="Text 6"/>
          <p:cNvSpPr/>
          <p:nvPr/>
        </p:nvSpPr>
        <p:spPr>
          <a:xfrm>
            <a:off x="822960" y="2971800"/>
            <a:ext cx="304495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sawtooth flutter waves; often 2:1 (ventricular ~150)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288536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581144" y="2167128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6592" y="2322576"/>
            <a:ext cx="329184" cy="32918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385816" y="2130552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Multifocal Atrial Tachycardia</a:t>
            </a:r>
            <a:endParaRPr lang="en-US" sz="1650" dirty="0"/>
          </a:p>
        </p:txBody>
      </p:sp>
      <p:sp>
        <p:nvSpPr>
          <p:cNvPr id="15" name="Text 10"/>
          <p:cNvSpPr/>
          <p:nvPr/>
        </p:nvSpPr>
        <p:spPr>
          <a:xfrm>
            <a:off x="4608576" y="2971800"/>
            <a:ext cx="304495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3 P-wave morphologies; irregular; linked to COPD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074152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366760" y="2167128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2208" y="2322576"/>
            <a:ext cx="329184" cy="32918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171432" y="2130552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Frequent Atrial Ectopics</a:t>
            </a:r>
            <a:endParaRPr lang="en-US" sz="1650" dirty="0"/>
          </a:p>
        </p:txBody>
      </p:sp>
      <p:sp>
        <p:nvSpPr>
          <p:cNvPr id="20" name="Text 14"/>
          <p:cNvSpPr/>
          <p:nvPr/>
        </p:nvSpPr>
        <p:spPr>
          <a:xfrm>
            <a:off x="8394192" y="2971800"/>
            <a:ext cx="304495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Irregular, but discrete P waves precede each QRS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502920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795528" y="4224528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76" y="4379976"/>
            <a:ext cx="329184" cy="329184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600200" y="4187952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AVNRT / AVRT (SVT)</a:t>
            </a:r>
            <a:endParaRPr lang="en-US" sz="1650" dirty="0"/>
          </a:p>
        </p:txBody>
      </p:sp>
      <p:sp>
        <p:nvSpPr>
          <p:cNvPr id="25" name="Text 18"/>
          <p:cNvSpPr/>
          <p:nvPr/>
        </p:nvSpPr>
        <p:spPr>
          <a:xfrm>
            <a:off x="822960" y="5029200"/>
            <a:ext cx="304495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narrow-complex tachycardia; abrupt onset/offset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4288536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4581144" y="4224528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6592" y="4379976"/>
            <a:ext cx="329184" cy="329184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5385816" y="4187952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Tachycardia</a:t>
            </a:r>
            <a:endParaRPr lang="en-US" sz="1650" dirty="0"/>
          </a:p>
        </p:txBody>
      </p:sp>
      <p:sp>
        <p:nvSpPr>
          <p:cNvPr id="30" name="Text 22"/>
          <p:cNvSpPr/>
          <p:nvPr/>
        </p:nvSpPr>
        <p:spPr>
          <a:xfrm>
            <a:off x="4608576" y="5029200"/>
            <a:ext cx="304495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Regular; abnormal P-wave axis, may have variable block</a:t>
            </a:r>
            <a:endParaRPr lang="en-US" sz="1250" dirty="0"/>
          </a:p>
        </p:txBody>
      </p:sp>
      <p:sp>
        <p:nvSpPr>
          <p:cNvPr id="31" name="Shape 23"/>
          <p:cNvSpPr/>
          <p:nvPr/>
        </p:nvSpPr>
        <p:spPr>
          <a:xfrm>
            <a:off x="8074152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Shape 24"/>
          <p:cNvSpPr/>
          <p:nvPr/>
        </p:nvSpPr>
        <p:spPr>
          <a:xfrm>
            <a:off x="8366760" y="4224528"/>
            <a:ext cx="640080" cy="640080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22208" y="4379976"/>
            <a:ext cx="329184" cy="329184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9171432" y="4187952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Pre-excited AF (WPW) / VT</a:t>
            </a:r>
            <a:endParaRPr lang="en-US" sz="1650" dirty="0"/>
          </a:p>
        </p:txBody>
      </p:sp>
      <p:sp>
        <p:nvSpPr>
          <p:cNvPr id="35" name="Text 26"/>
          <p:cNvSpPr/>
          <p:nvPr/>
        </p:nvSpPr>
        <p:spPr>
          <a:xfrm>
            <a:off x="8394192" y="5029200"/>
            <a:ext cx="304495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 but broad &amp; very fast — a red flag</a:t>
            </a:r>
            <a:endParaRPr lang="en-US" sz="1250" dirty="0"/>
          </a:p>
        </p:txBody>
      </p:sp>
      <p:sp>
        <p:nvSpPr>
          <p:cNvPr id="36" name="Text 2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100" dirty="0"/>
          </a:p>
        </p:txBody>
      </p:sp>
      <p:sp>
        <p:nvSpPr>
          <p:cNvPr id="37" name="Text 2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 DIAGNOSIS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Telling the Irregular Rhythms Apart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65960"/>
            <a:ext cx="2231136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9659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843784" y="1965960"/>
            <a:ext cx="2779776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9" name="Text 6"/>
          <p:cNvSpPr/>
          <p:nvPr/>
        </p:nvSpPr>
        <p:spPr>
          <a:xfrm>
            <a:off x="2926080" y="19659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activity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78424" y="1965960"/>
            <a:ext cx="2322576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11" name="Text 8"/>
          <p:cNvSpPr/>
          <p:nvPr/>
        </p:nvSpPr>
        <p:spPr>
          <a:xfrm>
            <a:off x="5760720" y="19659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Ventricular rate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055864" y="1965960"/>
            <a:ext cx="3630168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13" name="Text 10"/>
          <p:cNvSpPr/>
          <p:nvPr/>
        </p:nvSpPr>
        <p:spPr>
          <a:xfrm>
            <a:off x="8138160" y="1965960"/>
            <a:ext cx="3410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distinguishing clue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02920" y="2606040"/>
            <a:ext cx="2231136" cy="1051560"/>
          </a:xfrm>
          <a:prstGeom prst="roundRect">
            <a:avLst>
              <a:gd name="adj" fmla="val 5217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67512" y="2651760"/>
            <a:ext cx="1975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2843784" y="2606040"/>
            <a:ext cx="27797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953512" y="2651760"/>
            <a:ext cx="2523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 waves; fibrillatory baseline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78424" y="2606040"/>
            <a:ext cx="23225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788152" y="2651760"/>
            <a:ext cx="20665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Irregularly irregular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8055864" y="2606040"/>
            <a:ext cx="3630168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165592" y="2651760"/>
            <a:ext cx="3374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Chaotic — no organised atrial activity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02920" y="3703320"/>
            <a:ext cx="2231136" cy="1051560"/>
          </a:xfrm>
          <a:prstGeom prst="roundRect">
            <a:avLst>
              <a:gd name="adj" fmla="val 5217"/>
            </a:avLst>
          </a:prstGeom>
          <a:solidFill>
            <a:srgbClr val="FBD8D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67512" y="3749040"/>
            <a:ext cx="1975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Flutter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2843784" y="3703320"/>
            <a:ext cx="27797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2953512" y="3749040"/>
            <a:ext cx="2523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Sawtooth flutter waves (~300/min)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78424" y="3703320"/>
            <a:ext cx="23225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788152" y="3749040"/>
            <a:ext cx="20665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regular (2:1, 3:1)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8055864" y="3703320"/>
            <a:ext cx="3630168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165592" y="3749040"/>
            <a:ext cx="3374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“picket-fence” baseline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502920" y="4800600"/>
            <a:ext cx="2231136" cy="1051560"/>
          </a:xfrm>
          <a:prstGeom prst="roundRect">
            <a:avLst>
              <a:gd name="adj" fmla="val 5217"/>
            </a:avLst>
          </a:prstGeom>
          <a:solidFill>
            <a:srgbClr val="FBD8D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67512" y="4846320"/>
            <a:ext cx="1975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Multifocal Atrial Tach.</a:t>
            </a:r>
            <a:endParaRPr lang="en-US" sz="1500" dirty="0"/>
          </a:p>
        </p:txBody>
      </p:sp>
      <p:sp>
        <p:nvSpPr>
          <p:cNvPr id="32" name="Shape 29"/>
          <p:cNvSpPr/>
          <p:nvPr/>
        </p:nvSpPr>
        <p:spPr>
          <a:xfrm>
            <a:off x="2843784" y="4800600"/>
            <a:ext cx="27797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2953512" y="4846320"/>
            <a:ext cx="2523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3 distinct P-wave shapes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5678424" y="4800600"/>
            <a:ext cx="23225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788152" y="4846320"/>
            <a:ext cx="20665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8055864" y="4800600"/>
            <a:ext cx="3630168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165592" y="4846320"/>
            <a:ext cx="3374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Discrete varying P waves; COPD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502920" y="5806440"/>
            <a:ext cx="11183112" cy="457200"/>
          </a:xfrm>
          <a:prstGeom prst="roundRect">
            <a:avLst>
              <a:gd name="adj" fmla="val 16000"/>
            </a:avLst>
          </a:prstGeom>
          <a:solidFill>
            <a:srgbClr val="FFF0F3"/>
          </a:solidFill>
          <a:ln/>
        </p:spPr>
      </p:sp>
      <p:sp>
        <p:nvSpPr>
          <p:cNvPr id="39" name="Text 36"/>
          <p:cNvSpPr/>
          <p:nvPr/>
        </p:nvSpPr>
        <p:spPr>
          <a:xfrm>
            <a:off x="822960" y="580644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question:  </a:t>
            </a:r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rhythm regular or irregular?  Then look at the atrial activity — P waves, flutter waves, or fibrillation.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COMPLICATIONS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AF Matters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2331720"/>
            <a:ext cx="1051560" cy="1051560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" y="2624328"/>
            <a:ext cx="466344" cy="4663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2960" y="365760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Thromboembolism &amp; Stroke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822960" y="457200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Stasis in the left atrial appendage forms thrombi — the leading danger, with ~5× stroke risk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288536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54296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2624328"/>
            <a:ext cx="466344" cy="4663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08576" y="365760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Heart Failure</a:t>
            </a:r>
            <a:endParaRPr lang="en-US" sz="1900" dirty="0"/>
          </a:p>
        </p:txBody>
      </p:sp>
      <p:sp>
        <p:nvSpPr>
          <p:cNvPr id="15" name="Text 10"/>
          <p:cNvSpPr/>
          <p:nvPr/>
        </p:nvSpPr>
        <p:spPr>
          <a:xfrm>
            <a:off x="4608576" y="457200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of atrial kick plus rapid rates reduce cardiac output and worsen existing HF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8074152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439912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520" y="2624328"/>
            <a:ext cx="466344" cy="46634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394192" y="365760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Tachycardia-induced Cardiomyopathy</a:t>
            </a:r>
            <a:endParaRPr lang="en-US" sz="1900" dirty="0"/>
          </a:p>
        </p:txBody>
      </p:sp>
      <p:sp>
        <p:nvSpPr>
          <p:cNvPr id="20" name="Text 14"/>
          <p:cNvSpPr/>
          <p:nvPr/>
        </p:nvSpPr>
        <p:spPr>
          <a:xfrm>
            <a:off x="8394192" y="457200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Persistently rapid ventricular rates can cause reversible LV dysfunction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100" dirty="0"/>
          </a:p>
        </p:txBody>
      </p:sp>
      <p:sp>
        <p:nvSpPr>
          <p:cNvPr id="22" name="Text 16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STRATIFICATION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Stroke &amp; Bleeding Risk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69037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057400"/>
            <a:ext cx="63093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₂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₂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-VASc</a:t>
            </a:r>
            <a:pPr algn="l" indent="0" marL="0">
              <a:buNone/>
            </a:pPr>
            <a:r>
              <a:rPr lang="en-US" sz="2000" b="1" dirty="0">
                <a:solidFill>
                  <a:srgbClr val="6B6B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·  stroke risk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822960" y="26060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" y="2606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417320" y="26060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Congestive HF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3337560" y="2670048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12" name="Text 9"/>
          <p:cNvSpPr/>
          <p:nvPr/>
        </p:nvSpPr>
        <p:spPr>
          <a:xfrm>
            <a:off x="3337560" y="2670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069080" y="26060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14" name="Text 11"/>
          <p:cNvSpPr/>
          <p:nvPr/>
        </p:nvSpPr>
        <p:spPr>
          <a:xfrm>
            <a:off x="4023360" y="2606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4663440" y="26060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Hypertension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583680" y="2670048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17" name="Text 14"/>
          <p:cNvSpPr/>
          <p:nvPr/>
        </p:nvSpPr>
        <p:spPr>
          <a:xfrm>
            <a:off x="6583680" y="2670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822960" y="32644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326440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A₂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1417320" y="326440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≥ 75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3337560" y="3328416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22" name="Text 19"/>
          <p:cNvSpPr/>
          <p:nvPr/>
        </p:nvSpPr>
        <p:spPr>
          <a:xfrm>
            <a:off x="3337560" y="3328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069080" y="32644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24" name="Text 21"/>
          <p:cNvSpPr/>
          <p:nvPr/>
        </p:nvSpPr>
        <p:spPr>
          <a:xfrm>
            <a:off x="4023360" y="326440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4663440" y="326440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Diabetes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6583680" y="3328416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27" name="Text 24"/>
          <p:cNvSpPr/>
          <p:nvPr/>
        </p:nvSpPr>
        <p:spPr>
          <a:xfrm>
            <a:off x="6583680" y="3328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822960" y="39227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29" name="Text 26"/>
          <p:cNvSpPr/>
          <p:nvPr/>
        </p:nvSpPr>
        <p:spPr>
          <a:xfrm>
            <a:off x="777240" y="392277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S₂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1417320" y="3922776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stroke / TIA</a:t>
            </a:r>
            <a:endParaRPr lang="en-US" sz="1350" dirty="0"/>
          </a:p>
        </p:txBody>
      </p:sp>
      <p:sp>
        <p:nvSpPr>
          <p:cNvPr id="31" name="Shape 28"/>
          <p:cNvSpPr/>
          <p:nvPr/>
        </p:nvSpPr>
        <p:spPr>
          <a:xfrm>
            <a:off x="3337560" y="3986784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32" name="Text 29"/>
          <p:cNvSpPr/>
          <p:nvPr/>
        </p:nvSpPr>
        <p:spPr>
          <a:xfrm>
            <a:off x="3337560" y="3986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4069080" y="39227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34" name="Text 31"/>
          <p:cNvSpPr/>
          <p:nvPr/>
        </p:nvSpPr>
        <p:spPr>
          <a:xfrm>
            <a:off x="4023360" y="392277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4663440" y="3922776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Vascular disease</a:t>
            </a:r>
            <a:endParaRPr lang="en-US" sz="1350" dirty="0"/>
          </a:p>
        </p:txBody>
      </p:sp>
      <p:sp>
        <p:nvSpPr>
          <p:cNvPr id="36" name="Shape 33"/>
          <p:cNvSpPr/>
          <p:nvPr/>
        </p:nvSpPr>
        <p:spPr>
          <a:xfrm>
            <a:off x="6583680" y="3986784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37" name="Text 34"/>
          <p:cNvSpPr/>
          <p:nvPr/>
        </p:nvSpPr>
        <p:spPr>
          <a:xfrm>
            <a:off x="6583680" y="3986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822960" y="45811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39" name="Text 36"/>
          <p:cNvSpPr/>
          <p:nvPr/>
        </p:nvSpPr>
        <p:spPr>
          <a:xfrm>
            <a:off x="777240" y="458114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500" dirty="0"/>
          </a:p>
        </p:txBody>
      </p:sp>
      <p:sp>
        <p:nvSpPr>
          <p:cNvPr id="40" name="Text 37"/>
          <p:cNvSpPr/>
          <p:nvPr/>
        </p:nvSpPr>
        <p:spPr>
          <a:xfrm>
            <a:off x="1417320" y="4581144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65–74</a:t>
            </a:r>
            <a:endParaRPr lang="en-US" sz="1350" dirty="0"/>
          </a:p>
        </p:txBody>
      </p:sp>
      <p:sp>
        <p:nvSpPr>
          <p:cNvPr id="41" name="Shape 38"/>
          <p:cNvSpPr/>
          <p:nvPr/>
        </p:nvSpPr>
        <p:spPr>
          <a:xfrm>
            <a:off x="3337560" y="4645152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42" name="Text 39"/>
          <p:cNvSpPr/>
          <p:nvPr/>
        </p:nvSpPr>
        <p:spPr>
          <a:xfrm>
            <a:off x="3337560" y="4645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3" name="Shape 40"/>
          <p:cNvSpPr/>
          <p:nvPr/>
        </p:nvSpPr>
        <p:spPr>
          <a:xfrm>
            <a:off x="4069080" y="45811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44" name="Text 41"/>
          <p:cNvSpPr/>
          <p:nvPr/>
        </p:nvSpPr>
        <p:spPr>
          <a:xfrm>
            <a:off x="4023360" y="458114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</a:t>
            </a:r>
            <a:endParaRPr lang="en-US" sz="1500" dirty="0"/>
          </a:p>
        </p:txBody>
      </p:sp>
      <p:sp>
        <p:nvSpPr>
          <p:cNvPr id="45" name="Text 42"/>
          <p:cNvSpPr/>
          <p:nvPr/>
        </p:nvSpPr>
        <p:spPr>
          <a:xfrm>
            <a:off x="4663440" y="4581144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Sex (female)</a:t>
            </a:r>
            <a:endParaRPr lang="en-US" sz="1350" dirty="0"/>
          </a:p>
        </p:txBody>
      </p:sp>
      <p:sp>
        <p:nvSpPr>
          <p:cNvPr id="46" name="Shape 43"/>
          <p:cNvSpPr/>
          <p:nvPr/>
        </p:nvSpPr>
        <p:spPr>
          <a:xfrm>
            <a:off x="6583680" y="4645152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47" name="Text 44"/>
          <p:cNvSpPr/>
          <p:nvPr/>
        </p:nvSpPr>
        <p:spPr>
          <a:xfrm>
            <a:off x="6583680" y="4645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822960" y="5440680"/>
            <a:ext cx="6263640" cy="457200"/>
          </a:xfrm>
          <a:prstGeom prst="roundRect">
            <a:avLst>
              <a:gd name="adj" fmla="val 16000"/>
            </a:avLst>
          </a:prstGeom>
          <a:solidFill>
            <a:srgbClr val="590D22"/>
          </a:solidFill>
          <a:ln/>
        </p:spPr>
      </p:sp>
      <p:sp>
        <p:nvSpPr>
          <p:cNvPr id="49" name="Text 46"/>
          <p:cNvSpPr/>
          <p:nvPr/>
        </p:nvSpPr>
        <p:spPr>
          <a:xfrm>
            <a:off x="1051560" y="544068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Anticoagulate if  </a:t>
            </a:r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2 (men)  /  ≥ 3 (women)</a:t>
            </a:r>
            <a:endParaRPr lang="en-US" sz="1350" dirty="0"/>
          </a:p>
        </p:txBody>
      </p:sp>
      <p:sp>
        <p:nvSpPr>
          <p:cNvPr id="50" name="Shape 47"/>
          <p:cNvSpPr/>
          <p:nvPr/>
        </p:nvSpPr>
        <p:spPr>
          <a:xfrm>
            <a:off x="7543800" y="1828800"/>
            <a:ext cx="4160520" cy="4206240"/>
          </a:xfrm>
          <a:prstGeom prst="roundRect">
            <a:avLst>
              <a:gd name="adj" fmla="val 263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51" name="Text 48"/>
          <p:cNvSpPr/>
          <p:nvPr/>
        </p:nvSpPr>
        <p:spPr>
          <a:xfrm>
            <a:off x="7863840" y="20574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HAS-BLED</a:t>
            </a:r>
            <a:endParaRPr lang="en-US" sz="2000" dirty="0"/>
          </a:p>
        </p:txBody>
      </p:sp>
      <p:sp>
        <p:nvSpPr>
          <p:cNvPr id="52" name="Text 49"/>
          <p:cNvSpPr/>
          <p:nvPr/>
        </p:nvSpPr>
        <p:spPr>
          <a:xfrm>
            <a:off x="7863840" y="2432304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Bleeding risk on anticoagulation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7863840" y="2880360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Hypertension</a:t>
            </a:r>
            <a:endParaRPr lang="en-US" sz="1300" dirty="0"/>
          </a:p>
        </p:txBody>
      </p:sp>
      <p:sp>
        <p:nvSpPr>
          <p:cNvPr id="54" name="Text 51"/>
          <p:cNvSpPr/>
          <p:nvPr/>
        </p:nvSpPr>
        <p:spPr>
          <a:xfrm>
            <a:off x="7863840" y="3310128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Abnormal renal / liver</a:t>
            </a:r>
            <a:endParaRPr lang="en-US" sz="1300" dirty="0"/>
          </a:p>
        </p:txBody>
      </p:sp>
      <p:sp>
        <p:nvSpPr>
          <p:cNvPr id="55" name="Text 52"/>
          <p:cNvSpPr/>
          <p:nvPr/>
        </p:nvSpPr>
        <p:spPr>
          <a:xfrm>
            <a:off x="7863840" y="3739896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Stroke history</a:t>
            </a:r>
            <a:endParaRPr lang="en-US" sz="1300" dirty="0"/>
          </a:p>
        </p:txBody>
      </p:sp>
      <p:sp>
        <p:nvSpPr>
          <p:cNvPr id="56" name="Text 53"/>
          <p:cNvSpPr/>
          <p:nvPr/>
        </p:nvSpPr>
        <p:spPr>
          <a:xfrm>
            <a:off x="7863840" y="4169664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Bleeding tendency</a:t>
            </a:r>
            <a:endParaRPr lang="en-US" sz="1300" dirty="0"/>
          </a:p>
        </p:txBody>
      </p:sp>
      <p:sp>
        <p:nvSpPr>
          <p:cNvPr id="57" name="Text 54"/>
          <p:cNvSpPr/>
          <p:nvPr/>
        </p:nvSpPr>
        <p:spPr>
          <a:xfrm>
            <a:off x="7863840" y="4599432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Labile INR</a:t>
            </a:r>
            <a:endParaRPr lang="en-US" sz="1300" dirty="0"/>
          </a:p>
        </p:txBody>
      </p:sp>
      <p:sp>
        <p:nvSpPr>
          <p:cNvPr id="58" name="Text 55"/>
          <p:cNvSpPr/>
          <p:nvPr/>
        </p:nvSpPr>
        <p:spPr>
          <a:xfrm>
            <a:off x="7863840" y="5029200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Elderly (&gt; 65)</a:t>
            </a:r>
            <a:endParaRPr lang="en-US" sz="1300" dirty="0"/>
          </a:p>
        </p:txBody>
      </p:sp>
      <p:sp>
        <p:nvSpPr>
          <p:cNvPr id="59" name="Text 56"/>
          <p:cNvSpPr/>
          <p:nvPr/>
        </p:nvSpPr>
        <p:spPr>
          <a:xfrm>
            <a:off x="7863840" y="5458968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Drugs / alcohol</a:t>
            </a:r>
            <a:endParaRPr lang="en-US" sz="1300" dirty="0"/>
          </a:p>
        </p:txBody>
      </p:sp>
      <p:sp>
        <p:nvSpPr>
          <p:cNvPr id="60" name="Text 5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100" dirty="0"/>
          </a:p>
        </p:txBody>
      </p:sp>
      <p:sp>
        <p:nvSpPr>
          <p:cNvPr id="61" name="Text 5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ABC Pathway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77240" y="21945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7400" dirty="0"/>
          </a:p>
        </p:txBody>
      </p:sp>
      <p:sp>
        <p:nvSpPr>
          <p:cNvPr id="8" name="Shape 5"/>
          <p:cNvSpPr/>
          <p:nvPr/>
        </p:nvSpPr>
        <p:spPr>
          <a:xfrm>
            <a:off x="2788920" y="2377440"/>
            <a:ext cx="914400" cy="91440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6664" y="2615184"/>
            <a:ext cx="438912" cy="43891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22960" y="37490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822960" y="4617720"/>
            <a:ext cx="29718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stroke — assess with CHA₂DS₂-VASc, then a DOAC (or warfarin where indicated)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4288536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4562856" y="21945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7400" dirty="0"/>
          </a:p>
        </p:txBody>
      </p:sp>
      <p:sp>
        <p:nvSpPr>
          <p:cNvPr id="14" name="Shape 10"/>
          <p:cNvSpPr/>
          <p:nvPr/>
        </p:nvSpPr>
        <p:spPr>
          <a:xfrm>
            <a:off x="6574536" y="2377440"/>
            <a:ext cx="914400" cy="91440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2615184"/>
            <a:ext cx="438912" cy="43891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608576" y="37490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Better symptom control</a:t>
            </a:r>
            <a:endParaRPr lang="en-US" sz="2000" dirty="0"/>
          </a:p>
        </p:txBody>
      </p:sp>
      <p:sp>
        <p:nvSpPr>
          <p:cNvPr id="17" name="Text 12"/>
          <p:cNvSpPr/>
          <p:nvPr/>
        </p:nvSpPr>
        <p:spPr>
          <a:xfrm>
            <a:off x="4608576" y="4617720"/>
            <a:ext cx="29718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control and/or rhythm control to relieve symptoms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8074152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Text 14"/>
          <p:cNvSpPr/>
          <p:nvPr/>
        </p:nvSpPr>
        <p:spPr>
          <a:xfrm>
            <a:off x="8348472" y="21945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7400" dirty="0"/>
          </a:p>
        </p:txBody>
      </p:sp>
      <p:sp>
        <p:nvSpPr>
          <p:cNvPr id="20" name="Shape 15"/>
          <p:cNvSpPr/>
          <p:nvPr/>
        </p:nvSpPr>
        <p:spPr>
          <a:xfrm>
            <a:off x="10360152" y="2377440"/>
            <a:ext cx="914400" cy="91440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97896" y="2615184"/>
            <a:ext cx="438912" cy="43891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394192" y="37490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Comorbidities &amp; risk factors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8394192" y="4617720"/>
            <a:ext cx="29718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HTN, sleep apnoea, obesity, alcohol excess, diabetes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 CONTROL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 vs Rhythm Control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2121408"/>
            <a:ext cx="822960" cy="82296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304288"/>
            <a:ext cx="457200" cy="457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783080" y="219456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 Control</a:t>
            </a:r>
            <a:endParaRPr lang="en-US" sz="2300" dirty="0"/>
          </a:p>
        </p:txBody>
      </p:sp>
      <p:sp>
        <p:nvSpPr>
          <p:cNvPr id="10" name="Text 6"/>
          <p:cNvSpPr/>
          <p:nvPr/>
        </p:nvSpPr>
        <p:spPr>
          <a:xfrm>
            <a:off x="914400" y="320040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Beta-blockers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First-line (e.g. bisoprolol, metoprolol)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914400" y="411480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Non-DHP calcium blockers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Diltiazem or verapamil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914400" y="502920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Digoxin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Add-on; sedentary patients or heart failure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617220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92240" y="2121408"/>
            <a:ext cx="822960" cy="82296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2304288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452360" y="219456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Rhythm Control</a:t>
            </a:r>
            <a:endParaRPr lang="en-US" sz="2300" dirty="0"/>
          </a:p>
        </p:txBody>
      </p:sp>
      <p:sp>
        <p:nvSpPr>
          <p:cNvPr id="17" name="Text 12"/>
          <p:cNvSpPr/>
          <p:nvPr/>
        </p:nvSpPr>
        <p:spPr>
          <a:xfrm>
            <a:off x="6583680" y="3200400"/>
            <a:ext cx="4892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Cardioversion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(electrical) or pharmacological — flecainide, amiodarone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6583680" y="4114800"/>
            <a:ext cx="4892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Antiarrhythmic drugs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Flecainide/propafenone (no structural disease), amiodarone, sotalol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583680" y="5029200"/>
            <a:ext cx="4892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Catheter ablation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Pulmonary vein isolation for refractory cases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STROKE PREVENTION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2075688"/>
            <a:ext cx="512064" cy="512064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" y="22037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63040" y="18745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DOACs — first-line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4846320" y="187452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Apixaban, rivaroxaban, dabigatran, edoxaban — preferred for most patients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502920" y="292608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777240" y="3127248"/>
            <a:ext cx="512064" cy="512064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" y="3255264"/>
            <a:ext cx="256032" cy="25603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463040" y="2926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Warfarin (VKA)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4846320" y="292608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mechanical heart valves and moderate–severe mitral stenosis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502920" y="397764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777240" y="4178808"/>
            <a:ext cx="512064" cy="512064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" y="4306824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463040" y="39776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LAA occlusion</a:t>
            </a:r>
            <a:endParaRPr lang="en-US" sz="1800" dirty="0"/>
          </a:p>
        </p:txBody>
      </p:sp>
      <p:sp>
        <p:nvSpPr>
          <p:cNvPr id="20" name="Text 14"/>
          <p:cNvSpPr/>
          <p:nvPr/>
        </p:nvSpPr>
        <p:spPr>
          <a:xfrm>
            <a:off x="4846320" y="39776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closure when long-term anticoagulation is contraindicated</a:t>
            </a:r>
            <a:endParaRPr lang="en-US" sz="1450" dirty="0"/>
          </a:p>
        </p:txBody>
      </p:sp>
      <p:sp>
        <p:nvSpPr>
          <p:cNvPr id="21" name="Shape 15"/>
          <p:cNvSpPr/>
          <p:nvPr/>
        </p:nvSpPr>
        <p:spPr>
          <a:xfrm>
            <a:off x="502920" y="512064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394960"/>
            <a:ext cx="384048" cy="38404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463040" y="5120640"/>
            <a:ext cx="9966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Remember:  </a:t>
            </a:r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the decision on CHA₂DS₂-VASc, weigh bleeding risk (HAS-BLED), and note that antiplatelets alone are </a:t>
            </a:r>
            <a:pPr algn="l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adequate stroke prevention.</a:t>
            </a:r>
            <a:endParaRPr lang="en-US" sz="1450" dirty="0"/>
          </a:p>
        </p:txBody>
      </p:sp>
      <p:sp>
        <p:nvSpPr>
          <p:cNvPr id="24" name="Text 1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100" dirty="0"/>
          </a:p>
        </p:txBody>
      </p:sp>
      <p:sp>
        <p:nvSpPr>
          <p:cNvPr id="25" name="Text 1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POPULATIONS · PREGNANCY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 in Pregnancy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5532120" cy="2971800"/>
          </a:xfrm>
          <a:prstGeom prst="roundRect">
            <a:avLst>
              <a:gd name="adj" fmla="val 369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01168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PREFERRED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22960" y="2395728"/>
            <a:ext cx="548640" cy="548640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551176"/>
            <a:ext cx="283464" cy="24688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08760" y="2350008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LMWH (enoxaparin)</a:t>
            </a:r>
            <a:endParaRPr lang="en-US" sz="1650" dirty="0"/>
          </a:p>
        </p:txBody>
      </p:sp>
      <p:sp>
        <p:nvSpPr>
          <p:cNvPr id="11" name="Text 7"/>
          <p:cNvSpPr/>
          <p:nvPr/>
        </p:nvSpPr>
        <p:spPr>
          <a:xfrm>
            <a:off x="1508760" y="2706624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cross the placenta — the agent of choice; weight-adjusted, monitor anti-Xa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822960" y="3511296"/>
            <a:ext cx="548640" cy="548640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666744"/>
            <a:ext cx="283464" cy="24688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08760" y="3465576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Unfractionated heparin</a:t>
            </a:r>
            <a:endParaRPr lang="en-US" sz="1650" dirty="0"/>
          </a:p>
        </p:txBody>
      </p:sp>
      <p:sp>
        <p:nvSpPr>
          <p:cNvPr id="15" name="Text 10"/>
          <p:cNvSpPr/>
          <p:nvPr/>
        </p:nvSpPr>
        <p:spPr>
          <a:xfrm>
            <a:off x="1508760" y="3822192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placenta-safe; useful peri-delivery — short-acting &amp; reversible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172200" y="1783080"/>
            <a:ext cx="5532120" cy="2971800"/>
          </a:xfrm>
          <a:prstGeom prst="roundRect">
            <a:avLst>
              <a:gd name="adj" fmla="val 3692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Text 12"/>
          <p:cNvSpPr/>
          <p:nvPr/>
        </p:nvSpPr>
        <p:spPr>
          <a:xfrm>
            <a:off x="6492240" y="201168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6492240" y="2395728"/>
            <a:ext cx="548640" cy="54864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8544" y="2551176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7178040" y="235000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Warfarin (VKA)</a:t>
            </a:r>
            <a:endParaRPr lang="en-US" sz="1650" dirty="0"/>
          </a:p>
        </p:txBody>
      </p:sp>
      <p:sp>
        <p:nvSpPr>
          <p:cNvPr id="21" name="Text 15"/>
          <p:cNvSpPr/>
          <p:nvPr/>
        </p:nvSpPr>
        <p:spPr>
          <a:xfrm>
            <a:off x="7178040" y="2706624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Teratogenic — embryopathy at weeks 6–12 and fetal bleeding near term</a:t>
            </a:r>
            <a:endParaRPr lang="en-US" sz="1250" dirty="0"/>
          </a:p>
        </p:txBody>
      </p:sp>
      <p:sp>
        <p:nvSpPr>
          <p:cNvPr id="22" name="Shape 16"/>
          <p:cNvSpPr/>
          <p:nvPr/>
        </p:nvSpPr>
        <p:spPr>
          <a:xfrm>
            <a:off x="6492240" y="3511296"/>
            <a:ext cx="548640" cy="54864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8544" y="3666744"/>
            <a:ext cx="256032" cy="25603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178040" y="346557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DOACs</a:t>
            </a:r>
            <a:endParaRPr lang="en-US" sz="1650" dirty="0"/>
          </a:p>
        </p:txBody>
      </p:sp>
      <p:sp>
        <p:nvSpPr>
          <p:cNvPr id="25" name="Text 18"/>
          <p:cNvSpPr/>
          <p:nvPr/>
        </p:nvSpPr>
        <p:spPr>
          <a:xfrm>
            <a:off x="7178040" y="3822192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recommended — cross the placenta with limited safety data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502920" y="4937760"/>
            <a:ext cx="11183112" cy="1051560"/>
          </a:xfrm>
          <a:prstGeom prst="roundRect">
            <a:avLst>
              <a:gd name="adj" fmla="val 10435"/>
            </a:avLst>
          </a:prstGeom>
          <a:solidFill>
            <a:srgbClr val="FBD8DF"/>
          </a:solidFill>
          <a:ln/>
        </p:spPr>
      </p:sp>
      <p:sp>
        <p:nvSpPr>
          <p:cNvPr id="27" name="Text 20"/>
          <p:cNvSpPr/>
          <p:nvPr/>
        </p:nvSpPr>
        <p:spPr>
          <a:xfrm>
            <a:off x="914400" y="5084064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Peri-delivery   </a:t>
            </a:r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LMWH → UFH (or briefly hold) to allow neuraxial anaesthesia and limit bleeding.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914400" y="546811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Breastfeeding   </a:t>
            </a:r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warfarin, LMWH and UFH are compatible; DOACs are avoided. Plan with a specialist team.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100" dirty="0"/>
          </a:p>
        </p:txBody>
      </p:sp>
      <p:sp>
        <p:nvSpPr>
          <p:cNvPr id="30" name="Text 23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POPULATIONS · PREGNANCY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Rhythm &amp; Rate Control in Pregnancy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205740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GENERALLY SAFE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68680" y="254203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26883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18488" y="2505456"/>
            <a:ext cx="4233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Beta-blockers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618488" y="2816352"/>
            <a:ext cx="4233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First-line rate control (metoprolol, bisoprolol) — avoid atenolol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868680" y="3621024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3767328"/>
            <a:ext cx="274320" cy="2743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618488" y="3584448"/>
            <a:ext cx="4233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Digoxin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618488" y="3895344"/>
            <a:ext cx="4233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option for rate control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68680" y="470001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846320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618488" y="4663440"/>
            <a:ext cx="4233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Flecainide / sotalol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1618488" y="4974336"/>
            <a:ext cx="4233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rhythm control when needed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6172200" y="1783080"/>
            <a:ext cx="5532120" cy="2011680"/>
          </a:xfrm>
          <a:prstGeom prst="roundRect">
            <a:avLst>
              <a:gd name="adj" fmla="val 5455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492240" y="2148840"/>
            <a:ext cx="868680" cy="8686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9984" y="2377440"/>
            <a:ext cx="402336" cy="40233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7498080" y="219456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Cardioversion</a:t>
            </a:r>
            <a:endParaRPr lang="en-US" sz="2100" dirty="0"/>
          </a:p>
        </p:txBody>
      </p:sp>
      <p:sp>
        <p:nvSpPr>
          <p:cNvPr id="24" name="Text 17"/>
          <p:cNvSpPr/>
          <p:nvPr/>
        </p:nvSpPr>
        <p:spPr>
          <a:xfrm>
            <a:off x="6537960" y="2852928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cardioversion is safe in all trimesters — perform with fetal monitoring.</a:t>
            </a:r>
            <a:endParaRPr lang="en-US" sz="1400" dirty="0"/>
          </a:p>
        </p:txBody>
      </p:sp>
      <p:sp>
        <p:nvSpPr>
          <p:cNvPr id="25" name="Shape 18"/>
          <p:cNvSpPr/>
          <p:nvPr/>
        </p:nvSpPr>
        <p:spPr>
          <a:xfrm>
            <a:off x="6172200" y="3977640"/>
            <a:ext cx="5532120" cy="2011680"/>
          </a:xfrm>
          <a:prstGeom prst="roundRect">
            <a:avLst>
              <a:gd name="adj" fmla="val 545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6" name="Text 19"/>
          <p:cNvSpPr/>
          <p:nvPr/>
        </p:nvSpPr>
        <p:spPr>
          <a:xfrm>
            <a:off x="6537960" y="420624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WITH CAUTION / AVOID</a:t>
            </a:r>
            <a:endParaRPr lang="en-US" sz="1300" dirty="0"/>
          </a:p>
        </p:txBody>
      </p:sp>
      <p:sp>
        <p:nvSpPr>
          <p:cNvPr id="27" name="Text 20"/>
          <p:cNvSpPr/>
          <p:nvPr/>
        </p:nvSpPr>
        <p:spPr>
          <a:xfrm>
            <a:off x="6537960" y="4645152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Amiodarone  </a:t>
            </a:r>
            <a:pPr algn="l"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fetal thyroid dysfunction &amp; IUGR; only if life-threatening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6537960" y="528523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Atenolol  </a:t>
            </a:r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linked to fetal growth restriction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100" dirty="0"/>
          </a:p>
        </p:txBody>
      </p:sp>
      <p:sp>
        <p:nvSpPr>
          <p:cNvPr id="30" name="Text 23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6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9000"/>
          </a:blip>
          <a:stretch>
            <a:fillRect/>
          </a:stretch>
        </p:blipFill>
        <p:spPr>
          <a:xfrm>
            <a:off x="8321040" y="3291840"/>
            <a:ext cx="4572000" cy="4572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68580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" y="905256"/>
            <a:ext cx="521208" cy="52120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868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640080" y="169164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Points</a:t>
            </a:r>
            <a:endParaRPr lang="en-US" sz="4600" dirty="0"/>
          </a:p>
        </p:txBody>
      </p:sp>
      <p:sp>
        <p:nvSpPr>
          <p:cNvPr id="8" name="Shape 4"/>
          <p:cNvSpPr/>
          <p:nvPr/>
        </p:nvSpPr>
        <p:spPr>
          <a:xfrm>
            <a:off x="713232" y="259689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660904"/>
            <a:ext cx="164592" cy="16459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188720" y="257860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 = irregularly irregular rhythm with absent P waves and a fibrillatory baseline.</a:t>
            </a:r>
            <a:endParaRPr lang="en-US" sz="1500" dirty="0"/>
          </a:p>
        </p:txBody>
      </p:sp>
      <p:sp>
        <p:nvSpPr>
          <p:cNvPr id="11" name="Shape 6"/>
          <p:cNvSpPr/>
          <p:nvPr/>
        </p:nvSpPr>
        <p:spPr>
          <a:xfrm>
            <a:off x="713232" y="314553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209544"/>
            <a:ext cx="164592" cy="16459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188720" y="312724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commonest sustained arrhythmia — linked to hypertension, age and structural heart disease.</a:t>
            </a:r>
            <a:endParaRPr lang="en-US" sz="1500" dirty="0"/>
          </a:p>
        </p:txBody>
      </p:sp>
      <p:sp>
        <p:nvSpPr>
          <p:cNvPr id="14" name="Shape 8"/>
          <p:cNvSpPr/>
          <p:nvPr/>
        </p:nvSpPr>
        <p:spPr>
          <a:xfrm>
            <a:off x="713232" y="369417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758184"/>
            <a:ext cx="164592" cy="164592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188720" y="367588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main danger is thromboembolic stroke — always assess stroke risk (CHA₂DS₂-VASc).</a:t>
            </a:r>
            <a:endParaRPr lang="en-US" sz="1500" dirty="0"/>
          </a:p>
        </p:txBody>
      </p:sp>
      <p:sp>
        <p:nvSpPr>
          <p:cNvPr id="17" name="Shape 10"/>
          <p:cNvSpPr/>
          <p:nvPr/>
        </p:nvSpPr>
        <p:spPr>
          <a:xfrm>
            <a:off x="713232" y="424281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4306824"/>
            <a:ext cx="164592" cy="164592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188720" y="422452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Differentials: atrial flutter, multifocal atrial tachycardia, frequent PACs, SVT, pre-excited AF / VT.</a:t>
            </a:r>
            <a:endParaRPr lang="en-US" sz="1500" dirty="0"/>
          </a:p>
        </p:txBody>
      </p:sp>
      <p:sp>
        <p:nvSpPr>
          <p:cNvPr id="20" name="Shape 12"/>
          <p:cNvSpPr/>
          <p:nvPr/>
        </p:nvSpPr>
        <p:spPr>
          <a:xfrm>
            <a:off x="713232" y="479145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4855464"/>
            <a:ext cx="164592" cy="164592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1188720" y="477316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with the ABC pathway: Anticoagulation, Better symptom control, Comorbidities.</a:t>
            </a:r>
            <a:endParaRPr lang="en-US" sz="1500" dirty="0"/>
          </a:p>
        </p:txBody>
      </p:sp>
      <p:sp>
        <p:nvSpPr>
          <p:cNvPr id="23" name="Shape 14"/>
          <p:cNvSpPr/>
          <p:nvPr/>
        </p:nvSpPr>
        <p:spPr>
          <a:xfrm>
            <a:off x="713232" y="534009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5404104"/>
            <a:ext cx="164592" cy="164592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1188720" y="532180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pregnancy: LMWH is the anticoagulant of choice — avoid warfarin and DOACs.</a:t>
            </a:r>
            <a:endParaRPr lang="en-US" sz="1500" dirty="0"/>
          </a:p>
        </p:txBody>
      </p:sp>
      <p:sp>
        <p:nvSpPr>
          <p:cNvPr id="26" name="Text 16"/>
          <p:cNvSpPr/>
          <p:nvPr/>
        </p:nvSpPr>
        <p:spPr>
          <a:xfrm>
            <a:off x="685800" y="594360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b="1" i="1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2200" dirty="0"/>
          </a:p>
        </p:txBody>
      </p:sp>
      <p:sp>
        <p:nvSpPr>
          <p:cNvPr id="27" name="Text 1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100" dirty="0"/>
          </a:p>
        </p:txBody>
      </p:sp>
      <p:sp>
        <p:nvSpPr>
          <p:cNvPr id="28" name="Text 1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2026-07-21T20:32:30Z</dcterms:created>
  <dcterms:modified xsi:type="dcterms:W3CDTF">2026-07-21T20:32:30Z</dcterms:modified>
</cp:coreProperties>
</file>