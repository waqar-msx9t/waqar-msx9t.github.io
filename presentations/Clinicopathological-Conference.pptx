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589520" y="1051560"/>
            <a:ext cx="466344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234440"/>
            <a:ext cx="1927555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V="1">
            <a:off x="2567635" y="1088136"/>
            <a:ext cx="340157" cy="146304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07792" y="1088136"/>
            <a:ext cx="340157" cy="4572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247949" y="731520"/>
            <a:ext cx="340157" cy="813816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88106" y="731520"/>
            <a:ext cx="340157" cy="6858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3928262" y="1234440"/>
            <a:ext cx="340157" cy="18288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68419" y="1234440"/>
            <a:ext cx="2040941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spc="2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CARDIOLOGY  ·  PIC, BAHAWALPUR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" y="21488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Clinicopathological</a:t>
            </a:r>
            <a:endParaRPr lang="en-US" sz="6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Conference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685800" y="42245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case-based clinical discussion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85800" y="489204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5400000">
              <a:srgbClr val="8A8A8A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32688" y="5166360"/>
            <a:ext cx="749808" cy="7498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5312664"/>
            <a:ext cx="448056" cy="4480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01952" y="502920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 Mubashir Aziz
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PGR Cardiology  ·  PIC, BWP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Biodata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3931920" cy="4297680"/>
          </a:xfrm>
          <a:prstGeom prst="roundRect">
            <a:avLst>
              <a:gd name="adj" fmla="val 3256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737360" y="2286000"/>
            <a:ext cx="1463040" cy="146304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2633472"/>
            <a:ext cx="768096" cy="7680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Shazia Bibi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640080" y="4370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w/o Nicholan George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234440" y="507492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V="1">
            <a:off x="2073859" y="492861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221992" y="492861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V="1">
            <a:off x="2370125" y="457200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18258" y="457200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 flipV="1">
            <a:off x="2666390" y="507492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814523" y="507492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09160" y="178308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965192" y="209397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22402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6072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76072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years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8485632" y="178308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741664" y="209397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22402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537192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537192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Female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4709160" y="333756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965192" y="364845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379476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76072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76072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Bahawalpur</a:t>
            </a:r>
            <a:endParaRPr lang="en-US" sz="2000" dirty="0"/>
          </a:p>
        </p:txBody>
      </p:sp>
      <p:sp>
        <p:nvSpPr>
          <p:cNvPr id="33" name="Shape 26"/>
          <p:cNvSpPr/>
          <p:nvPr/>
        </p:nvSpPr>
        <p:spPr>
          <a:xfrm>
            <a:off x="8485632" y="333756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741664" y="364845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379476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537192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9537192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Nurse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229600" y="914400"/>
            <a:ext cx="493776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1371600"/>
            <a:ext cx="960120" cy="96012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581912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15727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COMPLAINT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40080" y="26517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Palpitations</a:t>
            </a:r>
            <a:endParaRPr lang="en-US" sz="7600" dirty="0"/>
          </a:p>
        </p:txBody>
      </p:sp>
      <p:sp>
        <p:nvSpPr>
          <p:cNvPr id="8" name="Text 4"/>
          <p:cNvSpPr/>
          <p:nvPr/>
        </p:nvSpPr>
        <p:spPr>
          <a:xfrm>
            <a:off x="685800" y="3886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rgbClr val="FB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</a:t>
            </a:r>
            <a:pPr algn="l" indent="0" marL="0">
              <a:buNone/>
            </a:pPr>
            <a:r>
              <a:rPr lang="en-US" sz="46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hours</a:t>
            </a:r>
            <a:endParaRPr lang="en-US" sz="4600" dirty="0"/>
          </a:p>
        </p:txBody>
      </p:sp>
      <p:sp>
        <p:nvSpPr>
          <p:cNvPr id="9" name="Shape 5"/>
          <p:cNvSpPr/>
          <p:nvPr/>
        </p:nvSpPr>
        <p:spPr>
          <a:xfrm>
            <a:off x="731520" y="5349240"/>
            <a:ext cx="2020824" cy="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 flipV="1">
            <a:off x="2752344" y="5202936"/>
            <a:ext cx="356616" cy="146304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108960" y="5202936"/>
            <a:ext cx="356616" cy="45720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V="1">
            <a:off x="3465576" y="4846320"/>
            <a:ext cx="356616" cy="813816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822192" y="4846320"/>
            <a:ext cx="356616" cy="68580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V="1">
            <a:off x="4178808" y="5349240"/>
            <a:ext cx="356616" cy="18288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35424" y="5349240"/>
            <a:ext cx="2139696" cy="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5532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onset  ·  sensation of racing heart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PRESENT ILLNESS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So Far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5989320" cy="4297680"/>
          </a:xfrm>
          <a:prstGeom prst="roundRect">
            <a:avLst>
              <a:gd name="adj" fmla="val 2553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10312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46-year-old female</a:t>
            </a:r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previously in her usual state of health, developed </a:t>
            </a:r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sudden-onset palpitations 4 hours ago</a:t>
            </a:r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sensation that her heart was racing.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22960" y="3639312"/>
            <a:ext cx="5349240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84048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prior identical episodes</a:t>
            </a:r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required admission to the cardiac emergency and settled after IV medication. She was told her </a:t>
            </a:r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rhythm is irregular.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720840" y="1783080"/>
            <a:ext cx="4983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95160" y="1984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SYMPTOMS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95160" y="242316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0F3"/>
          </a:solidFill>
          <a:ln/>
        </p:spPr>
      </p:sp>
      <p:sp>
        <p:nvSpPr>
          <p:cNvPr id="13" name="Shape 10"/>
          <p:cNvSpPr/>
          <p:nvPr/>
        </p:nvSpPr>
        <p:spPr>
          <a:xfrm>
            <a:off x="7251192" y="26791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80720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27848" y="267919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Dizziness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9326880" y="242316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0F3"/>
          </a:solidFill>
          <a:ln/>
        </p:spPr>
      </p:sp>
      <p:sp>
        <p:nvSpPr>
          <p:cNvPr id="17" name="Shape 13"/>
          <p:cNvSpPr/>
          <p:nvPr/>
        </p:nvSpPr>
        <p:spPr>
          <a:xfrm>
            <a:off x="9582912" y="26791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280720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59568" y="267919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720840" y="4023360"/>
            <a:ext cx="4983480" cy="2057400"/>
          </a:xfrm>
          <a:prstGeom prst="roundRect">
            <a:avLst>
              <a:gd name="adj" fmla="val 4444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99516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</a:t>
            </a:r>
            <a:pPr algn="l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PERTINENT NEGATIVES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040880" y="46268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9326880" y="46268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Shortness of breath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040880" y="50840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Syncope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9326880" y="50840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040880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Tremor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HISTORY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History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423160"/>
            <a:ext cx="1737360" cy="173736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8892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Medications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1280160" y="534924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V="1">
            <a:off x="2119579" y="520293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67712" y="520293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2415845" y="484632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3978" y="484632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2712110" y="534924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60243" y="534924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37760" y="1783080"/>
            <a:ext cx="6766560" cy="1325880"/>
          </a:xfrm>
          <a:prstGeom prst="roundRect">
            <a:avLst>
              <a:gd name="adj" fmla="val 689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57800" y="2084832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26771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0391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Vadil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217920" y="25328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/ rhythm control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4937760" y="3291840"/>
            <a:ext cx="6766560" cy="1325880"/>
          </a:xfrm>
          <a:prstGeom prst="roundRect">
            <a:avLst>
              <a:gd name="adj" fmla="val 689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257800" y="3593592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77647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17920" y="35478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Rivaroxaban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6217920" y="4041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anticoagulation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4937760" y="4800600"/>
            <a:ext cx="6766560" cy="1188720"/>
          </a:xfrm>
          <a:prstGeom prst="roundRect">
            <a:avLst>
              <a:gd name="adj" fmla="val 7692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5394960" y="480060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</a:t>
            </a:r>
            <a:pPr algn="l" indent="0" marL="0">
              <a:buNone/>
            </a:pPr>
            <a:r>
              <a:rPr lang="en-US" sz="16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control with stroke-risk protection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HISTORY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History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423160"/>
            <a:ext cx="1737360" cy="173736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8892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1280160" y="534924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V="1">
            <a:off x="2119579" y="520293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67712" y="520293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2415845" y="484632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3978" y="484632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2712110" y="534924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60243" y="534924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37760" y="178308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40680" y="2194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COMORBIDITY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40680" y="26060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Hypertension</a:t>
            </a:r>
            <a:endParaRPr lang="en-US" sz="4400" dirty="0"/>
          </a:p>
        </p:txBody>
      </p:sp>
      <p:sp>
        <p:nvSpPr>
          <p:cNvPr id="20" name="Text 16"/>
          <p:cNvSpPr/>
          <p:nvPr/>
        </p:nvSpPr>
        <p:spPr>
          <a:xfrm>
            <a:off x="5458968" y="36118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oral antihypertensive medication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5440680" y="457200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/>
        </p:spPr>
      </p:sp>
      <p:sp>
        <p:nvSpPr>
          <p:cNvPr id="22" name="Text 18"/>
          <p:cNvSpPr/>
          <p:nvPr/>
        </p:nvSpPr>
        <p:spPr>
          <a:xfrm>
            <a:off x="5440680" y="457200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HTN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HISTORY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Surgical History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423160"/>
            <a:ext cx="1737360" cy="173736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8892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Surgical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1280160" y="534924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V="1">
            <a:off x="2119579" y="520293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67712" y="520293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2415845" y="484632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3978" y="484632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2712110" y="534924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60243" y="534924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37760" y="178308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40680" y="2194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40680" y="260604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significant</a:t>
            </a:r>
            <a:endParaRPr lang="en-US" sz="4200" dirty="0"/>
          </a:p>
        </p:txBody>
      </p:sp>
      <p:sp>
        <p:nvSpPr>
          <p:cNvPr id="20" name="Text 16"/>
          <p:cNvSpPr/>
          <p:nvPr/>
        </p:nvSpPr>
        <p:spPr>
          <a:xfrm>
            <a:off x="5458968" y="41148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operative history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440680" y="48920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/>
        </p:spPr>
      </p:sp>
      <p:sp>
        <p:nvSpPr>
          <p:cNvPr id="22" name="Text 18"/>
          <p:cNvSpPr/>
          <p:nvPr/>
        </p:nvSpPr>
        <p:spPr>
          <a:xfrm>
            <a:off x="5440680" y="48920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REPORTED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FAMILY HISTORY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Context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6766560" cy="4114800"/>
          </a:xfrm>
          <a:prstGeom prst="roundRect">
            <a:avLst>
              <a:gd name="adj" fmla="val 266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240280"/>
            <a:ext cx="868680" cy="86868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4231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23317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Socioeconomic History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868680" y="338328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557016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73736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by profession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069080" y="338328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3557016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3776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93776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868680" y="459028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764024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737360" y="4608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1737360" y="4864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middle class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069080" y="459028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2816" y="4764024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937760" y="4608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937760" y="4864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Bahawalpur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7498080" y="187452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915400" y="2514600"/>
            <a:ext cx="1371600" cy="1371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834640"/>
            <a:ext cx="731520" cy="7315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680960" y="4114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History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8366760" y="470916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/>
        </p:spPr>
      </p:sp>
      <p:sp>
        <p:nvSpPr>
          <p:cNvPr id="31" name="Text 22"/>
          <p:cNvSpPr/>
          <p:nvPr/>
        </p:nvSpPr>
        <p:spPr>
          <a:xfrm>
            <a:off x="8366760" y="47091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>
            <a:off x="8046720" y="1051560"/>
            <a:ext cx="475488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1783080"/>
            <a:ext cx="1927555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V="1">
            <a:off x="2613355" y="1636776"/>
            <a:ext cx="340157" cy="146304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53512" y="1636776"/>
            <a:ext cx="340157" cy="4572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293669" y="1280160"/>
            <a:ext cx="340157" cy="813816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33826" y="1280160"/>
            <a:ext cx="340157" cy="6858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3973982" y="1783080"/>
            <a:ext cx="340157" cy="18288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14139" y="1783080"/>
            <a:ext cx="2040941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ASSESSMENT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1792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Examination</a:t>
            </a:r>
            <a:endParaRPr lang="en-US" sz="6800" dirty="0"/>
          </a:p>
        </p:txBody>
      </p:sp>
      <p:sp>
        <p:nvSpPr>
          <p:cNvPr id="13" name="Text 10"/>
          <p:cNvSpPr/>
          <p:nvPr/>
        </p:nvSpPr>
        <p:spPr>
          <a:xfrm>
            <a:off x="68580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physical &amp; systemic examination findings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85800" y="4892040"/>
            <a:ext cx="2183587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4892040"/>
            <a:ext cx="21835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Physical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097987" y="4892040"/>
            <a:ext cx="1967789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97987" y="4892040"/>
            <a:ext cx="1967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94376" y="4892040"/>
            <a:ext cx="1644091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94376" y="4892040"/>
            <a:ext cx="16440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167067" y="4892040"/>
            <a:ext cx="780898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67067" y="4892040"/>
            <a:ext cx="780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176565" y="4892040"/>
            <a:ext cx="2183587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76565" y="4892040"/>
            <a:ext cx="21835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Gastrointestinal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PHYSICAL EXAMINATION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Presentation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" y="160934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" y="18470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12648" y="241401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61488" y="1463040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71216" y="160934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PULSE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834640" y="18470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2871216" y="241401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0056" y="1463040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9784" y="160934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93208" y="18470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110/70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129784" y="241401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mmHg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278624" y="1463040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88352" y="160934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51776" y="18470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7388352" y="241401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°F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537192" y="1463040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646920" y="160934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RATE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610344" y="18470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9646920" y="241401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/min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02920" y="2816352"/>
            <a:ext cx="11183112" cy="548640"/>
          </a:xfrm>
          <a:prstGeom prst="roundRect">
            <a:avLst>
              <a:gd name="adj" fmla="val 16667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26080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280160" y="28163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Apex–radial pulse deficit ≈ 40 bpm</a:t>
            </a:r>
            <a:pPr algn="l" indent="0" marL="0"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(heart rate 136 vs radial pulse 96) — a hallmark of atrial fibrillation.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02920" y="347472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777240" y="369417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84048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463040" y="369417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795528" y="444398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4" name="Text 29"/>
          <p:cNvSpPr/>
          <p:nvPr/>
        </p:nvSpPr>
        <p:spPr>
          <a:xfrm>
            <a:off x="1014984" y="4389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Thin, lean, middle-aged female; comfortable in bed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795528" y="494690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6" name="Text 31"/>
          <p:cNvSpPr/>
          <p:nvPr/>
        </p:nvSpPr>
        <p:spPr>
          <a:xfrm>
            <a:off x="1014984" y="4892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cannula in situ (right hand)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795528" y="544982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8" name="Text 33"/>
          <p:cNvSpPr/>
          <p:nvPr/>
        </p:nvSpPr>
        <p:spPr>
          <a:xfrm>
            <a:off x="1014984" y="5394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oriented — time, place, person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4288536" y="347472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4562856" y="369417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840480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248656" y="369417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 Character</a:t>
            </a:r>
            <a:endParaRPr lang="en-US" sz="1600" dirty="0"/>
          </a:p>
        </p:txBody>
      </p:sp>
      <p:sp>
        <p:nvSpPr>
          <p:cNvPr id="43" name="Shape 37"/>
          <p:cNvSpPr/>
          <p:nvPr/>
        </p:nvSpPr>
        <p:spPr>
          <a:xfrm>
            <a:off x="4581144" y="444398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4" name="Text 38"/>
          <p:cNvSpPr/>
          <p:nvPr/>
        </p:nvSpPr>
        <p:spPr>
          <a:xfrm>
            <a:off x="4800600" y="4389120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Irregularly irregular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4581144" y="4745736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6" name="Text 40"/>
          <p:cNvSpPr/>
          <p:nvPr/>
        </p:nvSpPr>
        <p:spPr>
          <a:xfrm>
            <a:off x="4800600" y="469087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volume &amp; character</a:t>
            </a:r>
            <a:endParaRPr lang="en-US" sz="1200" dirty="0"/>
          </a:p>
        </p:txBody>
      </p:sp>
      <p:sp>
        <p:nvSpPr>
          <p:cNvPr id="47" name="Shape 41"/>
          <p:cNvSpPr/>
          <p:nvPr/>
        </p:nvSpPr>
        <p:spPr>
          <a:xfrm>
            <a:off x="4581144" y="5047488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8" name="Text 42"/>
          <p:cNvSpPr/>
          <p:nvPr/>
        </p:nvSpPr>
        <p:spPr>
          <a:xfrm>
            <a:off x="4800600" y="4992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wall not palpable</a:t>
            </a:r>
            <a:endParaRPr lang="en-US" sz="1200" dirty="0"/>
          </a:p>
        </p:txBody>
      </p:sp>
      <p:sp>
        <p:nvSpPr>
          <p:cNvPr id="49" name="Shape 43"/>
          <p:cNvSpPr/>
          <p:nvPr/>
        </p:nvSpPr>
        <p:spPr>
          <a:xfrm>
            <a:off x="4581144" y="5349240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50" name="Text 44"/>
          <p:cNvSpPr/>
          <p:nvPr/>
        </p:nvSpPr>
        <p:spPr>
          <a:xfrm>
            <a:off x="4800600" y="5294376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radio-radial / femoral delay</a:t>
            </a:r>
            <a:endParaRPr lang="en-US" sz="1200" dirty="0"/>
          </a:p>
        </p:txBody>
      </p:sp>
      <p:sp>
        <p:nvSpPr>
          <p:cNvPr id="51" name="Shape 45"/>
          <p:cNvSpPr/>
          <p:nvPr/>
        </p:nvSpPr>
        <p:spPr>
          <a:xfrm>
            <a:off x="4581144" y="5650992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52" name="Text 46"/>
          <p:cNvSpPr/>
          <p:nvPr/>
        </p:nvSpPr>
        <p:spPr>
          <a:xfrm>
            <a:off x="4800600" y="559612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deficit present</a:t>
            </a:r>
            <a:endParaRPr lang="en-US" sz="1200" dirty="0"/>
          </a:p>
        </p:txBody>
      </p:sp>
      <p:sp>
        <p:nvSpPr>
          <p:cNvPr id="53" name="Shape 47"/>
          <p:cNvSpPr/>
          <p:nvPr/>
        </p:nvSpPr>
        <p:spPr>
          <a:xfrm>
            <a:off x="8074152" y="347472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8348472" y="369417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3840480"/>
            <a:ext cx="274320" cy="274320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9034272" y="369417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Pressure</a:t>
            </a:r>
            <a:endParaRPr lang="en-US" sz="1600" dirty="0"/>
          </a:p>
        </p:txBody>
      </p:sp>
      <p:sp>
        <p:nvSpPr>
          <p:cNvPr id="57" name="Shape 50"/>
          <p:cNvSpPr/>
          <p:nvPr/>
        </p:nvSpPr>
        <p:spPr>
          <a:xfrm>
            <a:off x="8366760" y="444398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58" name="Text 51"/>
          <p:cNvSpPr/>
          <p:nvPr/>
        </p:nvSpPr>
        <p:spPr>
          <a:xfrm>
            <a:off x="8586216" y="4389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110/70 mmHg — right arm, lying</a:t>
            </a:r>
            <a:endParaRPr lang="en-US" sz="1200" dirty="0"/>
          </a:p>
        </p:txBody>
      </p:sp>
      <p:sp>
        <p:nvSpPr>
          <p:cNvPr id="59" name="Shape 52"/>
          <p:cNvSpPr/>
          <p:nvPr/>
        </p:nvSpPr>
        <p:spPr>
          <a:xfrm>
            <a:off x="8366760" y="494690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60" name="Text 53"/>
          <p:cNvSpPr/>
          <p:nvPr/>
        </p:nvSpPr>
        <p:spPr>
          <a:xfrm>
            <a:off x="8586216" y="4892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inter-arm difference</a:t>
            </a:r>
            <a:endParaRPr lang="en-US" sz="1200" dirty="0"/>
          </a:p>
        </p:txBody>
      </p:sp>
      <p:sp>
        <p:nvSpPr>
          <p:cNvPr id="61" name="Shape 54"/>
          <p:cNvSpPr/>
          <p:nvPr/>
        </p:nvSpPr>
        <p:spPr>
          <a:xfrm>
            <a:off x="8366760" y="544982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62" name="Text 55"/>
          <p:cNvSpPr/>
          <p:nvPr/>
        </p:nvSpPr>
        <p:spPr>
          <a:xfrm>
            <a:off x="8586216" y="5394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postural drop</a:t>
            </a:r>
            <a:endParaRPr lang="en-US" sz="1200" dirty="0"/>
          </a:p>
        </p:txBody>
      </p:sp>
      <p:sp>
        <p:nvSpPr>
          <p:cNvPr id="63" name="Text 5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4" name="Text 57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EXAMINATION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Cardiovascular System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11183112" cy="1097280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56232"/>
            <a:ext cx="768096" cy="768096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0756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16916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246120" y="1929384"/>
            <a:ext cx="0" cy="621792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20440" y="2002536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2" name="Text 8"/>
          <p:cNvSpPr/>
          <p:nvPr/>
        </p:nvSpPr>
        <p:spPr>
          <a:xfrm>
            <a:off x="3767328" y="18745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the precordium — normal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520440" y="2386584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4" name="Text 10"/>
          <p:cNvSpPr/>
          <p:nvPr/>
        </p:nvSpPr>
        <p:spPr>
          <a:xfrm>
            <a:off x="3767328" y="22585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of the inspection limited by exposure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2920" y="2926080"/>
            <a:ext cx="11183112" cy="1444752"/>
          </a:xfrm>
          <a:prstGeom prst="roundRect">
            <a:avLst>
              <a:gd name="adj" fmla="val 759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3264408"/>
            <a:ext cx="768096" cy="768096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48386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2926080"/>
            <a:ext cx="14173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PALPATION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46120" y="3163824"/>
            <a:ext cx="0" cy="969264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520440" y="321868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1" name="Text 16"/>
          <p:cNvSpPr/>
          <p:nvPr/>
        </p:nvSpPr>
        <p:spPr>
          <a:xfrm>
            <a:off x="3767328" y="30906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beat: 5th intercostal space, medial to the midclavicular line — normal character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3520440" y="3602736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3" name="Text 18"/>
          <p:cNvSpPr/>
          <p:nvPr/>
        </p:nvSpPr>
        <p:spPr>
          <a:xfrm>
            <a:off x="3767328" y="34747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thrill; no other palpable sounds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3520440" y="3986784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5" name="Text 20"/>
          <p:cNvSpPr/>
          <p:nvPr/>
        </p:nvSpPr>
        <p:spPr>
          <a:xfrm>
            <a:off x="3767328" y="38587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left parasternal heave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02920" y="4507992"/>
            <a:ext cx="11183112" cy="1444752"/>
          </a:xfrm>
          <a:prstGeom prst="roundRect">
            <a:avLst>
              <a:gd name="adj" fmla="val 759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68680" y="4846320"/>
            <a:ext cx="768096" cy="768096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783080" y="4507992"/>
            <a:ext cx="14173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AUSCULTATION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3246120" y="4745736"/>
            <a:ext cx="0" cy="969264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520440" y="4800600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1" name="Text 26"/>
          <p:cNvSpPr/>
          <p:nvPr/>
        </p:nvSpPr>
        <p:spPr>
          <a:xfrm>
            <a:off x="3767328" y="467258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heart sound &amp; both components of 2nd heart sound audible at their respective areas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3520440" y="518464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3" name="Text 28"/>
          <p:cNvSpPr/>
          <p:nvPr/>
        </p:nvSpPr>
        <p:spPr>
          <a:xfrm>
            <a:off x="3767328" y="50566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heart sound: variable intensity;  2nd heart sound: both components normal intensity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3520440" y="5568696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5" name="Text 30"/>
          <p:cNvSpPr/>
          <p:nvPr/>
        </p:nvSpPr>
        <p:spPr>
          <a:xfrm>
            <a:off x="3767328" y="54406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added sounds audible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EXAMINATION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Respiratory System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423160"/>
            <a:ext cx="1737360" cy="173736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8892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Respiratory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1280160" y="534924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V="1">
            <a:off x="2119579" y="520293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67712" y="520293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2415845" y="484632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3978" y="484632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2712110" y="534924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60243" y="534924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37760" y="178308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40680" y="2194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40680" y="260604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entry equal &amp; adequate bilaterally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5458968" y="41148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chest examination unremarkable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440680" y="48920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22" name="Text 18"/>
          <p:cNvSpPr/>
          <p:nvPr/>
        </p:nvSpPr>
        <p:spPr>
          <a:xfrm>
            <a:off x="5440680" y="48920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EXAMINATION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Nervous System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423160"/>
            <a:ext cx="1737360" cy="173736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8892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CNS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1280160" y="534924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V="1">
            <a:off x="2119579" y="520293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67712" y="520293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2415845" y="484632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3978" y="484632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2712110" y="534924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60243" y="534924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37760" y="178308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40680" y="2194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40680" y="260604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significant</a:t>
            </a:r>
            <a:endParaRPr lang="en-US" sz="4200" dirty="0"/>
          </a:p>
        </p:txBody>
      </p:sp>
      <p:sp>
        <p:nvSpPr>
          <p:cNvPr id="20" name="Text 16"/>
          <p:cNvSpPr/>
          <p:nvPr/>
        </p:nvSpPr>
        <p:spPr>
          <a:xfrm>
            <a:off x="5458968" y="41148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 examination unremarkable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440680" y="48920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/>
        </p:spPr>
      </p:sp>
      <p:sp>
        <p:nvSpPr>
          <p:cNvPr id="22" name="Text 18"/>
          <p:cNvSpPr/>
          <p:nvPr/>
        </p:nvSpPr>
        <p:spPr>
          <a:xfrm>
            <a:off x="5440680" y="48920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UNREMARKABLE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EXAMINATION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Gastrointestinal System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423160"/>
            <a:ext cx="1737360" cy="173736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8892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1280160" y="534924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V="1">
            <a:off x="2119579" y="520293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67712" y="520293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2415845" y="484632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3978" y="484632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2712110" y="534924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60243" y="534924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37760" y="178308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40680" y="2194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40680" y="260604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significant</a:t>
            </a:r>
            <a:endParaRPr lang="en-US" sz="4200" dirty="0"/>
          </a:p>
        </p:txBody>
      </p:sp>
      <p:sp>
        <p:nvSpPr>
          <p:cNvPr id="20" name="Text 16"/>
          <p:cNvSpPr/>
          <p:nvPr/>
        </p:nvSpPr>
        <p:spPr>
          <a:xfrm>
            <a:off x="5458968" y="41148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examination unremarkable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440680" y="48920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/>
        </p:spPr>
      </p:sp>
      <p:sp>
        <p:nvSpPr>
          <p:cNvPr id="22" name="Text 18"/>
          <p:cNvSpPr/>
          <p:nvPr/>
        </p:nvSpPr>
        <p:spPr>
          <a:xfrm>
            <a:off x="5440680" y="48920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UNREMARKABLE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>
            <a:off x="8046720" y="1051560"/>
            <a:ext cx="475488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1783080"/>
            <a:ext cx="1927555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V="1">
            <a:off x="2613355" y="1636776"/>
            <a:ext cx="340157" cy="146304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53512" y="1636776"/>
            <a:ext cx="340157" cy="4572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293669" y="1280160"/>
            <a:ext cx="340157" cy="813816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33826" y="1280160"/>
            <a:ext cx="340157" cy="6858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3973982" y="1783080"/>
            <a:ext cx="340157" cy="18288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14139" y="1783080"/>
            <a:ext cx="2040941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WORK-UP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1792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Investigations</a:t>
            </a:r>
            <a:endParaRPr lang="en-US" sz="6800" dirty="0"/>
          </a:p>
        </p:txBody>
      </p:sp>
      <p:sp>
        <p:nvSpPr>
          <p:cNvPr id="13" name="Text 10"/>
          <p:cNvSpPr/>
          <p:nvPr/>
        </p:nvSpPr>
        <p:spPr>
          <a:xfrm>
            <a:off x="68580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Bedside, laboratory &amp; imaging findings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85800" y="4892040"/>
            <a:ext cx="1644091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4892040"/>
            <a:ext cx="16440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12-Lead ECG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558491" y="4892040"/>
            <a:ext cx="175199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58491" y="489204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counts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39082" y="4892040"/>
            <a:ext cx="175199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39082" y="489204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Biochemistry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19672" y="4892040"/>
            <a:ext cx="2183587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9672" y="4892040"/>
            <a:ext cx="21835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screen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931859" y="4892040"/>
            <a:ext cx="2183587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31859" y="4892040"/>
            <a:ext cx="21835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Echocardiography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· ELECTROCARDIOGRAM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12-Lead ECG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5669280" cy="427939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19656"/>
            <a:ext cx="5458968" cy="4114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55080" y="1737360"/>
            <a:ext cx="5349240" cy="1481328"/>
          </a:xfrm>
          <a:prstGeom prst="roundRect">
            <a:avLst>
              <a:gd name="adj" fmla="val 7407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611112" y="1956816"/>
            <a:ext cx="548640" cy="54864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209397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87768" y="18288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Atrial Fibrillation with Rapid Ventricular Response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7287768" y="27980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rhythm ECG · </a:t>
            </a:r>
            <a:pPr algn="l"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06-Jul-2026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355080" y="3364992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611112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VENTRICULAR RATE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611112" y="376732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pPr algn="l" indent="0" marL="0">
              <a:buNone/>
            </a:pPr>
            <a:r>
              <a:rPr lang="en-US" sz="15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bpm</a:t>
            </a:r>
            <a:endParaRPr lang="en-US" sz="3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3493008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0424160" y="3785616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/>
        </p:spPr>
      </p:sp>
      <p:sp>
        <p:nvSpPr>
          <p:cNvPr id="18" name="Text 12"/>
          <p:cNvSpPr/>
          <p:nvPr/>
        </p:nvSpPr>
        <p:spPr>
          <a:xfrm>
            <a:off x="10424160" y="378561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355080" y="4389120"/>
            <a:ext cx="2615184" cy="749808"/>
          </a:xfrm>
          <a:prstGeom prst="roundRect">
            <a:avLst>
              <a:gd name="adj" fmla="val 1219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556248" y="451713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556248" y="47731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9089136" y="4389120"/>
            <a:ext cx="2615184" cy="749808"/>
          </a:xfrm>
          <a:prstGeom prst="roundRect">
            <a:avLst>
              <a:gd name="adj" fmla="val 1219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290304" y="451713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WAVES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9290304" y="47731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355080" y="5239512"/>
            <a:ext cx="2615184" cy="749808"/>
          </a:xfrm>
          <a:prstGeom prst="roundRect">
            <a:avLst>
              <a:gd name="adj" fmla="val 1219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556248" y="53675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· QRS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556248" y="56235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· 80 ms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9089136" y="5239512"/>
            <a:ext cx="2615184" cy="749808"/>
          </a:xfrm>
          <a:prstGeom prst="roundRect">
            <a:avLst>
              <a:gd name="adj" fmla="val 1219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290304" y="53675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/ QTC · AXIS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9290304" y="56235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 / 382 ms · 38°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· HAEMATOLOGY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Blood Count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485632" y="1024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date: 10-Jun-2022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719072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A4133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190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984248" y="17190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82696" y="1719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RANGE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855464" y="17190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2176272"/>
            <a:ext cx="5449824" cy="50292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267919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1762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Haemoglobin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984248" y="21762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</a:t>
            </a:r>
            <a:pPr algn="l"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282696" y="2176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11.5–16.5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855464" y="21762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318211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26791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984248" y="26791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6.94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282696" y="26791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4.0–11.0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855464" y="26791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×10³/µL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3182112"/>
            <a:ext cx="5449824" cy="50292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368503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1821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Neutrophils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984248" y="31821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3282696" y="31821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40–75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855464" y="31821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02920" y="418795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36850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Lymphocytes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984248" y="36850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3282696" y="3685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4855464" y="368503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2920" y="4187952"/>
            <a:ext cx="5449824" cy="50292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35" name="Shape 32"/>
          <p:cNvSpPr/>
          <p:nvPr/>
        </p:nvSpPr>
        <p:spPr>
          <a:xfrm>
            <a:off x="502920" y="469087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080" y="41879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Monocytes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984248" y="41879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3282696" y="4187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4855464" y="41879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02920" y="519379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" y="46908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Eosinophils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984248" y="46908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algn="l"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3282696" y="4690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1–6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4855464" y="46908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236208" y="1719072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A4133C"/>
          </a:solidFill>
          <a:ln/>
        </p:spPr>
      </p:sp>
      <p:sp>
        <p:nvSpPr>
          <p:cNvPr id="46" name="Text 43"/>
          <p:cNvSpPr/>
          <p:nvPr/>
        </p:nvSpPr>
        <p:spPr>
          <a:xfrm>
            <a:off x="6373368" y="17190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7717536" y="17190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9015984" y="1719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RANGE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10588752" y="17190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6236208" y="2176272"/>
            <a:ext cx="5449824" cy="50292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51" name="Shape 48"/>
          <p:cNvSpPr/>
          <p:nvPr/>
        </p:nvSpPr>
        <p:spPr>
          <a:xfrm>
            <a:off x="6236208" y="267919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73368" y="21762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7717536" y="21762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</a:t>
            </a:r>
            <a:endParaRPr lang="en-US" sz="1350" dirty="0"/>
          </a:p>
        </p:txBody>
      </p:sp>
      <p:sp>
        <p:nvSpPr>
          <p:cNvPr id="54" name="Text 51"/>
          <p:cNvSpPr/>
          <p:nvPr/>
        </p:nvSpPr>
        <p:spPr>
          <a:xfrm>
            <a:off x="9015984" y="2176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150–400</a:t>
            </a:r>
            <a:endParaRPr lang="en-US" sz="1250" dirty="0"/>
          </a:p>
        </p:txBody>
      </p:sp>
      <p:sp>
        <p:nvSpPr>
          <p:cNvPr id="55" name="Text 52"/>
          <p:cNvSpPr/>
          <p:nvPr/>
        </p:nvSpPr>
        <p:spPr>
          <a:xfrm>
            <a:off x="10588752" y="21762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×10³/µL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236208" y="318211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373368" y="26791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7717536" y="26791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3.53</a:t>
            </a:r>
            <a:pPr algn="l"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</a:t>
            </a:r>
            <a:endParaRPr lang="en-US" sz="1350" dirty="0"/>
          </a:p>
        </p:txBody>
      </p:sp>
      <p:sp>
        <p:nvSpPr>
          <p:cNvPr id="59" name="Text 56"/>
          <p:cNvSpPr/>
          <p:nvPr/>
        </p:nvSpPr>
        <p:spPr>
          <a:xfrm>
            <a:off x="9015984" y="26791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3.6–5.8</a:t>
            </a:r>
            <a:endParaRPr lang="en-US" sz="1250" dirty="0"/>
          </a:p>
        </p:txBody>
      </p:sp>
      <p:sp>
        <p:nvSpPr>
          <p:cNvPr id="60" name="Text 57"/>
          <p:cNvSpPr/>
          <p:nvPr/>
        </p:nvSpPr>
        <p:spPr>
          <a:xfrm>
            <a:off x="10588752" y="26791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×10⁶/µL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6236208" y="3182112"/>
            <a:ext cx="5449824" cy="50292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62" name="Shape 59"/>
          <p:cNvSpPr/>
          <p:nvPr/>
        </p:nvSpPr>
        <p:spPr>
          <a:xfrm>
            <a:off x="6236208" y="368503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373368" y="31821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MCV</a:t>
            </a:r>
            <a:endParaRPr lang="en-US" sz="1300" dirty="0"/>
          </a:p>
        </p:txBody>
      </p:sp>
      <p:sp>
        <p:nvSpPr>
          <p:cNvPr id="64" name="Text 61"/>
          <p:cNvSpPr/>
          <p:nvPr/>
        </p:nvSpPr>
        <p:spPr>
          <a:xfrm>
            <a:off x="7717536" y="31821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</a:t>
            </a:r>
            <a:endParaRPr lang="en-US" sz="1350" dirty="0"/>
          </a:p>
        </p:txBody>
      </p:sp>
      <p:sp>
        <p:nvSpPr>
          <p:cNvPr id="65" name="Text 62"/>
          <p:cNvSpPr/>
          <p:nvPr/>
        </p:nvSpPr>
        <p:spPr>
          <a:xfrm>
            <a:off x="9015984" y="31821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</a:t>
            </a:r>
            <a:endParaRPr lang="en-US" sz="1250" dirty="0"/>
          </a:p>
        </p:txBody>
      </p:sp>
      <p:sp>
        <p:nvSpPr>
          <p:cNvPr id="66" name="Text 63"/>
          <p:cNvSpPr/>
          <p:nvPr/>
        </p:nvSpPr>
        <p:spPr>
          <a:xfrm>
            <a:off x="10588752" y="31821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6236208" y="418795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373368" y="36850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7717536" y="36850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</a:t>
            </a:r>
            <a:endParaRPr lang="en-US" sz="1350" dirty="0"/>
          </a:p>
        </p:txBody>
      </p:sp>
      <p:sp>
        <p:nvSpPr>
          <p:cNvPr id="70" name="Text 67"/>
          <p:cNvSpPr/>
          <p:nvPr/>
        </p:nvSpPr>
        <p:spPr>
          <a:xfrm>
            <a:off x="9015984" y="3685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27–34</a:t>
            </a:r>
            <a:endParaRPr lang="en-US" sz="1250" dirty="0"/>
          </a:p>
        </p:txBody>
      </p:sp>
      <p:sp>
        <p:nvSpPr>
          <p:cNvPr id="71" name="Text 68"/>
          <p:cNvSpPr/>
          <p:nvPr/>
        </p:nvSpPr>
        <p:spPr>
          <a:xfrm>
            <a:off x="10588752" y="368503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6236208" y="4187952"/>
            <a:ext cx="5449824" cy="50292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73" name="Shape 70"/>
          <p:cNvSpPr/>
          <p:nvPr/>
        </p:nvSpPr>
        <p:spPr>
          <a:xfrm>
            <a:off x="6236208" y="469087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373368" y="41879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MCHC</a:t>
            </a:r>
            <a:endParaRPr lang="en-US" sz="1300" dirty="0"/>
          </a:p>
        </p:txBody>
      </p:sp>
      <p:sp>
        <p:nvSpPr>
          <p:cNvPr id="75" name="Text 72"/>
          <p:cNvSpPr/>
          <p:nvPr/>
        </p:nvSpPr>
        <p:spPr>
          <a:xfrm>
            <a:off x="7717536" y="41879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</a:t>
            </a:r>
            <a:endParaRPr lang="en-US" sz="1350" dirty="0"/>
          </a:p>
        </p:txBody>
      </p:sp>
      <p:sp>
        <p:nvSpPr>
          <p:cNvPr id="76" name="Text 73"/>
          <p:cNvSpPr/>
          <p:nvPr/>
        </p:nvSpPr>
        <p:spPr>
          <a:xfrm>
            <a:off x="9015984" y="4187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</a:t>
            </a:r>
            <a:endParaRPr lang="en-US" sz="1250" dirty="0"/>
          </a:p>
        </p:txBody>
      </p:sp>
      <p:sp>
        <p:nvSpPr>
          <p:cNvPr id="77" name="Text 74"/>
          <p:cNvSpPr/>
          <p:nvPr/>
        </p:nvSpPr>
        <p:spPr>
          <a:xfrm>
            <a:off x="10588752" y="41879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6236208" y="519379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373368" y="46908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HCT</a:t>
            </a:r>
            <a:endParaRPr lang="en-US" sz="1300" dirty="0"/>
          </a:p>
        </p:txBody>
      </p:sp>
      <p:sp>
        <p:nvSpPr>
          <p:cNvPr id="80" name="Text 77"/>
          <p:cNvSpPr/>
          <p:nvPr/>
        </p:nvSpPr>
        <p:spPr>
          <a:xfrm>
            <a:off x="7717536" y="46908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</a:t>
            </a:r>
            <a:pPr algn="l"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</a:t>
            </a:r>
            <a:endParaRPr lang="en-US" sz="1350" dirty="0"/>
          </a:p>
        </p:txBody>
      </p:sp>
      <p:sp>
        <p:nvSpPr>
          <p:cNvPr id="81" name="Text 78"/>
          <p:cNvSpPr/>
          <p:nvPr/>
        </p:nvSpPr>
        <p:spPr>
          <a:xfrm>
            <a:off x="9015984" y="4690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35–47</a:t>
            </a:r>
            <a:endParaRPr lang="en-US" sz="1250" dirty="0"/>
          </a:p>
        </p:txBody>
      </p:sp>
      <p:sp>
        <p:nvSpPr>
          <p:cNvPr id="82" name="Text 79"/>
          <p:cNvSpPr/>
          <p:nvPr/>
        </p:nvSpPr>
        <p:spPr>
          <a:xfrm>
            <a:off x="10588752" y="46908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502920" y="5431536"/>
            <a:ext cx="11183112" cy="658368"/>
          </a:xfrm>
          <a:prstGeom prst="roundRect">
            <a:avLst>
              <a:gd name="adj" fmla="val 16667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84" name="Text 81"/>
          <p:cNvSpPr/>
          <p:nvPr/>
        </p:nvSpPr>
        <p:spPr>
          <a:xfrm>
            <a:off x="868680" y="543153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normocytic anaemia (low Hb, RBC &amp; HCT) with mild eosinophilia.</a:t>
            </a:r>
            <a:endParaRPr lang="en-US" sz="1500" dirty="0"/>
          </a:p>
        </p:txBody>
      </p:sp>
      <p:sp>
        <p:nvSpPr>
          <p:cNvPr id="85" name="Text 8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86" name="Text 83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· ROUTINE CHEMISTRY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Renal, Electrolytes &amp; Viral Screen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485632" y="1024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date: 06-Jul-2026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0391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FUNCTION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58952" y="2496312"/>
            <a:ext cx="3099816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6243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Urea</a:t>
            </a:r>
            <a:endParaRPr lang="en-US" sz="13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264261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926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mg/dL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960120" y="3355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16.6–48.6 mg/dL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58952" y="3794760"/>
            <a:ext cx="3099816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39227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</a:t>
            </a:r>
            <a:endParaRPr lang="en-US" sz="13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39410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4224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</a:t>
            </a:r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mg/dL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960120" y="4654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0.6–1.2 mg/dL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288536" y="178308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562856" y="20391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ELECTROLYTES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44568" y="2496312"/>
            <a:ext cx="3099816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45736" y="26243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</a:t>
            </a:r>
            <a:endParaRPr lang="en-US" sz="13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264261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45736" y="2926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</a:t>
            </a:r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mmol/L</a:t>
            </a:r>
            <a:endParaRPr lang="en-US" sz="2100" dirty="0"/>
          </a:p>
        </p:txBody>
      </p:sp>
      <p:sp>
        <p:nvSpPr>
          <p:cNvPr id="25" name="Text 19"/>
          <p:cNvSpPr/>
          <p:nvPr/>
        </p:nvSpPr>
        <p:spPr>
          <a:xfrm>
            <a:off x="4745736" y="3355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135–155 mmol/L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44568" y="3794760"/>
            <a:ext cx="3099816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745736" y="39227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</a:t>
            </a:r>
            <a:endParaRPr lang="en-US" sz="13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394106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45736" y="4224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</a:t>
            </a:r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mmol/L</a:t>
            </a:r>
            <a:endParaRPr lang="en-US" sz="2100" dirty="0"/>
          </a:p>
        </p:txBody>
      </p:sp>
      <p:sp>
        <p:nvSpPr>
          <p:cNvPr id="30" name="Text 23"/>
          <p:cNvSpPr/>
          <p:nvPr/>
        </p:nvSpPr>
        <p:spPr>
          <a:xfrm>
            <a:off x="4745736" y="4654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3.5–5.5 mmol/L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074152" y="178308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8348472" y="20391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SCREEN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8330184" y="2532888"/>
            <a:ext cx="30998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2770632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933688" y="2532888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HBsAg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10113264" y="2724912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7" name="Text 29"/>
          <p:cNvSpPr/>
          <p:nvPr/>
        </p:nvSpPr>
        <p:spPr>
          <a:xfrm>
            <a:off x="10113264" y="27249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8330184" y="3429000"/>
            <a:ext cx="30998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3666744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933688" y="3429000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Ag/Ab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10113264" y="3621024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42" name="Text 33"/>
          <p:cNvSpPr/>
          <p:nvPr/>
        </p:nvSpPr>
        <p:spPr>
          <a:xfrm>
            <a:off x="10113264" y="362102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50" dirty="0"/>
          </a:p>
        </p:txBody>
      </p:sp>
      <p:sp>
        <p:nvSpPr>
          <p:cNvPr id="43" name="Shape 34"/>
          <p:cNvSpPr/>
          <p:nvPr/>
        </p:nvSpPr>
        <p:spPr>
          <a:xfrm>
            <a:off x="8330184" y="4325112"/>
            <a:ext cx="30998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3064" y="4562856"/>
            <a:ext cx="274320" cy="27432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8933688" y="432511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HCV (ICT)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10113264" y="4517136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47" name="Text 37"/>
          <p:cNvSpPr/>
          <p:nvPr/>
        </p:nvSpPr>
        <p:spPr>
          <a:xfrm>
            <a:off x="10113264" y="451713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50" dirty="0"/>
          </a:p>
        </p:txBody>
      </p:sp>
      <p:sp>
        <p:nvSpPr>
          <p:cNvPr id="48" name="Shape 38"/>
          <p:cNvSpPr/>
          <p:nvPr/>
        </p:nvSpPr>
        <p:spPr>
          <a:xfrm>
            <a:off x="502920" y="5431536"/>
            <a:ext cx="11183112" cy="658368"/>
          </a:xfrm>
          <a:prstGeom prst="roundRect">
            <a:avLst>
              <a:gd name="adj" fmla="val 16667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49" name="Text 39"/>
          <p:cNvSpPr/>
          <p:nvPr/>
        </p:nvSpPr>
        <p:spPr>
          <a:xfrm>
            <a:off x="868680" y="543153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renal function and electrolytes; viral screen negative.</a:t>
            </a:r>
            <a:endParaRPr lang="en-US" sz="1500" dirty="0"/>
          </a:p>
        </p:txBody>
      </p:sp>
      <p:sp>
        <p:nvSpPr>
          <p:cNvPr id="50" name="Text 4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· BIOCHEMISTRY &amp; ENDOCRINE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Investigations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028432" y="1024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Chughtai Lab · 18-Dec-2025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A4133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7830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26280" y="17830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95160" y="17830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range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46920" y="1783080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2313432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FF0F3"/>
          </a:solidFill>
          <a:ln w="9525">
            <a:solidFill>
              <a:srgbClr val="FBD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2860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Serum Magnesium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26280" y="22860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mg/dL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95160" y="22860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– 2.6</a:t>
            </a:r>
            <a:endParaRPr lang="en-US" sz="13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432304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957816" y="2286000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2920" y="2843784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FBD8D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281635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Vitamin B12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26280" y="28163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pg/mL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995160" y="28163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– 883</a:t>
            </a:r>
            <a:endParaRPr lang="en-US" sz="13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62656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957816" y="2816352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02920" y="3374136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FF0F3"/>
          </a:solidFill>
          <a:ln w="9525">
            <a:solidFill>
              <a:srgbClr val="FBD8D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85800" y="334670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Serum Potassium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4526280" y="334670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mmol/L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995160" y="334670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– 5.1</a:t>
            </a:r>
            <a:endParaRPr lang="en-US" sz="13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349300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957816" y="3346704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02920" y="3904488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FBD8D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85800" y="387705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Serum Total T3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4526280" y="387705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73.85 ng/dL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995160" y="38770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204</a:t>
            </a:r>
            <a:endParaRPr lang="en-US" sz="135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0" y="4023360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957816" y="3877056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502920" y="4434840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FF0F3"/>
          </a:solidFill>
          <a:ln w="9525">
            <a:solidFill>
              <a:srgbClr val="FBD8D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85800" y="440740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Serum Total T4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4526280" y="44074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 µg/dL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6995160" y="440740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– 11</a:t>
            </a:r>
            <a:endParaRPr lang="en-US" sz="135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4553712"/>
            <a:ext cx="237744" cy="23774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957816" y="4407408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42" name="Shape 34"/>
          <p:cNvSpPr/>
          <p:nvPr/>
        </p:nvSpPr>
        <p:spPr>
          <a:xfrm>
            <a:off x="502920" y="4965192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FBD8DF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85800" y="49377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HbA1c (Glycated Hb)</a:t>
            </a:r>
            <a:endParaRPr lang="en-US" sz="1450" dirty="0"/>
          </a:p>
        </p:txBody>
      </p:sp>
      <p:sp>
        <p:nvSpPr>
          <p:cNvPr id="44" name="Text 36"/>
          <p:cNvSpPr/>
          <p:nvPr/>
        </p:nvSpPr>
        <p:spPr>
          <a:xfrm>
            <a:off x="4526280" y="49377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5.1 %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6995160" y="49377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5.7</a:t>
            </a:r>
            <a:endParaRPr lang="en-US" sz="135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0" y="5084064"/>
            <a:ext cx="237744" cy="237744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9957816" y="4937760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48" name="Shape 39"/>
          <p:cNvSpPr/>
          <p:nvPr/>
        </p:nvSpPr>
        <p:spPr>
          <a:xfrm>
            <a:off x="502920" y="5541264"/>
            <a:ext cx="11183112" cy="566928"/>
          </a:xfrm>
          <a:prstGeom prst="roundRect">
            <a:avLst>
              <a:gd name="adj" fmla="val 16129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49" name="Text 40"/>
          <p:cNvSpPr/>
          <p:nvPr/>
        </p:nvSpPr>
        <p:spPr>
          <a:xfrm>
            <a:off x="868680" y="554126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thyroid function, electrolytes, magnesium, B12 and HbA1c — no thyrotoxic or metabolic trigger for AF.</a:t>
            </a:r>
            <a:endParaRPr lang="en-US" sz="1350" dirty="0"/>
          </a:p>
        </p:txBody>
      </p:sp>
      <p:sp>
        <p:nvSpPr>
          <p:cNvPr id="50" name="Text 4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51" name="Text 42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· ECHOCARDIOGRAPHY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Echocardiography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028432" y="1024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27-Jan-2023 · Dr Ussama Munir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011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EJECTION FRACTION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23042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LVEF 65%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77240" y="3090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 57–73%)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370332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3931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TO AF</a:t>
            </a:r>
            <a:endParaRPr lang="en-US" sz="11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31596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422452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clot in LA / LV</a:t>
            </a:r>
            <a:endParaRPr lang="en-US" sz="2300" dirty="0"/>
          </a:p>
        </p:txBody>
      </p:sp>
      <p:sp>
        <p:nvSpPr>
          <p:cNvPr id="15" name="Shape 11"/>
          <p:cNvSpPr/>
          <p:nvPr/>
        </p:nvSpPr>
        <p:spPr>
          <a:xfrm>
            <a:off x="4114800" y="1783080"/>
            <a:ext cx="37033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343400" y="19568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224528" y="2304288"/>
            <a:ext cx="3483864" cy="420624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18" name="Text 14"/>
          <p:cNvSpPr/>
          <p:nvPr/>
        </p:nvSpPr>
        <p:spPr>
          <a:xfrm>
            <a:off x="4343400" y="23042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LVEF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40680" y="23042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172200" y="230428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57–73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7059168" y="23042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343400" y="272491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LVIDD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440680" y="272491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172200" y="272491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35–56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7059168" y="272491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224528" y="3145536"/>
            <a:ext cx="3483864" cy="420624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27" name="Text 23"/>
          <p:cNvSpPr/>
          <p:nvPr/>
        </p:nvSpPr>
        <p:spPr>
          <a:xfrm>
            <a:off x="4343400" y="31455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5440680" y="314553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6172200" y="31455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6–11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7059168" y="314553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4343400" y="35661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LVPW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440680" y="35661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6172200" y="356616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6–11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7059168" y="35661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4224528" y="3986784"/>
            <a:ext cx="3483864" cy="420624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36" name="Text 32"/>
          <p:cNvSpPr/>
          <p:nvPr/>
        </p:nvSpPr>
        <p:spPr>
          <a:xfrm>
            <a:off x="4343400" y="398678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5440680" y="398678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350" dirty="0"/>
          </a:p>
        </p:txBody>
      </p:sp>
      <p:sp>
        <p:nvSpPr>
          <p:cNvPr id="38" name="Text 34"/>
          <p:cNvSpPr/>
          <p:nvPr/>
        </p:nvSpPr>
        <p:spPr>
          <a:xfrm>
            <a:off x="6172200" y="398678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19–40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7059168" y="398678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4343400" y="440740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E/A</a:t>
            </a:r>
            <a:endParaRPr lang="en-US" sz="1250" dirty="0"/>
          </a:p>
        </p:txBody>
      </p:sp>
      <p:sp>
        <p:nvSpPr>
          <p:cNvPr id="41" name="Text 37"/>
          <p:cNvSpPr/>
          <p:nvPr/>
        </p:nvSpPr>
        <p:spPr>
          <a:xfrm>
            <a:off x="5440680" y="440740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350" dirty="0"/>
          </a:p>
        </p:txBody>
      </p:sp>
      <p:sp>
        <p:nvSpPr>
          <p:cNvPr id="42" name="Text 38"/>
          <p:cNvSpPr/>
          <p:nvPr/>
        </p:nvSpPr>
        <p:spPr>
          <a:xfrm>
            <a:off x="6172200" y="440740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7059168" y="440740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4224528" y="4828032"/>
            <a:ext cx="3483864" cy="420624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45" name="Text 41"/>
          <p:cNvSpPr/>
          <p:nvPr/>
        </p:nvSpPr>
        <p:spPr>
          <a:xfrm>
            <a:off x="4343400" y="482803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PASP</a:t>
            </a:r>
            <a:endParaRPr lang="en-US" sz="1250" dirty="0"/>
          </a:p>
        </p:txBody>
      </p:sp>
      <p:sp>
        <p:nvSpPr>
          <p:cNvPr id="46" name="Text 42"/>
          <p:cNvSpPr/>
          <p:nvPr/>
        </p:nvSpPr>
        <p:spPr>
          <a:xfrm>
            <a:off x="5440680" y="482803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50" dirty="0"/>
          </a:p>
        </p:txBody>
      </p:sp>
      <p:sp>
        <p:nvSpPr>
          <p:cNvPr id="47" name="Text 43"/>
          <p:cNvSpPr/>
          <p:nvPr/>
        </p:nvSpPr>
        <p:spPr>
          <a:xfrm>
            <a:off x="6172200" y="48280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7059168" y="482803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mmHg</a:t>
            </a:r>
            <a:endParaRPr lang="en-US" sz="1150" dirty="0"/>
          </a:p>
        </p:txBody>
      </p:sp>
      <p:sp>
        <p:nvSpPr>
          <p:cNvPr id="49" name="Shape 45"/>
          <p:cNvSpPr/>
          <p:nvPr/>
        </p:nvSpPr>
        <p:spPr>
          <a:xfrm>
            <a:off x="7955280" y="1783080"/>
            <a:ext cx="3730752" cy="3566160"/>
          </a:xfrm>
          <a:prstGeom prst="roundRect">
            <a:avLst>
              <a:gd name="adj" fmla="val 307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50" name="Text 46"/>
          <p:cNvSpPr/>
          <p:nvPr/>
        </p:nvSpPr>
        <p:spPr>
          <a:xfrm>
            <a:off x="8211312" y="1956816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50" dirty="0"/>
          </a:p>
        </p:txBody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359152"/>
            <a:ext cx="219456" cy="219456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8577072" y="233172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LV size &amp; good systolic function</a:t>
            </a:r>
            <a:endParaRPr lang="en-US" sz="1250" dirty="0"/>
          </a:p>
        </p:txBody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953512"/>
            <a:ext cx="219456" cy="219456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8577072" y="29260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regional wall-motion abnormality</a:t>
            </a:r>
            <a:endParaRPr lang="en-US" sz="1250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547872"/>
            <a:ext cx="219456" cy="219456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8577072" y="352044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clot in LA or LV</a:t>
            </a:r>
            <a:endParaRPr lang="en-US" sz="1250" dirty="0"/>
          </a:p>
        </p:txBody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142232"/>
            <a:ext cx="219456" cy="219456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8577072" y="411480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chambers, valves, IAS &amp; IVS</a:t>
            </a:r>
            <a:endParaRPr lang="en-US" sz="125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736592"/>
            <a:ext cx="219456" cy="219456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8577072" y="470916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pericardium</a:t>
            </a:r>
            <a:endParaRPr lang="en-US" sz="1250" dirty="0"/>
          </a:p>
        </p:txBody>
      </p:sp>
      <p:sp>
        <p:nvSpPr>
          <p:cNvPr id="61" name="Shape 52"/>
          <p:cNvSpPr/>
          <p:nvPr/>
        </p:nvSpPr>
        <p:spPr>
          <a:xfrm>
            <a:off x="502920" y="5559552"/>
            <a:ext cx="11183112" cy="566928"/>
          </a:xfrm>
          <a:prstGeom prst="roundRect">
            <a:avLst>
              <a:gd name="adj" fmla="val 50000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62" name="Text 53"/>
          <p:cNvSpPr/>
          <p:nvPr/>
        </p:nvSpPr>
        <p:spPr>
          <a:xfrm>
            <a:off x="502920" y="55595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biventricular size and systolic function.</a:t>
            </a:r>
            <a:endParaRPr lang="en-US" sz="1500" dirty="0"/>
          </a:p>
        </p:txBody>
      </p:sp>
      <p:sp>
        <p:nvSpPr>
          <p:cNvPr id="63" name="Text 5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4" name="Text 55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DISCUSSION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Diagnosis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4813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of an irregular tachycardia — each excluded on ECG grounds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1183112" cy="73152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4825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1214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8745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Atrial flutter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40680" y="2020824"/>
            <a:ext cx="0" cy="438912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0" y="187452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sawtooth flutter waves; R–R interval is irregular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2920" y="2688336"/>
            <a:ext cx="11183112" cy="73152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286207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93522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688336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Multifocal atrial tachycardia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40680" y="2834640"/>
            <a:ext cx="0" cy="438912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669280" y="2688336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≥ 3 differing P-wave morphologies present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02920" y="3502152"/>
            <a:ext cx="11183112" cy="73152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7588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74904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50215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 atrial ectopics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5440680" y="3648456"/>
            <a:ext cx="0" cy="438912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669280" y="35021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discrete P waves preceding each QRS complex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02920" y="4315968"/>
            <a:ext cx="11183112" cy="73152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7240" y="448970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56285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431596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AVNRT / AVRT (SVT)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5440680" y="4462272"/>
            <a:ext cx="0" cy="438912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669280" y="4315968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Paroxysmal SVT is regular — here the rhythm is irregular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02920" y="5129784"/>
            <a:ext cx="11183112" cy="73152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777240" y="530352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5376672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371600" y="5129784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Sinus tachycardia + ectopics</a:t>
            </a:r>
            <a:endParaRPr lang="en-US" sz="1700" dirty="0"/>
          </a:p>
        </p:txBody>
      </p:sp>
      <p:sp>
        <p:nvSpPr>
          <p:cNvPr id="35" name="Shape 27"/>
          <p:cNvSpPr/>
          <p:nvPr/>
        </p:nvSpPr>
        <p:spPr>
          <a:xfrm>
            <a:off x="5440680" y="5276088"/>
            <a:ext cx="0" cy="438912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669280" y="5129784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waves absent; rhythm is irregularly irregular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6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9000"/>
          </a:blip>
          <a:stretch>
            <a:fillRect/>
          </a:stretch>
        </p:blipFill>
        <p:spPr>
          <a:xfrm>
            <a:off x="8138160" y="3200400"/>
            <a:ext cx="466344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777240"/>
            <a:ext cx="960120" cy="96012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987552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DIAGNOSIS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40080" y="1783080"/>
            <a:ext cx="10698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Atrial Fibrillation with Rapid Ventricular Response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>
            <a:off x="685800" y="361188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41832" y="3895344"/>
            <a:ext cx="438912" cy="43891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6"/>
          <p:cNvSpPr/>
          <p:nvPr/>
        </p:nvSpPr>
        <p:spPr>
          <a:xfrm>
            <a:off x="1554480" y="3794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on 12-lead ECG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554480" y="41605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bpm · irregularly irregular · no P waves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63640" y="361188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19672" y="3895344"/>
            <a:ext cx="438912" cy="43891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0" y="3794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Structurally normal heart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132320" y="41605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LVEF 65% · no clot in LA or LV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85800" y="4764024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41832" y="5047488"/>
            <a:ext cx="438912" cy="43891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4"/>
          <p:cNvSpPr/>
          <p:nvPr/>
        </p:nvSpPr>
        <p:spPr>
          <a:xfrm>
            <a:off x="1554480" y="49469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hypertension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554480" y="531266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comorbidity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263640" y="4764024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19672" y="5047488"/>
            <a:ext cx="438912" cy="43891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18"/>
          <p:cNvSpPr/>
          <p:nvPr/>
        </p:nvSpPr>
        <p:spPr>
          <a:xfrm>
            <a:off x="7132320" y="49469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Mild normocytic anaemia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7132320" y="531266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Incidental haematology finding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6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8321040" y="-960120"/>
            <a:ext cx="4114800" cy="41148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8046720" y="3749040"/>
            <a:ext cx="4663440" cy="46634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85800" y="731520"/>
            <a:ext cx="960120" cy="96012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941832"/>
            <a:ext cx="548640" cy="5486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288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spc="2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COURSE &amp; OUTCOME</a:t>
            </a:r>
            <a:endParaRPr lang="en-US" sz="1700" dirty="0"/>
          </a:p>
        </p:txBody>
      </p:sp>
      <p:sp>
        <p:nvSpPr>
          <p:cNvPr id="8" name="Text 3"/>
          <p:cNvSpPr/>
          <p:nvPr/>
        </p:nvSpPr>
        <p:spPr>
          <a:xfrm>
            <a:off x="640080" y="17830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Clinically Improved</a:t>
            </a:r>
            <a:endParaRPr lang="en-US" sz="5200" dirty="0"/>
          </a:p>
        </p:txBody>
      </p:sp>
      <p:sp>
        <p:nvSpPr>
          <p:cNvPr id="9" name="Text 4"/>
          <p:cNvSpPr/>
          <p:nvPr/>
        </p:nvSpPr>
        <p:spPr>
          <a:xfrm>
            <a:off x="685800" y="2697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cardiac emergency to safe discharge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874520" y="4133088"/>
            <a:ext cx="8503920" cy="54864"/>
          </a:xfrm>
          <a:prstGeom prst="roundRect">
            <a:avLst>
              <a:gd name="adj" fmla="val 50000"/>
            </a:avLst>
          </a:prstGeom>
          <a:solidFill>
            <a:srgbClr val="FF4D6D">
              <a:alpha val="55000"/>
            </a:srgbClr>
          </a:solidFill>
          <a:ln/>
        </p:spPr>
      </p:sp>
      <p:sp>
        <p:nvSpPr>
          <p:cNvPr id="11" name="Shape 6"/>
          <p:cNvSpPr/>
          <p:nvPr/>
        </p:nvSpPr>
        <p:spPr>
          <a:xfrm>
            <a:off x="1371600" y="3657600"/>
            <a:ext cx="1005840" cy="1005840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344" y="3895344"/>
            <a:ext cx="530352" cy="5303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640" y="4818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Admitted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548640" y="51480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emergency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206240" y="3657600"/>
            <a:ext cx="1005840" cy="1005840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3895344"/>
            <a:ext cx="530352" cy="5303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383280" y="4818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Treated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3383280" y="51480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medication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7040880" y="3657600"/>
            <a:ext cx="1005840" cy="1005840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4" y="3895344"/>
            <a:ext cx="530352" cy="53035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17920" y="4818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</a:t>
            </a:r>
            <a:endParaRPr lang="en-US" sz="1900" dirty="0"/>
          </a:p>
        </p:txBody>
      </p:sp>
      <p:sp>
        <p:nvSpPr>
          <p:cNvPr id="22" name="Text 14"/>
          <p:cNvSpPr/>
          <p:nvPr/>
        </p:nvSpPr>
        <p:spPr>
          <a:xfrm>
            <a:off x="6217920" y="51480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 &amp; symptoms settled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9875520" y="3657600"/>
            <a:ext cx="1005840" cy="1005840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4" y="3895344"/>
            <a:ext cx="530352" cy="53035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52560" y="4818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Discharged</a:t>
            </a:r>
            <a:endParaRPr lang="en-US" sz="1900" dirty="0"/>
          </a:p>
        </p:txBody>
      </p:sp>
      <p:sp>
        <p:nvSpPr>
          <p:cNvPr id="26" name="Text 17"/>
          <p:cNvSpPr/>
          <p:nvPr/>
        </p:nvSpPr>
        <p:spPr>
          <a:xfrm>
            <a:off x="9052560" y="51480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for follow-up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685800" y="5943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FB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8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2026-07-26T16:23:59Z</dcterms:created>
  <dcterms:modified xsi:type="dcterms:W3CDTF">2026-07-26T16:23:59Z</dcterms:modified>
</cp:coreProperties>
</file>