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image" Target="../media/image-16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image" Target="../media/image-18-8.png"/><Relationship Id="rId9" Type="http://schemas.openxmlformats.org/officeDocument/2006/relationships/image" Target="../media/image-18-9.png"/><Relationship Id="rId10" Type="http://schemas.openxmlformats.org/officeDocument/2006/relationships/image" Target="../media/image-18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5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2000"/>
          </a:blip>
          <a:stretch>
            <a:fillRect/>
          </a:stretch>
        </p:blipFill>
        <p:spPr>
          <a:xfrm>
            <a:off x="7589520" y="1051560"/>
            <a:ext cx="4663440" cy="466344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40080" y="1234440"/>
            <a:ext cx="1927555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 flipV="1">
            <a:off x="2567635" y="1088136"/>
            <a:ext cx="340157" cy="146304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2907792" y="1088136"/>
            <a:ext cx="340157" cy="4572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 flipV="1">
            <a:off x="3247949" y="731520"/>
            <a:ext cx="340157" cy="813816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588106" y="731520"/>
            <a:ext cx="340157" cy="68580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flipV="1">
            <a:off x="3928262" y="1234440"/>
            <a:ext cx="340157" cy="18288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268419" y="1234440"/>
            <a:ext cx="2040941" cy="0"/>
          </a:xfrm>
          <a:prstGeom prst="line">
            <a:avLst/>
          </a:prstGeom>
          <a:noFill/>
          <a:ln w="28575">
            <a:solidFill>
              <a:srgbClr val="FF4D6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85800" y="17373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400" b="1" spc="2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CARDIOLOGY  ·  PEIC, BAHAWALPUR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21792" y="2148840"/>
            <a:ext cx="106984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Clinicopathological</a:t>
            </a:r>
            <a:endParaRPr lang="en-US" sz="600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Conference</a:t>
            </a:r>
            <a:endParaRPr lang="en-US" sz="6000" dirty="0"/>
          </a:p>
        </p:txBody>
      </p:sp>
      <p:sp>
        <p:nvSpPr>
          <p:cNvPr id="13" name="Text 10"/>
          <p:cNvSpPr/>
          <p:nvPr/>
        </p:nvSpPr>
        <p:spPr>
          <a:xfrm>
            <a:off x="685800" y="4224528"/>
            <a:ext cx="8595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case-based clinical discussion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685800" y="4892040"/>
            <a:ext cx="5394960" cy="1280160"/>
          </a:xfrm>
          <a:prstGeom prst="roundRect">
            <a:avLst>
              <a:gd name="adj" fmla="val 8571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4D6D"/>
            </a:solidFill>
            <a:prstDash val="solid"/>
          </a:ln>
          <a:effectLst>
            <a:outerShdw sx="100000" sy="100000" kx="0" ky="0" algn="bl" rotWithShape="0" blurRad="101600" dist="38100" dir="5400000">
              <a:srgbClr val="8A8A8A">
                <a:alpha val="35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932688" y="5166360"/>
            <a:ext cx="749808" cy="749808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8136" y="5312664"/>
            <a:ext cx="448056" cy="448056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1901952" y="5029200"/>
            <a:ext cx="3977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 Mubashir Aziz
</a:t>
            </a:r>
            <a:pPr algn="l" indent="0" marL="0">
              <a:lnSpc>
                <a:spcPct val="105000"/>
              </a:lnSpc>
              <a:buNone/>
            </a:pPr>
            <a:r>
              <a:rPr lang="en-US" sz="13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PGR Cardiology  ·  PEIC, BWP</a:t>
            </a:r>
            <a:endParaRPr lang="en-US" sz="1900" dirty="0"/>
          </a:p>
        </p:txBody>
      </p:sp>
      <p:sp>
        <p:nvSpPr>
          <p:cNvPr id="18" name="Text 14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PROFILE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Biodata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3931920" cy="4297680"/>
          </a:xfrm>
          <a:prstGeom prst="roundRect">
            <a:avLst>
              <a:gd name="adj" fmla="val 3256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737360" y="2286000"/>
            <a:ext cx="1463040" cy="146304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4832" y="2633472"/>
            <a:ext cx="768096" cy="76809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40080" y="38862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Shazia Bibi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640080" y="437083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w/o Nicholan George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1234440" y="507492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 flipV="1">
            <a:off x="2073859" y="492861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2221992" y="492861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 flipV="1">
            <a:off x="2370125" y="457200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2518258" y="457200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 flipV="1">
            <a:off x="2666390" y="507492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2814523" y="507492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5000"/>
              </a:srgbClr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709160" y="1783080"/>
            <a:ext cx="352044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4965192" y="2093976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11496" y="2240280"/>
            <a:ext cx="365760" cy="36576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5760720" y="20574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</a:t>
            </a:r>
            <a:endParaRPr lang="en-US" sz="1100" dirty="0"/>
          </a:p>
        </p:txBody>
      </p:sp>
      <p:sp>
        <p:nvSpPr>
          <p:cNvPr id="22" name="Text 17"/>
          <p:cNvSpPr/>
          <p:nvPr/>
        </p:nvSpPr>
        <p:spPr>
          <a:xfrm>
            <a:off x="5760720" y="23317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 years</a:t>
            </a:r>
            <a:endParaRPr lang="en-US" sz="2000" dirty="0"/>
          </a:p>
        </p:txBody>
      </p:sp>
      <p:sp>
        <p:nvSpPr>
          <p:cNvPr id="23" name="Shape 18"/>
          <p:cNvSpPr/>
          <p:nvPr/>
        </p:nvSpPr>
        <p:spPr>
          <a:xfrm>
            <a:off x="8485632" y="1783080"/>
            <a:ext cx="352044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8741664" y="2093976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87968" y="2240280"/>
            <a:ext cx="365760" cy="36576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9537192" y="20574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GENDER</a:t>
            </a:r>
            <a:endParaRPr lang="en-US" sz="1100" dirty="0"/>
          </a:p>
        </p:txBody>
      </p:sp>
      <p:sp>
        <p:nvSpPr>
          <p:cNvPr id="27" name="Text 21"/>
          <p:cNvSpPr/>
          <p:nvPr/>
        </p:nvSpPr>
        <p:spPr>
          <a:xfrm>
            <a:off x="9537192" y="233172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Female</a:t>
            </a:r>
            <a:endParaRPr lang="en-US" sz="2000" dirty="0"/>
          </a:p>
        </p:txBody>
      </p:sp>
      <p:sp>
        <p:nvSpPr>
          <p:cNvPr id="28" name="Shape 22"/>
          <p:cNvSpPr/>
          <p:nvPr/>
        </p:nvSpPr>
        <p:spPr>
          <a:xfrm>
            <a:off x="4709160" y="3337560"/>
            <a:ext cx="352044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4965192" y="3648456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11496" y="3794760"/>
            <a:ext cx="365760" cy="365760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5760720" y="36118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RESIDENCE</a:t>
            </a:r>
            <a:endParaRPr lang="en-US" sz="1100" dirty="0"/>
          </a:p>
        </p:txBody>
      </p:sp>
      <p:sp>
        <p:nvSpPr>
          <p:cNvPr id="32" name="Text 25"/>
          <p:cNvSpPr/>
          <p:nvPr/>
        </p:nvSpPr>
        <p:spPr>
          <a:xfrm>
            <a:off x="5760720" y="38862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Bahawalpur</a:t>
            </a:r>
            <a:endParaRPr lang="en-US" sz="2000" dirty="0"/>
          </a:p>
        </p:txBody>
      </p:sp>
      <p:sp>
        <p:nvSpPr>
          <p:cNvPr id="33" name="Shape 26"/>
          <p:cNvSpPr/>
          <p:nvPr/>
        </p:nvSpPr>
        <p:spPr>
          <a:xfrm>
            <a:off x="8485632" y="3337560"/>
            <a:ext cx="3520440" cy="1298448"/>
          </a:xfrm>
          <a:prstGeom prst="roundRect">
            <a:avLst>
              <a:gd name="adj" fmla="val 7042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4" name="Shape 27"/>
          <p:cNvSpPr/>
          <p:nvPr/>
        </p:nvSpPr>
        <p:spPr>
          <a:xfrm>
            <a:off x="8741664" y="3648456"/>
            <a:ext cx="658368" cy="6583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87968" y="3794760"/>
            <a:ext cx="365760" cy="365760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9537192" y="361188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</a:t>
            </a:r>
            <a:endParaRPr lang="en-US" sz="1100" dirty="0"/>
          </a:p>
        </p:txBody>
      </p:sp>
      <p:sp>
        <p:nvSpPr>
          <p:cNvPr id="37" name="Text 29"/>
          <p:cNvSpPr/>
          <p:nvPr/>
        </p:nvSpPr>
        <p:spPr>
          <a:xfrm>
            <a:off x="9537192" y="388620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Nurse</a:t>
            </a:r>
            <a:endParaRPr lang="en-US" sz="2000" dirty="0"/>
          </a:p>
        </p:txBody>
      </p:sp>
      <p:sp>
        <p:nvSpPr>
          <p:cNvPr id="38" name="Text 3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39" name="Text 31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70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0000"/>
          </a:blip>
          <a:stretch>
            <a:fillRect/>
          </a:stretch>
        </p:blipFill>
        <p:spPr>
          <a:xfrm>
            <a:off x="8229600" y="914400"/>
            <a:ext cx="4937760" cy="49377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1371600"/>
            <a:ext cx="960120" cy="96012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1581912"/>
            <a:ext cx="548640" cy="54864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828800" y="1572768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CHIEF COMPLAINT</a:t>
            </a:r>
            <a:endParaRPr lang="en-US" sz="1800" dirty="0"/>
          </a:p>
        </p:txBody>
      </p:sp>
      <p:sp>
        <p:nvSpPr>
          <p:cNvPr id="7" name="Text 3"/>
          <p:cNvSpPr/>
          <p:nvPr/>
        </p:nvSpPr>
        <p:spPr>
          <a:xfrm>
            <a:off x="640080" y="2651760"/>
            <a:ext cx="105156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7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Palpitations</a:t>
            </a:r>
            <a:endParaRPr lang="en-US" sz="7600" dirty="0"/>
          </a:p>
        </p:txBody>
      </p:sp>
      <p:sp>
        <p:nvSpPr>
          <p:cNvPr id="8" name="Text 4"/>
          <p:cNvSpPr/>
          <p:nvPr/>
        </p:nvSpPr>
        <p:spPr>
          <a:xfrm>
            <a:off x="685800" y="388620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600" dirty="0">
                <a:solidFill>
                  <a:srgbClr val="FBD8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</a:t>
            </a:r>
            <a:pPr algn="l" indent="0" marL="0">
              <a:buNone/>
            </a:pPr>
            <a:r>
              <a:rPr lang="en-US" sz="46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hours</a:t>
            </a:r>
            <a:endParaRPr lang="en-US" sz="4600" dirty="0"/>
          </a:p>
        </p:txBody>
      </p:sp>
      <p:sp>
        <p:nvSpPr>
          <p:cNvPr id="9" name="Shape 5"/>
          <p:cNvSpPr/>
          <p:nvPr/>
        </p:nvSpPr>
        <p:spPr>
          <a:xfrm>
            <a:off x="731520" y="5349240"/>
            <a:ext cx="2020824" cy="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 flipV="1">
            <a:off x="2752344" y="5202936"/>
            <a:ext cx="356616" cy="146304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3108960" y="5202936"/>
            <a:ext cx="356616" cy="45720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 flipV="1">
            <a:off x="3465576" y="4846320"/>
            <a:ext cx="356616" cy="813816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822192" y="4846320"/>
            <a:ext cx="356616" cy="68580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 flipV="1">
            <a:off x="4178808" y="5349240"/>
            <a:ext cx="356616" cy="18288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535424" y="5349240"/>
            <a:ext cx="2139696" cy="0"/>
          </a:xfrm>
          <a:prstGeom prst="line">
            <a:avLst/>
          </a:prstGeom>
          <a:noFill/>
          <a:ln w="28575">
            <a:solidFill>
              <a:srgbClr val="FF4D6D">
                <a:alpha val="90000"/>
              </a:srgbClr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731520" y="5532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Sudden onset  ·  sensation of racing heart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 OF PRESENT ILLNESS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Story So Far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5989320" cy="4297680"/>
          </a:xfrm>
          <a:prstGeom prst="roundRect">
            <a:avLst>
              <a:gd name="adj" fmla="val 2553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2103120"/>
            <a:ext cx="53492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46-year-old female</a:t>
            </a:r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previously in her usual state of health, developed </a:t>
            </a:r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sudden-onset palpitations 4 hours ago</a:t>
            </a:r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with a sensation that her heart was racing.</a:t>
            </a:r>
            <a:endParaRPr lang="en-US" sz="1650" dirty="0"/>
          </a:p>
        </p:txBody>
      </p:sp>
      <p:sp>
        <p:nvSpPr>
          <p:cNvPr id="8" name="Shape 5"/>
          <p:cNvSpPr/>
          <p:nvPr/>
        </p:nvSpPr>
        <p:spPr>
          <a:xfrm>
            <a:off x="822960" y="3639312"/>
            <a:ext cx="5349240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3840480"/>
            <a:ext cx="534924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prior identical episodes</a:t>
            </a:r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required admission to the cardiac emergency and settled after IV medication. She was told her </a:t>
            </a:r>
            <a:pPr algn="l" indent="0" marL="0">
              <a:lnSpc>
                <a:spcPct val="115000"/>
              </a:lnSpc>
              <a:buNone/>
            </a:pPr>
            <a:r>
              <a:rPr lang="en-US" sz="1650" b="1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rhythm is irregular.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6720840" y="1783080"/>
            <a:ext cx="4983480" cy="2011680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6995160" y="198424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ASSOCIATED SYMPTOMS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995160" y="2423160"/>
            <a:ext cx="2148840" cy="1097280"/>
          </a:xfrm>
          <a:prstGeom prst="roundRect">
            <a:avLst>
              <a:gd name="adj" fmla="val 6667"/>
            </a:avLst>
          </a:prstGeom>
          <a:solidFill>
            <a:srgbClr val="FFF0F3"/>
          </a:solidFill>
          <a:ln/>
        </p:spPr>
      </p:sp>
      <p:sp>
        <p:nvSpPr>
          <p:cNvPr id="13" name="Shape 10"/>
          <p:cNvSpPr/>
          <p:nvPr/>
        </p:nvSpPr>
        <p:spPr>
          <a:xfrm>
            <a:off x="7251192" y="2679192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9208" y="2807208"/>
            <a:ext cx="310896" cy="310896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7927848" y="2679192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Dizziness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9326880" y="2423160"/>
            <a:ext cx="2148840" cy="1097280"/>
          </a:xfrm>
          <a:prstGeom prst="roundRect">
            <a:avLst>
              <a:gd name="adj" fmla="val 6667"/>
            </a:avLst>
          </a:prstGeom>
          <a:solidFill>
            <a:srgbClr val="FFF0F3"/>
          </a:solidFill>
          <a:ln/>
        </p:spPr>
      </p:sp>
      <p:sp>
        <p:nvSpPr>
          <p:cNvPr id="17" name="Shape 13"/>
          <p:cNvSpPr/>
          <p:nvPr/>
        </p:nvSpPr>
        <p:spPr>
          <a:xfrm>
            <a:off x="9582912" y="2679192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0928" y="2807208"/>
            <a:ext cx="310896" cy="31089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10259568" y="2679192"/>
            <a:ext cx="1143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Fatigue</a:t>
            </a:r>
            <a:endParaRPr lang="en-US" sz="1600" dirty="0"/>
          </a:p>
        </p:txBody>
      </p:sp>
      <p:sp>
        <p:nvSpPr>
          <p:cNvPr id="20" name="Shape 15"/>
          <p:cNvSpPr/>
          <p:nvPr/>
        </p:nvSpPr>
        <p:spPr>
          <a:xfrm>
            <a:off x="6720840" y="4023360"/>
            <a:ext cx="4983480" cy="2057400"/>
          </a:xfrm>
          <a:prstGeom prst="roundRect">
            <a:avLst>
              <a:gd name="adj" fmla="val 4444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1" name="Text 16"/>
          <p:cNvSpPr/>
          <p:nvPr/>
        </p:nvSpPr>
        <p:spPr>
          <a:xfrm>
            <a:off x="6995160" y="4224528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b="1" spc="12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 </a:t>
            </a:r>
            <a:pPr algn="l" indent="0" marL="0">
              <a:buNone/>
            </a:pPr>
            <a:r>
              <a:rPr lang="en-US" sz="1200" b="1" spc="12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PERTINENT NEGATIVES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7040880" y="46268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Chest pain</a:t>
            </a:r>
            <a:endParaRPr lang="en-US" sz="1350" dirty="0"/>
          </a:p>
        </p:txBody>
      </p:sp>
      <p:sp>
        <p:nvSpPr>
          <p:cNvPr id="23" name="Text 18"/>
          <p:cNvSpPr/>
          <p:nvPr/>
        </p:nvSpPr>
        <p:spPr>
          <a:xfrm>
            <a:off x="9326880" y="46268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Shortness of breath</a:t>
            </a:r>
            <a:endParaRPr lang="en-US" sz="1350" dirty="0"/>
          </a:p>
        </p:txBody>
      </p:sp>
      <p:sp>
        <p:nvSpPr>
          <p:cNvPr id="24" name="Text 19"/>
          <p:cNvSpPr/>
          <p:nvPr/>
        </p:nvSpPr>
        <p:spPr>
          <a:xfrm>
            <a:off x="7040880" y="50840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Syncope</a:t>
            </a:r>
            <a:endParaRPr lang="en-US" sz="1350" dirty="0"/>
          </a:p>
        </p:txBody>
      </p:sp>
      <p:sp>
        <p:nvSpPr>
          <p:cNvPr id="25" name="Text 20"/>
          <p:cNvSpPr/>
          <p:nvPr/>
        </p:nvSpPr>
        <p:spPr>
          <a:xfrm>
            <a:off x="9326880" y="50840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 loss</a:t>
            </a:r>
            <a:endParaRPr lang="en-US" sz="1350" dirty="0"/>
          </a:p>
        </p:txBody>
      </p:sp>
      <p:sp>
        <p:nvSpPr>
          <p:cNvPr id="26" name="Text 21"/>
          <p:cNvSpPr/>
          <p:nvPr/>
        </p:nvSpPr>
        <p:spPr>
          <a:xfrm>
            <a:off x="7040880" y="5541264"/>
            <a:ext cx="2286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</a:t>
            </a:r>
            <a:pPr algn="l" indent="0" marL="0">
              <a:buNone/>
            </a:pPr>
            <a:r>
              <a:rPr lang="en-US" sz="13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Tremor</a:t>
            </a:r>
            <a:endParaRPr lang="en-US" sz="1350" dirty="0"/>
          </a:p>
        </p:txBody>
      </p:sp>
      <p:sp>
        <p:nvSpPr>
          <p:cNvPr id="27" name="Text 2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8" name="Text 23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HISTORY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Drug History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Medications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1325880"/>
          </a:xfrm>
          <a:prstGeom prst="roundRect">
            <a:avLst>
              <a:gd name="adj" fmla="val 689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5257800" y="2084832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2267712"/>
            <a:ext cx="365760" cy="36576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217920" y="2039112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 Vadil</a:t>
            </a:r>
            <a:endParaRPr lang="en-US" sz="2400" dirty="0"/>
          </a:p>
        </p:txBody>
      </p:sp>
      <p:sp>
        <p:nvSpPr>
          <p:cNvPr id="21" name="Text 16"/>
          <p:cNvSpPr/>
          <p:nvPr/>
        </p:nvSpPr>
        <p:spPr>
          <a:xfrm>
            <a:off x="6217920" y="253288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/ rhythm control</a:t>
            </a:r>
            <a:endParaRPr lang="en-US" sz="1450" dirty="0"/>
          </a:p>
        </p:txBody>
      </p:sp>
      <p:sp>
        <p:nvSpPr>
          <p:cNvPr id="22" name="Shape 17"/>
          <p:cNvSpPr/>
          <p:nvPr/>
        </p:nvSpPr>
        <p:spPr>
          <a:xfrm>
            <a:off x="4937760" y="3291840"/>
            <a:ext cx="6766560" cy="1325880"/>
          </a:xfrm>
          <a:prstGeom prst="roundRect">
            <a:avLst>
              <a:gd name="adj" fmla="val 689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5257800" y="3593592"/>
            <a:ext cx="731520" cy="7315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0680" y="3776472"/>
            <a:ext cx="365760" cy="36576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6217920" y="3547872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 Rivaroxaban</a:t>
            </a:r>
            <a:endParaRPr lang="en-US" sz="2400" dirty="0"/>
          </a:p>
        </p:txBody>
      </p:sp>
      <p:sp>
        <p:nvSpPr>
          <p:cNvPr id="26" name="Text 20"/>
          <p:cNvSpPr/>
          <p:nvPr/>
        </p:nvSpPr>
        <p:spPr>
          <a:xfrm>
            <a:off x="6217920" y="404164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5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Oral anticoagulation</a:t>
            </a:r>
            <a:endParaRPr lang="en-US" sz="1450" dirty="0"/>
          </a:p>
        </p:txBody>
      </p:sp>
      <p:sp>
        <p:nvSpPr>
          <p:cNvPr id="27" name="Shape 21"/>
          <p:cNvSpPr/>
          <p:nvPr/>
        </p:nvSpPr>
        <p:spPr>
          <a:xfrm>
            <a:off x="4937760" y="4800600"/>
            <a:ext cx="6766560" cy="1188720"/>
          </a:xfrm>
          <a:prstGeom prst="roundRect">
            <a:avLst>
              <a:gd name="adj" fmla="val 7692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8" name="Text 22"/>
          <p:cNvSpPr/>
          <p:nvPr/>
        </p:nvSpPr>
        <p:spPr>
          <a:xfrm>
            <a:off x="5394960" y="4800600"/>
            <a:ext cx="58521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  </a:t>
            </a:r>
            <a:pPr algn="l" indent="0" marL="0">
              <a:buNone/>
            </a:pPr>
            <a:r>
              <a:rPr lang="en-US" sz="16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 control with stroke-risk protection</a:t>
            </a:r>
            <a:endParaRPr lang="en-US" sz="1600" dirty="0"/>
          </a:p>
        </p:txBody>
      </p:sp>
      <p:sp>
        <p:nvSpPr>
          <p:cNvPr id="29" name="Text 2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30" name="Text 24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HISTORY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Medical History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Medical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COMORBIDITY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Hypertension</a:t>
            </a:r>
            <a:endParaRPr lang="en-US" sz="4400" dirty="0"/>
          </a:p>
        </p:txBody>
      </p:sp>
      <p:sp>
        <p:nvSpPr>
          <p:cNvPr id="20" name="Text 16"/>
          <p:cNvSpPr/>
          <p:nvPr/>
        </p:nvSpPr>
        <p:spPr>
          <a:xfrm>
            <a:off x="5458968" y="3611880"/>
            <a:ext cx="57607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oral antihypertensive medication</a:t>
            </a:r>
            <a:endParaRPr lang="en-US" sz="1700" dirty="0"/>
          </a:p>
        </p:txBody>
      </p:sp>
      <p:sp>
        <p:nvSpPr>
          <p:cNvPr id="21" name="Shape 17"/>
          <p:cNvSpPr/>
          <p:nvPr/>
        </p:nvSpPr>
        <p:spPr>
          <a:xfrm>
            <a:off x="5440680" y="4572000"/>
            <a:ext cx="214884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572000"/>
            <a:ext cx="21488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HTN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HISTORY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Past Surgical History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Surgical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significant</a:t>
            </a:r>
            <a:endParaRPr lang="en-US" sz="4200" dirty="0"/>
          </a:p>
        </p:txBody>
      </p:sp>
      <p:sp>
        <p:nvSpPr>
          <p:cNvPr id="20" name="Text 16"/>
          <p:cNvSpPr/>
          <p:nvPr/>
        </p:nvSpPr>
        <p:spPr>
          <a:xfrm>
            <a:off x="5458968" y="41148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prior operative history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40680" y="4892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89204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 REPORTED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SOCIAL &amp; FAMILY HISTORY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Life Context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874520"/>
            <a:ext cx="6766560" cy="4114800"/>
          </a:xfrm>
          <a:prstGeom prst="roundRect">
            <a:avLst>
              <a:gd name="adj" fmla="val 266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68680" y="2240280"/>
            <a:ext cx="868680" cy="86868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2423160"/>
            <a:ext cx="502920" cy="5029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920240" y="2331720"/>
            <a:ext cx="51206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Socioeconomic History</a:t>
            </a:r>
            <a:endParaRPr lang="en-US" sz="2400" dirty="0"/>
          </a:p>
        </p:txBody>
      </p:sp>
      <p:sp>
        <p:nvSpPr>
          <p:cNvPr id="10" name="Shape 6"/>
          <p:cNvSpPr/>
          <p:nvPr/>
        </p:nvSpPr>
        <p:spPr>
          <a:xfrm>
            <a:off x="868680" y="3383280"/>
            <a:ext cx="713232" cy="7132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2416" y="3557016"/>
            <a:ext cx="365760" cy="36576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737360" y="3401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OCCUPATION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1737360" y="36576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Nurse by profession</a:t>
            </a:r>
            <a:endParaRPr lang="en-US" sz="1500" dirty="0"/>
          </a:p>
        </p:txBody>
      </p:sp>
      <p:sp>
        <p:nvSpPr>
          <p:cNvPr id="14" name="Shape 9"/>
          <p:cNvSpPr/>
          <p:nvPr/>
        </p:nvSpPr>
        <p:spPr>
          <a:xfrm>
            <a:off x="4069080" y="3383280"/>
            <a:ext cx="713232" cy="7132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42816" y="3557016"/>
            <a:ext cx="365760" cy="36576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4937760" y="340156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MARITAL STATUS</a:t>
            </a:r>
            <a:endParaRPr lang="en-US" sz="1100" dirty="0"/>
          </a:p>
        </p:txBody>
      </p:sp>
      <p:sp>
        <p:nvSpPr>
          <p:cNvPr id="17" name="Text 11"/>
          <p:cNvSpPr/>
          <p:nvPr/>
        </p:nvSpPr>
        <p:spPr>
          <a:xfrm>
            <a:off x="4937760" y="365760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Married</a:t>
            </a:r>
            <a:endParaRPr lang="en-US" sz="1500" dirty="0"/>
          </a:p>
        </p:txBody>
      </p:sp>
      <p:sp>
        <p:nvSpPr>
          <p:cNvPr id="18" name="Shape 12"/>
          <p:cNvSpPr/>
          <p:nvPr/>
        </p:nvSpPr>
        <p:spPr>
          <a:xfrm>
            <a:off x="868680" y="4590288"/>
            <a:ext cx="713232" cy="7132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2416" y="4764024"/>
            <a:ext cx="365760" cy="365760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737360" y="46085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</a:t>
            </a:r>
            <a:endParaRPr lang="en-US" sz="1100" dirty="0"/>
          </a:p>
        </p:txBody>
      </p:sp>
      <p:sp>
        <p:nvSpPr>
          <p:cNvPr id="21" name="Text 14"/>
          <p:cNvSpPr/>
          <p:nvPr/>
        </p:nvSpPr>
        <p:spPr>
          <a:xfrm>
            <a:off x="1737360" y="486460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middle class</a:t>
            </a:r>
            <a:endParaRPr lang="en-US" sz="1500" dirty="0"/>
          </a:p>
        </p:txBody>
      </p:sp>
      <p:sp>
        <p:nvSpPr>
          <p:cNvPr id="22" name="Shape 15"/>
          <p:cNvSpPr/>
          <p:nvPr/>
        </p:nvSpPr>
        <p:spPr>
          <a:xfrm>
            <a:off x="4069080" y="4590288"/>
            <a:ext cx="713232" cy="7132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3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42816" y="4764024"/>
            <a:ext cx="365760" cy="365760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4937760" y="46085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RESIDENCE</a:t>
            </a:r>
            <a:endParaRPr lang="en-US" sz="1100" dirty="0"/>
          </a:p>
        </p:txBody>
      </p:sp>
      <p:sp>
        <p:nvSpPr>
          <p:cNvPr id="25" name="Text 17"/>
          <p:cNvSpPr/>
          <p:nvPr/>
        </p:nvSpPr>
        <p:spPr>
          <a:xfrm>
            <a:off x="4937760" y="486460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Bahawalpur</a:t>
            </a:r>
            <a:endParaRPr lang="en-US" sz="1500" dirty="0"/>
          </a:p>
        </p:txBody>
      </p:sp>
      <p:sp>
        <p:nvSpPr>
          <p:cNvPr id="26" name="Shape 18"/>
          <p:cNvSpPr/>
          <p:nvPr/>
        </p:nvSpPr>
        <p:spPr>
          <a:xfrm>
            <a:off x="7498080" y="1874520"/>
            <a:ext cx="4206240" cy="4114800"/>
          </a:xfrm>
          <a:prstGeom prst="roundRect">
            <a:avLst>
              <a:gd name="adj" fmla="val 266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8915400" y="2514600"/>
            <a:ext cx="1371600" cy="137160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35440" y="2834640"/>
            <a:ext cx="731520" cy="73152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7680960" y="4114800"/>
            <a:ext cx="38404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Family History</a:t>
            </a:r>
            <a:endParaRPr lang="en-US" sz="2200" dirty="0"/>
          </a:p>
        </p:txBody>
      </p:sp>
      <p:sp>
        <p:nvSpPr>
          <p:cNvPr id="30" name="Shape 21"/>
          <p:cNvSpPr/>
          <p:nvPr/>
        </p:nvSpPr>
        <p:spPr>
          <a:xfrm>
            <a:off x="8366760" y="4709160"/>
            <a:ext cx="246888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31" name="Text 22"/>
          <p:cNvSpPr/>
          <p:nvPr/>
        </p:nvSpPr>
        <p:spPr>
          <a:xfrm>
            <a:off x="8366760" y="4709160"/>
            <a:ext cx="24688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significant</a:t>
            </a:r>
            <a:endParaRPr lang="en-US" sz="1500" dirty="0"/>
          </a:p>
        </p:txBody>
      </p:sp>
      <p:sp>
        <p:nvSpPr>
          <p:cNvPr id="32" name="Text 23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  <p:sp>
        <p:nvSpPr>
          <p:cNvPr id="33" name="Text 24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PHYSICAL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 Presentation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68680" y="233172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1288" y="2624328"/>
            <a:ext cx="466344" cy="46634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3063240" y="228600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FBD8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4000" dirty="0"/>
          </a:p>
        </p:txBody>
      </p:sp>
      <p:sp>
        <p:nvSpPr>
          <p:cNvPr id="10" name="Text 6"/>
          <p:cNvSpPr/>
          <p:nvPr/>
        </p:nvSpPr>
        <p:spPr>
          <a:xfrm>
            <a:off x="886968" y="3703320"/>
            <a:ext cx="29718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886968" y="4069080"/>
            <a:ext cx="28803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Thin, lean, middle-aged female lying comfortably in bed</a:t>
            </a:r>
            <a:endParaRPr lang="en-US" sz="1650" dirty="0"/>
          </a:p>
        </p:txBody>
      </p:sp>
      <p:sp>
        <p:nvSpPr>
          <p:cNvPr id="12" name="Shape 8"/>
          <p:cNvSpPr/>
          <p:nvPr/>
        </p:nvSpPr>
        <p:spPr>
          <a:xfrm>
            <a:off x="4407408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590D22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4773168" y="2331720"/>
            <a:ext cx="1051560" cy="1051560"/>
          </a:xfrm>
          <a:prstGeom prst="ellipse">
            <a:avLst/>
          </a:prstGeom>
          <a:solidFill>
            <a:srgbClr val="A4133C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5776" y="2624328"/>
            <a:ext cx="466344" cy="46634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67728" y="228600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7A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4000" dirty="0"/>
          </a:p>
        </p:txBody>
      </p:sp>
      <p:sp>
        <p:nvSpPr>
          <p:cNvPr id="16" name="Text 11"/>
          <p:cNvSpPr/>
          <p:nvPr/>
        </p:nvSpPr>
        <p:spPr>
          <a:xfrm>
            <a:off x="4791456" y="3703320"/>
            <a:ext cx="29718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2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4791456" y="4069080"/>
            <a:ext cx="28803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 cannula in situ — right hand</a:t>
            </a:r>
            <a:endParaRPr lang="en-US" sz="1650" dirty="0"/>
          </a:p>
        </p:txBody>
      </p:sp>
      <p:sp>
        <p:nvSpPr>
          <p:cNvPr id="18" name="Shape 13"/>
          <p:cNvSpPr/>
          <p:nvPr/>
        </p:nvSpPr>
        <p:spPr>
          <a:xfrm>
            <a:off x="8311896" y="1920240"/>
            <a:ext cx="3611880" cy="4023360"/>
          </a:xfrm>
          <a:prstGeom prst="roundRect">
            <a:avLst>
              <a:gd name="adj" fmla="val 3038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8677656" y="2331720"/>
            <a:ext cx="1051560" cy="10515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0264" y="2624328"/>
            <a:ext cx="466344" cy="466344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0872216" y="2286000"/>
            <a:ext cx="822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4000" b="1" dirty="0">
                <a:solidFill>
                  <a:srgbClr val="FBD8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4000" dirty="0"/>
          </a:p>
        </p:txBody>
      </p:sp>
      <p:sp>
        <p:nvSpPr>
          <p:cNvPr id="22" name="Text 16"/>
          <p:cNvSpPr/>
          <p:nvPr/>
        </p:nvSpPr>
        <p:spPr>
          <a:xfrm>
            <a:off x="8695944" y="3703320"/>
            <a:ext cx="2971800" cy="2926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CONSCIOUSNESS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8695944" y="4069080"/>
            <a:ext cx="28803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&amp; oriented to time, place and person</a:t>
            </a:r>
            <a:endParaRPr lang="en-US" sz="1650" dirty="0"/>
          </a:p>
        </p:txBody>
      </p:sp>
      <p:sp>
        <p:nvSpPr>
          <p:cNvPr id="24" name="Text 18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  <p:sp>
        <p:nvSpPr>
          <p:cNvPr id="25" name="Text 19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Cardiovascular System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CVS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1280160"/>
          </a:xfrm>
          <a:prstGeom prst="roundRect">
            <a:avLst>
              <a:gd name="adj" fmla="val 7143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5257800" y="2075688"/>
            <a:ext cx="694944" cy="6949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31536" y="2249424"/>
            <a:ext cx="347472" cy="34747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172200" y="2002536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INSPECTION</a:t>
            </a:r>
            <a:endParaRPr lang="en-US" sz="1250" dirty="0"/>
          </a:p>
        </p:txBody>
      </p:sp>
      <p:sp>
        <p:nvSpPr>
          <p:cNvPr id="21" name="Text 16"/>
          <p:cNvSpPr/>
          <p:nvPr/>
        </p:nvSpPr>
        <p:spPr>
          <a:xfrm>
            <a:off x="6172200" y="233172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visible pulsations or striae marks</a:t>
            </a:r>
            <a:endParaRPr lang="en-US" sz="1900" dirty="0"/>
          </a:p>
        </p:txBody>
      </p:sp>
      <p:sp>
        <p:nvSpPr>
          <p:cNvPr id="22" name="Shape 17"/>
          <p:cNvSpPr/>
          <p:nvPr/>
        </p:nvSpPr>
        <p:spPr>
          <a:xfrm>
            <a:off x="4937760" y="3246120"/>
            <a:ext cx="6766560" cy="1280160"/>
          </a:xfrm>
          <a:prstGeom prst="roundRect">
            <a:avLst>
              <a:gd name="adj" fmla="val 7143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5257800" y="3538728"/>
            <a:ext cx="694944" cy="6949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31536" y="3712464"/>
            <a:ext cx="347472" cy="347472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6172200" y="3465576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PALPATION</a:t>
            </a:r>
            <a:endParaRPr lang="en-US" sz="1250" dirty="0"/>
          </a:p>
        </p:txBody>
      </p:sp>
      <p:sp>
        <p:nvSpPr>
          <p:cNvPr id="26" name="Text 20"/>
          <p:cNvSpPr/>
          <p:nvPr/>
        </p:nvSpPr>
        <p:spPr>
          <a:xfrm>
            <a:off x="6172200" y="379476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Examined</a:t>
            </a:r>
            <a:endParaRPr lang="en-US" sz="1900" dirty="0"/>
          </a:p>
        </p:txBody>
      </p:sp>
      <p:sp>
        <p:nvSpPr>
          <p:cNvPr id="27" name="Shape 21"/>
          <p:cNvSpPr/>
          <p:nvPr/>
        </p:nvSpPr>
        <p:spPr>
          <a:xfrm>
            <a:off x="4937760" y="4709160"/>
            <a:ext cx="6766560" cy="1280160"/>
          </a:xfrm>
          <a:prstGeom prst="roundRect">
            <a:avLst>
              <a:gd name="adj" fmla="val 7143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5257800" y="5001768"/>
            <a:ext cx="694944" cy="6949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31536" y="5175504"/>
            <a:ext cx="347472" cy="347472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6172200" y="4928616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2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AUSCULTATION</a:t>
            </a:r>
            <a:endParaRPr lang="en-US" sz="1250" dirty="0"/>
          </a:p>
        </p:txBody>
      </p:sp>
      <p:sp>
        <p:nvSpPr>
          <p:cNvPr id="31" name="Text 24"/>
          <p:cNvSpPr/>
          <p:nvPr/>
        </p:nvSpPr>
        <p:spPr>
          <a:xfrm>
            <a:off x="6172200" y="5257800"/>
            <a:ext cx="5166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Examined</a:t>
            </a:r>
            <a:endParaRPr lang="en-US" sz="1900" dirty="0"/>
          </a:p>
        </p:txBody>
      </p:sp>
      <p:sp>
        <p:nvSpPr>
          <p:cNvPr id="32" name="Text 2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33" name="Text 26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Respiratory System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Respiratory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Air entry equal &amp; adequate bilaterally</a:t>
            </a:r>
            <a:endParaRPr lang="en-US" sz="3000" dirty="0"/>
          </a:p>
        </p:txBody>
      </p:sp>
      <p:sp>
        <p:nvSpPr>
          <p:cNvPr id="20" name="Text 16"/>
          <p:cNvSpPr/>
          <p:nvPr/>
        </p:nvSpPr>
        <p:spPr>
          <a:xfrm>
            <a:off x="5458968" y="41148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Bilateral chest examination unremarkable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40680" y="4892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89204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Central Nervous System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CNS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significant</a:t>
            </a:r>
            <a:endParaRPr lang="en-US" sz="4200" dirty="0"/>
          </a:p>
        </p:txBody>
      </p:sp>
      <p:sp>
        <p:nvSpPr>
          <p:cNvPr id="20" name="Text 16"/>
          <p:cNvSpPr/>
          <p:nvPr/>
        </p:nvSpPr>
        <p:spPr>
          <a:xfrm>
            <a:off x="5458968" y="41148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Neurological examination unremarkable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40680" y="4892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89204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UNREMARKABLE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EXAMINATION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Gastrointestinal System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4114800" cy="4206240"/>
          </a:xfrm>
          <a:prstGeom prst="roundRect">
            <a:avLst>
              <a:gd name="adj" fmla="val 3111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691640" y="2423160"/>
            <a:ext cx="1737360" cy="1737360"/>
          </a:xfrm>
          <a:prstGeom prst="ellipse">
            <a:avLst/>
          </a:prstGeom>
          <a:solidFill>
            <a:srgbClr val="FFFFFF">
              <a:alpha val="10000"/>
            </a:srgbClr>
          </a:solidFill>
          <a:ln w="19050">
            <a:solidFill>
              <a:srgbClr val="FF4D6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788920"/>
            <a:ext cx="1005840" cy="10058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4434840"/>
            <a:ext cx="3749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GIT</a:t>
            </a:r>
            <a:endParaRPr lang="en-US" sz="2500" dirty="0"/>
          </a:p>
        </p:txBody>
      </p:sp>
      <p:sp>
        <p:nvSpPr>
          <p:cNvPr id="10" name="Shape 6"/>
          <p:cNvSpPr/>
          <p:nvPr/>
        </p:nvSpPr>
        <p:spPr>
          <a:xfrm>
            <a:off x="1280160" y="5349240"/>
            <a:ext cx="839419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 flipV="1">
            <a:off x="2119579" y="5202936"/>
            <a:ext cx="148133" cy="146304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267712" y="5202936"/>
            <a:ext cx="148133" cy="4572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 flipV="1">
            <a:off x="2415845" y="4846320"/>
            <a:ext cx="148133" cy="813816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563978" y="4846320"/>
            <a:ext cx="148133" cy="68580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 flipV="1">
            <a:off x="2712110" y="5349240"/>
            <a:ext cx="148133" cy="18288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2860243" y="5349240"/>
            <a:ext cx="888797" cy="0"/>
          </a:xfrm>
          <a:prstGeom prst="line">
            <a:avLst/>
          </a:prstGeom>
          <a:noFill/>
          <a:ln w="28575">
            <a:solidFill>
              <a:srgbClr val="FF4D6D">
                <a:alpha val="8800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4937760" y="1783080"/>
            <a:ext cx="676656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8" name="Text 14"/>
          <p:cNvSpPr/>
          <p:nvPr/>
        </p:nvSpPr>
        <p:spPr>
          <a:xfrm>
            <a:off x="5440680" y="2194560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606040"/>
            <a:ext cx="58521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significant</a:t>
            </a:r>
            <a:endParaRPr lang="en-US" sz="4200" dirty="0"/>
          </a:p>
        </p:txBody>
      </p:sp>
      <p:sp>
        <p:nvSpPr>
          <p:cNvPr id="20" name="Text 16"/>
          <p:cNvSpPr/>
          <p:nvPr/>
        </p:nvSpPr>
        <p:spPr>
          <a:xfrm>
            <a:off x="5458968" y="411480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Abdominal examination unremarkable</a:t>
            </a:r>
            <a:endParaRPr lang="en-US" sz="1600" dirty="0"/>
          </a:p>
        </p:txBody>
      </p:sp>
      <p:sp>
        <p:nvSpPr>
          <p:cNvPr id="21" name="Shape 17"/>
          <p:cNvSpPr/>
          <p:nvPr/>
        </p:nvSpPr>
        <p:spPr>
          <a:xfrm>
            <a:off x="5440680" y="4892040"/>
            <a:ext cx="2743200" cy="566928"/>
          </a:xfrm>
          <a:prstGeom prst="roundRect">
            <a:avLst>
              <a:gd name="adj" fmla="val 50000"/>
            </a:avLst>
          </a:prstGeom>
          <a:solidFill>
            <a:srgbClr val="A4133C"/>
          </a:solidFill>
          <a:ln/>
        </p:spPr>
      </p:sp>
      <p:sp>
        <p:nvSpPr>
          <p:cNvPr id="22" name="Text 18"/>
          <p:cNvSpPr/>
          <p:nvPr/>
        </p:nvSpPr>
        <p:spPr>
          <a:xfrm>
            <a:off x="5440680" y="4892040"/>
            <a:ext cx="27432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UNREMARKABLE</a:t>
            </a:r>
            <a:endParaRPr lang="en-US" sz="1450" dirty="0"/>
          </a:p>
        </p:txBody>
      </p:sp>
      <p:sp>
        <p:nvSpPr>
          <p:cNvPr id="23" name="Text 1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  <p:sp>
        <p:nvSpPr>
          <p:cNvPr id="24" name="Text 2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ELECTROCARDIOGRAM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12-Lead ECG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37360"/>
            <a:ext cx="5669280" cy="4279392"/>
          </a:xfrm>
          <a:prstGeom prst="roundRect">
            <a:avLst>
              <a:gd name="adj" fmla="val 2564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1819656"/>
            <a:ext cx="5458968" cy="411480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6355080" y="1737360"/>
            <a:ext cx="5349240" cy="1481328"/>
          </a:xfrm>
          <a:prstGeom prst="roundRect">
            <a:avLst>
              <a:gd name="adj" fmla="val 740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6611112" y="1956816"/>
            <a:ext cx="548640" cy="54864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8272" y="2093976"/>
            <a:ext cx="274320" cy="27432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7287768" y="1828800"/>
            <a:ext cx="4251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Fibrillation with Rapid Ventricular Response</a:t>
            </a:r>
            <a:endParaRPr lang="en-US" sz="1900" dirty="0"/>
          </a:p>
        </p:txBody>
      </p:sp>
      <p:sp>
        <p:nvSpPr>
          <p:cNvPr id="12" name="Text 7"/>
          <p:cNvSpPr/>
          <p:nvPr/>
        </p:nvSpPr>
        <p:spPr>
          <a:xfrm>
            <a:off x="7287768" y="2798064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Abnormal rhythm ECG · </a:t>
            </a:r>
            <a:pPr algn="l" indent="0" marL="0">
              <a:buNone/>
            </a:pPr>
            <a:r>
              <a:rPr lang="en-US" sz="12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06-Jul-2026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6355080" y="3364992"/>
            <a:ext cx="5349240" cy="914400"/>
          </a:xfrm>
          <a:prstGeom prst="roundRect">
            <a:avLst>
              <a:gd name="adj" fmla="val 120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4" name="Text 9"/>
          <p:cNvSpPr/>
          <p:nvPr/>
        </p:nvSpPr>
        <p:spPr>
          <a:xfrm>
            <a:off x="6611112" y="349300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VENTRICULAR RATE</a:t>
            </a:r>
            <a:endParaRPr lang="en-US" sz="1100" dirty="0"/>
          </a:p>
        </p:txBody>
      </p:sp>
      <p:sp>
        <p:nvSpPr>
          <p:cNvPr id="15" name="Text 10"/>
          <p:cNvSpPr/>
          <p:nvPr/>
        </p:nvSpPr>
        <p:spPr>
          <a:xfrm>
            <a:off x="6611112" y="3767328"/>
            <a:ext cx="2194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4D6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146</a:t>
            </a:r>
            <a:pPr algn="l" indent="0" marL="0">
              <a:buNone/>
            </a:pPr>
            <a:r>
              <a:rPr lang="en-US" sz="15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bpm</a:t>
            </a:r>
            <a:endParaRPr lang="en-US" sz="34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01400" y="3493008"/>
            <a:ext cx="292608" cy="292608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10424160" y="3785616"/>
            <a:ext cx="1051560" cy="420624"/>
          </a:xfrm>
          <a:prstGeom prst="roundRect">
            <a:avLst>
              <a:gd name="adj" fmla="val 50000"/>
            </a:avLst>
          </a:prstGeom>
          <a:solidFill>
            <a:srgbClr val="FF4D6D"/>
          </a:solidFill>
          <a:ln/>
        </p:spPr>
      </p:sp>
      <p:sp>
        <p:nvSpPr>
          <p:cNvPr id="18" name="Text 12"/>
          <p:cNvSpPr/>
          <p:nvPr/>
        </p:nvSpPr>
        <p:spPr>
          <a:xfrm>
            <a:off x="10424160" y="3785616"/>
            <a:ext cx="10515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</a:t>
            </a:r>
            <a:endParaRPr lang="en-US" sz="1250" dirty="0"/>
          </a:p>
        </p:txBody>
      </p:sp>
      <p:sp>
        <p:nvSpPr>
          <p:cNvPr id="19" name="Shape 13"/>
          <p:cNvSpPr/>
          <p:nvPr/>
        </p:nvSpPr>
        <p:spPr>
          <a:xfrm>
            <a:off x="6355080" y="4389120"/>
            <a:ext cx="2615184" cy="749808"/>
          </a:xfrm>
          <a:prstGeom prst="roundRect">
            <a:avLst>
              <a:gd name="adj" fmla="val 1219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6556248" y="4517136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RHYTHM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6556248" y="4773168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Atrial fibrillation</a:t>
            </a:r>
            <a:endParaRPr lang="en-US" sz="1300" dirty="0"/>
          </a:p>
        </p:txBody>
      </p:sp>
      <p:sp>
        <p:nvSpPr>
          <p:cNvPr id="22" name="Shape 16"/>
          <p:cNvSpPr/>
          <p:nvPr/>
        </p:nvSpPr>
        <p:spPr>
          <a:xfrm>
            <a:off x="9089136" y="4389120"/>
            <a:ext cx="2615184" cy="749808"/>
          </a:xfrm>
          <a:prstGeom prst="roundRect">
            <a:avLst>
              <a:gd name="adj" fmla="val 1219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9290304" y="4517136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WAVES</a:t>
            </a:r>
            <a:endParaRPr lang="en-US" sz="1000" dirty="0"/>
          </a:p>
        </p:txBody>
      </p:sp>
      <p:sp>
        <p:nvSpPr>
          <p:cNvPr id="24" name="Text 18"/>
          <p:cNvSpPr/>
          <p:nvPr/>
        </p:nvSpPr>
        <p:spPr>
          <a:xfrm>
            <a:off x="9290304" y="4773168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Absent</a:t>
            </a:r>
            <a:endParaRPr lang="en-US" sz="1300" dirty="0"/>
          </a:p>
        </p:txBody>
      </p:sp>
      <p:sp>
        <p:nvSpPr>
          <p:cNvPr id="25" name="Shape 19"/>
          <p:cNvSpPr/>
          <p:nvPr/>
        </p:nvSpPr>
        <p:spPr>
          <a:xfrm>
            <a:off x="6355080" y="5239512"/>
            <a:ext cx="2615184" cy="749808"/>
          </a:xfrm>
          <a:prstGeom prst="roundRect">
            <a:avLst>
              <a:gd name="adj" fmla="val 1219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6" name="Text 20"/>
          <p:cNvSpPr/>
          <p:nvPr/>
        </p:nvSpPr>
        <p:spPr>
          <a:xfrm>
            <a:off x="6556248" y="5367528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· QRS</a:t>
            </a:r>
            <a:endParaRPr lang="en-US" sz="1000" dirty="0"/>
          </a:p>
        </p:txBody>
      </p:sp>
      <p:sp>
        <p:nvSpPr>
          <p:cNvPr id="27" name="Text 21"/>
          <p:cNvSpPr/>
          <p:nvPr/>
        </p:nvSpPr>
        <p:spPr>
          <a:xfrm>
            <a:off x="6556248" y="5623560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· 80 ms</a:t>
            </a:r>
            <a:endParaRPr lang="en-US" sz="1300" dirty="0"/>
          </a:p>
        </p:txBody>
      </p:sp>
      <p:sp>
        <p:nvSpPr>
          <p:cNvPr id="28" name="Shape 22"/>
          <p:cNvSpPr/>
          <p:nvPr/>
        </p:nvSpPr>
        <p:spPr>
          <a:xfrm>
            <a:off x="9089136" y="5239512"/>
            <a:ext cx="2615184" cy="749808"/>
          </a:xfrm>
          <a:prstGeom prst="roundRect">
            <a:avLst>
              <a:gd name="adj" fmla="val 12195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9" name="Text 23"/>
          <p:cNvSpPr/>
          <p:nvPr/>
        </p:nvSpPr>
        <p:spPr>
          <a:xfrm>
            <a:off x="9290304" y="5367528"/>
            <a:ext cx="22494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8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QT / QTC · AXIS</a:t>
            </a:r>
            <a:endParaRPr lang="en-US" sz="1000" dirty="0"/>
          </a:p>
        </p:txBody>
      </p:sp>
      <p:sp>
        <p:nvSpPr>
          <p:cNvPr id="30" name="Text 24"/>
          <p:cNvSpPr/>
          <p:nvPr/>
        </p:nvSpPr>
        <p:spPr>
          <a:xfrm>
            <a:off x="9290304" y="5623560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298 / 382 ms · 38°</a:t>
            </a:r>
            <a:endParaRPr lang="en-US" sz="1300" dirty="0"/>
          </a:p>
        </p:txBody>
      </p:sp>
      <p:sp>
        <p:nvSpPr>
          <p:cNvPr id="31" name="Text 25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  <p:sp>
        <p:nvSpPr>
          <p:cNvPr id="32" name="Text 26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HAEMATOLOGY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Complete Blood Count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485632" y="102412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date: 10-Jun-2022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1719072"/>
            <a:ext cx="5449824" cy="384048"/>
          </a:xfrm>
          <a:prstGeom prst="roundRect">
            <a:avLst>
              <a:gd name="adj" fmla="val 19048"/>
            </a:avLst>
          </a:prstGeom>
          <a:solidFill>
            <a:srgbClr val="A4133C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1719072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1984248" y="171907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3282696" y="171907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RANGE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4855464" y="171907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02920" y="217627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13" name="Shape 10"/>
          <p:cNvSpPr/>
          <p:nvPr/>
        </p:nvSpPr>
        <p:spPr>
          <a:xfrm>
            <a:off x="502920" y="267919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0080" y="217627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Haemoglobin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984248" y="217627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10.6</a:t>
            </a:r>
            <a:pPr algn="l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LOW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3282696" y="217627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11.5–16.5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4855464" y="21762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g/dL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02920" y="318211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0080" y="267919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WBC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1984248" y="267919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6.94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3282696" y="267919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4.0–11.0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855464" y="267919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×10³/µL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02920" y="318211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24" name="Shape 21"/>
          <p:cNvSpPr/>
          <p:nvPr/>
        </p:nvSpPr>
        <p:spPr>
          <a:xfrm>
            <a:off x="502920" y="368503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40080" y="318211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Neutrophils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1984248" y="318211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</a:t>
            </a:r>
            <a:endParaRPr lang="en-US" sz="1350" dirty="0"/>
          </a:p>
        </p:txBody>
      </p:sp>
      <p:sp>
        <p:nvSpPr>
          <p:cNvPr id="27" name="Text 24"/>
          <p:cNvSpPr/>
          <p:nvPr/>
        </p:nvSpPr>
        <p:spPr>
          <a:xfrm>
            <a:off x="3282696" y="318211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40–75</a:t>
            </a:r>
            <a:endParaRPr lang="en-US" sz="1250" dirty="0"/>
          </a:p>
        </p:txBody>
      </p:sp>
      <p:sp>
        <p:nvSpPr>
          <p:cNvPr id="28" name="Text 25"/>
          <p:cNvSpPr/>
          <p:nvPr/>
        </p:nvSpPr>
        <p:spPr>
          <a:xfrm>
            <a:off x="4855464" y="318211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502920" y="418795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40080" y="368503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Lymphocytes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1984248" y="368503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350" dirty="0"/>
          </a:p>
        </p:txBody>
      </p:sp>
      <p:sp>
        <p:nvSpPr>
          <p:cNvPr id="32" name="Text 29"/>
          <p:cNvSpPr/>
          <p:nvPr/>
        </p:nvSpPr>
        <p:spPr>
          <a:xfrm>
            <a:off x="3282696" y="368503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20–45</a:t>
            </a:r>
            <a:endParaRPr lang="en-US" sz="1250" dirty="0"/>
          </a:p>
        </p:txBody>
      </p:sp>
      <p:sp>
        <p:nvSpPr>
          <p:cNvPr id="33" name="Text 30"/>
          <p:cNvSpPr/>
          <p:nvPr/>
        </p:nvSpPr>
        <p:spPr>
          <a:xfrm>
            <a:off x="4855464" y="368503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502920" y="418795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35" name="Shape 32"/>
          <p:cNvSpPr/>
          <p:nvPr/>
        </p:nvSpPr>
        <p:spPr>
          <a:xfrm>
            <a:off x="502920" y="469087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640080" y="418795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Monocytes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1984248" y="418795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50" dirty="0"/>
          </a:p>
        </p:txBody>
      </p:sp>
      <p:sp>
        <p:nvSpPr>
          <p:cNvPr id="38" name="Text 35"/>
          <p:cNvSpPr/>
          <p:nvPr/>
        </p:nvSpPr>
        <p:spPr>
          <a:xfrm>
            <a:off x="3282696" y="418795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2–10</a:t>
            </a:r>
            <a:endParaRPr lang="en-US" sz="1250" dirty="0"/>
          </a:p>
        </p:txBody>
      </p:sp>
      <p:sp>
        <p:nvSpPr>
          <p:cNvPr id="39" name="Text 36"/>
          <p:cNvSpPr/>
          <p:nvPr/>
        </p:nvSpPr>
        <p:spPr>
          <a:xfrm>
            <a:off x="4855464" y="418795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40" name="Shape 37"/>
          <p:cNvSpPr/>
          <p:nvPr/>
        </p:nvSpPr>
        <p:spPr>
          <a:xfrm>
            <a:off x="502920" y="519379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640080" y="469087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Eosinophils</a:t>
            </a:r>
            <a:endParaRPr lang="en-US" sz="1300" dirty="0"/>
          </a:p>
        </p:txBody>
      </p:sp>
      <p:sp>
        <p:nvSpPr>
          <p:cNvPr id="42" name="Text 39"/>
          <p:cNvSpPr/>
          <p:nvPr/>
        </p:nvSpPr>
        <p:spPr>
          <a:xfrm>
            <a:off x="1984248" y="469087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pPr algn="l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HIGH</a:t>
            </a:r>
            <a:endParaRPr lang="en-US" sz="1350" dirty="0"/>
          </a:p>
        </p:txBody>
      </p:sp>
      <p:sp>
        <p:nvSpPr>
          <p:cNvPr id="43" name="Text 40"/>
          <p:cNvSpPr/>
          <p:nvPr/>
        </p:nvSpPr>
        <p:spPr>
          <a:xfrm>
            <a:off x="3282696" y="469087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1–6</a:t>
            </a:r>
            <a:endParaRPr lang="en-US" sz="1250" dirty="0"/>
          </a:p>
        </p:txBody>
      </p:sp>
      <p:sp>
        <p:nvSpPr>
          <p:cNvPr id="44" name="Text 41"/>
          <p:cNvSpPr/>
          <p:nvPr/>
        </p:nvSpPr>
        <p:spPr>
          <a:xfrm>
            <a:off x="4855464" y="46908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45" name="Shape 42"/>
          <p:cNvSpPr/>
          <p:nvPr/>
        </p:nvSpPr>
        <p:spPr>
          <a:xfrm>
            <a:off x="6236208" y="1719072"/>
            <a:ext cx="5449824" cy="384048"/>
          </a:xfrm>
          <a:prstGeom prst="roundRect">
            <a:avLst>
              <a:gd name="adj" fmla="val 19048"/>
            </a:avLst>
          </a:prstGeom>
          <a:solidFill>
            <a:srgbClr val="A4133C"/>
          </a:solidFill>
          <a:ln/>
        </p:spPr>
      </p:sp>
      <p:sp>
        <p:nvSpPr>
          <p:cNvPr id="46" name="Text 43"/>
          <p:cNvSpPr/>
          <p:nvPr/>
        </p:nvSpPr>
        <p:spPr>
          <a:xfrm>
            <a:off x="6373368" y="1719072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150" dirty="0"/>
          </a:p>
        </p:txBody>
      </p:sp>
      <p:sp>
        <p:nvSpPr>
          <p:cNvPr id="47" name="Text 44"/>
          <p:cNvSpPr/>
          <p:nvPr/>
        </p:nvSpPr>
        <p:spPr>
          <a:xfrm>
            <a:off x="7717536" y="171907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</a:t>
            </a:r>
            <a:endParaRPr lang="en-US" sz="1150" dirty="0"/>
          </a:p>
        </p:txBody>
      </p:sp>
      <p:sp>
        <p:nvSpPr>
          <p:cNvPr id="48" name="Text 45"/>
          <p:cNvSpPr/>
          <p:nvPr/>
        </p:nvSpPr>
        <p:spPr>
          <a:xfrm>
            <a:off x="9015984" y="1719072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RANGE</a:t>
            </a:r>
            <a:endParaRPr lang="en-US" sz="1150" dirty="0"/>
          </a:p>
        </p:txBody>
      </p:sp>
      <p:sp>
        <p:nvSpPr>
          <p:cNvPr id="49" name="Text 46"/>
          <p:cNvSpPr/>
          <p:nvPr/>
        </p:nvSpPr>
        <p:spPr>
          <a:xfrm>
            <a:off x="10588752" y="1719072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</a:t>
            </a:r>
            <a:endParaRPr lang="en-US" sz="1150" dirty="0"/>
          </a:p>
        </p:txBody>
      </p:sp>
      <p:sp>
        <p:nvSpPr>
          <p:cNvPr id="50" name="Shape 47"/>
          <p:cNvSpPr/>
          <p:nvPr/>
        </p:nvSpPr>
        <p:spPr>
          <a:xfrm>
            <a:off x="6236208" y="217627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51" name="Shape 48"/>
          <p:cNvSpPr/>
          <p:nvPr/>
        </p:nvSpPr>
        <p:spPr>
          <a:xfrm>
            <a:off x="6236208" y="267919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6373368" y="217627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Platelets</a:t>
            </a:r>
            <a:endParaRPr lang="en-US" sz="1300" dirty="0"/>
          </a:p>
        </p:txBody>
      </p:sp>
      <p:sp>
        <p:nvSpPr>
          <p:cNvPr id="53" name="Text 50"/>
          <p:cNvSpPr/>
          <p:nvPr/>
        </p:nvSpPr>
        <p:spPr>
          <a:xfrm>
            <a:off x="7717536" y="217627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296</a:t>
            </a:r>
            <a:endParaRPr lang="en-US" sz="1350" dirty="0"/>
          </a:p>
        </p:txBody>
      </p:sp>
      <p:sp>
        <p:nvSpPr>
          <p:cNvPr id="54" name="Text 51"/>
          <p:cNvSpPr/>
          <p:nvPr/>
        </p:nvSpPr>
        <p:spPr>
          <a:xfrm>
            <a:off x="9015984" y="217627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150–400</a:t>
            </a:r>
            <a:endParaRPr lang="en-US" sz="1250" dirty="0"/>
          </a:p>
        </p:txBody>
      </p:sp>
      <p:sp>
        <p:nvSpPr>
          <p:cNvPr id="55" name="Text 52"/>
          <p:cNvSpPr/>
          <p:nvPr/>
        </p:nvSpPr>
        <p:spPr>
          <a:xfrm>
            <a:off x="10588752" y="21762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×10³/µL</a:t>
            </a:r>
            <a:endParaRPr lang="en-US" sz="1200" dirty="0"/>
          </a:p>
        </p:txBody>
      </p:sp>
      <p:sp>
        <p:nvSpPr>
          <p:cNvPr id="56" name="Shape 53"/>
          <p:cNvSpPr/>
          <p:nvPr/>
        </p:nvSpPr>
        <p:spPr>
          <a:xfrm>
            <a:off x="6236208" y="318211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6373368" y="267919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RBC</a:t>
            </a:r>
            <a:endParaRPr lang="en-US" sz="1300" dirty="0"/>
          </a:p>
        </p:txBody>
      </p:sp>
      <p:sp>
        <p:nvSpPr>
          <p:cNvPr id="58" name="Text 55"/>
          <p:cNvSpPr/>
          <p:nvPr/>
        </p:nvSpPr>
        <p:spPr>
          <a:xfrm>
            <a:off x="7717536" y="267919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3.53</a:t>
            </a:r>
            <a:pPr algn="l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LOW</a:t>
            </a:r>
            <a:endParaRPr lang="en-US" sz="1350" dirty="0"/>
          </a:p>
        </p:txBody>
      </p:sp>
      <p:sp>
        <p:nvSpPr>
          <p:cNvPr id="59" name="Text 56"/>
          <p:cNvSpPr/>
          <p:nvPr/>
        </p:nvSpPr>
        <p:spPr>
          <a:xfrm>
            <a:off x="9015984" y="267919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3.6–5.8</a:t>
            </a:r>
            <a:endParaRPr lang="en-US" sz="1250" dirty="0"/>
          </a:p>
        </p:txBody>
      </p:sp>
      <p:sp>
        <p:nvSpPr>
          <p:cNvPr id="60" name="Text 57"/>
          <p:cNvSpPr/>
          <p:nvPr/>
        </p:nvSpPr>
        <p:spPr>
          <a:xfrm>
            <a:off x="10588752" y="267919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×10⁶/µL</a:t>
            </a:r>
            <a:endParaRPr lang="en-US" sz="1200" dirty="0"/>
          </a:p>
        </p:txBody>
      </p:sp>
      <p:sp>
        <p:nvSpPr>
          <p:cNvPr id="61" name="Shape 58"/>
          <p:cNvSpPr/>
          <p:nvPr/>
        </p:nvSpPr>
        <p:spPr>
          <a:xfrm>
            <a:off x="6236208" y="318211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62" name="Shape 59"/>
          <p:cNvSpPr/>
          <p:nvPr/>
        </p:nvSpPr>
        <p:spPr>
          <a:xfrm>
            <a:off x="6236208" y="368503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6373368" y="318211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MCV</a:t>
            </a:r>
            <a:endParaRPr lang="en-US" sz="1300" dirty="0"/>
          </a:p>
        </p:txBody>
      </p:sp>
      <p:sp>
        <p:nvSpPr>
          <p:cNvPr id="64" name="Text 61"/>
          <p:cNvSpPr/>
          <p:nvPr/>
        </p:nvSpPr>
        <p:spPr>
          <a:xfrm>
            <a:off x="7717536" y="318211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85.7</a:t>
            </a:r>
            <a:endParaRPr lang="en-US" sz="1350" dirty="0"/>
          </a:p>
        </p:txBody>
      </p:sp>
      <p:sp>
        <p:nvSpPr>
          <p:cNvPr id="65" name="Text 62"/>
          <p:cNvSpPr/>
          <p:nvPr/>
        </p:nvSpPr>
        <p:spPr>
          <a:xfrm>
            <a:off x="9015984" y="318211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80–100</a:t>
            </a:r>
            <a:endParaRPr lang="en-US" sz="1250" dirty="0"/>
          </a:p>
        </p:txBody>
      </p:sp>
      <p:sp>
        <p:nvSpPr>
          <p:cNvPr id="66" name="Text 63"/>
          <p:cNvSpPr/>
          <p:nvPr/>
        </p:nvSpPr>
        <p:spPr>
          <a:xfrm>
            <a:off x="10588752" y="318211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</a:t>
            </a:r>
            <a:endParaRPr lang="en-US" sz="1200" dirty="0"/>
          </a:p>
        </p:txBody>
      </p:sp>
      <p:sp>
        <p:nvSpPr>
          <p:cNvPr id="67" name="Shape 64"/>
          <p:cNvSpPr/>
          <p:nvPr/>
        </p:nvSpPr>
        <p:spPr>
          <a:xfrm>
            <a:off x="6236208" y="418795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68" name="Text 65"/>
          <p:cNvSpPr/>
          <p:nvPr/>
        </p:nvSpPr>
        <p:spPr>
          <a:xfrm>
            <a:off x="6373368" y="368503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MCH</a:t>
            </a:r>
            <a:endParaRPr lang="en-US" sz="1300" dirty="0"/>
          </a:p>
        </p:txBody>
      </p:sp>
      <p:sp>
        <p:nvSpPr>
          <p:cNvPr id="69" name="Text 66"/>
          <p:cNvSpPr/>
          <p:nvPr/>
        </p:nvSpPr>
        <p:spPr>
          <a:xfrm>
            <a:off x="7717536" y="368503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30.0</a:t>
            </a:r>
            <a:endParaRPr lang="en-US" sz="1350" dirty="0"/>
          </a:p>
        </p:txBody>
      </p:sp>
      <p:sp>
        <p:nvSpPr>
          <p:cNvPr id="70" name="Text 67"/>
          <p:cNvSpPr/>
          <p:nvPr/>
        </p:nvSpPr>
        <p:spPr>
          <a:xfrm>
            <a:off x="9015984" y="368503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27–34</a:t>
            </a:r>
            <a:endParaRPr lang="en-US" sz="1250" dirty="0"/>
          </a:p>
        </p:txBody>
      </p:sp>
      <p:sp>
        <p:nvSpPr>
          <p:cNvPr id="71" name="Text 68"/>
          <p:cNvSpPr/>
          <p:nvPr/>
        </p:nvSpPr>
        <p:spPr>
          <a:xfrm>
            <a:off x="10588752" y="368503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</a:t>
            </a:r>
            <a:endParaRPr lang="en-US" sz="1200" dirty="0"/>
          </a:p>
        </p:txBody>
      </p:sp>
      <p:sp>
        <p:nvSpPr>
          <p:cNvPr id="72" name="Shape 69"/>
          <p:cNvSpPr/>
          <p:nvPr/>
        </p:nvSpPr>
        <p:spPr>
          <a:xfrm>
            <a:off x="6236208" y="4187952"/>
            <a:ext cx="5449824" cy="502920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73" name="Shape 70"/>
          <p:cNvSpPr/>
          <p:nvPr/>
        </p:nvSpPr>
        <p:spPr>
          <a:xfrm>
            <a:off x="6236208" y="469087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74" name="Text 71"/>
          <p:cNvSpPr/>
          <p:nvPr/>
        </p:nvSpPr>
        <p:spPr>
          <a:xfrm>
            <a:off x="6373368" y="418795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MCHC</a:t>
            </a:r>
            <a:endParaRPr lang="en-US" sz="1300" dirty="0"/>
          </a:p>
        </p:txBody>
      </p:sp>
      <p:sp>
        <p:nvSpPr>
          <p:cNvPr id="75" name="Text 72"/>
          <p:cNvSpPr/>
          <p:nvPr/>
        </p:nvSpPr>
        <p:spPr>
          <a:xfrm>
            <a:off x="7717536" y="418795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35.0</a:t>
            </a:r>
            <a:endParaRPr lang="en-US" sz="1350" dirty="0"/>
          </a:p>
        </p:txBody>
      </p:sp>
      <p:sp>
        <p:nvSpPr>
          <p:cNvPr id="76" name="Text 73"/>
          <p:cNvSpPr/>
          <p:nvPr/>
        </p:nvSpPr>
        <p:spPr>
          <a:xfrm>
            <a:off x="9015984" y="418795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30–35</a:t>
            </a:r>
            <a:endParaRPr lang="en-US" sz="1250" dirty="0"/>
          </a:p>
        </p:txBody>
      </p:sp>
      <p:sp>
        <p:nvSpPr>
          <p:cNvPr id="77" name="Text 74"/>
          <p:cNvSpPr/>
          <p:nvPr/>
        </p:nvSpPr>
        <p:spPr>
          <a:xfrm>
            <a:off x="10588752" y="418795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g/dL</a:t>
            </a:r>
            <a:endParaRPr lang="en-US" sz="1200" dirty="0"/>
          </a:p>
        </p:txBody>
      </p:sp>
      <p:sp>
        <p:nvSpPr>
          <p:cNvPr id="78" name="Shape 75"/>
          <p:cNvSpPr/>
          <p:nvPr/>
        </p:nvSpPr>
        <p:spPr>
          <a:xfrm>
            <a:off x="6236208" y="5193792"/>
            <a:ext cx="5449824" cy="0"/>
          </a:xfrm>
          <a:prstGeom prst="line">
            <a:avLst/>
          </a:prstGeom>
          <a:noFill/>
          <a:ln w="12700">
            <a:solidFill>
              <a:srgbClr val="FBD8DF"/>
            </a:solidFill>
            <a:prstDash val="solid"/>
          </a:ln>
        </p:spPr>
      </p:sp>
      <p:sp>
        <p:nvSpPr>
          <p:cNvPr id="79" name="Text 76"/>
          <p:cNvSpPr/>
          <p:nvPr/>
        </p:nvSpPr>
        <p:spPr>
          <a:xfrm>
            <a:off x="6373368" y="4690872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HCT</a:t>
            </a:r>
            <a:endParaRPr lang="en-US" sz="1300" dirty="0"/>
          </a:p>
        </p:txBody>
      </p:sp>
      <p:sp>
        <p:nvSpPr>
          <p:cNvPr id="80" name="Text 77"/>
          <p:cNvSpPr/>
          <p:nvPr/>
        </p:nvSpPr>
        <p:spPr>
          <a:xfrm>
            <a:off x="7717536" y="4690872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30.3</a:t>
            </a:r>
            <a:pPr algn="l" indent="0" marL="0">
              <a:buNone/>
            </a:pPr>
            <a:r>
              <a:rPr lang="en-US" sz="950" b="1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LOW</a:t>
            </a:r>
            <a:endParaRPr lang="en-US" sz="1350" dirty="0"/>
          </a:p>
        </p:txBody>
      </p:sp>
      <p:sp>
        <p:nvSpPr>
          <p:cNvPr id="81" name="Text 78"/>
          <p:cNvSpPr/>
          <p:nvPr/>
        </p:nvSpPr>
        <p:spPr>
          <a:xfrm>
            <a:off x="9015984" y="4690872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35–47</a:t>
            </a:r>
            <a:endParaRPr lang="en-US" sz="1250" dirty="0"/>
          </a:p>
        </p:txBody>
      </p:sp>
      <p:sp>
        <p:nvSpPr>
          <p:cNvPr id="82" name="Text 79"/>
          <p:cNvSpPr/>
          <p:nvPr/>
        </p:nvSpPr>
        <p:spPr>
          <a:xfrm>
            <a:off x="10588752" y="4690872"/>
            <a:ext cx="1005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200" dirty="0"/>
          </a:p>
        </p:txBody>
      </p:sp>
      <p:sp>
        <p:nvSpPr>
          <p:cNvPr id="83" name="Shape 80"/>
          <p:cNvSpPr/>
          <p:nvPr/>
        </p:nvSpPr>
        <p:spPr>
          <a:xfrm>
            <a:off x="502920" y="5431536"/>
            <a:ext cx="11183112" cy="658368"/>
          </a:xfrm>
          <a:prstGeom prst="roundRect">
            <a:avLst>
              <a:gd name="adj" fmla="val 1666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4" name="Text 81"/>
          <p:cNvSpPr/>
          <p:nvPr/>
        </p:nvSpPr>
        <p:spPr>
          <a:xfrm>
            <a:off x="868680" y="5431536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IMPRESSION   </a:t>
            </a:r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Mild normocytic anaemia (low Hb, RBC &amp; HCT) with mild eosinophilia.</a:t>
            </a:r>
            <a:endParaRPr lang="en-US" sz="1500" dirty="0"/>
          </a:p>
        </p:txBody>
      </p:sp>
      <p:sp>
        <p:nvSpPr>
          <p:cNvPr id="85" name="Text 82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  <p:sp>
        <p:nvSpPr>
          <p:cNvPr id="86" name="Text 83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ROUTINE CHEMISTRY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Renal, Electrolytes &amp; Viral Screen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485632" y="1024128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date: 06-Jul-2026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1783080"/>
            <a:ext cx="3611880" cy="3429000"/>
          </a:xfrm>
          <a:prstGeom prst="roundRect">
            <a:avLst>
              <a:gd name="adj" fmla="val 32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77240" y="203911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RENAL FUNCTION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58952" y="2496312"/>
            <a:ext cx="3099816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60120" y="2624328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Urea</a:t>
            </a:r>
            <a:endParaRPr lang="en-US" sz="135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4992" y="2642616"/>
            <a:ext cx="256032" cy="25603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960120" y="29260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mg/dL</a:t>
            </a:r>
            <a:endParaRPr lang="en-US" sz="2100" dirty="0"/>
          </a:p>
        </p:txBody>
      </p:sp>
      <p:sp>
        <p:nvSpPr>
          <p:cNvPr id="13" name="Text 9"/>
          <p:cNvSpPr/>
          <p:nvPr/>
        </p:nvSpPr>
        <p:spPr>
          <a:xfrm>
            <a:off x="960120" y="335584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16.6–48.6 mg/dL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758952" y="3794760"/>
            <a:ext cx="3099816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960120" y="3922776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Creatinine</a:t>
            </a:r>
            <a:endParaRPr lang="en-US" sz="135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4992" y="3941064"/>
            <a:ext cx="256032" cy="25603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60120" y="422452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0.8</a:t>
            </a:r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mg/dL</a:t>
            </a:r>
            <a:endParaRPr lang="en-US" sz="2100" dirty="0"/>
          </a:p>
        </p:txBody>
      </p:sp>
      <p:sp>
        <p:nvSpPr>
          <p:cNvPr id="18" name="Text 13"/>
          <p:cNvSpPr/>
          <p:nvPr/>
        </p:nvSpPr>
        <p:spPr>
          <a:xfrm>
            <a:off x="960120" y="465429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0.6–1.2 mg/dL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4288536" y="1783080"/>
            <a:ext cx="3611880" cy="3429000"/>
          </a:xfrm>
          <a:prstGeom prst="roundRect">
            <a:avLst>
              <a:gd name="adj" fmla="val 32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20" name="Text 15"/>
          <p:cNvSpPr/>
          <p:nvPr/>
        </p:nvSpPr>
        <p:spPr>
          <a:xfrm>
            <a:off x="4562856" y="203911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SERUM ELECTROLYTES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4544568" y="2496312"/>
            <a:ext cx="3099816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4745736" y="2624328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Sodium</a:t>
            </a:r>
            <a:endParaRPr lang="en-US" sz="1350" dirty="0"/>
          </a:p>
        </p:txBody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50608" y="2642616"/>
            <a:ext cx="256032" cy="256032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4745736" y="292608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141</a:t>
            </a:r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mmol/L</a:t>
            </a:r>
            <a:endParaRPr lang="en-US" sz="2100" dirty="0"/>
          </a:p>
        </p:txBody>
      </p:sp>
      <p:sp>
        <p:nvSpPr>
          <p:cNvPr id="25" name="Text 19"/>
          <p:cNvSpPr/>
          <p:nvPr/>
        </p:nvSpPr>
        <p:spPr>
          <a:xfrm>
            <a:off x="4745736" y="3355848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135–155 mmol/L</a:t>
            </a:r>
            <a:endParaRPr lang="en-US" sz="1150" dirty="0"/>
          </a:p>
        </p:txBody>
      </p:sp>
      <p:sp>
        <p:nvSpPr>
          <p:cNvPr id="26" name="Shape 20"/>
          <p:cNvSpPr/>
          <p:nvPr/>
        </p:nvSpPr>
        <p:spPr>
          <a:xfrm>
            <a:off x="4544568" y="3794760"/>
            <a:ext cx="3099816" cy="1152144"/>
          </a:xfrm>
          <a:prstGeom prst="roundRect">
            <a:avLst>
              <a:gd name="adj" fmla="val 6349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4745736" y="3922776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Potassium</a:t>
            </a:r>
            <a:endParaRPr lang="en-US" sz="1350" dirty="0"/>
          </a:p>
        </p:txBody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50608" y="3941064"/>
            <a:ext cx="256032" cy="256032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4745736" y="4224528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3.9</a:t>
            </a:r>
            <a:pPr algn="l" indent="0" marL="0">
              <a:buNone/>
            </a:pPr>
            <a:r>
              <a:rPr lang="en-US" sz="12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mmol/L</a:t>
            </a:r>
            <a:endParaRPr lang="en-US" sz="2100" dirty="0"/>
          </a:p>
        </p:txBody>
      </p:sp>
      <p:sp>
        <p:nvSpPr>
          <p:cNvPr id="30" name="Text 23"/>
          <p:cNvSpPr/>
          <p:nvPr/>
        </p:nvSpPr>
        <p:spPr>
          <a:xfrm>
            <a:off x="4745736" y="4654296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 3.5–5.5 mmol/L</a:t>
            </a:r>
            <a:endParaRPr lang="en-US" sz="1150" dirty="0"/>
          </a:p>
        </p:txBody>
      </p:sp>
      <p:sp>
        <p:nvSpPr>
          <p:cNvPr id="31" name="Shape 24"/>
          <p:cNvSpPr/>
          <p:nvPr/>
        </p:nvSpPr>
        <p:spPr>
          <a:xfrm>
            <a:off x="8074152" y="1783080"/>
            <a:ext cx="3611880" cy="3429000"/>
          </a:xfrm>
          <a:prstGeom prst="roundRect">
            <a:avLst>
              <a:gd name="adj" fmla="val 3200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2" name="Text 25"/>
          <p:cNvSpPr/>
          <p:nvPr/>
        </p:nvSpPr>
        <p:spPr>
          <a:xfrm>
            <a:off x="8348472" y="2039112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VIRAL SCREEN</a:t>
            </a:r>
            <a:endParaRPr lang="en-US" sz="1250" dirty="0"/>
          </a:p>
        </p:txBody>
      </p:sp>
      <p:sp>
        <p:nvSpPr>
          <p:cNvPr id="33" name="Shape 26"/>
          <p:cNvSpPr/>
          <p:nvPr/>
        </p:nvSpPr>
        <p:spPr>
          <a:xfrm>
            <a:off x="8330184" y="2532888"/>
            <a:ext cx="3099816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13064" y="2770632"/>
            <a:ext cx="274320" cy="274320"/>
          </a:xfrm>
          <a:prstGeom prst="rect">
            <a:avLst/>
          </a:prstGeom>
        </p:spPr>
      </p:pic>
      <p:sp>
        <p:nvSpPr>
          <p:cNvPr id="35" name="Text 27"/>
          <p:cNvSpPr/>
          <p:nvPr/>
        </p:nvSpPr>
        <p:spPr>
          <a:xfrm>
            <a:off x="8933688" y="2532888"/>
            <a:ext cx="1417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HBsAg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10113264" y="2724912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37" name="Text 29"/>
          <p:cNvSpPr/>
          <p:nvPr/>
        </p:nvSpPr>
        <p:spPr>
          <a:xfrm>
            <a:off x="10113264" y="2724912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endParaRPr lang="en-US" sz="1150" dirty="0"/>
          </a:p>
        </p:txBody>
      </p:sp>
      <p:sp>
        <p:nvSpPr>
          <p:cNvPr id="38" name="Shape 30"/>
          <p:cNvSpPr/>
          <p:nvPr/>
        </p:nvSpPr>
        <p:spPr>
          <a:xfrm>
            <a:off x="8330184" y="3429000"/>
            <a:ext cx="3099816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13064" y="3666744"/>
            <a:ext cx="274320" cy="274320"/>
          </a:xfrm>
          <a:prstGeom prst="rect">
            <a:avLst/>
          </a:prstGeom>
        </p:spPr>
      </p:pic>
      <p:sp>
        <p:nvSpPr>
          <p:cNvPr id="40" name="Text 31"/>
          <p:cNvSpPr/>
          <p:nvPr/>
        </p:nvSpPr>
        <p:spPr>
          <a:xfrm>
            <a:off x="8933688" y="3429000"/>
            <a:ext cx="1417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HIV Ag/Ab</a:t>
            </a:r>
            <a:endParaRPr lang="en-US" sz="1400" dirty="0"/>
          </a:p>
        </p:txBody>
      </p:sp>
      <p:sp>
        <p:nvSpPr>
          <p:cNvPr id="41" name="Shape 32"/>
          <p:cNvSpPr/>
          <p:nvPr/>
        </p:nvSpPr>
        <p:spPr>
          <a:xfrm>
            <a:off x="10113264" y="3621024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42" name="Text 33"/>
          <p:cNvSpPr/>
          <p:nvPr/>
        </p:nvSpPr>
        <p:spPr>
          <a:xfrm>
            <a:off x="10113264" y="3621024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endParaRPr lang="en-US" sz="1150" dirty="0"/>
          </a:p>
        </p:txBody>
      </p:sp>
      <p:sp>
        <p:nvSpPr>
          <p:cNvPr id="43" name="Shape 34"/>
          <p:cNvSpPr/>
          <p:nvPr/>
        </p:nvSpPr>
        <p:spPr>
          <a:xfrm>
            <a:off x="8330184" y="4325112"/>
            <a:ext cx="3099816" cy="749808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4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513064" y="4562856"/>
            <a:ext cx="274320" cy="274320"/>
          </a:xfrm>
          <a:prstGeom prst="rect">
            <a:avLst/>
          </a:prstGeom>
        </p:spPr>
      </p:pic>
      <p:sp>
        <p:nvSpPr>
          <p:cNvPr id="45" name="Text 35"/>
          <p:cNvSpPr/>
          <p:nvPr/>
        </p:nvSpPr>
        <p:spPr>
          <a:xfrm>
            <a:off x="8933688" y="4325112"/>
            <a:ext cx="1417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HCV (ICT)</a:t>
            </a:r>
            <a:endParaRPr lang="en-US" sz="1400" dirty="0"/>
          </a:p>
        </p:txBody>
      </p:sp>
      <p:sp>
        <p:nvSpPr>
          <p:cNvPr id="46" name="Shape 36"/>
          <p:cNvSpPr/>
          <p:nvPr/>
        </p:nvSpPr>
        <p:spPr>
          <a:xfrm>
            <a:off x="10113264" y="4517136"/>
            <a:ext cx="1097280" cy="365760"/>
          </a:xfrm>
          <a:prstGeom prst="roundRect">
            <a:avLst>
              <a:gd name="adj" fmla="val 50000"/>
            </a:avLst>
          </a:prstGeom>
          <a:solidFill>
            <a:srgbClr val="2E7D32"/>
          </a:solidFill>
          <a:ln/>
        </p:spPr>
      </p:sp>
      <p:sp>
        <p:nvSpPr>
          <p:cNvPr id="47" name="Text 37"/>
          <p:cNvSpPr/>
          <p:nvPr/>
        </p:nvSpPr>
        <p:spPr>
          <a:xfrm>
            <a:off x="10113264" y="4517136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</a:t>
            </a:r>
            <a:endParaRPr lang="en-US" sz="1150" dirty="0"/>
          </a:p>
        </p:txBody>
      </p:sp>
      <p:sp>
        <p:nvSpPr>
          <p:cNvPr id="48" name="Shape 38"/>
          <p:cNvSpPr/>
          <p:nvPr/>
        </p:nvSpPr>
        <p:spPr>
          <a:xfrm>
            <a:off x="502920" y="5431536"/>
            <a:ext cx="11183112" cy="658368"/>
          </a:xfrm>
          <a:prstGeom prst="roundRect">
            <a:avLst>
              <a:gd name="adj" fmla="val 16667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49" name="Text 39"/>
          <p:cNvSpPr/>
          <p:nvPr/>
        </p:nvSpPr>
        <p:spPr>
          <a:xfrm>
            <a:off x="868680" y="5431536"/>
            <a:ext cx="10515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IMPRESSION   </a:t>
            </a:r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renal function and electrolytes; viral screen negative.</a:t>
            </a:r>
            <a:endParaRPr lang="en-US" sz="1500" dirty="0"/>
          </a:p>
        </p:txBody>
      </p:sp>
      <p:sp>
        <p:nvSpPr>
          <p:cNvPr id="50" name="Text 4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  <p:sp>
        <p:nvSpPr>
          <p:cNvPr id="51" name="Text 41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 · ECHOCARDIOGRAPHY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Echocardiography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028432" y="1024128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20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27-Jan-2023 · Dr Ussama Munir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502920" y="1783080"/>
            <a:ext cx="3383280" cy="1783080"/>
          </a:xfrm>
          <a:prstGeom prst="roundRect">
            <a:avLst>
              <a:gd name="adj" fmla="val 6154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77240" y="201168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EJECTION FRACTION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77240" y="2304288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LVEF 65%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777240" y="309067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(Normal 57–73%)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02920" y="3703320"/>
            <a:ext cx="3383280" cy="1645920"/>
          </a:xfrm>
          <a:prstGeom prst="roundRect">
            <a:avLst>
              <a:gd name="adj" fmla="val 666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777240" y="393192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RELEVANT TO AF</a:t>
            </a:r>
            <a:endParaRPr lang="en-US" sz="1150" dirty="0"/>
          </a:p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315968"/>
            <a:ext cx="384048" cy="38404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1298448" y="4224528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3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clot in LA / LV</a:t>
            </a:r>
            <a:endParaRPr lang="en-US" sz="2300" dirty="0"/>
          </a:p>
        </p:txBody>
      </p:sp>
      <p:sp>
        <p:nvSpPr>
          <p:cNvPr id="15" name="Shape 11"/>
          <p:cNvSpPr/>
          <p:nvPr/>
        </p:nvSpPr>
        <p:spPr>
          <a:xfrm>
            <a:off x="4114800" y="1783080"/>
            <a:ext cx="370332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16" name="Text 12"/>
          <p:cNvSpPr/>
          <p:nvPr/>
        </p:nvSpPr>
        <p:spPr>
          <a:xfrm>
            <a:off x="4343400" y="1956816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MEASUREMENTS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4224528" y="2304288"/>
            <a:ext cx="3483864" cy="420624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18" name="Text 14"/>
          <p:cNvSpPr/>
          <p:nvPr/>
        </p:nvSpPr>
        <p:spPr>
          <a:xfrm>
            <a:off x="4343400" y="2304288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LVEF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5440680" y="230428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</a:t>
            </a:r>
            <a:endParaRPr lang="en-US" sz="1350" dirty="0"/>
          </a:p>
        </p:txBody>
      </p:sp>
      <p:sp>
        <p:nvSpPr>
          <p:cNvPr id="20" name="Text 16"/>
          <p:cNvSpPr/>
          <p:nvPr/>
        </p:nvSpPr>
        <p:spPr>
          <a:xfrm>
            <a:off x="6172200" y="2304288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57–73</a:t>
            </a:r>
            <a:endParaRPr lang="en-US" sz="1150" dirty="0"/>
          </a:p>
        </p:txBody>
      </p:sp>
      <p:sp>
        <p:nvSpPr>
          <p:cNvPr id="21" name="Text 17"/>
          <p:cNvSpPr/>
          <p:nvPr/>
        </p:nvSpPr>
        <p:spPr>
          <a:xfrm>
            <a:off x="7059168" y="230428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4343400" y="2724912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LVIDD</a:t>
            </a:r>
            <a:endParaRPr lang="en-US" sz="1250" dirty="0"/>
          </a:p>
        </p:txBody>
      </p:sp>
      <p:sp>
        <p:nvSpPr>
          <p:cNvPr id="23" name="Text 19"/>
          <p:cNvSpPr/>
          <p:nvPr/>
        </p:nvSpPr>
        <p:spPr>
          <a:xfrm>
            <a:off x="5440680" y="2724912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350" dirty="0"/>
          </a:p>
        </p:txBody>
      </p:sp>
      <p:sp>
        <p:nvSpPr>
          <p:cNvPr id="24" name="Text 20"/>
          <p:cNvSpPr/>
          <p:nvPr/>
        </p:nvSpPr>
        <p:spPr>
          <a:xfrm>
            <a:off x="6172200" y="2724912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35–56</a:t>
            </a:r>
            <a:endParaRPr lang="en-US" sz="1150" dirty="0"/>
          </a:p>
        </p:txBody>
      </p:sp>
      <p:sp>
        <p:nvSpPr>
          <p:cNvPr id="25" name="Text 21"/>
          <p:cNvSpPr/>
          <p:nvPr/>
        </p:nvSpPr>
        <p:spPr>
          <a:xfrm>
            <a:off x="7059168" y="2724912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</a:t>
            </a:r>
            <a:endParaRPr lang="en-US" sz="1150" dirty="0"/>
          </a:p>
        </p:txBody>
      </p:sp>
      <p:sp>
        <p:nvSpPr>
          <p:cNvPr id="26" name="Shape 22"/>
          <p:cNvSpPr/>
          <p:nvPr/>
        </p:nvSpPr>
        <p:spPr>
          <a:xfrm>
            <a:off x="4224528" y="3145536"/>
            <a:ext cx="3483864" cy="420624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27" name="Text 23"/>
          <p:cNvSpPr/>
          <p:nvPr/>
        </p:nvSpPr>
        <p:spPr>
          <a:xfrm>
            <a:off x="4343400" y="3145536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IVS</a:t>
            </a:r>
            <a:endParaRPr lang="en-US" sz="1250" dirty="0"/>
          </a:p>
        </p:txBody>
      </p:sp>
      <p:sp>
        <p:nvSpPr>
          <p:cNvPr id="28" name="Text 24"/>
          <p:cNvSpPr/>
          <p:nvPr/>
        </p:nvSpPr>
        <p:spPr>
          <a:xfrm>
            <a:off x="5440680" y="3145536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50" dirty="0"/>
          </a:p>
        </p:txBody>
      </p:sp>
      <p:sp>
        <p:nvSpPr>
          <p:cNvPr id="29" name="Text 25"/>
          <p:cNvSpPr/>
          <p:nvPr/>
        </p:nvSpPr>
        <p:spPr>
          <a:xfrm>
            <a:off x="6172200" y="3145536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6–11</a:t>
            </a:r>
            <a:endParaRPr lang="en-US" sz="1150" dirty="0"/>
          </a:p>
        </p:txBody>
      </p:sp>
      <p:sp>
        <p:nvSpPr>
          <p:cNvPr id="30" name="Text 26"/>
          <p:cNvSpPr/>
          <p:nvPr/>
        </p:nvSpPr>
        <p:spPr>
          <a:xfrm>
            <a:off x="7059168" y="3145536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</a:t>
            </a:r>
            <a:endParaRPr lang="en-US" sz="1150" dirty="0"/>
          </a:p>
        </p:txBody>
      </p:sp>
      <p:sp>
        <p:nvSpPr>
          <p:cNvPr id="31" name="Text 27"/>
          <p:cNvSpPr/>
          <p:nvPr/>
        </p:nvSpPr>
        <p:spPr>
          <a:xfrm>
            <a:off x="4343400" y="3566160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LVPW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5440680" y="35661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50" dirty="0"/>
          </a:p>
        </p:txBody>
      </p:sp>
      <p:sp>
        <p:nvSpPr>
          <p:cNvPr id="33" name="Text 29"/>
          <p:cNvSpPr/>
          <p:nvPr/>
        </p:nvSpPr>
        <p:spPr>
          <a:xfrm>
            <a:off x="6172200" y="3566160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6–11</a:t>
            </a:r>
            <a:endParaRPr lang="en-US" sz="1150" dirty="0"/>
          </a:p>
        </p:txBody>
      </p:sp>
      <p:sp>
        <p:nvSpPr>
          <p:cNvPr id="34" name="Text 30"/>
          <p:cNvSpPr/>
          <p:nvPr/>
        </p:nvSpPr>
        <p:spPr>
          <a:xfrm>
            <a:off x="7059168" y="3566160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</a:t>
            </a:r>
            <a:endParaRPr lang="en-US" sz="1150" dirty="0"/>
          </a:p>
        </p:txBody>
      </p:sp>
      <p:sp>
        <p:nvSpPr>
          <p:cNvPr id="35" name="Shape 31"/>
          <p:cNvSpPr/>
          <p:nvPr/>
        </p:nvSpPr>
        <p:spPr>
          <a:xfrm>
            <a:off x="4224528" y="3986784"/>
            <a:ext cx="3483864" cy="420624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36" name="Text 32"/>
          <p:cNvSpPr/>
          <p:nvPr/>
        </p:nvSpPr>
        <p:spPr>
          <a:xfrm>
            <a:off x="4343400" y="3986784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LAD</a:t>
            </a:r>
            <a:endParaRPr lang="en-US" sz="1250" dirty="0"/>
          </a:p>
        </p:txBody>
      </p:sp>
      <p:sp>
        <p:nvSpPr>
          <p:cNvPr id="37" name="Text 33"/>
          <p:cNvSpPr/>
          <p:nvPr/>
        </p:nvSpPr>
        <p:spPr>
          <a:xfrm>
            <a:off x="5440680" y="3986784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350" dirty="0"/>
          </a:p>
        </p:txBody>
      </p:sp>
      <p:sp>
        <p:nvSpPr>
          <p:cNvPr id="38" name="Text 34"/>
          <p:cNvSpPr/>
          <p:nvPr/>
        </p:nvSpPr>
        <p:spPr>
          <a:xfrm>
            <a:off x="6172200" y="3986784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19–40</a:t>
            </a:r>
            <a:endParaRPr lang="en-US" sz="1150" dirty="0"/>
          </a:p>
        </p:txBody>
      </p:sp>
      <p:sp>
        <p:nvSpPr>
          <p:cNvPr id="39" name="Text 35"/>
          <p:cNvSpPr/>
          <p:nvPr/>
        </p:nvSpPr>
        <p:spPr>
          <a:xfrm>
            <a:off x="7059168" y="3986784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</a:t>
            </a:r>
            <a:endParaRPr lang="en-US" sz="1150" dirty="0"/>
          </a:p>
        </p:txBody>
      </p:sp>
      <p:sp>
        <p:nvSpPr>
          <p:cNvPr id="40" name="Text 36"/>
          <p:cNvSpPr/>
          <p:nvPr/>
        </p:nvSpPr>
        <p:spPr>
          <a:xfrm>
            <a:off x="4343400" y="4407408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E/A</a:t>
            </a:r>
            <a:endParaRPr lang="en-US" sz="1250" dirty="0"/>
          </a:p>
        </p:txBody>
      </p:sp>
      <p:sp>
        <p:nvSpPr>
          <p:cNvPr id="41" name="Text 37"/>
          <p:cNvSpPr/>
          <p:nvPr/>
        </p:nvSpPr>
        <p:spPr>
          <a:xfrm>
            <a:off x="5440680" y="440740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</a:t>
            </a:r>
            <a:endParaRPr lang="en-US" sz="1350" dirty="0"/>
          </a:p>
        </p:txBody>
      </p:sp>
      <p:sp>
        <p:nvSpPr>
          <p:cNvPr id="42" name="Text 38"/>
          <p:cNvSpPr/>
          <p:nvPr/>
        </p:nvSpPr>
        <p:spPr>
          <a:xfrm>
            <a:off x="6172200" y="4407408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50" dirty="0"/>
          </a:p>
        </p:txBody>
      </p:sp>
      <p:sp>
        <p:nvSpPr>
          <p:cNvPr id="43" name="Text 39"/>
          <p:cNvSpPr/>
          <p:nvPr/>
        </p:nvSpPr>
        <p:spPr>
          <a:xfrm>
            <a:off x="7059168" y="4407408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50" dirty="0"/>
          </a:p>
        </p:txBody>
      </p:sp>
      <p:sp>
        <p:nvSpPr>
          <p:cNvPr id="44" name="Shape 40"/>
          <p:cNvSpPr/>
          <p:nvPr/>
        </p:nvSpPr>
        <p:spPr>
          <a:xfrm>
            <a:off x="4224528" y="4828032"/>
            <a:ext cx="3483864" cy="420624"/>
          </a:xfrm>
          <a:prstGeom prst="rect">
            <a:avLst/>
          </a:prstGeom>
          <a:solidFill>
            <a:srgbClr val="FFF0F3"/>
          </a:solidFill>
          <a:ln/>
        </p:spPr>
      </p:sp>
      <p:sp>
        <p:nvSpPr>
          <p:cNvPr id="45" name="Text 41"/>
          <p:cNvSpPr/>
          <p:nvPr/>
        </p:nvSpPr>
        <p:spPr>
          <a:xfrm>
            <a:off x="4343400" y="4828032"/>
            <a:ext cx="1051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PASP</a:t>
            </a:r>
            <a:endParaRPr lang="en-US" sz="1250" dirty="0"/>
          </a:p>
        </p:txBody>
      </p:sp>
      <p:sp>
        <p:nvSpPr>
          <p:cNvPr id="46" name="Text 42"/>
          <p:cNvSpPr/>
          <p:nvPr/>
        </p:nvSpPr>
        <p:spPr>
          <a:xfrm>
            <a:off x="5440680" y="4828032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350" dirty="0"/>
          </a:p>
        </p:txBody>
      </p:sp>
      <p:sp>
        <p:nvSpPr>
          <p:cNvPr id="47" name="Text 43"/>
          <p:cNvSpPr/>
          <p:nvPr/>
        </p:nvSpPr>
        <p:spPr>
          <a:xfrm>
            <a:off x="6172200" y="4828032"/>
            <a:ext cx="868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50" dirty="0"/>
          </a:p>
        </p:txBody>
      </p:sp>
      <p:sp>
        <p:nvSpPr>
          <p:cNvPr id="48" name="Text 44"/>
          <p:cNvSpPr/>
          <p:nvPr/>
        </p:nvSpPr>
        <p:spPr>
          <a:xfrm>
            <a:off x="7059168" y="4828032"/>
            <a:ext cx="685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mmHg</a:t>
            </a:r>
            <a:endParaRPr lang="en-US" sz="1150" dirty="0"/>
          </a:p>
        </p:txBody>
      </p:sp>
      <p:sp>
        <p:nvSpPr>
          <p:cNvPr id="49" name="Shape 45"/>
          <p:cNvSpPr/>
          <p:nvPr/>
        </p:nvSpPr>
        <p:spPr>
          <a:xfrm>
            <a:off x="7955280" y="1783080"/>
            <a:ext cx="3730752" cy="3566160"/>
          </a:xfrm>
          <a:prstGeom prst="roundRect">
            <a:avLst>
              <a:gd name="adj" fmla="val 3077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50" name="Text 46"/>
          <p:cNvSpPr/>
          <p:nvPr/>
        </p:nvSpPr>
        <p:spPr>
          <a:xfrm>
            <a:off x="8211312" y="1956816"/>
            <a:ext cx="3218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endParaRPr lang="en-US" sz="1250" dirty="0"/>
          </a:p>
        </p:txBody>
      </p:sp>
      <p:pic>
        <p:nvPicPr>
          <p:cNvPr id="5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2359152"/>
            <a:ext cx="219456" cy="219456"/>
          </a:xfrm>
          <a:prstGeom prst="rect">
            <a:avLst/>
          </a:prstGeom>
        </p:spPr>
      </p:pic>
      <p:sp>
        <p:nvSpPr>
          <p:cNvPr id="52" name="Text 47"/>
          <p:cNvSpPr/>
          <p:nvPr/>
        </p:nvSpPr>
        <p:spPr>
          <a:xfrm>
            <a:off x="8577072" y="233172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LV size &amp; good systolic function</a:t>
            </a:r>
            <a:endParaRPr lang="en-US" sz="1250" dirty="0"/>
          </a:p>
        </p:txBody>
      </p:sp>
      <p:pic>
        <p:nvPicPr>
          <p:cNvPr id="5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0" y="2953512"/>
            <a:ext cx="219456" cy="219456"/>
          </a:xfrm>
          <a:prstGeom prst="rect">
            <a:avLst/>
          </a:prstGeom>
        </p:spPr>
      </p:pic>
      <p:sp>
        <p:nvSpPr>
          <p:cNvPr id="54" name="Text 48"/>
          <p:cNvSpPr/>
          <p:nvPr/>
        </p:nvSpPr>
        <p:spPr>
          <a:xfrm>
            <a:off x="8577072" y="292608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regional wall-motion abnormality</a:t>
            </a:r>
            <a:endParaRPr lang="en-US" sz="1250" dirty="0"/>
          </a:p>
        </p:txBody>
      </p:sp>
      <p:pic>
        <p:nvPicPr>
          <p:cNvPr id="5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0" y="3547872"/>
            <a:ext cx="219456" cy="219456"/>
          </a:xfrm>
          <a:prstGeom prst="rect">
            <a:avLst/>
          </a:prstGeom>
        </p:spPr>
      </p:pic>
      <p:sp>
        <p:nvSpPr>
          <p:cNvPr id="56" name="Text 49"/>
          <p:cNvSpPr/>
          <p:nvPr/>
        </p:nvSpPr>
        <p:spPr>
          <a:xfrm>
            <a:off x="8577072" y="352044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clot in LA or LV</a:t>
            </a:r>
            <a:endParaRPr lang="en-US" sz="1250" dirty="0"/>
          </a:p>
        </p:txBody>
      </p:sp>
      <p:pic>
        <p:nvPicPr>
          <p:cNvPr id="5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0" y="4142232"/>
            <a:ext cx="219456" cy="219456"/>
          </a:xfrm>
          <a:prstGeom prst="rect">
            <a:avLst/>
          </a:prstGeom>
        </p:spPr>
      </p:pic>
      <p:sp>
        <p:nvSpPr>
          <p:cNvPr id="58" name="Text 50"/>
          <p:cNvSpPr/>
          <p:nvPr/>
        </p:nvSpPr>
        <p:spPr>
          <a:xfrm>
            <a:off x="8577072" y="411480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chambers, valves, IAS &amp; IVS</a:t>
            </a:r>
            <a:endParaRPr lang="en-US" sz="1250" dirty="0"/>
          </a:p>
        </p:txBody>
      </p:sp>
      <p:pic>
        <p:nvPicPr>
          <p:cNvPr id="5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0" y="4736592"/>
            <a:ext cx="219456" cy="219456"/>
          </a:xfrm>
          <a:prstGeom prst="rect">
            <a:avLst/>
          </a:prstGeom>
        </p:spPr>
      </p:pic>
      <p:sp>
        <p:nvSpPr>
          <p:cNvPr id="60" name="Text 51"/>
          <p:cNvSpPr/>
          <p:nvPr/>
        </p:nvSpPr>
        <p:spPr>
          <a:xfrm>
            <a:off x="8577072" y="4709160"/>
            <a:ext cx="2862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2B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pericardium</a:t>
            </a:r>
            <a:endParaRPr lang="en-US" sz="1250" dirty="0"/>
          </a:p>
        </p:txBody>
      </p:sp>
      <p:sp>
        <p:nvSpPr>
          <p:cNvPr id="61" name="Shape 52"/>
          <p:cNvSpPr/>
          <p:nvPr/>
        </p:nvSpPr>
        <p:spPr>
          <a:xfrm>
            <a:off x="502920" y="5559552"/>
            <a:ext cx="11183112" cy="566928"/>
          </a:xfrm>
          <a:prstGeom prst="roundRect">
            <a:avLst>
              <a:gd name="adj" fmla="val 50000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62" name="Text 53"/>
          <p:cNvSpPr/>
          <p:nvPr/>
        </p:nvSpPr>
        <p:spPr>
          <a:xfrm>
            <a:off x="502920" y="5559552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  </a:t>
            </a:r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biventricular size and systolic function.</a:t>
            </a:r>
            <a:endParaRPr lang="en-US" sz="1500" dirty="0"/>
          </a:p>
        </p:txBody>
      </p:sp>
      <p:sp>
        <p:nvSpPr>
          <p:cNvPr id="63" name="Text 54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100" dirty="0"/>
          </a:p>
        </p:txBody>
      </p:sp>
      <p:sp>
        <p:nvSpPr>
          <p:cNvPr id="64" name="Text 55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868680" cy="868680"/>
          </a:xfrm>
          <a:prstGeom prst="ellipse">
            <a:avLst/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49224"/>
            <a:ext cx="484632" cy="48463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72768" y="50292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DISCUSSION</a:t>
            </a:r>
            <a:endParaRPr lang="en-US" sz="1250" dirty="0"/>
          </a:p>
        </p:txBody>
      </p:sp>
      <p:sp>
        <p:nvSpPr>
          <p:cNvPr id="5" name="Text 2"/>
          <p:cNvSpPr/>
          <p:nvPr/>
        </p:nvSpPr>
        <p:spPr>
          <a:xfrm>
            <a:off x="1554480" y="749808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Differential &amp; Final Diagnosis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02920" y="1783080"/>
            <a:ext cx="6355080" cy="4206240"/>
          </a:xfrm>
          <a:prstGeom prst="roundRect">
            <a:avLst>
              <a:gd name="adj" fmla="val 2609"/>
            </a:avLst>
          </a:prstGeom>
          <a:solidFill>
            <a:srgbClr val="FFF0F3"/>
          </a:solidFill>
          <a:ln w="12700">
            <a:solidFill>
              <a:srgbClr val="FBD8DF"/>
            </a:solidFill>
            <a:prstDash val="solid"/>
          </a:ln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" y="2029968"/>
            <a:ext cx="56692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150" kern="0" dirty="0">
                <a:solidFill>
                  <a:srgbClr val="A41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DIFFERENTIALS CONSIDERED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822960" y="2304288"/>
            <a:ext cx="56692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Causes of an irregular tachycardia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868680" y="2779776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832" y="2852928"/>
            <a:ext cx="237744" cy="23774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417320" y="2706624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flutter</a:t>
            </a:r>
            <a:endParaRPr lang="en-US" sz="1550" dirty="0"/>
          </a:p>
        </p:txBody>
      </p:sp>
      <p:sp>
        <p:nvSpPr>
          <p:cNvPr id="12" name="Text 8"/>
          <p:cNvSpPr/>
          <p:nvPr/>
        </p:nvSpPr>
        <p:spPr>
          <a:xfrm>
            <a:off x="1417320" y="2999232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sawtooth flutter waves; R–R irregular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868680" y="3401568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832" y="3474720"/>
            <a:ext cx="237744" cy="237744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417320" y="3328416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Multifocal atrial tachycardia</a:t>
            </a:r>
            <a:endParaRPr lang="en-US" sz="1550" dirty="0"/>
          </a:p>
        </p:txBody>
      </p:sp>
      <p:sp>
        <p:nvSpPr>
          <p:cNvPr id="16" name="Text 11"/>
          <p:cNvSpPr/>
          <p:nvPr/>
        </p:nvSpPr>
        <p:spPr>
          <a:xfrm>
            <a:off x="1417320" y="3621024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≥ 3 differing P-wave morphologies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868680" y="4023360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" y="4096512"/>
            <a:ext cx="237744" cy="237744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417320" y="3950208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Frequent atrial ectopics</a:t>
            </a:r>
            <a:endParaRPr lang="en-US" sz="1550" dirty="0"/>
          </a:p>
        </p:txBody>
      </p:sp>
      <p:sp>
        <p:nvSpPr>
          <p:cNvPr id="20" name="Text 14"/>
          <p:cNvSpPr/>
          <p:nvPr/>
        </p:nvSpPr>
        <p:spPr>
          <a:xfrm>
            <a:off x="1417320" y="4242816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discrete P waves before each QRS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868680" y="4645152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1832" y="4718304"/>
            <a:ext cx="237744" cy="23774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417320" y="457200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AVNRT / AVRT (SVT)</a:t>
            </a:r>
            <a:endParaRPr lang="en-US" sz="1550" dirty="0"/>
          </a:p>
        </p:txBody>
      </p:sp>
      <p:sp>
        <p:nvSpPr>
          <p:cNvPr id="24" name="Text 17"/>
          <p:cNvSpPr/>
          <p:nvPr/>
        </p:nvSpPr>
        <p:spPr>
          <a:xfrm>
            <a:off x="1417320" y="4864608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Regular in SVT — here rhythm is irregular</a:t>
            </a:r>
            <a:endParaRPr lang="en-US" sz="1200" dirty="0"/>
          </a:p>
        </p:txBody>
      </p:sp>
      <p:sp>
        <p:nvSpPr>
          <p:cNvPr id="25" name="Shape 18"/>
          <p:cNvSpPr/>
          <p:nvPr/>
        </p:nvSpPr>
        <p:spPr>
          <a:xfrm>
            <a:off x="868680" y="5266944"/>
            <a:ext cx="384048" cy="38404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BD8DF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1832" y="5340096"/>
            <a:ext cx="237744" cy="237744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1417320" y="5193792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50" b="1" dirty="0">
                <a:solidFill>
                  <a:srgbClr val="2B2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Sinus tachycardia + ectopics</a:t>
            </a:r>
            <a:endParaRPr lang="en-US" sz="1550" dirty="0"/>
          </a:p>
        </p:txBody>
      </p:sp>
      <p:sp>
        <p:nvSpPr>
          <p:cNvPr id="28" name="Text 20"/>
          <p:cNvSpPr/>
          <p:nvPr/>
        </p:nvSpPr>
        <p:spPr>
          <a:xfrm>
            <a:off x="1417320" y="5486400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waves absent; irregularly irregular</a:t>
            </a:r>
            <a:endParaRPr lang="en-US" sz="1200" dirty="0"/>
          </a:p>
        </p:txBody>
      </p:sp>
      <p:sp>
        <p:nvSpPr>
          <p:cNvPr id="29" name="Shape 21"/>
          <p:cNvSpPr/>
          <p:nvPr/>
        </p:nvSpPr>
        <p:spPr>
          <a:xfrm>
            <a:off x="6995160" y="1783080"/>
            <a:ext cx="4690872" cy="4206240"/>
          </a:xfrm>
          <a:prstGeom prst="roundRect">
            <a:avLst>
              <a:gd name="adj" fmla="val 2609"/>
            </a:avLst>
          </a:prstGeom>
          <a:solidFill>
            <a:srgbClr val="590D22"/>
          </a:solidFill>
          <a:ln/>
          <a:effectLst>
            <a:outerShdw sx="100000" sy="100000" kx="0" ky="0" algn="bl" rotWithShape="0" blurRad="127000" dist="50800" dir="5400000">
              <a:srgbClr val="C9A3AC">
                <a:alpha val="45000"/>
              </a:srgbClr>
            </a:outerShdw>
          </a:effectLst>
        </p:spPr>
      </p:sp>
      <p:sp>
        <p:nvSpPr>
          <p:cNvPr id="30" name="Text 22"/>
          <p:cNvSpPr/>
          <p:nvPr/>
        </p:nvSpPr>
        <p:spPr>
          <a:xfrm>
            <a:off x="7296912" y="204825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50" b="1" spc="20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DIAGNOSIS</a:t>
            </a:r>
            <a:endParaRPr lang="en-US" sz="1250" dirty="0"/>
          </a:p>
        </p:txBody>
      </p:sp>
      <p:sp>
        <p:nvSpPr>
          <p:cNvPr id="31" name="Text 23"/>
          <p:cNvSpPr/>
          <p:nvPr/>
        </p:nvSpPr>
        <p:spPr>
          <a:xfrm>
            <a:off x="7296912" y="2377440"/>
            <a:ext cx="41605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Atrial Fibrillation with Rapid Ventricular Response</a:t>
            </a:r>
            <a:endParaRPr lang="en-US" sz="2400" dirty="0"/>
          </a:p>
        </p:txBody>
      </p:sp>
      <p:sp>
        <p:nvSpPr>
          <p:cNvPr id="32" name="Shape 24"/>
          <p:cNvSpPr/>
          <p:nvPr/>
        </p:nvSpPr>
        <p:spPr>
          <a:xfrm>
            <a:off x="7296912" y="3858768"/>
            <a:ext cx="4114800" cy="0"/>
          </a:xfrm>
          <a:prstGeom prst="line">
            <a:avLst/>
          </a:prstGeom>
          <a:noFill/>
          <a:ln w="12700">
            <a:solidFill>
              <a:srgbClr val="7A2233"/>
            </a:solidFill>
            <a:prstDash val="solid"/>
          </a:ln>
        </p:spPr>
      </p:sp>
      <p:pic>
        <p:nvPicPr>
          <p:cNvPr id="3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96912" y="4050792"/>
            <a:ext cx="274320" cy="274320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7680960" y="4041648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 on 12-lead ECG — 146 bpm, no P waves</a:t>
            </a:r>
            <a:endParaRPr lang="en-US" sz="1200" dirty="0"/>
          </a:p>
        </p:txBody>
      </p:sp>
      <p:pic>
        <p:nvPicPr>
          <p:cNvPr id="3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96912" y="4535424"/>
            <a:ext cx="274320" cy="274320"/>
          </a:xfrm>
          <a:prstGeom prst="rect">
            <a:avLst/>
          </a:prstGeom>
        </p:spPr>
      </p:pic>
      <p:sp>
        <p:nvSpPr>
          <p:cNvPr id="36" name="Text 26"/>
          <p:cNvSpPr/>
          <p:nvPr/>
        </p:nvSpPr>
        <p:spPr>
          <a:xfrm>
            <a:off x="7680960" y="4526280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Structurally normal heart — LVEF 65%, no LA/LV clot</a:t>
            </a:r>
            <a:endParaRPr lang="en-US" sz="1200" dirty="0"/>
          </a:p>
        </p:txBody>
      </p:sp>
      <p:pic>
        <p:nvPicPr>
          <p:cNvPr id="37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96912" y="5020056"/>
            <a:ext cx="274320" cy="274320"/>
          </a:xfrm>
          <a:prstGeom prst="rect">
            <a:avLst/>
          </a:prstGeom>
        </p:spPr>
      </p:pic>
      <p:sp>
        <p:nvSpPr>
          <p:cNvPr id="38" name="Text 27"/>
          <p:cNvSpPr/>
          <p:nvPr/>
        </p:nvSpPr>
        <p:spPr>
          <a:xfrm>
            <a:off x="7680960" y="5010912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Background hypertension</a:t>
            </a:r>
            <a:endParaRPr lang="en-US" sz="1200" dirty="0"/>
          </a:p>
        </p:txBody>
      </p:sp>
      <p:pic>
        <p:nvPicPr>
          <p:cNvPr id="39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296912" y="5504688"/>
            <a:ext cx="274320" cy="274320"/>
          </a:xfrm>
          <a:prstGeom prst="rect">
            <a:avLst/>
          </a:prstGeom>
        </p:spPr>
      </p:pic>
      <p:sp>
        <p:nvSpPr>
          <p:cNvPr id="40" name="Text 28"/>
          <p:cNvSpPr/>
          <p:nvPr/>
        </p:nvSpPr>
        <p:spPr>
          <a:xfrm>
            <a:off x="7680960" y="5495544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2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Mild normocytic anaemia (incidental)</a:t>
            </a:r>
            <a:endParaRPr lang="en-US" sz="1200" dirty="0"/>
          </a:p>
        </p:txBody>
      </p:sp>
      <p:sp>
        <p:nvSpPr>
          <p:cNvPr id="41" name="Text 29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100" dirty="0"/>
          </a:p>
        </p:txBody>
      </p:sp>
      <p:sp>
        <p:nvSpPr>
          <p:cNvPr id="42" name="Text 30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6B6B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590D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0A17">
              <a:alpha val="65000"/>
            </a:srgbClr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>
            <a:alphaModFix amt="10000"/>
          </a:blip>
          <a:stretch>
            <a:fillRect/>
          </a:stretch>
        </p:blipFill>
        <p:spPr>
          <a:xfrm>
            <a:off x="7863840" y="3108960"/>
            <a:ext cx="4754880" cy="475488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85800" y="777240"/>
            <a:ext cx="960120" cy="960120"/>
          </a:xfrm>
          <a:prstGeom prst="ellipse">
            <a:avLst/>
          </a:prstGeom>
          <a:solidFill>
            <a:srgbClr val="A4133C"/>
          </a:solidFill>
          <a:ln/>
        </p:spPr>
      </p:sp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" y="987552"/>
            <a:ext cx="548640" cy="54864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828800" y="9601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spc="250" kern="0" dirty="0">
                <a:solidFill>
                  <a:srgbClr val="FF4D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COURSE &amp; OUTCOME</a:t>
            </a:r>
            <a:endParaRPr lang="en-US" sz="1700" dirty="0"/>
          </a:p>
        </p:txBody>
      </p:sp>
      <p:sp>
        <p:nvSpPr>
          <p:cNvPr id="7" name="Text 3"/>
          <p:cNvSpPr/>
          <p:nvPr/>
        </p:nvSpPr>
        <p:spPr>
          <a:xfrm>
            <a:off x="640080" y="196596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Clinically Improved</a:t>
            </a:r>
            <a:endParaRPr lang="en-US" sz="5600" dirty="0"/>
          </a:p>
        </p:txBody>
      </p:sp>
      <p:sp>
        <p:nvSpPr>
          <p:cNvPr id="8" name="Shape 4"/>
          <p:cNvSpPr/>
          <p:nvPr/>
        </p:nvSpPr>
        <p:spPr>
          <a:xfrm>
            <a:off x="685800" y="3200400"/>
            <a:ext cx="3749040" cy="1554480"/>
          </a:xfrm>
          <a:prstGeom prst="roundRect">
            <a:avLst>
              <a:gd name="adj" fmla="val 7059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4D6D"/>
            </a:solidFill>
            <a:prstDash val="solid"/>
          </a:ln>
          <a:effectLst>
            <a:outerShdw sx="100000" sy="100000" kx="0" ky="0" algn="bl" rotWithShape="0" blurRad="101600" dist="38100" dir="5400000">
              <a:srgbClr val="8A8A8A">
                <a:alpha val="35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960120" y="365760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8136" y="3785616"/>
            <a:ext cx="384048" cy="384048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737360" y="349300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Symptoms settled</a:t>
            </a:r>
            <a:endParaRPr lang="en-US" sz="1900" dirty="0"/>
          </a:p>
        </p:txBody>
      </p:sp>
      <p:sp>
        <p:nvSpPr>
          <p:cNvPr id="12" name="Text 7"/>
          <p:cNvSpPr/>
          <p:nvPr/>
        </p:nvSpPr>
        <p:spPr>
          <a:xfrm>
            <a:off x="1737360" y="3950208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Rhythm &amp; symptoms controlled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4709160" y="3200400"/>
            <a:ext cx="3749040" cy="1554480"/>
          </a:xfrm>
          <a:prstGeom prst="roundRect">
            <a:avLst>
              <a:gd name="adj" fmla="val 7059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FF4D6D"/>
            </a:solidFill>
            <a:prstDash val="solid"/>
          </a:ln>
          <a:effectLst>
            <a:outerShdw sx="100000" sy="100000" kx="0" ky="0" algn="bl" rotWithShape="0" blurRad="101600" dist="38100" dir="5400000">
              <a:srgbClr val="8A8A8A">
                <a:alpha val="35000"/>
              </a:srgbClr>
            </a:outerShdw>
          </a:effectLst>
        </p:spPr>
      </p:sp>
      <p:sp>
        <p:nvSpPr>
          <p:cNvPr id="14" name="Shape 9"/>
          <p:cNvSpPr/>
          <p:nvPr/>
        </p:nvSpPr>
        <p:spPr>
          <a:xfrm>
            <a:off x="4983480" y="365760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11496" y="3785616"/>
            <a:ext cx="384048" cy="384048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5760720" y="349300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Discharged home</a:t>
            </a:r>
            <a:endParaRPr lang="en-US" sz="1900" dirty="0"/>
          </a:p>
        </p:txBody>
      </p:sp>
      <p:sp>
        <p:nvSpPr>
          <p:cNvPr id="17" name="Text 11"/>
          <p:cNvSpPr/>
          <p:nvPr/>
        </p:nvSpPr>
        <p:spPr>
          <a:xfrm>
            <a:off x="5760720" y="3950208"/>
            <a:ext cx="2606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for outpatient follow-up</a:t>
            </a:r>
            <a:endParaRPr lang="en-US" sz="1250" dirty="0"/>
          </a:p>
        </p:txBody>
      </p:sp>
      <p:sp>
        <p:nvSpPr>
          <p:cNvPr id="18" name="Shape 12"/>
          <p:cNvSpPr/>
          <p:nvPr/>
        </p:nvSpPr>
        <p:spPr>
          <a:xfrm>
            <a:off x="731520" y="5486400"/>
            <a:ext cx="2020824" cy="0"/>
          </a:xfrm>
          <a:prstGeom prst="line">
            <a:avLst/>
          </a:prstGeom>
          <a:noFill/>
          <a:ln w="28575">
            <a:solidFill>
              <a:srgbClr val="FF4D6D">
                <a:alpha val="95000"/>
              </a:srgbClr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 flipV="1">
            <a:off x="2752344" y="5340096"/>
            <a:ext cx="356616" cy="146304"/>
          </a:xfrm>
          <a:prstGeom prst="line">
            <a:avLst/>
          </a:prstGeom>
          <a:noFill/>
          <a:ln w="28575">
            <a:solidFill>
              <a:srgbClr val="FF4D6D">
                <a:alpha val="95000"/>
              </a:srgbClr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3108960" y="5340096"/>
            <a:ext cx="356616" cy="457200"/>
          </a:xfrm>
          <a:prstGeom prst="line">
            <a:avLst/>
          </a:prstGeom>
          <a:noFill/>
          <a:ln w="28575">
            <a:solidFill>
              <a:srgbClr val="FF4D6D">
                <a:alpha val="95000"/>
              </a:srgbClr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 flipV="1">
            <a:off x="3465576" y="4983480"/>
            <a:ext cx="356616" cy="813816"/>
          </a:xfrm>
          <a:prstGeom prst="line">
            <a:avLst/>
          </a:prstGeom>
          <a:noFill/>
          <a:ln w="28575">
            <a:solidFill>
              <a:srgbClr val="FF4D6D">
                <a:alpha val="95000"/>
              </a:srgbClr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3822192" y="4983480"/>
            <a:ext cx="356616" cy="685800"/>
          </a:xfrm>
          <a:prstGeom prst="line">
            <a:avLst/>
          </a:prstGeom>
          <a:noFill/>
          <a:ln w="28575">
            <a:solidFill>
              <a:srgbClr val="FF4D6D">
                <a:alpha val="95000"/>
              </a:srgbClr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 flipV="1">
            <a:off x="4178808" y="5486400"/>
            <a:ext cx="356616" cy="182880"/>
          </a:xfrm>
          <a:prstGeom prst="line">
            <a:avLst/>
          </a:prstGeom>
          <a:noFill/>
          <a:ln w="28575">
            <a:solidFill>
              <a:srgbClr val="FF4D6D">
                <a:alpha val="95000"/>
              </a:srgbClr>
            </a:solidFill>
            <a:prstDash val="solid"/>
          </a:ln>
        </p:spPr>
      </p:sp>
      <p:sp>
        <p:nvSpPr>
          <p:cNvPr id="24" name="Shape 18"/>
          <p:cNvSpPr/>
          <p:nvPr/>
        </p:nvSpPr>
        <p:spPr>
          <a:xfrm>
            <a:off x="4535424" y="5486400"/>
            <a:ext cx="2139696" cy="0"/>
          </a:xfrm>
          <a:prstGeom prst="line">
            <a:avLst/>
          </a:prstGeom>
          <a:noFill/>
          <a:ln w="28575">
            <a:solidFill>
              <a:srgbClr val="FF4D6D">
                <a:alpha val="95000"/>
              </a:srgbClr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685800" y="571500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600" b="1" i="1" dirty="0">
                <a:solidFill>
                  <a:srgbClr val="FBD8D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2600" dirty="0"/>
          </a:p>
        </p:txBody>
      </p:sp>
      <p:sp>
        <p:nvSpPr>
          <p:cNvPr id="26" name="Text 20"/>
          <p:cNvSpPr/>
          <p:nvPr/>
        </p:nvSpPr>
        <p:spPr>
          <a:xfrm>
            <a:off x="11277295" y="6355080"/>
            <a:ext cx="5486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100" dirty="0"/>
          </a:p>
        </p:txBody>
      </p:sp>
      <p:sp>
        <p:nvSpPr>
          <p:cNvPr id="27" name="Text 21"/>
          <p:cNvSpPr/>
          <p:nvPr/>
        </p:nvSpPr>
        <p:spPr>
          <a:xfrm>
            <a:off x="502920" y="63550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FBD8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Clinicopathological Conference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2026-07-21T21:11:06Z</dcterms:created>
  <dcterms:modified xsi:type="dcterms:W3CDTF">2026-07-21T21:11:06Z</dcterms:modified>
</cp:coreProperties>
</file>