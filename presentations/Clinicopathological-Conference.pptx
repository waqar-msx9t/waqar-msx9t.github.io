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589520" y="105156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3444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567635" y="108813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07792" y="108813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47949" y="73152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88106" y="73152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28262" y="123444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68419" y="123444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1737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CARDIOLOGY  ·  PEIC, BAHAWALPUR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21792" y="214884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Clinicopathological</a:t>
            </a:r>
            <a:endParaRPr lang="en-US" sz="60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Conference</a:t>
            </a:r>
            <a:endParaRPr lang="en-US" sz="6000" dirty="0"/>
          </a:p>
        </p:txBody>
      </p:sp>
      <p:sp>
        <p:nvSpPr>
          <p:cNvPr id="13" name="Text 10"/>
          <p:cNvSpPr/>
          <p:nvPr/>
        </p:nvSpPr>
        <p:spPr>
          <a:xfrm>
            <a:off x="685800" y="422452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case-based clinical discussion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32688" y="5166360"/>
            <a:ext cx="749808" cy="7498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5312664"/>
            <a:ext cx="448056" cy="4480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901952" y="5029200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 Mubashir Aziz
</a:t>
            </a:r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PGR Cardiology  ·  PEIC, BWP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PROFILE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Biodata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931920" cy="4297680"/>
          </a:xfrm>
          <a:prstGeom prst="roundRect">
            <a:avLst>
              <a:gd name="adj" fmla="val 3256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737360" y="2286000"/>
            <a:ext cx="1463040" cy="146304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832" y="2633472"/>
            <a:ext cx="768096" cy="7680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886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Shazia Bibi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640080" y="43708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w/o Nicholan George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1234440" y="507492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2073859" y="492861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21992" y="492861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70125" y="457200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518258" y="457200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flipV="1">
            <a:off x="2666390" y="507492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814523" y="507492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709160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965192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224028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76072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760720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years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8485632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741664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7968" y="224028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537192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9537192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Female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4709160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965192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3794760"/>
            <a:ext cx="365760" cy="36576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760720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5760720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Bahawalpur</a:t>
            </a:r>
            <a:endParaRPr lang="en-US" sz="2000" dirty="0"/>
          </a:p>
        </p:txBody>
      </p:sp>
      <p:sp>
        <p:nvSpPr>
          <p:cNvPr id="33" name="Shape 26"/>
          <p:cNvSpPr/>
          <p:nvPr/>
        </p:nvSpPr>
        <p:spPr>
          <a:xfrm>
            <a:off x="8485632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8741664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7968" y="3794760"/>
            <a:ext cx="365760" cy="36576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537192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</a:t>
            </a:r>
            <a:endParaRPr lang="en-US" sz="1100" dirty="0"/>
          </a:p>
        </p:txBody>
      </p:sp>
      <p:sp>
        <p:nvSpPr>
          <p:cNvPr id="37" name="Text 29"/>
          <p:cNvSpPr/>
          <p:nvPr/>
        </p:nvSpPr>
        <p:spPr>
          <a:xfrm>
            <a:off x="9537192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Nurse</a:t>
            </a:r>
            <a:endParaRPr lang="en-US" sz="2000" dirty="0"/>
          </a:p>
        </p:txBody>
      </p:sp>
      <p:sp>
        <p:nvSpPr>
          <p:cNvPr id="38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229600" y="914400"/>
            <a:ext cx="493776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3716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58191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157276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COMPLAINT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640080" y="26517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7600" dirty="0"/>
          </a:p>
        </p:txBody>
      </p:sp>
      <p:sp>
        <p:nvSpPr>
          <p:cNvPr id="8" name="Text 4"/>
          <p:cNvSpPr/>
          <p:nvPr/>
        </p:nvSpPr>
        <p:spPr>
          <a:xfrm>
            <a:off x="685800" y="38862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</a:t>
            </a:r>
            <a:pPr algn="l" indent="0" marL="0">
              <a:buNone/>
            </a:pPr>
            <a:r>
              <a:rPr lang="en-US" sz="4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hours</a:t>
            </a:r>
            <a:endParaRPr lang="en-US" sz="4600" dirty="0"/>
          </a:p>
        </p:txBody>
      </p:sp>
      <p:sp>
        <p:nvSpPr>
          <p:cNvPr id="9" name="Shape 5"/>
          <p:cNvSpPr/>
          <p:nvPr/>
        </p:nvSpPr>
        <p:spPr>
          <a:xfrm>
            <a:off x="731520" y="534924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V="1">
            <a:off x="2752344" y="520293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108960" y="520293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3465576" y="484632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822192" y="484632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4178808" y="534924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35424" y="534924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31520" y="5532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onset  ·  sensation of racing heart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PRESENT ILLNESS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Story So Far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989320" cy="4297680"/>
          </a:xfrm>
          <a:prstGeom prst="roundRect">
            <a:avLst>
              <a:gd name="adj" fmla="val 255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10312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46-year-old female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previously in her usual state of health, developed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sudden-onset palpitations 4 hours ago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sensation that her heart was racing.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822960" y="3639312"/>
            <a:ext cx="5349240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84048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prior identical episodes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required admission to the cardiac emergency and settled after IV medication. She was told her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rhythm is irregular.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720840" y="1783080"/>
            <a:ext cx="4983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995160" y="19842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SYMPTOMS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9516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725119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2807208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92784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932688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7" name="Shape 13"/>
          <p:cNvSpPr/>
          <p:nvPr/>
        </p:nvSpPr>
        <p:spPr>
          <a:xfrm>
            <a:off x="958291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80720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25956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6720840" y="4023360"/>
            <a:ext cx="4983480" cy="2057400"/>
          </a:xfrm>
          <a:prstGeom prst="roundRect">
            <a:avLst>
              <a:gd name="adj" fmla="val 444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6995160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 </a:t>
            </a:r>
            <a:pPr algn="l" indent="0" marL="0">
              <a:buNone/>
            </a:pPr>
            <a:r>
              <a:rPr lang="en-US" sz="12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PERTINENT NEGATIVES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7040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pain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9326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Shortness of breath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7040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Syncope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9326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loss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7040880" y="55412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Tremor</a:t>
            </a:r>
            <a:endParaRPr lang="en-US" sz="1350" dirty="0"/>
          </a:p>
        </p:txBody>
      </p:sp>
      <p:sp>
        <p:nvSpPr>
          <p:cNvPr id="27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Drug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Medications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8483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2267712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17920" y="203911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Vadil</a:t>
            </a:r>
            <a:endParaRPr lang="en-US" sz="2400" dirty="0"/>
          </a:p>
        </p:txBody>
      </p:sp>
      <p:sp>
        <p:nvSpPr>
          <p:cNvPr id="21" name="Text 16"/>
          <p:cNvSpPr/>
          <p:nvPr/>
        </p:nvSpPr>
        <p:spPr>
          <a:xfrm>
            <a:off x="6217920" y="25328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/ rhythm control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4937760" y="329184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9359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776472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217920" y="354787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Rivaroxaban</a:t>
            </a:r>
            <a:endParaRPr lang="en-US" sz="2400" dirty="0"/>
          </a:p>
        </p:txBody>
      </p:sp>
      <p:sp>
        <p:nvSpPr>
          <p:cNvPr id="26" name="Text 20"/>
          <p:cNvSpPr/>
          <p:nvPr/>
        </p:nvSpPr>
        <p:spPr>
          <a:xfrm>
            <a:off x="6217920" y="40416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Oral anticoagulation</a:t>
            </a:r>
            <a:endParaRPr lang="en-US" sz="1450" dirty="0"/>
          </a:p>
        </p:txBody>
      </p:sp>
      <p:sp>
        <p:nvSpPr>
          <p:cNvPr id="27" name="Shape 21"/>
          <p:cNvSpPr/>
          <p:nvPr/>
        </p:nvSpPr>
        <p:spPr>
          <a:xfrm>
            <a:off x="4937760" y="4800600"/>
            <a:ext cx="6766560" cy="1188720"/>
          </a:xfrm>
          <a:prstGeom prst="roundRect">
            <a:avLst>
              <a:gd name="adj" fmla="val 7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5394960" y="4800600"/>
            <a:ext cx="5852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 </a:t>
            </a:r>
            <a:pPr algn="l" indent="0" marL="0">
              <a:buNone/>
            </a:pPr>
            <a:r>
              <a:rPr lang="en-US" sz="16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 with stroke-risk protection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COMORBIDITY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Hypertension</a:t>
            </a:r>
            <a:endParaRPr lang="en-US" sz="4400" dirty="0"/>
          </a:p>
        </p:txBody>
      </p:sp>
      <p:sp>
        <p:nvSpPr>
          <p:cNvPr id="20" name="Text 16"/>
          <p:cNvSpPr/>
          <p:nvPr/>
        </p:nvSpPr>
        <p:spPr>
          <a:xfrm>
            <a:off x="5458968" y="361188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oral antihypertensive medication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40680" y="4572000"/>
            <a:ext cx="214884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572000"/>
            <a:ext cx="2148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HTN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 Surgical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operative history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REPORTED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FAMILY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Context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6766560" cy="4114800"/>
          </a:xfrm>
          <a:prstGeom prst="roundRect">
            <a:avLst>
              <a:gd name="adj" fmla="val 2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24028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42316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920240" y="233172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Socioeconomic History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8686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557016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7373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7373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 by profession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40690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6" y="3557016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9377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MARITAL STATUS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49377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Married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8686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4764024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7373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17373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middle class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40690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2816" y="4764024"/>
            <a:ext cx="365760" cy="36576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49377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25" name="Text 17"/>
          <p:cNvSpPr/>
          <p:nvPr/>
        </p:nvSpPr>
        <p:spPr>
          <a:xfrm>
            <a:off x="49377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Bahawalpur</a:t>
            </a:r>
            <a:endParaRPr lang="en-US" sz="1500" dirty="0"/>
          </a:p>
        </p:txBody>
      </p:sp>
      <p:sp>
        <p:nvSpPr>
          <p:cNvPr id="26" name="Shape 18"/>
          <p:cNvSpPr/>
          <p:nvPr/>
        </p:nvSpPr>
        <p:spPr>
          <a:xfrm>
            <a:off x="7498080" y="1874520"/>
            <a:ext cx="4206240" cy="4114800"/>
          </a:xfrm>
          <a:prstGeom prst="roundRect">
            <a:avLst>
              <a:gd name="adj" fmla="val 2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8915400" y="2514600"/>
            <a:ext cx="1371600" cy="137160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28346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680960" y="4114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History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8366760" y="4709160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31" name="Text 22"/>
          <p:cNvSpPr/>
          <p:nvPr/>
        </p:nvSpPr>
        <p:spPr>
          <a:xfrm>
            <a:off x="8366760" y="470916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</a:t>
            </a:r>
            <a:endParaRPr lang="en-US" sz="1500" dirty="0"/>
          </a:p>
        </p:txBody>
      </p:sp>
      <p:sp>
        <p:nvSpPr>
          <p:cNvPr id="32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8046720" y="10515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78308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613355" y="163677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3512" y="163677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93669" y="128016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33826" y="128016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73982" y="178308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14139" y="178308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ASSESSMENT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Examination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68580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&amp; systemic examination findings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097987" y="4892040"/>
            <a:ext cx="1967789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097987" y="4892040"/>
            <a:ext cx="1967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294376" y="4892040"/>
            <a:ext cx="1644091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294376" y="4892040"/>
            <a:ext cx="1644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167067" y="4892040"/>
            <a:ext cx="780898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67067" y="4892040"/>
            <a:ext cx="780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CNS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176565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76565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Gastrointestinal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Presentation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12648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RATE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76072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136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612648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761488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871216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RADIAL PULSE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834640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2871216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020056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5129784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PRESSURE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93208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110/70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5129784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278624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388352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51776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</a:t>
            </a:r>
            <a:endParaRPr lang="en-US" sz="3200" dirty="0"/>
          </a:p>
        </p:txBody>
      </p:sp>
      <p:sp>
        <p:nvSpPr>
          <p:cNvPr id="21" name="Text 18"/>
          <p:cNvSpPr/>
          <p:nvPr/>
        </p:nvSpPr>
        <p:spPr>
          <a:xfrm>
            <a:off x="7388352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°F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537192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9646920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RESP. RATE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610344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200" dirty="0"/>
          </a:p>
        </p:txBody>
      </p:sp>
      <p:sp>
        <p:nvSpPr>
          <p:cNvPr id="25" name="Text 22"/>
          <p:cNvSpPr/>
          <p:nvPr/>
        </p:nvSpPr>
        <p:spPr>
          <a:xfrm>
            <a:off x="9646920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/min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02920" y="2816352"/>
            <a:ext cx="11183112" cy="548640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926080"/>
            <a:ext cx="329184" cy="329184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1280160" y="2816352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Apex–radial pulse deficit ≈ 40 bpm</a:t>
            </a:r>
            <a:pPr algn="l" indent="0" marL="0"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(heart rate 136 vs radial pulse 96) — a hallmark of atrial fibrillation.</a:t>
            </a:r>
            <a:endParaRPr lang="en-US" sz="1400" dirty="0"/>
          </a:p>
        </p:txBody>
      </p:sp>
      <p:sp>
        <p:nvSpPr>
          <p:cNvPr id="29" name="Shape 25"/>
          <p:cNvSpPr/>
          <p:nvPr/>
        </p:nvSpPr>
        <p:spPr>
          <a:xfrm>
            <a:off x="502920" y="3474720"/>
            <a:ext cx="361188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777240" y="3694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3840480"/>
            <a:ext cx="274320" cy="274320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463040" y="369417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Pulse Character</a:t>
            </a:r>
            <a:endParaRPr lang="en-US" sz="1600" dirty="0"/>
          </a:p>
        </p:txBody>
      </p:sp>
      <p:sp>
        <p:nvSpPr>
          <p:cNvPr id="33" name="Shape 28"/>
          <p:cNvSpPr/>
          <p:nvPr/>
        </p:nvSpPr>
        <p:spPr>
          <a:xfrm>
            <a:off x="795528" y="444398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4" name="Text 29"/>
          <p:cNvSpPr/>
          <p:nvPr/>
        </p:nvSpPr>
        <p:spPr>
          <a:xfrm>
            <a:off x="1014984" y="4389120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Irregularly irregular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795528" y="4745736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6" name="Text 31"/>
          <p:cNvSpPr/>
          <p:nvPr/>
        </p:nvSpPr>
        <p:spPr>
          <a:xfrm>
            <a:off x="1014984" y="4690872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volume &amp; character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795528" y="5047488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8" name="Text 33"/>
          <p:cNvSpPr/>
          <p:nvPr/>
        </p:nvSpPr>
        <p:spPr>
          <a:xfrm>
            <a:off x="1014984" y="4992624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wall not palpable</a:t>
            </a:r>
            <a:endParaRPr lang="en-US" sz="1200" dirty="0"/>
          </a:p>
        </p:txBody>
      </p:sp>
      <p:sp>
        <p:nvSpPr>
          <p:cNvPr id="39" name="Shape 34"/>
          <p:cNvSpPr/>
          <p:nvPr/>
        </p:nvSpPr>
        <p:spPr>
          <a:xfrm>
            <a:off x="795528" y="5349240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0" name="Text 35"/>
          <p:cNvSpPr/>
          <p:nvPr/>
        </p:nvSpPr>
        <p:spPr>
          <a:xfrm>
            <a:off x="1014984" y="5294376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radio-radial / femoral delay</a:t>
            </a:r>
            <a:endParaRPr lang="en-US" sz="1200" dirty="0"/>
          </a:p>
        </p:txBody>
      </p:sp>
      <p:sp>
        <p:nvSpPr>
          <p:cNvPr id="41" name="Shape 36"/>
          <p:cNvSpPr/>
          <p:nvPr/>
        </p:nvSpPr>
        <p:spPr>
          <a:xfrm>
            <a:off x="795528" y="5650992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2" name="Text 37"/>
          <p:cNvSpPr/>
          <p:nvPr/>
        </p:nvSpPr>
        <p:spPr>
          <a:xfrm>
            <a:off x="1014984" y="5596128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 deficit present</a:t>
            </a:r>
            <a:endParaRPr lang="en-US" sz="1200" dirty="0"/>
          </a:p>
        </p:txBody>
      </p:sp>
      <p:sp>
        <p:nvSpPr>
          <p:cNvPr id="43" name="Shape 38"/>
          <p:cNvSpPr/>
          <p:nvPr/>
        </p:nvSpPr>
        <p:spPr>
          <a:xfrm>
            <a:off x="4288536" y="3474720"/>
            <a:ext cx="361188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4" name="Shape 39"/>
          <p:cNvSpPr/>
          <p:nvPr/>
        </p:nvSpPr>
        <p:spPr>
          <a:xfrm>
            <a:off x="4562856" y="3694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3840480"/>
            <a:ext cx="274320" cy="274320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5248656" y="369417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Pressure</a:t>
            </a:r>
            <a:endParaRPr lang="en-US" sz="1600" dirty="0"/>
          </a:p>
        </p:txBody>
      </p:sp>
      <p:sp>
        <p:nvSpPr>
          <p:cNvPr id="47" name="Shape 41"/>
          <p:cNvSpPr/>
          <p:nvPr/>
        </p:nvSpPr>
        <p:spPr>
          <a:xfrm>
            <a:off x="4581144" y="444398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8" name="Text 42"/>
          <p:cNvSpPr/>
          <p:nvPr/>
        </p:nvSpPr>
        <p:spPr>
          <a:xfrm>
            <a:off x="4800600" y="4389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110/70 mmHg — right arm, lying</a:t>
            </a:r>
            <a:endParaRPr lang="en-US" sz="1200" dirty="0"/>
          </a:p>
        </p:txBody>
      </p:sp>
      <p:sp>
        <p:nvSpPr>
          <p:cNvPr id="49" name="Shape 43"/>
          <p:cNvSpPr/>
          <p:nvPr/>
        </p:nvSpPr>
        <p:spPr>
          <a:xfrm>
            <a:off x="4581144" y="494690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0" name="Text 44"/>
          <p:cNvSpPr/>
          <p:nvPr/>
        </p:nvSpPr>
        <p:spPr>
          <a:xfrm>
            <a:off x="4800600" y="489204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significant inter-arm difference</a:t>
            </a:r>
            <a:endParaRPr lang="en-US" sz="1200" dirty="0"/>
          </a:p>
        </p:txBody>
      </p:sp>
      <p:sp>
        <p:nvSpPr>
          <p:cNvPr id="51" name="Shape 45"/>
          <p:cNvSpPr/>
          <p:nvPr/>
        </p:nvSpPr>
        <p:spPr>
          <a:xfrm>
            <a:off x="4581144" y="544982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2" name="Text 46"/>
          <p:cNvSpPr/>
          <p:nvPr/>
        </p:nvSpPr>
        <p:spPr>
          <a:xfrm>
            <a:off x="4800600" y="539496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postural drop</a:t>
            </a:r>
            <a:endParaRPr lang="en-US" sz="1200" dirty="0"/>
          </a:p>
        </p:txBody>
      </p:sp>
      <p:sp>
        <p:nvSpPr>
          <p:cNvPr id="53" name="Shape 47"/>
          <p:cNvSpPr/>
          <p:nvPr/>
        </p:nvSpPr>
        <p:spPr>
          <a:xfrm>
            <a:off x="8074152" y="3474720"/>
            <a:ext cx="361188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4" name="Shape 48"/>
          <p:cNvSpPr/>
          <p:nvPr/>
        </p:nvSpPr>
        <p:spPr>
          <a:xfrm>
            <a:off x="8348472" y="3694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4776" y="3840480"/>
            <a:ext cx="274320" cy="274320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9034272" y="369417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General</a:t>
            </a:r>
            <a:endParaRPr lang="en-US" sz="1600" dirty="0"/>
          </a:p>
        </p:txBody>
      </p:sp>
      <p:sp>
        <p:nvSpPr>
          <p:cNvPr id="57" name="Shape 50"/>
          <p:cNvSpPr/>
          <p:nvPr/>
        </p:nvSpPr>
        <p:spPr>
          <a:xfrm>
            <a:off x="8366760" y="444398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8" name="Text 51"/>
          <p:cNvSpPr/>
          <p:nvPr/>
        </p:nvSpPr>
        <p:spPr>
          <a:xfrm>
            <a:off x="8586216" y="4389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Thin, lean, middle-aged female; comfortable in bed</a:t>
            </a:r>
            <a:endParaRPr lang="en-US" sz="1200" dirty="0"/>
          </a:p>
        </p:txBody>
      </p:sp>
      <p:sp>
        <p:nvSpPr>
          <p:cNvPr id="59" name="Shape 52"/>
          <p:cNvSpPr/>
          <p:nvPr/>
        </p:nvSpPr>
        <p:spPr>
          <a:xfrm>
            <a:off x="8366760" y="494690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60" name="Text 53"/>
          <p:cNvSpPr/>
          <p:nvPr/>
        </p:nvSpPr>
        <p:spPr>
          <a:xfrm>
            <a:off x="8586216" y="489204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cannula in situ (right hand)</a:t>
            </a:r>
            <a:endParaRPr lang="en-US" sz="1200" dirty="0"/>
          </a:p>
        </p:txBody>
      </p:sp>
      <p:sp>
        <p:nvSpPr>
          <p:cNvPr id="61" name="Shape 54"/>
          <p:cNvSpPr/>
          <p:nvPr/>
        </p:nvSpPr>
        <p:spPr>
          <a:xfrm>
            <a:off x="8366760" y="544982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62" name="Text 55"/>
          <p:cNvSpPr/>
          <p:nvPr/>
        </p:nvSpPr>
        <p:spPr>
          <a:xfrm>
            <a:off x="8586216" y="539496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&amp; oriented — time, place, person</a:t>
            </a:r>
            <a:endParaRPr lang="en-US" sz="1200" dirty="0"/>
          </a:p>
        </p:txBody>
      </p:sp>
      <p:sp>
        <p:nvSpPr>
          <p:cNvPr id="63" name="Text 56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64" name="Text 57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Cardiovascular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12080" y="1901952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2039112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925312" y="19019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5925312" y="214884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Shape normal, no scar, no pulsations visible over the precordium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4937760" y="2651760"/>
            <a:ext cx="6766560" cy="1554480"/>
          </a:xfrm>
          <a:prstGeom prst="roundRect">
            <a:avLst>
              <a:gd name="adj" fmla="val 588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12080" y="2816352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2953512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925312" y="285292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PALPATION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5394960" y="325526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7" name="Text 21"/>
          <p:cNvSpPr/>
          <p:nvPr/>
        </p:nvSpPr>
        <p:spPr>
          <a:xfrm>
            <a:off x="5669280" y="3182112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 beat in 5th intercostal space, medial to midclavicular line — normal character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5394960" y="371246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9" name="Text 23"/>
          <p:cNvSpPr/>
          <p:nvPr/>
        </p:nvSpPr>
        <p:spPr>
          <a:xfrm>
            <a:off x="5669280" y="3639312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thrill; no other palpable sounds</a:t>
            </a:r>
            <a:endParaRPr lang="en-US" sz="1250" dirty="0"/>
          </a:p>
        </p:txBody>
      </p:sp>
      <p:sp>
        <p:nvSpPr>
          <p:cNvPr id="30" name="Shape 24"/>
          <p:cNvSpPr/>
          <p:nvPr/>
        </p:nvSpPr>
        <p:spPr>
          <a:xfrm>
            <a:off x="5394960" y="402336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1" name="Text 25"/>
          <p:cNvSpPr/>
          <p:nvPr/>
        </p:nvSpPr>
        <p:spPr>
          <a:xfrm>
            <a:off x="5669280" y="3950208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left parasternal heave</a:t>
            </a:r>
            <a:endParaRPr lang="en-US" sz="1250" dirty="0"/>
          </a:p>
        </p:txBody>
      </p:sp>
      <p:sp>
        <p:nvSpPr>
          <p:cNvPr id="32" name="Shape 26"/>
          <p:cNvSpPr/>
          <p:nvPr/>
        </p:nvSpPr>
        <p:spPr>
          <a:xfrm>
            <a:off x="4937760" y="4297680"/>
            <a:ext cx="6766560" cy="1691640"/>
          </a:xfrm>
          <a:prstGeom prst="roundRect">
            <a:avLst>
              <a:gd name="adj" fmla="val 540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5212080" y="4462272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4599432"/>
            <a:ext cx="274320" cy="27432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925312" y="449884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AUSCULTATION</a:t>
            </a:r>
            <a:endParaRPr lang="en-US" sz="1200" dirty="0"/>
          </a:p>
        </p:txBody>
      </p:sp>
      <p:sp>
        <p:nvSpPr>
          <p:cNvPr id="36" name="Shape 29"/>
          <p:cNvSpPr/>
          <p:nvPr/>
        </p:nvSpPr>
        <p:spPr>
          <a:xfrm>
            <a:off x="5394960" y="490118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7" name="Text 30"/>
          <p:cNvSpPr/>
          <p:nvPr/>
        </p:nvSpPr>
        <p:spPr>
          <a:xfrm>
            <a:off x="5669280" y="4828032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heart sound &amp; both components of 2nd heart sound audible at their respective areas</a:t>
            </a:r>
            <a:endParaRPr lang="en-US" sz="1250" dirty="0"/>
          </a:p>
        </p:txBody>
      </p:sp>
      <p:sp>
        <p:nvSpPr>
          <p:cNvPr id="38" name="Shape 31"/>
          <p:cNvSpPr/>
          <p:nvPr/>
        </p:nvSpPr>
        <p:spPr>
          <a:xfrm>
            <a:off x="5394960" y="5340096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9" name="Text 32"/>
          <p:cNvSpPr/>
          <p:nvPr/>
        </p:nvSpPr>
        <p:spPr>
          <a:xfrm>
            <a:off x="5669280" y="5266944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heart sound of variable intensity; both components of 2nd heart sound of normal intensity</a:t>
            </a:r>
            <a:endParaRPr lang="en-US" sz="1250" dirty="0"/>
          </a:p>
        </p:txBody>
      </p:sp>
      <p:sp>
        <p:nvSpPr>
          <p:cNvPr id="40" name="Shape 33"/>
          <p:cNvSpPr/>
          <p:nvPr/>
        </p:nvSpPr>
        <p:spPr>
          <a:xfrm>
            <a:off x="5394960" y="577900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1" name="Text 34"/>
          <p:cNvSpPr/>
          <p:nvPr/>
        </p:nvSpPr>
        <p:spPr>
          <a:xfrm>
            <a:off x="5669280" y="5705856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added sounds audible</a:t>
            </a:r>
            <a:endParaRPr lang="en-US" sz="1250" dirty="0"/>
          </a:p>
        </p:txBody>
      </p:sp>
      <p:sp>
        <p:nvSpPr>
          <p:cNvPr id="42" name="Text 3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43" name="Text 3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 entry equal &amp; adequate bilaterally</a:t>
            </a:r>
            <a:endParaRPr lang="en-US" sz="30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chest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Nervous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Neurological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Gastrointestinal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Abdominal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8046720" y="10515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78308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613355" y="163677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3512" y="163677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93669" y="128016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33826" y="128016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73982" y="178308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14139" y="178308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WORK-UP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68580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Bedside, laboratory &amp; imaging findings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1644091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92040"/>
            <a:ext cx="1644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12-Lead ECG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2558491" y="4892040"/>
            <a:ext cx="175199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558491" y="4892040"/>
            <a:ext cx="17519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counts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39082" y="4892040"/>
            <a:ext cx="175199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39082" y="4892040"/>
            <a:ext cx="17519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Biochemistry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19672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19672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screen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931859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931859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Echocardiography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37360"/>
            <a:ext cx="5669280" cy="4279392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819656"/>
            <a:ext cx="5458968" cy="41148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355080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611112" y="195681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2093976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287768" y="1828800"/>
            <a:ext cx="4251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7287768" y="279806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rhythm ECG · </a:t>
            </a:r>
            <a:pPr algn="l"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06-Jul-2026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355080" y="3364992"/>
            <a:ext cx="5349240" cy="914400"/>
          </a:xfrm>
          <a:prstGeom prst="roundRect">
            <a:avLst>
              <a:gd name="adj" fmla="val 12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6611112" y="34930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611112" y="3767328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</a:t>
            </a:r>
            <a:pPr algn="l" indent="0" marL="0">
              <a:buNone/>
            </a:pPr>
            <a:r>
              <a:rPr lang="en-US" sz="15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bpm</a:t>
            </a:r>
            <a:endParaRPr lang="en-US" sz="34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01400" y="3493008"/>
            <a:ext cx="292608" cy="2926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0424160" y="3785616"/>
            <a:ext cx="1051560" cy="420624"/>
          </a:xfrm>
          <a:prstGeom prst="roundRect">
            <a:avLst>
              <a:gd name="adj" fmla="val 50000"/>
            </a:avLst>
          </a:prstGeom>
          <a:solidFill>
            <a:srgbClr val="FF4D6D"/>
          </a:solidFill>
          <a:ln/>
        </p:spPr>
      </p:sp>
      <p:sp>
        <p:nvSpPr>
          <p:cNvPr id="18" name="Text 12"/>
          <p:cNvSpPr/>
          <p:nvPr/>
        </p:nvSpPr>
        <p:spPr>
          <a:xfrm>
            <a:off x="10424160" y="3785616"/>
            <a:ext cx="1051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6355080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6556248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6556248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89136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9290304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9290304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355080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6556248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· QRS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6556248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· 80 ms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9089136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9290304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 / QTC · AXIS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9290304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 / 382 ms · 38°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HAEMATOLOGY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Blood Count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10-Jun-2022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984248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282696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855464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502920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Haemoglobin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984248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282696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11.5–16.5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855464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WBC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984248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6.94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3282696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4.0–11.0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855464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02920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4" name="Shape 21"/>
          <p:cNvSpPr/>
          <p:nvPr/>
        </p:nvSpPr>
        <p:spPr>
          <a:xfrm>
            <a:off x="502920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Neutrophils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984248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3282696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40–75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4855464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02920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Lymphocytes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984248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3282696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20–45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4855464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02920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5" name="Shape 32"/>
          <p:cNvSpPr/>
          <p:nvPr/>
        </p:nvSpPr>
        <p:spPr>
          <a:xfrm>
            <a:off x="502920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40080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Monocytes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1984248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3282696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4855464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02920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Eosinophils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1984248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</a:t>
            </a:r>
            <a:endParaRPr lang="en-US" sz="1350" dirty="0"/>
          </a:p>
        </p:txBody>
      </p:sp>
      <p:sp>
        <p:nvSpPr>
          <p:cNvPr id="43" name="Text 40"/>
          <p:cNvSpPr/>
          <p:nvPr/>
        </p:nvSpPr>
        <p:spPr>
          <a:xfrm>
            <a:off x="3282696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1–6</a:t>
            </a:r>
            <a:endParaRPr lang="en-US" sz="1250" dirty="0"/>
          </a:p>
        </p:txBody>
      </p:sp>
      <p:sp>
        <p:nvSpPr>
          <p:cNvPr id="44" name="Text 41"/>
          <p:cNvSpPr/>
          <p:nvPr/>
        </p:nvSpPr>
        <p:spPr>
          <a:xfrm>
            <a:off x="4855464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36208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46" name="Text 43"/>
          <p:cNvSpPr/>
          <p:nvPr/>
        </p:nvSpPr>
        <p:spPr>
          <a:xfrm>
            <a:off x="6373368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7717536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48" name="Text 45"/>
          <p:cNvSpPr/>
          <p:nvPr/>
        </p:nvSpPr>
        <p:spPr>
          <a:xfrm>
            <a:off x="9015984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49" name="Text 46"/>
          <p:cNvSpPr/>
          <p:nvPr/>
        </p:nvSpPr>
        <p:spPr>
          <a:xfrm>
            <a:off x="10588752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50" name="Shape 47"/>
          <p:cNvSpPr/>
          <p:nvPr/>
        </p:nvSpPr>
        <p:spPr>
          <a:xfrm>
            <a:off x="6236208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51" name="Shape 48"/>
          <p:cNvSpPr/>
          <p:nvPr/>
        </p:nvSpPr>
        <p:spPr>
          <a:xfrm>
            <a:off x="6236208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373368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Platelets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7717536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296</a:t>
            </a:r>
            <a:endParaRPr lang="en-US" sz="1350" dirty="0"/>
          </a:p>
        </p:txBody>
      </p:sp>
      <p:sp>
        <p:nvSpPr>
          <p:cNvPr id="54" name="Text 51"/>
          <p:cNvSpPr/>
          <p:nvPr/>
        </p:nvSpPr>
        <p:spPr>
          <a:xfrm>
            <a:off x="9015984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150–400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10588752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6236208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373368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717536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59" name="Text 56"/>
          <p:cNvSpPr/>
          <p:nvPr/>
        </p:nvSpPr>
        <p:spPr>
          <a:xfrm>
            <a:off x="9015984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3.6–5.8</a:t>
            </a:r>
            <a:endParaRPr lang="en-US" sz="1250" dirty="0"/>
          </a:p>
        </p:txBody>
      </p:sp>
      <p:sp>
        <p:nvSpPr>
          <p:cNvPr id="60" name="Text 57"/>
          <p:cNvSpPr/>
          <p:nvPr/>
        </p:nvSpPr>
        <p:spPr>
          <a:xfrm>
            <a:off x="10588752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×10⁶/µL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6236208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62" name="Shape 59"/>
          <p:cNvSpPr/>
          <p:nvPr/>
        </p:nvSpPr>
        <p:spPr>
          <a:xfrm>
            <a:off x="6236208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6373368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MCV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7717536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85.7</a:t>
            </a:r>
            <a:endParaRPr lang="en-US" sz="1350" dirty="0"/>
          </a:p>
        </p:txBody>
      </p:sp>
      <p:sp>
        <p:nvSpPr>
          <p:cNvPr id="65" name="Text 62"/>
          <p:cNvSpPr/>
          <p:nvPr/>
        </p:nvSpPr>
        <p:spPr>
          <a:xfrm>
            <a:off x="9015984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80–100</a:t>
            </a:r>
            <a:endParaRPr lang="en-US" sz="1250" dirty="0"/>
          </a:p>
        </p:txBody>
      </p:sp>
      <p:sp>
        <p:nvSpPr>
          <p:cNvPr id="66" name="Text 63"/>
          <p:cNvSpPr/>
          <p:nvPr/>
        </p:nvSpPr>
        <p:spPr>
          <a:xfrm>
            <a:off x="10588752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6236208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373368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7717536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</a:t>
            </a:r>
            <a:endParaRPr lang="en-US" sz="1350" dirty="0"/>
          </a:p>
        </p:txBody>
      </p:sp>
      <p:sp>
        <p:nvSpPr>
          <p:cNvPr id="70" name="Text 67"/>
          <p:cNvSpPr/>
          <p:nvPr/>
        </p:nvSpPr>
        <p:spPr>
          <a:xfrm>
            <a:off x="9015984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27–34</a:t>
            </a:r>
            <a:endParaRPr lang="en-US" sz="1250" dirty="0"/>
          </a:p>
        </p:txBody>
      </p:sp>
      <p:sp>
        <p:nvSpPr>
          <p:cNvPr id="71" name="Text 68"/>
          <p:cNvSpPr/>
          <p:nvPr/>
        </p:nvSpPr>
        <p:spPr>
          <a:xfrm>
            <a:off x="10588752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6236208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73" name="Shape 70"/>
          <p:cNvSpPr/>
          <p:nvPr/>
        </p:nvSpPr>
        <p:spPr>
          <a:xfrm>
            <a:off x="6236208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6373368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MCHC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7717536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35.0</a:t>
            </a:r>
            <a:endParaRPr lang="en-US" sz="1350" dirty="0"/>
          </a:p>
        </p:txBody>
      </p:sp>
      <p:sp>
        <p:nvSpPr>
          <p:cNvPr id="76" name="Text 73"/>
          <p:cNvSpPr/>
          <p:nvPr/>
        </p:nvSpPr>
        <p:spPr>
          <a:xfrm>
            <a:off x="9015984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30–35</a:t>
            </a:r>
            <a:endParaRPr lang="en-US" sz="1250" dirty="0"/>
          </a:p>
        </p:txBody>
      </p:sp>
      <p:sp>
        <p:nvSpPr>
          <p:cNvPr id="77" name="Text 74"/>
          <p:cNvSpPr/>
          <p:nvPr/>
        </p:nvSpPr>
        <p:spPr>
          <a:xfrm>
            <a:off x="10588752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78" name="Shape 75"/>
          <p:cNvSpPr/>
          <p:nvPr/>
        </p:nvSpPr>
        <p:spPr>
          <a:xfrm>
            <a:off x="6236208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6373368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HCT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7717536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81" name="Text 78"/>
          <p:cNvSpPr/>
          <p:nvPr/>
        </p:nvSpPr>
        <p:spPr>
          <a:xfrm>
            <a:off x="9015984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35–47</a:t>
            </a:r>
            <a:endParaRPr lang="en-US" sz="1250" dirty="0"/>
          </a:p>
        </p:txBody>
      </p:sp>
      <p:sp>
        <p:nvSpPr>
          <p:cNvPr id="82" name="Text 79"/>
          <p:cNvSpPr/>
          <p:nvPr/>
        </p:nvSpPr>
        <p:spPr>
          <a:xfrm>
            <a:off x="10588752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4" name="Text 81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normocytic anaemia (low Hb, RBC &amp; HCT) with mild eosinophilia.</a:t>
            </a:r>
            <a:endParaRPr lang="en-US" sz="1500" dirty="0"/>
          </a:p>
        </p:txBody>
      </p:sp>
      <p:sp>
        <p:nvSpPr>
          <p:cNvPr id="85" name="Text 8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86" name="Text 8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ROUTINE CHEMISTRY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Renal, Electrolytes &amp; Viral Screen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06-Jul-2026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RENAL FUNCTION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58952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Urea</a:t>
            </a:r>
            <a:endParaRPr lang="en-US" sz="13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264261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60120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960120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16.6–48.6 mg/dL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58952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60120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</a:t>
            </a:r>
            <a:endParaRPr lang="en-US" sz="13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992" y="394106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0120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960120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0.6–1.2 mg/dL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288536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4562856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SERUM ELECTROLYTES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4544568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45736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</a:t>
            </a:r>
            <a:endParaRPr lang="en-US" sz="135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08" y="2642616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745736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25" name="Text 19"/>
          <p:cNvSpPr/>
          <p:nvPr/>
        </p:nvSpPr>
        <p:spPr>
          <a:xfrm>
            <a:off x="4745736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135–155 mmol/L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544568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745736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Potassium</a:t>
            </a:r>
            <a:endParaRPr lang="en-US" sz="135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608" y="3941064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745736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4745736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3.5–5.5 mmol/L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074152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Text 25"/>
          <p:cNvSpPr/>
          <p:nvPr/>
        </p:nvSpPr>
        <p:spPr>
          <a:xfrm>
            <a:off x="8348472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SCREEN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8330184" y="2532888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3064" y="2770632"/>
            <a:ext cx="274320" cy="27432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933688" y="2532888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HBsAg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10113264" y="2724912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37" name="Text 29"/>
          <p:cNvSpPr/>
          <p:nvPr/>
        </p:nvSpPr>
        <p:spPr>
          <a:xfrm>
            <a:off x="10113264" y="272491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38" name="Shape 30"/>
          <p:cNvSpPr/>
          <p:nvPr/>
        </p:nvSpPr>
        <p:spPr>
          <a:xfrm>
            <a:off x="8330184" y="3429000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3064" y="3666744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8933688" y="3429000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 Ag/Ab</a:t>
            </a:r>
            <a:endParaRPr lang="en-US" sz="1400" dirty="0"/>
          </a:p>
        </p:txBody>
      </p:sp>
      <p:sp>
        <p:nvSpPr>
          <p:cNvPr id="41" name="Shape 32"/>
          <p:cNvSpPr/>
          <p:nvPr/>
        </p:nvSpPr>
        <p:spPr>
          <a:xfrm>
            <a:off x="10113264" y="3621024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2" name="Text 33"/>
          <p:cNvSpPr/>
          <p:nvPr/>
        </p:nvSpPr>
        <p:spPr>
          <a:xfrm>
            <a:off x="10113264" y="362102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3" name="Shape 34"/>
          <p:cNvSpPr/>
          <p:nvPr/>
        </p:nvSpPr>
        <p:spPr>
          <a:xfrm>
            <a:off x="8330184" y="4325112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3064" y="4562856"/>
            <a:ext cx="274320" cy="27432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8933688" y="4325112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HCV (ICT)</a:t>
            </a:r>
            <a:endParaRPr lang="en-US" sz="1400" dirty="0"/>
          </a:p>
        </p:txBody>
      </p:sp>
      <p:sp>
        <p:nvSpPr>
          <p:cNvPr id="46" name="Shape 36"/>
          <p:cNvSpPr/>
          <p:nvPr/>
        </p:nvSpPr>
        <p:spPr>
          <a:xfrm>
            <a:off x="10113264" y="4517136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7" name="Text 37"/>
          <p:cNvSpPr/>
          <p:nvPr/>
        </p:nvSpPr>
        <p:spPr>
          <a:xfrm>
            <a:off x="10113264" y="451713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8" name="Shape 38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39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renal function and electrolytes; viral screen negative.</a:t>
            </a:r>
            <a:endParaRPr lang="en-US" sz="1500" dirty="0"/>
          </a:p>
        </p:txBody>
      </p:sp>
      <p:sp>
        <p:nvSpPr>
          <p:cNvPr id="50" name="Text 4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BIOCHEMISTRY &amp; ENDOCRINE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Additional Investigations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Chughtai Lab · 18-Dec-2025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11183112" cy="475488"/>
          </a:xfrm>
          <a:prstGeom prst="roundRect">
            <a:avLst>
              <a:gd name="adj" fmla="val 1153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178308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26280" y="178308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995160" y="178308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646920" y="1783080"/>
            <a:ext cx="1947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02920" y="2313432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28600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Magnesium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4526280" y="228600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mg/dL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995160" y="22860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 – 2.6</a:t>
            </a:r>
            <a:endParaRPr lang="en-US" sz="13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2432304"/>
            <a:ext cx="237744" cy="23774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9957816" y="228600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02920" y="2843784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85800" y="281635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Vitamin B12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4526280" y="2816352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 pg/mL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6995160" y="281635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 – 883</a:t>
            </a:r>
            <a:endParaRPr lang="en-US" sz="135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962656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957816" y="2816352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502920" y="3374136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85800" y="3346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Potassium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4526280" y="334670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 mmol/L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995160" y="334670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– 5.1</a:t>
            </a:r>
            <a:endParaRPr lang="en-US" sz="1350" dirty="0"/>
          </a:p>
        </p:txBody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3493008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957816" y="3346704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502920" y="3904488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85800" y="387705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Total T3</a:t>
            </a:r>
            <a:endParaRPr lang="en-US" sz="1450" dirty="0"/>
          </a:p>
        </p:txBody>
      </p:sp>
      <p:sp>
        <p:nvSpPr>
          <p:cNvPr id="32" name="Text 26"/>
          <p:cNvSpPr/>
          <p:nvPr/>
        </p:nvSpPr>
        <p:spPr>
          <a:xfrm>
            <a:off x="4526280" y="3877056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73.85 ng/dL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6995160" y="3877056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– 204</a:t>
            </a:r>
            <a:endParaRPr lang="en-US" sz="1350" dirty="0"/>
          </a:p>
        </p:txBody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6920" y="4023360"/>
            <a:ext cx="237744" cy="237744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957816" y="3877056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36" name="Shape 29"/>
          <p:cNvSpPr/>
          <p:nvPr/>
        </p:nvSpPr>
        <p:spPr>
          <a:xfrm>
            <a:off x="502920" y="4434840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685800" y="440740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Total T4</a:t>
            </a:r>
            <a:endParaRPr lang="en-US" sz="1450" dirty="0"/>
          </a:p>
        </p:txBody>
      </p:sp>
      <p:sp>
        <p:nvSpPr>
          <p:cNvPr id="38" name="Text 31"/>
          <p:cNvSpPr/>
          <p:nvPr/>
        </p:nvSpPr>
        <p:spPr>
          <a:xfrm>
            <a:off x="4526280" y="440740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7.99 µg/dL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6995160" y="440740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 – 11</a:t>
            </a:r>
            <a:endParaRPr lang="en-US" sz="1350" dirty="0"/>
          </a:p>
        </p:txBody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6920" y="4553712"/>
            <a:ext cx="237744" cy="237744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9957816" y="4407408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42" name="Shape 34"/>
          <p:cNvSpPr/>
          <p:nvPr/>
        </p:nvSpPr>
        <p:spPr>
          <a:xfrm>
            <a:off x="502920" y="4965192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685800" y="493776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HbA1c (Glycated Hb)</a:t>
            </a:r>
            <a:endParaRPr lang="en-US" sz="1450" dirty="0"/>
          </a:p>
        </p:txBody>
      </p:sp>
      <p:sp>
        <p:nvSpPr>
          <p:cNvPr id="44" name="Text 36"/>
          <p:cNvSpPr/>
          <p:nvPr/>
        </p:nvSpPr>
        <p:spPr>
          <a:xfrm>
            <a:off x="4526280" y="493776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5.1 %</a:t>
            </a:r>
            <a:endParaRPr lang="en-US" sz="1400" dirty="0"/>
          </a:p>
        </p:txBody>
      </p:sp>
      <p:sp>
        <p:nvSpPr>
          <p:cNvPr id="45" name="Text 37"/>
          <p:cNvSpPr/>
          <p:nvPr/>
        </p:nvSpPr>
        <p:spPr>
          <a:xfrm>
            <a:off x="6995160" y="493776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5.7</a:t>
            </a:r>
            <a:endParaRPr lang="en-US" sz="1350" dirty="0"/>
          </a:p>
        </p:txBody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46920" y="5084064"/>
            <a:ext cx="237744" cy="237744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9957816" y="493776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48" name="Shape 39"/>
          <p:cNvSpPr/>
          <p:nvPr/>
        </p:nvSpPr>
        <p:spPr>
          <a:xfrm>
            <a:off x="502920" y="5541264"/>
            <a:ext cx="11183112" cy="566928"/>
          </a:xfrm>
          <a:prstGeom prst="roundRect">
            <a:avLst>
              <a:gd name="adj" fmla="val 1612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40"/>
          <p:cNvSpPr/>
          <p:nvPr/>
        </p:nvSpPr>
        <p:spPr>
          <a:xfrm>
            <a:off x="868680" y="5541264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thyroid function, electrolytes, magnesium, B12 and HbA1c — no thyrotoxic or metabolic trigger for AF.</a:t>
            </a:r>
            <a:endParaRPr lang="en-US" sz="1350" dirty="0"/>
          </a:p>
        </p:txBody>
      </p:sp>
      <p:sp>
        <p:nvSpPr>
          <p:cNvPr id="50" name="Text 4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51" name="Text 4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ECHOCARDIOGRAPHY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27-Jan-2023 · Dr Ussama Munir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EJECTION FRACTION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77240" y="230428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LVEF 65%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777240" y="30906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(Normal 57–73%)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370332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39319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TO AF</a:t>
            </a:r>
            <a:endParaRPr lang="en-US" sz="11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315968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98448" y="422452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clot in LA / LV</a:t>
            </a:r>
            <a:endParaRPr lang="en-US" sz="2300" dirty="0"/>
          </a:p>
        </p:txBody>
      </p:sp>
      <p:sp>
        <p:nvSpPr>
          <p:cNvPr id="15" name="Shape 11"/>
          <p:cNvSpPr/>
          <p:nvPr/>
        </p:nvSpPr>
        <p:spPr>
          <a:xfrm>
            <a:off x="4114800" y="178308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43400" y="1956816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224528" y="2304288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8" name="Text 14"/>
          <p:cNvSpPr/>
          <p:nvPr/>
        </p:nvSpPr>
        <p:spPr>
          <a:xfrm>
            <a:off x="4343400" y="230428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6172200" y="230428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57–73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7059168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4343400" y="27249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LVIDD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5440680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6172200" y="272491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35–56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7059168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4224528" y="3145536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7" name="Text 23"/>
          <p:cNvSpPr/>
          <p:nvPr/>
        </p:nvSpPr>
        <p:spPr>
          <a:xfrm>
            <a:off x="4343400" y="314553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5440680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50" dirty="0"/>
          </a:p>
        </p:txBody>
      </p:sp>
      <p:sp>
        <p:nvSpPr>
          <p:cNvPr id="29" name="Text 25"/>
          <p:cNvSpPr/>
          <p:nvPr/>
        </p:nvSpPr>
        <p:spPr>
          <a:xfrm>
            <a:off x="6172200" y="3145536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7059168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4343400" y="356616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LVPW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5440680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50" dirty="0"/>
          </a:p>
        </p:txBody>
      </p:sp>
      <p:sp>
        <p:nvSpPr>
          <p:cNvPr id="33" name="Text 29"/>
          <p:cNvSpPr/>
          <p:nvPr/>
        </p:nvSpPr>
        <p:spPr>
          <a:xfrm>
            <a:off x="6172200" y="3566160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7059168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4224528" y="3986784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6" name="Text 32"/>
          <p:cNvSpPr/>
          <p:nvPr/>
        </p:nvSpPr>
        <p:spPr>
          <a:xfrm>
            <a:off x="4343400" y="398678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</a:t>
            </a:r>
            <a:endParaRPr lang="en-US" sz="1250" dirty="0"/>
          </a:p>
        </p:txBody>
      </p:sp>
      <p:sp>
        <p:nvSpPr>
          <p:cNvPr id="37" name="Text 33"/>
          <p:cNvSpPr/>
          <p:nvPr/>
        </p:nvSpPr>
        <p:spPr>
          <a:xfrm>
            <a:off x="5440680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350" dirty="0"/>
          </a:p>
        </p:txBody>
      </p:sp>
      <p:sp>
        <p:nvSpPr>
          <p:cNvPr id="38" name="Text 34"/>
          <p:cNvSpPr/>
          <p:nvPr/>
        </p:nvSpPr>
        <p:spPr>
          <a:xfrm>
            <a:off x="6172200" y="3986784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19–40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7059168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40" name="Text 36"/>
          <p:cNvSpPr/>
          <p:nvPr/>
        </p:nvSpPr>
        <p:spPr>
          <a:xfrm>
            <a:off x="4343400" y="44074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E/A</a:t>
            </a:r>
            <a:endParaRPr lang="en-US" sz="1250" dirty="0"/>
          </a:p>
        </p:txBody>
      </p:sp>
      <p:sp>
        <p:nvSpPr>
          <p:cNvPr id="41" name="Text 37"/>
          <p:cNvSpPr/>
          <p:nvPr/>
        </p:nvSpPr>
        <p:spPr>
          <a:xfrm>
            <a:off x="5440680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350" dirty="0"/>
          </a:p>
        </p:txBody>
      </p:sp>
      <p:sp>
        <p:nvSpPr>
          <p:cNvPr id="42" name="Text 38"/>
          <p:cNvSpPr/>
          <p:nvPr/>
        </p:nvSpPr>
        <p:spPr>
          <a:xfrm>
            <a:off x="6172200" y="440740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7059168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4224528" y="4828032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45" name="Text 41"/>
          <p:cNvSpPr/>
          <p:nvPr/>
        </p:nvSpPr>
        <p:spPr>
          <a:xfrm>
            <a:off x="4343400" y="482803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PASP</a:t>
            </a:r>
            <a:endParaRPr lang="en-US" sz="1250" dirty="0"/>
          </a:p>
        </p:txBody>
      </p:sp>
      <p:sp>
        <p:nvSpPr>
          <p:cNvPr id="46" name="Text 42"/>
          <p:cNvSpPr/>
          <p:nvPr/>
        </p:nvSpPr>
        <p:spPr>
          <a:xfrm>
            <a:off x="5440680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50" dirty="0"/>
          </a:p>
        </p:txBody>
      </p:sp>
      <p:sp>
        <p:nvSpPr>
          <p:cNvPr id="47" name="Text 43"/>
          <p:cNvSpPr/>
          <p:nvPr/>
        </p:nvSpPr>
        <p:spPr>
          <a:xfrm>
            <a:off x="6172200" y="482803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7059168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7955280" y="1783080"/>
            <a:ext cx="3730752" cy="3566160"/>
          </a:xfrm>
          <a:prstGeom prst="roundRect">
            <a:avLst>
              <a:gd name="adj" fmla="val 307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0" name="Text 46"/>
          <p:cNvSpPr/>
          <p:nvPr/>
        </p:nvSpPr>
        <p:spPr>
          <a:xfrm>
            <a:off x="8211312" y="1956816"/>
            <a:ext cx="3218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2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359152"/>
            <a:ext cx="219456" cy="219456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8577072" y="233172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LV size &amp; good systolic function</a:t>
            </a:r>
            <a:endParaRPr lang="en-US" sz="1250" dirty="0"/>
          </a:p>
        </p:txBody>
      </p:sp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953512"/>
            <a:ext cx="219456" cy="219456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8577072" y="292608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regional wall-motion abnormality</a:t>
            </a:r>
            <a:endParaRPr lang="en-US" sz="1250" dirty="0"/>
          </a:p>
        </p:txBody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3547872"/>
            <a:ext cx="219456" cy="219456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8577072" y="352044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clot in LA or LV</a:t>
            </a:r>
            <a:endParaRPr lang="en-US" sz="1250" dirty="0"/>
          </a:p>
        </p:txBody>
      </p:sp>
      <p:pic>
        <p:nvPicPr>
          <p:cNvPr id="5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142232"/>
            <a:ext cx="219456" cy="219456"/>
          </a:xfrm>
          <a:prstGeom prst="rect">
            <a:avLst/>
          </a:prstGeom>
        </p:spPr>
      </p:pic>
      <p:sp>
        <p:nvSpPr>
          <p:cNvPr id="58" name="Text 50"/>
          <p:cNvSpPr/>
          <p:nvPr/>
        </p:nvSpPr>
        <p:spPr>
          <a:xfrm>
            <a:off x="8577072" y="411480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chambers, valves, IAS &amp; IVS</a:t>
            </a:r>
            <a:endParaRPr lang="en-US" sz="1250" dirty="0"/>
          </a:p>
        </p:txBody>
      </p:sp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4736592"/>
            <a:ext cx="219456" cy="219456"/>
          </a:xfrm>
          <a:prstGeom prst="rect">
            <a:avLst/>
          </a:prstGeom>
        </p:spPr>
      </p:pic>
      <p:sp>
        <p:nvSpPr>
          <p:cNvPr id="60" name="Text 51"/>
          <p:cNvSpPr/>
          <p:nvPr/>
        </p:nvSpPr>
        <p:spPr>
          <a:xfrm>
            <a:off x="8577072" y="470916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pericardium</a:t>
            </a:r>
            <a:endParaRPr lang="en-US" sz="1250" dirty="0"/>
          </a:p>
        </p:txBody>
      </p:sp>
      <p:sp>
        <p:nvSpPr>
          <p:cNvPr id="61" name="Shape 52"/>
          <p:cNvSpPr/>
          <p:nvPr/>
        </p:nvSpPr>
        <p:spPr>
          <a:xfrm>
            <a:off x="502920" y="5559552"/>
            <a:ext cx="11183112" cy="566928"/>
          </a:xfrm>
          <a:prstGeom prst="roundRect">
            <a:avLst>
              <a:gd name="adj" fmla="val 5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2" name="Text 53"/>
          <p:cNvSpPr/>
          <p:nvPr/>
        </p:nvSpPr>
        <p:spPr>
          <a:xfrm>
            <a:off x="502920" y="555955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 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biventricular size and systolic function.</a:t>
            </a:r>
            <a:endParaRPr lang="en-US" sz="1500" dirty="0"/>
          </a:p>
        </p:txBody>
      </p:sp>
      <p:sp>
        <p:nvSpPr>
          <p:cNvPr id="63" name="Text 5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64" name="Text 5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DISCUSSION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Differential Diagnosis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14813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of an irregular tachycardia — each excluded on ECG grounds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02920" y="1874520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04825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12140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187452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40680" y="2020824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669280" y="1874520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sawtooth flutter waves; R–R interval is irregular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02920" y="2688336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77240" y="286207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2935224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71600" y="2688336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tachycardia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5440680" y="2834640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5669280" y="2688336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≥ 3 differing P-wave morphologies present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02920" y="3502152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67588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3749040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71600" y="3502152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 atrial ectopics</a:t>
            </a:r>
            <a:endParaRPr lang="en-US" sz="1700" dirty="0"/>
          </a:p>
        </p:txBody>
      </p:sp>
      <p:sp>
        <p:nvSpPr>
          <p:cNvPr id="23" name="Shape 17"/>
          <p:cNvSpPr/>
          <p:nvPr/>
        </p:nvSpPr>
        <p:spPr>
          <a:xfrm>
            <a:off x="5440680" y="3648456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5669280" y="3502152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discrete P waves preceding each QRS complex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502920" y="4315968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777240" y="4489704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4562856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371600" y="4315968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AVNRT / AVRT (SVT)</a:t>
            </a:r>
            <a:endParaRPr lang="en-US" sz="1700" dirty="0"/>
          </a:p>
        </p:txBody>
      </p:sp>
      <p:sp>
        <p:nvSpPr>
          <p:cNvPr id="29" name="Shape 22"/>
          <p:cNvSpPr/>
          <p:nvPr/>
        </p:nvSpPr>
        <p:spPr>
          <a:xfrm>
            <a:off x="5440680" y="4462272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5669280" y="4315968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Paroxysmal SVT is regular — here the rhythm is irregular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502920" y="5129784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777240" y="530352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" y="5376672"/>
            <a:ext cx="237744" cy="23774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371600" y="5129784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Sinus tachycardia + ectopics</a:t>
            </a:r>
            <a:endParaRPr lang="en-US" sz="1700" dirty="0"/>
          </a:p>
        </p:txBody>
      </p:sp>
      <p:sp>
        <p:nvSpPr>
          <p:cNvPr id="35" name="Shape 27"/>
          <p:cNvSpPr/>
          <p:nvPr/>
        </p:nvSpPr>
        <p:spPr>
          <a:xfrm>
            <a:off x="5440680" y="5276088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5669280" y="5129784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 absent; rhythm is irregularly irregular</a:t>
            </a:r>
            <a:endParaRPr lang="en-US" sz="1400" dirty="0"/>
          </a:p>
        </p:txBody>
      </p:sp>
      <p:sp>
        <p:nvSpPr>
          <p:cNvPr id="37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38" name="Text 3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138160" y="320040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77724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98755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DIAGNOSIS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783080"/>
            <a:ext cx="106984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4400" dirty="0"/>
          </a:p>
        </p:txBody>
      </p:sp>
      <p:sp>
        <p:nvSpPr>
          <p:cNvPr id="8" name="Shape 4"/>
          <p:cNvSpPr/>
          <p:nvPr/>
        </p:nvSpPr>
        <p:spPr>
          <a:xfrm>
            <a:off x="68580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94183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0" name="Text 6"/>
          <p:cNvSpPr/>
          <p:nvPr/>
        </p:nvSpPr>
        <p:spPr>
          <a:xfrm>
            <a:off x="155448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Confirmed on 12-lead ECG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55448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bpm · irregularly irregular · no P waves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6364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51967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4" name="Text 10"/>
          <p:cNvSpPr/>
          <p:nvPr/>
        </p:nvSpPr>
        <p:spPr>
          <a:xfrm>
            <a:off x="713232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Structurally normal heart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713232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 65% · no clot in LA or LV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8580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94183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8" name="Text 14"/>
          <p:cNvSpPr/>
          <p:nvPr/>
        </p:nvSpPr>
        <p:spPr>
          <a:xfrm>
            <a:off x="155448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 hypertension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155448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comorbidity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26364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1967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2" name="Text 18"/>
          <p:cNvSpPr/>
          <p:nvPr/>
        </p:nvSpPr>
        <p:spPr>
          <a:xfrm>
            <a:off x="713232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Mild normocytic anaemia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713232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Incidental haematology finding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7000"/>
          </a:blip>
          <a:stretch>
            <a:fillRect/>
          </a:stretch>
        </p:blipFill>
        <p:spPr>
          <a:xfrm>
            <a:off x="8321040" y="-960120"/>
            <a:ext cx="4114800" cy="41148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8046720" y="3749040"/>
            <a:ext cx="4663440" cy="46634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85800" y="73152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941832"/>
            <a:ext cx="548640" cy="54864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8288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COURSE &amp; OUTCOME</a:t>
            </a:r>
            <a:endParaRPr lang="en-US" sz="1700" dirty="0"/>
          </a:p>
        </p:txBody>
      </p:sp>
      <p:sp>
        <p:nvSpPr>
          <p:cNvPr id="8" name="Text 3"/>
          <p:cNvSpPr/>
          <p:nvPr/>
        </p:nvSpPr>
        <p:spPr>
          <a:xfrm>
            <a:off x="640080" y="178308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Clinically Improved</a:t>
            </a:r>
            <a:endParaRPr lang="en-US" sz="5200" dirty="0"/>
          </a:p>
        </p:txBody>
      </p:sp>
      <p:sp>
        <p:nvSpPr>
          <p:cNvPr id="9" name="Text 4"/>
          <p:cNvSpPr/>
          <p:nvPr/>
        </p:nvSpPr>
        <p:spPr>
          <a:xfrm>
            <a:off x="685800" y="2697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cardiac emergency to safe discharge</a:t>
            </a:r>
            <a:endParaRPr lang="en-US" sz="1600" dirty="0"/>
          </a:p>
        </p:txBody>
      </p:sp>
      <p:sp>
        <p:nvSpPr>
          <p:cNvPr id="10" name="Shape 5"/>
          <p:cNvSpPr/>
          <p:nvPr/>
        </p:nvSpPr>
        <p:spPr>
          <a:xfrm>
            <a:off x="1874520" y="4133088"/>
            <a:ext cx="8503920" cy="54864"/>
          </a:xfrm>
          <a:prstGeom prst="roundRect">
            <a:avLst>
              <a:gd name="adj" fmla="val 50000"/>
            </a:avLst>
          </a:prstGeom>
          <a:solidFill>
            <a:srgbClr val="FF4D6D">
              <a:alpha val="55000"/>
            </a:srgbClr>
          </a:solidFill>
          <a:ln/>
        </p:spPr>
      </p:sp>
      <p:sp>
        <p:nvSpPr>
          <p:cNvPr id="11" name="Shape 6"/>
          <p:cNvSpPr/>
          <p:nvPr/>
        </p:nvSpPr>
        <p:spPr>
          <a:xfrm>
            <a:off x="137160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9344" y="3895344"/>
            <a:ext cx="530352" cy="53035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4864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Admitted</a:t>
            </a:r>
            <a:endParaRPr lang="en-US" sz="1900" dirty="0"/>
          </a:p>
        </p:txBody>
      </p:sp>
      <p:sp>
        <p:nvSpPr>
          <p:cNvPr id="14" name="Text 8"/>
          <p:cNvSpPr/>
          <p:nvPr/>
        </p:nvSpPr>
        <p:spPr>
          <a:xfrm>
            <a:off x="54864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emergency</a:t>
            </a:r>
            <a:endParaRPr lang="en-US" sz="1250" dirty="0"/>
          </a:p>
        </p:txBody>
      </p:sp>
      <p:sp>
        <p:nvSpPr>
          <p:cNvPr id="15" name="Shape 9"/>
          <p:cNvSpPr/>
          <p:nvPr/>
        </p:nvSpPr>
        <p:spPr>
          <a:xfrm>
            <a:off x="420624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984" y="3895344"/>
            <a:ext cx="530352" cy="53035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338328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Treated</a:t>
            </a:r>
            <a:endParaRPr lang="en-US" sz="1900" dirty="0"/>
          </a:p>
        </p:txBody>
      </p:sp>
      <p:sp>
        <p:nvSpPr>
          <p:cNvPr id="18" name="Text 11"/>
          <p:cNvSpPr/>
          <p:nvPr/>
        </p:nvSpPr>
        <p:spPr>
          <a:xfrm>
            <a:off x="338328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medication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704088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8624" y="3895344"/>
            <a:ext cx="530352" cy="530352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21792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</a:t>
            </a:r>
            <a:endParaRPr lang="en-US" sz="1900" dirty="0"/>
          </a:p>
        </p:txBody>
      </p:sp>
      <p:sp>
        <p:nvSpPr>
          <p:cNvPr id="22" name="Text 14"/>
          <p:cNvSpPr/>
          <p:nvPr/>
        </p:nvSpPr>
        <p:spPr>
          <a:xfrm>
            <a:off x="621792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 &amp; symptoms settled</a:t>
            </a:r>
            <a:endParaRPr lang="en-US" sz="1250" dirty="0"/>
          </a:p>
        </p:txBody>
      </p:sp>
      <p:sp>
        <p:nvSpPr>
          <p:cNvPr id="23" name="Shape 15"/>
          <p:cNvSpPr/>
          <p:nvPr/>
        </p:nvSpPr>
        <p:spPr>
          <a:xfrm>
            <a:off x="987552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3264" y="3895344"/>
            <a:ext cx="530352" cy="530352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905256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Discharged</a:t>
            </a:r>
            <a:endParaRPr lang="en-US" sz="1900" dirty="0"/>
          </a:p>
        </p:txBody>
      </p:sp>
      <p:sp>
        <p:nvSpPr>
          <p:cNvPr id="26" name="Text 17"/>
          <p:cNvSpPr/>
          <p:nvPr/>
        </p:nvSpPr>
        <p:spPr>
          <a:xfrm>
            <a:off x="905256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for follow-up</a:t>
            </a:r>
            <a:endParaRPr lang="en-US" sz="1250" dirty="0"/>
          </a:p>
        </p:txBody>
      </p:sp>
      <p:sp>
        <p:nvSpPr>
          <p:cNvPr id="27" name="Text 18"/>
          <p:cNvSpPr/>
          <p:nvPr/>
        </p:nvSpPr>
        <p:spPr>
          <a:xfrm>
            <a:off x="685800" y="594360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400" dirty="0"/>
          </a:p>
        </p:txBody>
      </p:sp>
      <p:sp>
        <p:nvSpPr>
          <p:cNvPr id="28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29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2026-07-26T03:27:54Z</dcterms:created>
  <dcterms:modified xsi:type="dcterms:W3CDTF">2026-07-26T03:27:54Z</dcterms:modified>
</cp:coreProperties>
</file>