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12648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12648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761488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71216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PULSE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834640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2871216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0056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129784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PRESSURE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93208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110/70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5129784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278624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88352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51776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7388352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°F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537192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646920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RESP. RATE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610344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9646920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/min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02920" y="2816352"/>
            <a:ext cx="11183112" cy="548640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26080"/>
            <a:ext cx="329184" cy="32918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280160" y="28163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Apex–radial pulse deficit ≈ 40 bpm</a:t>
            </a:r>
            <a:pPr algn="l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(heart rate 136 vs radial pulse 96) — a hallmark of atrial fibrillation.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502920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777240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840480"/>
            <a:ext cx="274320" cy="27432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63040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 Character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795528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9"/>
          <p:cNvSpPr/>
          <p:nvPr/>
        </p:nvSpPr>
        <p:spPr>
          <a:xfrm>
            <a:off x="1014984" y="4389120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95528" y="4745736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1014984" y="4690872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volume &amp; character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95528" y="5047488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8" name="Text 33"/>
          <p:cNvSpPr/>
          <p:nvPr/>
        </p:nvSpPr>
        <p:spPr>
          <a:xfrm>
            <a:off x="1014984" y="4992624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wall not palpable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795528" y="534924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0" name="Text 35"/>
          <p:cNvSpPr/>
          <p:nvPr/>
        </p:nvSpPr>
        <p:spPr>
          <a:xfrm>
            <a:off x="1014984" y="5294376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radio-radial / femoral delay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795528" y="5650992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2" name="Text 37"/>
          <p:cNvSpPr/>
          <p:nvPr/>
        </p:nvSpPr>
        <p:spPr>
          <a:xfrm>
            <a:off x="1014984" y="5596128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deficit present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4288536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4562856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840480"/>
            <a:ext cx="274320" cy="274320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5248656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Pressure</a:t>
            </a:r>
            <a:endParaRPr lang="en-US" sz="1600" dirty="0"/>
          </a:p>
        </p:txBody>
      </p:sp>
      <p:sp>
        <p:nvSpPr>
          <p:cNvPr id="47" name="Shape 41"/>
          <p:cNvSpPr/>
          <p:nvPr/>
        </p:nvSpPr>
        <p:spPr>
          <a:xfrm>
            <a:off x="4581144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8" name="Text 42"/>
          <p:cNvSpPr/>
          <p:nvPr/>
        </p:nvSpPr>
        <p:spPr>
          <a:xfrm>
            <a:off x="4800600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110/70 mmHg — right arm, lying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4581144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0" name="Text 44"/>
          <p:cNvSpPr/>
          <p:nvPr/>
        </p:nvSpPr>
        <p:spPr>
          <a:xfrm>
            <a:off x="4800600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significant inter-arm difference</a:t>
            </a:r>
            <a:endParaRPr lang="en-US" sz="1200" dirty="0"/>
          </a:p>
        </p:txBody>
      </p:sp>
      <p:sp>
        <p:nvSpPr>
          <p:cNvPr id="51" name="Shape 45"/>
          <p:cNvSpPr/>
          <p:nvPr/>
        </p:nvSpPr>
        <p:spPr>
          <a:xfrm>
            <a:off x="4581144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4800600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postural drop</a:t>
            </a:r>
            <a:endParaRPr lang="en-US" sz="1200" dirty="0"/>
          </a:p>
        </p:txBody>
      </p:sp>
      <p:sp>
        <p:nvSpPr>
          <p:cNvPr id="53" name="Shape 47"/>
          <p:cNvSpPr/>
          <p:nvPr/>
        </p:nvSpPr>
        <p:spPr>
          <a:xfrm>
            <a:off x="8074152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8348472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776" y="3840480"/>
            <a:ext cx="274320" cy="274320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9034272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</a:t>
            </a:r>
            <a:endParaRPr lang="en-US" sz="1600" dirty="0"/>
          </a:p>
        </p:txBody>
      </p:sp>
      <p:sp>
        <p:nvSpPr>
          <p:cNvPr id="57" name="Shape 50"/>
          <p:cNvSpPr/>
          <p:nvPr/>
        </p:nvSpPr>
        <p:spPr>
          <a:xfrm>
            <a:off x="8366760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8" name="Text 51"/>
          <p:cNvSpPr/>
          <p:nvPr/>
        </p:nvSpPr>
        <p:spPr>
          <a:xfrm>
            <a:off x="8586216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female; comfortable in bed</a:t>
            </a:r>
            <a:endParaRPr lang="en-US" sz="1200" dirty="0"/>
          </a:p>
        </p:txBody>
      </p:sp>
      <p:sp>
        <p:nvSpPr>
          <p:cNvPr id="59" name="Shape 52"/>
          <p:cNvSpPr/>
          <p:nvPr/>
        </p:nvSpPr>
        <p:spPr>
          <a:xfrm>
            <a:off x="8366760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0" name="Text 53"/>
          <p:cNvSpPr/>
          <p:nvPr/>
        </p:nvSpPr>
        <p:spPr>
          <a:xfrm>
            <a:off x="8586216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(right hand)</a:t>
            </a:r>
            <a:endParaRPr lang="en-US" sz="1200" dirty="0"/>
          </a:p>
        </p:txBody>
      </p:sp>
      <p:sp>
        <p:nvSpPr>
          <p:cNvPr id="61" name="Shape 54"/>
          <p:cNvSpPr/>
          <p:nvPr/>
        </p:nvSpPr>
        <p:spPr>
          <a:xfrm>
            <a:off x="8366760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2" name="Text 55"/>
          <p:cNvSpPr/>
          <p:nvPr/>
        </p:nvSpPr>
        <p:spPr>
          <a:xfrm>
            <a:off x="8586216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— time, place, person</a:t>
            </a:r>
            <a:endParaRPr lang="en-US" sz="1200" dirty="0"/>
          </a:p>
        </p:txBody>
      </p:sp>
      <p:sp>
        <p:nvSpPr>
          <p:cNvPr id="63" name="Text 5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4" name="Text 57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91640"/>
            <a:ext cx="11183112" cy="109728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1856232"/>
            <a:ext cx="768096" cy="768096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075688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169164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INSPECTION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246120" y="1929384"/>
            <a:ext cx="0" cy="62179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520440" y="200253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2" name="Text 8"/>
          <p:cNvSpPr/>
          <p:nvPr/>
        </p:nvSpPr>
        <p:spPr>
          <a:xfrm>
            <a:off x="3767328" y="18745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of the precordium — normal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3520440" y="238658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3767328" y="225856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Remainder of the inspection limited by exposure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02920" y="2926080"/>
            <a:ext cx="11183112" cy="1444752"/>
          </a:xfrm>
          <a:prstGeom prst="roundRect">
            <a:avLst>
              <a:gd name="adj" fmla="val 75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8680" y="3264408"/>
            <a:ext cx="768096" cy="768096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483864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83080" y="2926080"/>
            <a:ext cx="1417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PALPATION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246120" y="3163824"/>
            <a:ext cx="0" cy="969264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520440" y="321868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1" name="Text 16"/>
          <p:cNvSpPr/>
          <p:nvPr/>
        </p:nvSpPr>
        <p:spPr>
          <a:xfrm>
            <a:off x="3767328" y="30906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beat: 5th intercostal space, medial to the midclavicular line — normal character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3520440" y="360273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3" name="Text 18"/>
          <p:cNvSpPr/>
          <p:nvPr/>
        </p:nvSpPr>
        <p:spPr>
          <a:xfrm>
            <a:off x="3767328" y="34747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thrill; no other palpable sounds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3520440" y="398678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5" name="Text 20"/>
          <p:cNvSpPr/>
          <p:nvPr/>
        </p:nvSpPr>
        <p:spPr>
          <a:xfrm>
            <a:off x="3767328" y="385876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left parasternal heave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502920" y="4507992"/>
            <a:ext cx="11183112" cy="1444752"/>
          </a:xfrm>
          <a:prstGeom prst="roundRect">
            <a:avLst>
              <a:gd name="adj" fmla="val 75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68680" y="4846320"/>
            <a:ext cx="768096" cy="768096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783080" y="4507992"/>
            <a:ext cx="1417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AUSCULTATION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3246120" y="4745736"/>
            <a:ext cx="0" cy="969264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3520440" y="480060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1" name="Text 26"/>
          <p:cNvSpPr/>
          <p:nvPr/>
        </p:nvSpPr>
        <p:spPr>
          <a:xfrm>
            <a:off x="3767328" y="4672584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50" dirty="0"/>
          </a:p>
        </p:txBody>
      </p:sp>
      <p:sp>
        <p:nvSpPr>
          <p:cNvPr id="32" name="Shape 27"/>
          <p:cNvSpPr/>
          <p:nvPr/>
        </p:nvSpPr>
        <p:spPr>
          <a:xfrm>
            <a:off x="352044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8"/>
          <p:cNvSpPr/>
          <p:nvPr/>
        </p:nvSpPr>
        <p:spPr>
          <a:xfrm>
            <a:off x="3767328" y="50566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sound: variable intensity;  2nd heart sound: both components normal intensity</a:t>
            </a:r>
            <a:endParaRPr lang="en-US" sz="1250" dirty="0"/>
          </a:p>
        </p:txBody>
      </p:sp>
      <p:sp>
        <p:nvSpPr>
          <p:cNvPr id="34" name="Shape 29"/>
          <p:cNvSpPr/>
          <p:nvPr/>
        </p:nvSpPr>
        <p:spPr>
          <a:xfrm>
            <a:off x="3520440" y="556869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5" name="Text 30"/>
          <p:cNvSpPr/>
          <p:nvPr/>
        </p:nvSpPr>
        <p:spPr>
          <a:xfrm>
            <a:off x="3767328" y="54406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50" dirty="0"/>
          </a:p>
        </p:txBody>
      </p:sp>
      <p:sp>
        <p:nvSpPr>
          <p:cNvPr id="36" name="Text 3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7" name="Text 3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8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2026-07-26T03:52:06Z</dcterms:created>
  <dcterms:modified xsi:type="dcterms:W3CDTF">2026-07-26T03:52:06Z</dcterms:modified>
</cp:coreProperties>
</file>