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756B6D"/>
                </a:solidFill>
                <a:latin typeface="Calibri"/>
              </a:defRPr>
            </a:pPr>
            <a:r>
              <a:rPr sz="1200" b="0" i="0" u="none" strike="noStrike">
                <a:solidFill>
                  <a:srgbClr val="756B6D"/>
                </a:solidFill>
                <a:latin typeface="Calibri"/>
              </a:rPr>
              <a:t>Participants achieving their individual LDL-C goal at Day 90 (%)</a:t>
            </a:r>
          </a:p>
        </c:rich>
      </c:tx>
      <c:layout/>
      <c:overlay val="0"/>
    </c:title>
    <c:autoTitleDeleted val="0"/>
    <c:plotArea>
      <c:layout/>
      <c:barChart>
        <c:barDir val="col"/>
        <c:grouping val="clustered"/>
        <c:varyColors val="0"/>
        <c:ser>
          <c:idx val="0"/>
          <c:order val="0"/>
          <c:tx>
            <c:strRef>
              <c:f>Sheet1!$B$1</c:f>
              <c:strCache>
                <c:ptCount val="1"/>
                <c:pt idx="0">
                  <c:v>At goal (%)</c:v>
                </c:pt>
              </c:strCache>
            </c:strRef>
          </c:tx>
          <c:spPr>
            <a:solidFill>
              <a:srgbClr val="A11226"/>
            </a:solidFill>
            <a:effectLst/>
          </c:spPr>
          <c:invertIfNegative val="0"/>
          <c:dLbls>
            <c:numFmt formatCode="0.0&quot;%&quot;" sourceLinked="0"/>
            <c:txPr>
              <a:bodyPr/>
              <a:lstStyle/>
              <a:p>
                <a:pPr>
                  <a:defRPr b="1" i="0" strike="noStrike" sz="1700" u="none">
                    <a:solidFill>
                      <a:srgbClr val="2B0A12"/>
                    </a:solidFill>
                    <a:latin typeface="Calibri"/>
                  </a:defRPr>
                </a:pPr>
              </a:p>
            </c:txPr>
            <c:showLegendKey val="0"/>
            <c:showVal val="1"/>
            <c:showCatName val="0"/>
            <c:showSerName val="0"/>
            <c:showPercent val="0"/>
            <c:showBubbleSize val="0"/>
            <c:showLeaderLines val="0"/>
          </c:dLbls>
          <c:dPt>
            <c:idx val="0"/>
            <c:invertIfNegative val="0"/>
            <c:bubble3D val="0"/>
            <c:spPr>
              <a:solidFill>
                <a:srgbClr val="A11226"/>
              </a:solidFill>
              <a:effectLst/>
            </c:spPr>
          </c:dPt>
          <c:dPt>
            <c:idx val="1"/>
            <c:invertIfNegative val="0"/>
            <c:bubble3D val="0"/>
            <c:spPr>
              <a:solidFill>
                <a:srgbClr val="7C8698"/>
              </a:solidFill>
              <a:effectLst/>
            </c:spPr>
          </c:dPt>
          <c:cat>
            <c:multiLvlStrRef>
              <c:f>Sheet1!$A$2:$A$3</c:f>
              <c:multiLvlStrCache>
                <c:ptCount val="2"/>
                <c:lvl>
                  <c:pt idx="0">
                    <c:v>Inclisiran-based
strategy</c:v>
                  </c:pt>
                  <c:pt idx="1">
                    <c:v>Placebo + optimised
lipid-lowering therapy</c:v>
                  </c:pt>
                </c:lvl>
              </c:multiLvlStrCache>
            </c:multiLvlStrRef>
          </c:cat>
          <c:val>
            <c:numRef>
              <c:f>Sheet1!$B$2:$B$3</c:f>
              <c:numCache>
                <c:formatCode>General</c:formatCode>
                <c:ptCount val="2"/>
                <c:pt idx="0">
                  <c:v>84.9</c:v>
                </c:pt>
                <c:pt idx="1">
                  <c:v>31</c:v>
                </c:pt>
              </c:numCache>
            </c:numRef>
          </c:val>
        </c:ser>
        <c:dLbls>
          <c:numFmt formatCode="0.0&quot;%&quot;" sourceLinked="0"/>
          <c:txPr>
            <a:bodyPr/>
            <a:lstStyle/>
            <a:p>
              <a:pPr>
                <a:defRPr b="1" i="0" strike="noStrike" sz="1700" u="none">
                  <a:solidFill>
                    <a:srgbClr val="2B0A12"/>
                  </a:solidFill>
                  <a:latin typeface="Calibri"/>
                </a:defRPr>
              </a:pPr>
            </a:p>
          </c:txPr>
          <c:showLegendKey val="0"/>
          <c:showVal val="1"/>
          <c:showCatName val="0"/>
          <c:showSerName val="0"/>
          <c:showPercent val="0"/>
          <c:showBubbleSize val="0"/>
          <c:showLeaderLines val="0"/>
        </c:dLbls>
        <c:gapWidth val="6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2E2A2B"/>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DE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50" b="0" i="0" u="none" strike="noStrike">
                <a:solidFill>
                  <a:srgbClr val="756B6D"/>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756B6D"/>
                </a:solidFill>
                <a:latin typeface="Calibri"/>
              </a:defRPr>
            </a:pPr>
            <a:r>
              <a:rPr sz="1200" b="0" i="0" u="none" strike="noStrike">
                <a:solidFill>
                  <a:srgbClr val="756B6D"/>
                </a:solidFill>
                <a:latin typeface="Calibri"/>
              </a:rPr>
              <a:t>Time-averaged reduction in LDL-C from baseline to Day 360 (%)</a:t>
            </a:r>
          </a:p>
        </c:rich>
      </c:tx>
      <c:layout/>
      <c:overlay val="0"/>
    </c:title>
    <c:autoTitleDeleted val="0"/>
    <c:plotArea>
      <c:layout/>
      <c:barChart>
        <c:barDir val="col"/>
        <c:grouping val="clustered"/>
        <c:varyColors val="0"/>
        <c:ser>
          <c:idx val="0"/>
          <c:order val="0"/>
          <c:tx>
            <c:strRef>
              <c:f>Sheet1!$B$1</c:f>
              <c:strCache>
                <c:ptCount val="1"/>
                <c:pt idx="0">
                  <c:v>Reduction (%)</c:v>
                </c:pt>
              </c:strCache>
            </c:strRef>
          </c:tx>
          <c:spPr>
            <a:solidFill>
              <a:srgbClr val="A11226"/>
            </a:solidFill>
            <a:effectLst/>
          </c:spPr>
          <c:invertIfNegative val="0"/>
          <c:dLbls>
            <c:numFmt formatCode="0.00&quot;%&quot;" sourceLinked="0"/>
            <c:txPr>
              <a:bodyPr/>
              <a:lstStyle/>
              <a:p>
                <a:pPr>
                  <a:defRPr b="1" i="0" strike="noStrike" sz="1700" u="none">
                    <a:solidFill>
                      <a:srgbClr val="2B0A12"/>
                    </a:solidFill>
                    <a:latin typeface="Calibri"/>
                  </a:defRPr>
                </a:pPr>
              </a:p>
            </c:txPr>
            <c:showLegendKey val="0"/>
            <c:showVal val="1"/>
            <c:showCatName val="0"/>
            <c:showSerName val="0"/>
            <c:showPercent val="0"/>
            <c:showBubbleSize val="0"/>
            <c:showLeaderLines val="0"/>
          </c:dLbls>
          <c:dPt>
            <c:idx val="0"/>
            <c:invertIfNegative val="0"/>
            <c:bubble3D val="0"/>
            <c:spPr>
              <a:solidFill>
                <a:srgbClr val="A11226"/>
              </a:solidFill>
              <a:effectLst/>
            </c:spPr>
          </c:dPt>
          <c:dPt>
            <c:idx val="1"/>
            <c:invertIfNegative val="0"/>
            <c:bubble3D val="0"/>
            <c:spPr>
              <a:solidFill>
                <a:srgbClr val="7C8698"/>
              </a:solidFill>
              <a:effectLst/>
            </c:spPr>
          </c:dPt>
          <c:cat>
            <c:multiLvlStrRef>
              <c:f>Sheet1!$A$2:$A$3</c:f>
              <c:multiLvlStrCache>
                <c:ptCount val="2"/>
                <c:lvl>
                  <c:pt idx="0">
                    <c:v>Inclisiran-based
strategy</c:v>
                  </c:pt>
                  <c:pt idx="1">
                    <c:v>Placebo + optimised
lipid-lowering therapy</c:v>
                  </c:pt>
                </c:lvl>
              </c:multiLvlStrCache>
            </c:multiLvlStrRef>
          </c:cat>
          <c:val>
            <c:numRef>
              <c:f>Sheet1!$B$2:$B$3</c:f>
              <c:numCache>
                <c:formatCode>General</c:formatCode>
                <c:ptCount val="2"/>
                <c:pt idx="0">
                  <c:v>59.45</c:v>
                </c:pt>
                <c:pt idx="1">
                  <c:v>24.31</c:v>
                </c:pt>
              </c:numCache>
            </c:numRef>
          </c:val>
        </c:ser>
        <c:dLbls>
          <c:numFmt formatCode="0.00&quot;%&quot;" sourceLinked="0"/>
          <c:txPr>
            <a:bodyPr/>
            <a:lstStyle/>
            <a:p>
              <a:pPr>
                <a:defRPr b="1" i="0" strike="noStrike" sz="1700" u="none">
                  <a:solidFill>
                    <a:srgbClr val="2B0A12"/>
                  </a:solidFill>
                  <a:latin typeface="Calibri"/>
                </a:defRPr>
              </a:pPr>
            </a:p>
          </c:txPr>
          <c:showLegendKey val="0"/>
          <c:showVal val="1"/>
          <c:showCatName val="0"/>
          <c:showSerName val="0"/>
          <c:showPercent val="0"/>
          <c:showBubbleSize val="0"/>
          <c:showLeaderLines val="0"/>
        </c:dLbls>
        <c:gapWidth val="6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2E2A2B"/>
                </a:solidFill>
                <a:latin typeface="Calibri"/>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12700" cap="flat">
              <a:solidFill>
                <a:srgbClr val="E6DE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50" b="0" i="0" u="none" strike="noStrike">
                <a:solidFill>
                  <a:srgbClr val="756B6D"/>
                </a:solidFill>
                <a:latin typeface="Calibri"/>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756B6D"/>
                </a:solidFill>
                <a:latin typeface="Calibri"/>
              </a:defRPr>
            </a:pPr>
            <a:r>
              <a:rPr sz="1200" b="0" i="0" u="none" strike="noStrike">
                <a:solidFill>
                  <a:srgbClr val="756B6D"/>
                </a:solidFill>
                <a:latin typeface="Calibri"/>
              </a:rPr>
              <a:t>Participants with at least one muscle-related adverse event to Day 360 (%)</a:t>
            </a:r>
          </a:p>
        </c:rich>
      </c:tx>
      <c:layout/>
      <c:overlay val="0"/>
    </c:title>
    <c:autoTitleDeleted val="0"/>
    <c:plotArea>
      <c:layout/>
      <c:barChart>
        <c:barDir val="col"/>
        <c:grouping val="clustered"/>
        <c:varyColors val="0"/>
        <c:ser>
          <c:idx val="0"/>
          <c:order val="0"/>
          <c:tx>
            <c:strRef>
              <c:f>Sheet1!$B$1</c:f>
              <c:strCache>
                <c:ptCount val="1"/>
                <c:pt idx="0">
                  <c:v>Participants (%)</c:v>
                </c:pt>
              </c:strCache>
            </c:strRef>
          </c:tx>
          <c:spPr>
            <a:solidFill>
              <a:srgbClr val="A11226"/>
            </a:solidFill>
            <a:effectLst/>
          </c:spPr>
          <c:invertIfNegative val="0"/>
          <c:dLbls>
            <c:numFmt formatCode="0.0&quot;%&quot;" sourceLinked="0"/>
            <c:txPr>
              <a:bodyPr/>
              <a:lstStyle/>
              <a:p>
                <a:pPr>
                  <a:defRPr b="1" i="0" strike="noStrike" sz="1700" u="none">
                    <a:solidFill>
                      <a:srgbClr val="2B0A12"/>
                    </a:solidFill>
                    <a:latin typeface="Calibri"/>
                  </a:defRPr>
                </a:pPr>
              </a:p>
            </c:txPr>
            <c:showLegendKey val="0"/>
            <c:showVal val="1"/>
            <c:showCatName val="0"/>
            <c:showSerName val="0"/>
            <c:showPercent val="0"/>
            <c:showBubbleSize val="0"/>
            <c:showLeaderLines val="0"/>
          </c:dLbls>
          <c:dPt>
            <c:idx val="0"/>
            <c:invertIfNegative val="0"/>
            <c:bubble3D val="0"/>
            <c:spPr>
              <a:solidFill>
                <a:srgbClr val="A11226"/>
              </a:solidFill>
              <a:effectLst/>
            </c:spPr>
          </c:dPt>
          <c:dPt>
            <c:idx val="1"/>
            <c:invertIfNegative val="0"/>
            <c:bubble3D val="0"/>
            <c:spPr>
              <a:solidFill>
                <a:srgbClr val="7C8698"/>
              </a:solidFill>
              <a:effectLst/>
            </c:spPr>
          </c:dPt>
          <c:cat>
            <c:multiLvlStrRef>
              <c:f>Sheet1!$A$2:$A$3</c:f>
              <c:multiLvlStrCache>
                <c:ptCount val="2"/>
                <c:lvl>
                  <c:pt idx="0">
                    <c:v>Inclisiran-based
strategy</c:v>
                  </c:pt>
                  <c:pt idx="1">
                    <c:v>Placebo + optimised
lipid-lowering therapy</c:v>
                  </c:pt>
                </c:lvl>
              </c:multiLvlStrCache>
            </c:multiLvlStrRef>
          </c:cat>
          <c:val>
            <c:numRef>
              <c:f>Sheet1!$B$2:$B$3</c:f>
              <c:numCache>
                <c:formatCode>General</c:formatCode>
                <c:ptCount val="2"/>
                <c:pt idx="0">
                  <c:v>11.9</c:v>
                </c:pt>
                <c:pt idx="1">
                  <c:v>19.2</c:v>
                </c:pt>
              </c:numCache>
            </c:numRef>
          </c:val>
        </c:ser>
        <c:dLbls>
          <c:numFmt formatCode="0.0&quot;%&quot;" sourceLinked="0"/>
          <c:txPr>
            <a:bodyPr/>
            <a:lstStyle/>
            <a:p>
              <a:pPr>
                <a:defRPr b="1" i="0" strike="noStrike" sz="1700" u="none">
                  <a:solidFill>
                    <a:srgbClr val="2B0A12"/>
                  </a:solidFill>
                  <a:latin typeface="Calibri"/>
                </a:defRPr>
              </a:pPr>
            </a:p>
          </c:txPr>
          <c:showLegendKey val="0"/>
          <c:showVal val="1"/>
          <c:showCatName val="0"/>
          <c:showSerName val="0"/>
          <c:showPercent val="0"/>
          <c:showBubbleSize val="0"/>
          <c:showLeaderLines val="0"/>
        </c:dLbls>
        <c:gapWidth val="6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2E2A2B"/>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12700" cap="flat">
              <a:solidFill>
                <a:srgbClr val="E6DE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50" b="0" i="0" u="none" strike="noStrike">
                <a:solidFill>
                  <a:srgbClr val="756B6D"/>
                </a:solidFill>
                <a:latin typeface="Calibri"/>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 am presenting VICTORION-Difference, a phase 4 randomised, double-blind, placebo-controlled trial of an inclisiran-based lipid-lowering strategy, presented as a Hot Line at the ESC Congress 2025 and published simultaneously in the European Heart Journal.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rationale starts from an uncomfortable fact. We have known for decades that LDL-C is causal and that lower is better, and the 2019 ESC/EAS guideline translated that into aggressive risk-based targets. But registries such as DA VINCI show only about a third of treated patients actually reach them. The control arm of this trial reproduced the same figure — 31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barriers explain most of that gap: clinical inertia, muscle symptoms, falling adherence to daily tablets, and the injection burden of PCSK9 antibodies. Keep these in mind, because the trial design was built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Inclisiran is not an antibody. It is a small interfering RNA conjugated to GalNAc, which targets it to the hepatocyte. Inside the cell it loads into RISC and directs cleavage of PCSK9 messenger RNA, so the protein is never made. Less PCSK9 means more LDL receptors recycling to the hepatocyte surface, and LDL-C falls. Critically, the effect is catalytic and long-lasting, which is what permits twice-yearly dosing.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point that makes the trial interesting. Previous inclisiran trials used a placebo comparator with background therapy frozen. Here the comparator arm was actively optimised with open-label rosuvastatin up-titration. So this is a strategy trial, not simply a drug-versus-placebo trial. It also pre-specified muscle-related adverse events and pain-related quality of life, which lipid trials almost never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1,770 participants were randomised one to one at 133 centres across eight European countries. The inclisiran arm received 300 mg subcutaneously; the control arm received matching placebo. Both arms then had open-label rosuvastatin titrated upward to goal or to maximum tolerated dose, so the comparator was genuinely optimised. Doses were given at Day 0, Day 90 and then six-monthly, with the primary endpoint assessed at Day 90 and follow-up to Day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Entry required high or very high cardiovascular risk, an LDL-C above the individual goal, a stable statin dose for at least thirty days, and triglycerides under 400. Note that the primary endpoint was individualised: very high risk patients had to get below 55, high risk below 70. That is a harder and more clinically meaningful bar than a single common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endpoint was the proportion of participants at their own risk-based LDL-C goal at Day 90. Key secondary endpoints were the time-averaged percentage LDL-C reduction to Day 360, muscle-related adverse events, and pain-related quality of life on the Short Form-Brief Pain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cohort was large and typical of the European lipid clinic: 1,770 participants, mean age just under 64, recruited from 133 centres in eight countries. Allocation was balanced, 898 to inclisiran and 872 to the control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At Day 90, 84.9 percent of the inclisiran arm were at their individual goal versus 31.0 percent of the control arm. The odds ratio was 12.09 with a confidence interval of 9.59 to 15.24 and a p value below 0.0001. Remember that the comparator here was actively titrated, so this is not a placebo effect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the full 360 days the time-averaged LDL-C reduction was 59.45 percent with inclisiran versus 24.31 percent with optimised statin therapy alone, a least-squares mean difference of 35.14 percentage points, p less than 0.0001. Because it is time-averaged rather than a single time point, it captures durability as well as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finding that surprised people. Despite far deeper LDL-C lowering, fewer participants in the inclisiran arm reported a muscle-related adverse event: 11.9 versus 19.2 percent, odds ratio 0.57, p less than 0.001. Pain severity and pain interference scores on the Brief Pain Inventory also favoured inclisiran. The likely explanation is that the comparator arm had to be pushed to higher statin doses to chase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was unremarkable: no new signals, injection-site reactions as the expected adverse drug reaction, and fewer muscle events than the comparator. But three limitations matter. This is a surrogate endpoint trial; follow-up is only a year; and it was run entirely in European centres, so both applicability and cost in Bahawalpur remain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against an actively optimised comparator, an inclisiran-based strategy tripled goal attainment, more than doubled the sustained LDL-C reduction, and did so with fewer muscle symptoms. What we still lack is outcome data, which VICTORION-2-PREVENT should provide. For our own service the attraction is a regimen that does not depend on daily adherence between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0A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6000"/>
          </a:blip>
          <a:stretch>
            <a:fillRect/>
          </a:stretch>
        </p:blipFill>
        <p:spPr>
          <a:xfrm>
            <a:off x="7818120" y="1051560"/>
            <a:ext cx="3931920" cy="3931920"/>
          </a:xfrm>
          <a:prstGeom prst="rect">
            <a:avLst/>
          </a:prstGeom>
        </p:spPr>
      </p:pic>
      <p:sp>
        <p:nvSpPr>
          <p:cNvPr id="3" name="Text 0"/>
          <p:cNvSpPr txBox="1"/>
          <p:nvPr/>
        </p:nvSpPr>
        <p:spPr>
          <a:xfrm>
            <a:off x="777240" y="777240"/>
            <a:ext cx="6949440" cy="256032"/>
          </a:xfrm>
          <a:prstGeom prst="rect">
            <a:avLst/>
          </a:prstGeom>
          <a:noFill/>
          <a:ln/>
        </p:spPr>
        <p:txBody>
          <a:bodyPr wrap="square" lIns="0" tIns="0" rIns="0" bIns="0" rtlCol="0" anchor="ctr"/>
          <a:lstStyle/>
          <a:p>
            <a:pPr indent="0" marL="0">
              <a:buNone/>
            </a:pPr>
            <a:r>
              <a:rPr lang="en-US" sz="1200" b="1" spc="300" kern="0" dirty="0">
                <a:solidFill>
                  <a:srgbClr val="E4B363"/>
                </a:solidFill>
                <a:latin typeface="Calibri" pitchFamily="34" charset="0"/>
                <a:ea typeface="Calibri" pitchFamily="34" charset="-122"/>
                <a:cs typeface="Calibri" pitchFamily="34" charset="-120"/>
              </a:rPr>
              <a:t>HOT LINE  ·  ESC CONGRESS 2025  ·  MADRID</a:t>
            </a:r>
            <a:endParaRPr lang="en-US" sz="1200" dirty="0"/>
          </a:p>
        </p:txBody>
      </p:sp>
      <p:sp>
        <p:nvSpPr>
          <p:cNvPr id="4" name="Text 1"/>
          <p:cNvSpPr txBox="1"/>
          <p:nvPr/>
        </p:nvSpPr>
        <p:spPr>
          <a:xfrm>
            <a:off x="777240" y="1133856"/>
            <a:ext cx="7772400" cy="786384"/>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VICTORION-Difference</a:t>
            </a:r>
            <a:endParaRPr lang="en-US" sz="3800" dirty="0"/>
          </a:p>
        </p:txBody>
      </p:sp>
      <p:sp>
        <p:nvSpPr>
          <p:cNvPr id="5" name="Text 2"/>
          <p:cNvSpPr txBox="1"/>
          <p:nvPr/>
        </p:nvSpPr>
        <p:spPr>
          <a:xfrm>
            <a:off x="777240" y="2029968"/>
            <a:ext cx="6858000" cy="822960"/>
          </a:xfrm>
          <a:prstGeom prst="rect">
            <a:avLst/>
          </a:prstGeom>
          <a:noFill/>
          <a:ln/>
        </p:spPr>
        <p:txBody>
          <a:bodyPr wrap="square" lIns="0" tIns="0" rIns="0" bIns="0" rtlCol="0" anchor="t"/>
          <a:lstStyle/>
          <a:p>
            <a:pPr indent="0" marL="0">
              <a:lnSpc>
                <a:spcPct val="115000"/>
              </a:lnSpc>
              <a:buNone/>
            </a:pPr>
            <a:r>
              <a:rPr lang="en-US" sz="1900" dirty="0">
                <a:solidFill>
                  <a:srgbClr val="E9D8DB"/>
                </a:solidFill>
                <a:latin typeface="Calibri" pitchFamily="34" charset="0"/>
                <a:ea typeface="Calibri" pitchFamily="34" charset="-122"/>
                <a:cs typeface="Calibri" pitchFamily="34" charset="-120"/>
              </a:rPr>
              <a:t>An inclisiran-based treatment strategy in hypercholesterolaemia</a:t>
            </a:r>
            <a:endParaRPr lang="en-US" sz="1900" dirty="0"/>
          </a:p>
        </p:txBody>
      </p:sp>
      <p:sp>
        <p:nvSpPr>
          <p:cNvPr id="6" name="Shape 3"/>
          <p:cNvSpPr/>
          <p:nvPr/>
        </p:nvSpPr>
        <p:spPr>
          <a:xfrm>
            <a:off x="777240" y="3127248"/>
            <a:ext cx="1261872" cy="384048"/>
          </a:xfrm>
          <a:prstGeom prst="roundRect">
            <a:avLst>
              <a:gd name="adj" fmla="val 47619"/>
            </a:avLst>
          </a:prstGeom>
          <a:solidFill>
            <a:srgbClr val="44141F"/>
          </a:solidFill>
          <a:ln/>
        </p:spPr>
      </p:sp>
      <p:sp>
        <p:nvSpPr>
          <p:cNvPr id="7" name="Text 4"/>
          <p:cNvSpPr txBox="1"/>
          <p:nvPr/>
        </p:nvSpPr>
        <p:spPr>
          <a:xfrm>
            <a:off x="777240" y="3127248"/>
            <a:ext cx="1261872" cy="384048"/>
          </a:xfrm>
          <a:prstGeom prst="rect">
            <a:avLst/>
          </a:prstGeom>
          <a:noFill/>
          <a:ln/>
        </p:spPr>
        <p:txBody>
          <a:bodyPr wrap="square" lIns="0" tIns="0" rIns="0" bIns="0" rtlCol="0" anchor="ctr"/>
          <a:lstStyle/>
          <a:p>
            <a:pPr algn="ctr" indent="0" marL="0">
              <a:buNone/>
            </a:pPr>
            <a:r>
              <a:rPr lang="en-US" sz="1150" b="1" dirty="0">
                <a:solidFill>
                  <a:srgbClr val="E9D8DB"/>
                </a:solidFill>
                <a:latin typeface="Calibri" pitchFamily="34" charset="0"/>
                <a:ea typeface="Calibri" pitchFamily="34" charset="-122"/>
                <a:cs typeface="Calibri" pitchFamily="34" charset="-120"/>
              </a:rPr>
              <a:t>Phase 4</a:t>
            </a:r>
            <a:endParaRPr lang="en-US" sz="1150" dirty="0"/>
          </a:p>
        </p:txBody>
      </p:sp>
      <p:sp>
        <p:nvSpPr>
          <p:cNvPr id="8" name="Shape 5"/>
          <p:cNvSpPr/>
          <p:nvPr/>
        </p:nvSpPr>
        <p:spPr>
          <a:xfrm>
            <a:off x="2203704" y="3127248"/>
            <a:ext cx="2971800" cy="384048"/>
          </a:xfrm>
          <a:prstGeom prst="roundRect">
            <a:avLst>
              <a:gd name="adj" fmla="val 47619"/>
            </a:avLst>
          </a:prstGeom>
          <a:solidFill>
            <a:srgbClr val="44141F"/>
          </a:solidFill>
          <a:ln/>
        </p:spPr>
      </p:sp>
      <p:sp>
        <p:nvSpPr>
          <p:cNvPr id="9" name="Text 6"/>
          <p:cNvSpPr txBox="1"/>
          <p:nvPr/>
        </p:nvSpPr>
        <p:spPr>
          <a:xfrm>
            <a:off x="2203704" y="3127248"/>
            <a:ext cx="2971800" cy="384048"/>
          </a:xfrm>
          <a:prstGeom prst="rect">
            <a:avLst/>
          </a:prstGeom>
          <a:noFill/>
          <a:ln/>
        </p:spPr>
        <p:txBody>
          <a:bodyPr wrap="square" lIns="0" tIns="0" rIns="0" bIns="0" rtlCol="0" anchor="ctr"/>
          <a:lstStyle/>
          <a:p>
            <a:pPr algn="ctr" indent="0" marL="0">
              <a:buNone/>
            </a:pPr>
            <a:r>
              <a:rPr lang="en-US" sz="1150" b="1" dirty="0">
                <a:solidFill>
                  <a:srgbClr val="E9D8DB"/>
                </a:solidFill>
                <a:latin typeface="Calibri" pitchFamily="34" charset="0"/>
                <a:ea typeface="Calibri" pitchFamily="34" charset="-122"/>
                <a:cs typeface="Calibri" pitchFamily="34" charset="-120"/>
              </a:rPr>
              <a:t>Randomised, double-blind</a:t>
            </a:r>
            <a:endParaRPr lang="en-US" sz="1150" dirty="0"/>
          </a:p>
        </p:txBody>
      </p:sp>
      <p:sp>
        <p:nvSpPr>
          <p:cNvPr id="10" name="Shape 7"/>
          <p:cNvSpPr/>
          <p:nvPr/>
        </p:nvSpPr>
        <p:spPr>
          <a:xfrm>
            <a:off x="5340096" y="3127248"/>
            <a:ext cx="2331720" cy="384048"/>
          </a:xfrm>
          <a:prstGeom prst="roundRect">
            <a:avLst>
              <a:gd name="adj" fmla="val 47619"/>
            </a:avLst>
          </a:prstGeom>
          <a:solidFill>
            <a:srgbClr val="44141F"/>
          </a:solidFill>
          <a:ln/>
        </p:spPr>
      </p:sp>
      <p:sp>
        <p:nvSpPr>
          <p:cNvPr id="11" name="Text 8"/>
          <p:cNvSpPr txBox="1"/>
          <p:nvPr/>
        </p:nvSpPr>
        <p:spPr>
          <a:xfrm>
            <a:off x="5340096" y="3127248"/>
            <a:ext cx="2331720" cy="384048"/>
          </a:xfrm>
          <a:prstGeom prst="rect">
            <a:avLst/>
          </a:prstGeom>
          <a:noFill/>
          <a:ln/>
        </p:spPr>
        <p:txBody>
          <a:bodyPr wrap="square" lIns="0" tIns="0" rIns="0" bIns="0" rtlCol="0" anchor="ctr"/>
          <a:lstStyle/>
          <a:p>
            <a:pPr algn="ctr" indent="0" marL="0">
              <a:buNone/>
            </a:pPr>
            <a:r>
              <a:rPr lang="en-US" sz="1150" b="1" dirty="0">
                <a:solidFill>
                  <a:srgbClr val="E9D8DB"/>
                </a:solidFill>
                <a:latin typeface="Calibri" pitchFamily="34" charset="0"/>
                <a:ea typeface="Calibri" pitchFamily="34" charset="-122"/>
                <a:cs typeface="Calibri" pitchFamily="34" charset="-120"/>
              </a:rPr>
              <a:t>Placebo-controlled</a:t>
            </a:r>
            <a:endParaRPr lang="en-US" sz="1150" dirty="0"/>
          </a:p>
        </p:txBody>
      </p:sp>
      <p:sp>
        <p:nvSpPr>
          <p:cNvPr id="12" name="Shape 9"/>
          <p:cNvSpPr/>
          <p:nvPr/>
        </p:nvSpPr>
        <p:spPr>
          <a:xfrm>
            <a:off x="777240" y="4160520"/>
            <a:ext cx="173126" cy="3658"/>
          </a:xfrm>
          <a:prstGeom prst="line">
            <a:avLst/>
          </a:prstGeom>
          <a:noFill/>
          <a:ln w="28575">
            <a:solidFill>
              <a:srgbClr val="C8324A"/>
            </a:solidFill>
            <a:prstDash val="solid"/>
            <a:tailEnd type="none"/>
          </a:ln>
        </p:spPr>
      </p:sp>
      <p:sp>
        <p:nvSpPr>
          <p:cNvPr id="13" name="Shape 10"/>
          <p:cNvSpPr/>
          <p:nvPr/>
        </p:nvSpPr>
        <p:spPr>
          <a:xfrm flipV="1">
            <a:off x="950366" y="4092123"/>
            <a:ext cx="108204" cy="68397"/>
          </a:xfrm>
          <a:prstGeom prst="line">
            <a:avLst/>
          </a:prstGeom>
          <a:noFill/>
          <a:ln w="28575">
            <a:solidFill>
              <a:srgbClr val="C8324A"/>
            </a:solidFill>
            <a:prstDash val="solid"/>
            <a:tailEnd type="none"/>
          </a:ln>
        </p:spPr>
      </p:sp>
      <p:sp>
        <p:nvSpPr>
          <p:cNvPr id="14" name="Shape 11"/>
          <p:cNvSpPr/>
          <p:nvPr/>
        </p:nvSpPr>
        <p:spPr>
          <a:xfrm>
            <a:off x="1058570" y="4092123"/>
            <a:ext cx="108204" cy="68397"/>
          </a:xfrm>
          <a:prstGeom prst="line">
            <a:avLst/>
          </a:prstGeom>
          <a:noFill/>
          <a:ln w="28575">
            <a:solidFill>
              <a:srgbClr val="C8324A"/>
            </a:solidFill>
            <a:prstDash val="solid"/>
            <a:tailEnd type="none"/>
          </a:ln>
        </p:spPr>
      </p:sp>
      <p:sp>
        <p:nvSpPr>
          <p:cNvPr id="15" name="Shape 12"/>
          <p:cNvSpPr/>
          <p:nvPr/>
        </p:nvSpPr>
        <p:spPr>
          <a:xfrm>
            <a:off x="1166774" y="4160520"/>
            <a:ext cx="259690" cy="3658"/>
          </a:xfrm>
          <a:prstGeom prst="line">
            <a:avLst/>
          </a:prstGeom>
          <a:noFill/>
          <a:ln w="28575">
            <a:solidFill>
              <a:srgbClr val="C8324A"/>
            </a:solidFill>
            <a:prstDash val="solid"/>
            <a:tailEnd type="none"/>
          </a:ln>
        </p:spPr>
      </p:sp>
      <p:sp>
        <p:nvSpPr>
          <p:cNvPr id="16" name="Shape 13"/>
          <p:cNvSpPr/>
          <p:nvPr/>
        </p:nvSpPr>
        <p:spPr>
          <a:xfrm>
            <a:off x="1426464" y="4160520"/>
            <a:ext cx="86563" cy="55961"/>
          </a:xfrm>
          <a:prstGeom prst="line">
            <a:avLst/>
          </a:prstGeom>
          <a:noFill/>
          <a:ln w="28575">
            <a:solidFill>
              <a:srgbClr val="C8324A"/>
            </a:solidFill>
            <a:prstDash val="solid"/>
            <a:tailEnd type="none"/>
          </a:ln>
        </p:spPr>
      </p:sp>
      <p:sp>
        <p:nvSpPr>
          <p:cNvPr id="17" name="Shape 14"/>
          <p:cNvSpPr/>
          <p:nvPr/>
        </p:nvSpPr>
        <p:spPr>
          <a:xfrm flipV="1">
            <a:off x="1513027" y="3849624"/>
            <a:ext cx="86563" cy="366857"/>
          </a:xfrm>
          <a:prstGeom prst="line">
            <a:avLst/>
          </a:prstGeom>
          <a:noFill/>
          <a:ln w="28575">
            <a:solidFill>
              <a:srgbClr val="C8324A"/>
            </a:solidFill>
            <a:prstDash val="solid"/>
            <a:tailEnd type="none"/>
          </a:ln>
        </p:spPr>
      </p:sp>
      <p:sp>
        <p:nvSpPr>
          <p:cNvPr id="18" name="Shape 15"/>
          <p:cNvSpPr/>
          <p:nvPr/>
        </p:nvSpPr>
        <p:spPr>
          <a:xfrm>
            <a:off x="1599590" y="3849624"/>
            <a:ext cx="86563" cy="450799"/>
          </a:xfrm>
          <a:prstGeom prst="line">
            <a:avLst/>
          </a:prstGeom>
          <a:noFill/>
          <a:ln w="28575">
            <a:solidFill>
              <a:srgbClr val="C8324A"/>
            </a:solidFill>
            <a:prstDash val="solid"/>
            <a:tailEnd type="none"/>
          </a:ln>
        </p:spPr>
      </p:sp>
      <p:sp>
        <p:nvSpPr>
          <p:cNvPr id="19" name="Shape 16"/>
          <p:cNvSpPr/>
          <p:nvPr/>
        </p:nvSpPr>
        <p:spPr>
          <a:xfrm flipV="1">
            <a:off x="1686154" y="4160520"/>
            <a:ext cx="86563" cy="139903"/>
          </a:xfrm>
          <a:prstGeom prst="line">
            <a:avLst/>
          </a:prstGeom>
          <a:noFill/>
          <a:ln w="28575">
            <a:solidFill>
              <a:srgbClr val="C8324A"/>
            </a:solidFill>
            <a:prstDash val="solid"/>
            <a:tailEnd type="none"/>
          </a:ln>
        </p:spPr>
      </p:sp>
      <p:sp>
        <p:nvSpPr>
          <p:cNvPr id="20" name="Shape 17"/>
          <p:cNvSpPr/>
          <p:nvPr/>
        </p:nvSpPr>
        <p:spPr>
          <a:xfrm>
            <a:off x="1772717" y="4160520"/>
            <a:ext cx="302971" cy="3658"/>
          </a:xfrm>
          <a:prstGeom prst="line">
            <a:avLst/>
          </a:prstGeom>
          <a:noFill/>
          <a:ln w="28575">
            <a:solidFill>
              <a:srgbClr val="C8324A"/>
            </a:solidFill>
            <a:prstDash val="solid"/>
            <a:tailEnd type="none"/>
          </a:ln>
        </p:spPr>
      </p:sp>
      <p:sp>
        <p:nvSpPr>
          <p:cNvPr id="21" name="Shape 18"/>
          <p:cNvSpPr/>
          <p:nvPr/>
        </p:nvSpPr>
        <p:spPr>
          <a:xfrm flipV="1">
            <a:off x="2075688" y="4054815"/>
            <a:ext cx="173126" cy="105705"/>
          </a:xfrm>
          <a:prstGeom prst="line">
            <a:avLst/>
          </a:prstGeom>
          <a:noFill/>
          <a:ln w="28575">
            <a:solidFill>
              <a:srgbClr val="C8324A"/>
            </a:solidFill>
            <a:prstDash val="solid"/>
            <a:tailEnd type="none"/>
          </a:ln>
        </p:spPr>
      </p:sp>
      <p:sp>
        <p:nvSpPr>
          <p:cNvPr id="22" name="Shape 19"/>
          <p:cNvSpPr/>
          <p:nvPr/>
        </p:nvSpPr>
        <p:spPr>
          <a:xfrm>
            <a:off x="2248814" y="4054815"/>
            <a:ext cx="173126" cy="105705"/>
          </a:xfrm>
          <a:prstGeom prst="line">
            <a:avLst/>
          </a:prstGeom>
          <a:noFill/>
          <a:ln w="28575">
            <a:solidFill>
              <a:srgbClr val="C8324A"/>
            </a:solidFill>
            <a:prstDash val="solid"/>
            <a:tailEnd type="none"/>
          </a:ln>
        </p:spPr>
      </p:sp>
      <p:sp>
        <p:nvSpPr>
          <p:cNvPr id="23" name="Shape 20"/>
          <p:cNvSpPr/>
          <p:nvPr/>
        </p:nvSpPr>
        <p:spPr>
          <a:xfrm>
            <a:off x="2421941" y="4160520"/>
            <a:ext cx="519379" cy="3658"/>
          </a:xfrm>
          <a:prstGeom prst="line">
            <a:avLst/>
          </a:prstGeom>
          <a:noFill/>
          <a:ln w="28575">
            <a:solidFill>
              <a:srgbClr val="C8324A"/>
            </a:solidFill>
            <a:prstDash val="solid"/>
            <a:tailEnd type="none"/>
          </a:ln>
        </p:spPr>
      </p:sp>
      <p:sp>
        <p:nvSpPr>
          <p:cNvPr id="24" name="Shape 21"/>
          <p:cNvSpPr/>
          <p:nvPr/>
        </p:nvSpPr>
        <p:spPr>
          <a:xfrm>
            <a:off x="2941320" y="4160520"/>
            <a:ext cx="3658" cy="3658"/>
          </a:xfrm>
          <a:prstGeom prst="line">
            <a:avLst/>
          </a:prstGeom>
          <a:noFill/>
          <a:ln w="28575">
            <a:solidFill>
              <a:srgbClr val="C8324A"/>
            </a:solidFill>
            <a:prstDash val="solid"/>
            <a:tailEnd type="none"/>
          </a:ln>
        </p:spPr>
      </p:sp>
      <p:sp>
        <p:nvSpPr>
          <p:cNvPr id="25" name="Shape 22"/>
          <p:cNvSpPr/>
          <p:nvPr/>
        </p:nvSpPr>
        <p:spPr>
          <a:xfrm>
            <a:off x="2941320" y="4160520"/>
            <a:ext cx="173126" cy="3658"/>
          </a:xfrm>
          <a:prstGeom prst="line">
            <a:avLst/>
          </a:prstGeom>
          <a:noFill/>
          <a:ln w="28575">
            <a:solidFill>
              <a:srgbClr val="C8324A"/>
            </a:solidFill>
            <a:prstDash val="solid"/>
            <a:tailEnd type="none"/>
          </a:ln>
        </p:spPr>
      </p:sp>
      <p:sp>
        <p:nvSpPr>
          <p:cNvPr id="26" name="Shape 23"/>
          <p:cNvSpPr/>
          <p:nvPr/>
        </p:nvSpPr>
        <p:spPr>
          <a:xfrm flipV="1">
            <a:off x="3114446" y="4092123"/>
            <a:ext cx="108204" cy="68397"/>
          </a:xfrm>
          <a:prstGeom prst="line">
            <a:avLst/>
          </a:prstGeom>
          <a:noFill/>
          <a:ln w="28575">
            <a:solidFill>
              <a:srgbClr val="C8324A"/>
            </a:solidFill>
            <a:prstDash val="solid"/>
            <a:tailEnd type="none"/>
          </a:ln>
        </p:spPr>
      </p:sp>
      <p:sp>
        <p:nvSpPr>
          <p:cNvPr id="27" name="Shape 24"/>
          <p:cNvSpPr/>
          <p:nvPr/>
        </p:nvSpPr>
        <p:spPr>
          <a:xfrm>
            <a:off x="3222650" y="4092123"/>
            <a:ext cx="108204" cy="68397"/>
          </a:xfrm>
          <a:prstGeom prst="line">
            <a:avLst/>
          </a:prstGeom>
          <a:noFill/>
          <a:ln w="28575">
            <a:solidFill>
              <a:srgbClr val="C8324A"/>
            </a:solidFill>
            <a:prstDash val="solid"/>
            <a:tailEnd type="none"/>
          </a:ln>
        </p:spPr>
      </p:sp>
      <p:sp>
        <p:nvSpPr>
          <p:cNvPr id="28" name="Shape 25"/>
          <p:cNvSpPr/>
          <p:nvPr/>
        </p:nvSpPr>
        <p:spPr>
          <a:xfrm>
            <a:off x="3330854" y="4160520"/>
            <a:ext cx="259690" cy="3658"/>
          </a:xfrm>
          <a:prstGeom prst="line">
            <a:avLst/>
          </a:prstGeom>
          <a:noFill/>
          <a:ln w="28575">
            <a:solidFill>
              <a:srgbClr val="C8324A"/>
            </a:solidFill>
            <a:prstDash val="solid"/>
            <a:tailEnd type="none"/>
          </a:ln>
        </p:spPr>
      </p:sp>
      <p:sp>
        <p:nvSpPr>
          <p:cNvPr id="29" name="Shape 26"/>
          <p:cNvSpPr/>
          <p:nvPr/>
        </p:nvSpPr>
        <p:spPr>
          <a:xfrm>
            <a:off x="3590544" y="4160520"/>
            <a:ext cx="86563" cy="55961"/>
          </a:xfrm>
          <a:prstGeom prst="line">
            <a:avLst/>
          </a:prstGeom>
          <a:noFill/>
          <a:ln w="28575">
            <a:solidFill>
              <a:srgbClr val="C8324A"/>
            </a:solidFill>
            <a:prstDash val="solid"/>
            <a:tailEnd type="none"/>
          </a:ln>
        </p:spPr>
      </p:sp>
      <p:sp>
        <p:nvSpPr>
          <p:cNvPr id="30" name="Shape 27"/>
          <p:cNvSpPr/>
          <p:nvPr/>
        </p:nvSpPr>
        <p:spPr>
          <a:xfrm flipV="1">
            <a:off x="3677107" y="3849624"/>
            <a:ext cx="86563" cy="366857"/>
          </a:xfrm>
          <a:prstGeom prst="line">
            <a:avLst/>
          </a:prstGeom>
          <a:noFill/>
          <a:ln w="28575">
            <a:solidFill>
              <a:srgbClr val="C8324A"/>
            </a:solidFill>
            <a:prstDash val="solid"/>
            <a:tailEnd type="none"/>
          </a:ln>
        </p:spPr>
      </p:sp>
      <p:sp>
        <p:nvSpPr>
          <p:cNvPr id="31" name="Shape 28"/>
          <p:cNvSpPr/>
          <p:nvPr/>
        </p:nvSpPr>
        <p:spPr>
          <a:xfrm>
            <a:off x="3763670" y="3849624"/>
            <a:ext cx="86563" cy="450799"/>
          </a:xfrm>
          <a:prstGeom prst="line">
            <a:avLst/>
          </a:prstGeom>
          <a:noFill/>
          <a:ln w="28575">
            <a:solidFill>
              <a:srgbClr val="C8324A"/>
            </a:solidFill>
            <a:prstDash val="solid"/>
            <a:tailEnd type="none"/>
          </a:ln>
        </p:spPr>
      </p:sp>
      <p:sp>
        <p:nvSpPr>
          <p:cNvPr id="32" name="Shape 29"/>
          <p:cNvSpPr/>
          <p:nvPr/>
        </p:nvSpPr>
        <p:spPr>
          <a:xfrm flipV="1">
            <a:off x="3850234" y="4160520"/>
            <a:ext cx="86563" cy="139903"/>
          </a:xfrm>
          <a:prstGeom prst="line">
            <a:avLst/>
          </a:prstGeom>
          <a:noFill/>
          <a:ln w="28575">
            <a:solidFill>
              <a:srgbClr val="C8324A"/>
            </a:solidFill>
            <a:prstDash val="solid"/>
            <a:tailEnd type="none"/>
          </a:ln>
        </p:spPr>
      </p:sp>
      <p:sp>
        <p:nvSpPr>
          <p:cNvPr id="33" name="Shape 30"/>
          <p:cNvSpPr/>
          <p:nvPr/>
        </p:nvSpPr>
        <p:spPr>
          <a:xfrm>
            <a:off x="3936797" y="4160520"/>
            <a:ext cx="302971" cy="3658"/>
          </a:xfrm>
          <a:prstGeom prst="line">
            <a:avLst/>
          </a:prstGeom>
          <a:noFill/>
          <a:ln w="28575">
            <a:solidFill>
              <a:srgbClr val="C8324A"/>
            </a:solidFill>
            <a:prstDash val="solid"/>
            <a:tailEnd type="none"/>
          </a:ln>
        </p:spPr>
      </p:sp>
      <p:sp>
        <p:nvSpPr>
          <p:cNvPr id="34" name="Shape 31"/>
          <p:cNvSpPr/>
          <p:nvPr/>
        </p:nvSpPr>
        <p:spPr>
          <a:xfrm flipV="1">
            <a:off x="4239768" y="4054815"/>
            <a:ext cx="173126" cy="105705"/>
          </a:xfrm>
          <a:prstGeom prst="line">
            <a:avLst/>
          </a:prstGeom>
          <a:noFill/>
          <a:ln w="28575">
            <a:solidFill>
              <a:srgbClr val="C8324A"/>
            </a:solidFill>
            <a:prstDash val="solid"/>
            <a:tailEnd type="none"/>
          </a:ln>
        </p:spPr>
      </p:sp>
      <p:sp>
        <p:nvSpPr>
          <p:cNvPr id="35" name="Shape 32"/>
          <p:cNvSpPr/>
          <p:nvPr/>
        </p:nvSpPr>
        <p:spPr>
          <a:xfrm>
            <a:off x="4412894" y="4054815"/>
            <a:ext cx="173126" cy="105705"/>
          </a:xfrm>
          <a:prstGeom prst="line">
            <a:avLst/>
          </a:prstGeom>
          <a:noFill/>
          <a:ln w="28575">
            <a:solidFill>
              <a:srgbClr val="C8324A"/>
            </a:solidFill>
            <a:prstDash val="solid"/>
            <a:tailEnd type="none"/>
          </a:ln>
        </p:spPr>
      </p:sp>
      <p:sp>
        <p:nvSpPr>
          <p:cNvPr id="36" name="Shape 33"/>
          <p:cNvSpPr/>
          <p:nvPr/>
        </p:nvSpPr>
        <p:spPr>
          <a:xfrm>
            <a:off x="4586021" y="4160520"/>
            <a:ext cx="519379" cy="3658"/>
          </a:xfrm>
          <a:prstGeom prst="line">
            <a:avLst/>
          </a:prstGeom>
          <a:noFill/>
          <a:ln w="28575">
            <a:solidFill>
              <a:srgbClr val="C8324A"/>
            </a:solidFill>
            <a:prstDash val="solid"/>
            <a:tailEnd type="none"/>
          </a:ln>
        </p:spPr>
      </p:sp>
      <p:sp>
        <p:nvSpPr>
          <p:cNvPr id="37" name="Shape 34"/>
          <p:cNvSpPr/>
          <p:nvPr/>
        </p:nvSpPr>
        <p:spPr>
          <a:xfrm>
            <a:off x="5105400" y="4160520"/>
            <a:ext cx="3658" cy="3658"/>
          </a:xfrm>
          <a:prstGeom prst="line">
            <a:avLst/>
          </a:prstGeom>
          <a:noFill/>
          <a:ln w="28575">
            <a:solidFill>
              <a:srgbClr val="C8324A"/>
            </a:solidFill>
            <a:prstDash val="solid"/>
            <a:tailEnd type="none"/>
          </a:ln>
        </p:spPr>
      </p:sp>
      <p:sp>
        <p:nvSpPr>
          <p:cNvPr id="38" name="Shape 35"/>
          <p:cNvSpPr/>
          <p:nvPr/>
        </p:nvSpPr>
        <p:spPr>
          <a:xfrm>
            <a:off x="5105400" y="4160520"/>
            <a:ext cx="173126" cy="3658"/>
          </a:xfrm>
          <a:prstGeom prst="line">
            <a:avLst/>
          </a:prstGeom>
          <a:noFill/>
          <a:ln w="28575">
            <a:solidFill>
              <a:srgbClr val="C8324A"/>
            </a:solidFill>
            <a:prstDash val="solid"/>
            <a:tailEnd type="none"/>
          </a:ln>
        </p:spPr>
      </p:sp>
      <p:sp>
        <p:nvSpPr>
          <p:cNvPr id="39" name="Shape 36"/>
          <p:cNvSpPr/>
          <p:nvPr/>
        </p:nvSpPr>
        <p:spPr>
          <a:xfrm flipV="1">
            <a:off x="5278526" y="4092123"/>
            <a:ext cx="108204" cy="68397"/>
          </a:xfrm>
          <a:prstGeom prst="line">
            <a:avLst/>
          </a:prstGeom>
          <a:noFill/>
          <a:ln w="28575">
            <a:solidFill>
              <a:srgbClr val="C8324A"/>
            </a:solidFill>
            <a:prstDash val="solid"/>
            <a:tailEnd type="none"/>
          </a:ln>
        </p:spPr>
      </p:sp>
      <p:sp>
        <p:nvSpPr>
          <p:cNvPr id="40" name="Shape 37"/>
          <p:cNvSpPr/>
          <p:nvPr/>
        </p:nvSpPr>
        <p:spPr>
          <a:xfrm>
            <a:off x="5386730" y="4092123"/>
            <a:ext cx="108204" cy="68397"/>
          </a:xfrm>
          <a:prstGeom prst="line">
            <a:avLst/>
          </a:prstGeom>
          <a:noFill/>
          <a:ln w="28575">
            <a:solidFill>
              <a:srgbClr val="C8324A"/>
            </a:solidFill>
            <a:prstDash val="solid"/>
            <a:tailEnd type="none"/>
          </a:ln>
        </p:spPr>
      </p:sp>
      <p:sp>
        <p:nvSpPr>
          <p:cNvPr id="41" name="Shape 38"/>
          <p:cNvSpPr/>
          <p:nvPr/>
        </p:nvSpPr>
        <p:spPr>
          <a:xfrm>
            <a:off x="5494934" y="4160520"/>
            <a:ext cx="259690" cy="3658"/>
          </a:xfrm>
          <a:prstGeom prst="line">
            <a:avLst/>
          </a:prstGeom>
          <a:noFill/>
          <a:ln w="28575">
            <a:solidFill>
              <a:srgbClr val="C8324A"/>
            </a:solidFill>
            <a:prstDash val="solid"/>
            <a:tailEnd type="none"/>
          </a:ln>
        </p:spPr>
      </p:sp>
      <p:sp>
        <p:nvSpPr>
          <p:cNvPr id="42" name="Shape 39"/>
          <p:cNvSpPr/>
          <p:nvPr/>
        </p:nvSpPr>
        <p:spPr>
          <a:xfrm>
            <a:off x="5754624" y="4160520"/>
            <a:ext cx="86563" cy="55961"/>
          </a:xfrm>
          <a:prstGeom prst="line">
            <a:avLst/>
          </a:prstGeom>
          <a:noFill/>
          <a:ln w="28575">
            <a:solidFill>
              <a:srgbClr val="C8324A"/>
            </a:solidFill>
            <a:prstDash val="solid"/>
            <a:tailEnd type="none"/>
          </a:ln>
        </p:spPr>
      </p:sp>
      <p:sp>
        <p:nvSpPr>
          <p:cNvPr id="43" name="Shape 40"/>
          <p:cNvSpPr/>
          <p:nvPr/>
        </p:nvSpPr>
        <p:spPr>
          <a:xfrm flipV="1">
            <a:off x="5841187" y="3849624"/>
            <a:ext cx="86563" cy="366857"/>
          </a:xfrm>
          <a:prstGeom prst="line">
            <a:avLst/>
          </a:prstGeom>
          <a:noFill/>
          <a:ln w="28575">
            <a:solidFill>
              <a:srgbClr val="C8324A"/>
            </a:solidFill>
            <a:prstDash val="solid"/>
            <a:tailEnd type="none"/>
          </a:ln>
        </p:spPr>
      </p:sp>
      <p:sp>
        <p:nvSpPr>
          <p:cNvPr id="44" name="Shape 41"/>
          <p:cNvSpPr/>
          <p:nvPr/>
        </p:nvSpPr>
        <p:spPr>
          <a:xfrm>
            <a:off x="5927750" y="3849624"/>
            <a:ext cx="86563" cy="450799"/>
          </a:xfrm>
          <a:prstGeom prst="line">
            <a:avLst/>
          </a:prstGeom>
          <a:noFill/>
          <a:ln w="28575">
            <a:solidFill>
              <a:srgbClr val="C8324A"/>
            </a:solidFill>
            <a:prstDash val="solid"/>
            <a:tailEnd type="none"/>
          </a:ln>
        </p:spPr>
      </p:sp>
      <p:sp>
        <p:nvSpPr>
          <p:cNvPr id="45" name="Shape 42"/>
          <p:cNvSpPr/>
          <p:nvPr/>
        </p:nvSpPr>
        <p:spPr>
          <a:xfrm flipV="1">
            <a:off x="6014314" y="4160520"/>
            <a:ext cx="86563" cy="139903"/>
          </a:xfrm>
          <a:prstGeom prst="line">
            <a:avLst/>
          </a:prstGeom>
          <a:noFill/>
          <a:ln w="28575">
            <a:solidFill>
              <a:srgbClr val="C8324A"/>
            </a:solidFill>
            <a:prstDash val="solid"/>
            <a:tailEnd type="none"/>
          </a:ln>
        </p:spPr>
      </p:sp>
      <p:sp>
        <p:nvSpPr>
          <p:cNvPr id="46" name="Shape 43"/>
          <p:cNvSpPr/>
          <p:nvPr/>
        </p:nvSpPr>
        <p:spPr>
          <a:xfrm>
            <a:off x="6100877" y="4160520"/>
            <a:ext cx="302971" cy="3658"/>
          </a:xfrm>
          <a:prstGeom prst="line">
            <a:avLst/>
          </a:prstGeom>
          <a:noFill/>
          <a:ln w="28575">
            <a:solidFill>
              <a:srgbClr val="C8324A"/>
            </a:solidFill>
            <a:prstDash val="solid"/>
            <a:tailEnd type="none"/>
          </a:ln>
        </p:spPr>
      </p:sp>
      <p:sp>
        <p:nvSpPr>
          <p:cNvPr id="47" name="Shape 44"/>
          <p:cNvSpPr/>
          <p:nvPr/>
        </p:nvSpPr>
        <p:spPr>
          <a:xfrm flipV="1">
            <a:off x="6403848" y="4054815"/>
            <a:ext cx="173126" cy="105705"/>
          </a:xfrm>
          <a:prstGeom prst="line">
            <a:avLst/>
          </a:prstGeom>
          <a:noFill/>
          <a:ln w="28575">
            <a:solidFill>
              <a:srgbClr val="C8324A"/>
            </a:solidFill>
            <a:prstDash val="solid"/>
            <a:tailEnd type="none"/>
          </a:ln>
        </p:spPr>
      </p:sp>
      <p:sp>
        <p:nvSpPr>
          <p:cNvPr id="48" name="Shape 45"/>
          <p:cNvSpPr/>
          <p:nvPr/>
        </p:nvSpPr>
        <p:spPr>
          <a:xfrm>
            <a:off x="6576974" y="4054815"/>
            <a:ext cx="173126" cy="105705"/>
          </a:xfrm>
          <a:prstGeom prst="line">
            <a:avLst/>
          </a:prstGeom>
          <a:noFill/>
          <a:ln w="28575">
            <a:solidFill>
              <a:srgbClr val="C8324A"/>
            </a:solidFill>
            <a:prstDash val="solid"/>
            <a:tailEnd type="none"/>
          </a:ln>
        </p:spPr>
      </p:sp>
      <p:sp>
        <p:nvSpPr>
          <p:cNvPr id="49" name="Shape 46"/>
          <p:cNvSpPr/>
          <p:nvPr/>
        </p:nvSpPr>
        <p:spPr>
          <a:xfrm>
            <a:off x="6750101" y="4160520"/>
            <a:ext cx="519379" cy="3658"/>
          </a:xfrm>
          <a:prstGeom prst="line">
            <a:avLst/>
          </a:prstGeom>
          <a:noFill/>
          <a:ln w="28575">
            <a:solidFill>
              <a:srgbClr val="C8324A"/>
            </a:solidFill>
            <a:prstDash val="solid"/>
            <a:tailEnd type="none"/>
          </a:ln>
        </p:spPr>
      </p:sp>
      <p:sp>
        <p:nvSpPr>
          <p:cNvPr id="50" name="Shape 47"/>
          <p:cNvSpPr/>
          <p:nvPr/>
        </p:nvSpPr>
        <p:spPr>
          <a:xfrm>
            <a:off x="777240" y="4681728"/>
            <a:ext cx="6035040" cy="1371600"/>
          </a:xfrm>
          <a:prstGeom prst="roundRect">
            <a:avLst>
              <a:gd name="adj" fmla="val 5333"/>
            </a:avLst>
          </a:prstGeom>
          <a:solidFill>
            <a:srgbClr val="44141F"/>
          </a:solidFill>
          <a:ln/>
        </p:spPr>
      </p:sp>
      <p:sp>
        <p:nvSpPr>
          <p:cNvPr id="51" name="Shape 48"/>
          <p:cNvSpPr/>
          <p:nvPr/>
        </p:nvSpPr>
        <p:spPr>
          <a:xfrm>
            <a:off x="1051560" y="4956048"/>
            <a:ext cx="822960" cy="822960"/>
          </a:xfrm>
          <a:prstGeom prst="ellipse">
            <a:avLst/>
          </a:prstGeom>
          <a:solidFill>
            <a:srgbClr val="A11226"/>
          </a:solidFill>
          <a:ln/>
        </p:spPr>
      </p:sp>
      <p:pic>
        <p:nvPicPr>
          <p:cNvPr id="52" name="Image 1" descr="preencoded.png">    </p:cNvPr>
          <p:cNvPicPr>
            <a:picLocks noChangeAspect="1"/>
          </p:cNvPicPr>
          <p:nvPr/>
        </p:nvPicPr>
        <p:blipFill>
          <a:blip r:embed="rId2"/>
          <a:stretch>
            <a:fillRect/>
          </a:stretch>
        </p:blipFill>
        <p:spPr>
          <a:xfrm>
            <a:off x="1273759" y="5178247"/>
            <a:ext cx="378562" cy="378562"/>
          </a:xfrm>
          <a:prstGeom prst="rect">
            <a:avLst/>
          </a:prstGeom>
        </p:spPr>
      </p:pic>
      <p:sp>
        <p:nvSpPr>
          <p:cNvPr id="53" name="Text 49"/>
          <p:cNvSpPr txBox="1"/>
          <p:nvPr/>
        </p:nvSpPr>
        <p:spPr>
          <a:xfrm>
            <a:off x="2057400" y="4937760"/>
            <a:ext cx="4480560" cy="402336"/>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DR. HASSAN</a:t>
            </a:r>
            <a:endParaRPr lang="en-US" sz="2400" dirty="0"/>
          </a:p>
        </p:txBody>
      </p:sp>
      <p:sp>
        <p:nvSpPr>
          <p:cNvPr id="54" name="Text 50"/>
          <p:cNvSpPr txBox="1"/>
          <p:nvPr/>
        </p:nvSpPr>
        <p:spPr>
          <a:xfrm>
            <a:off x="2057400" y="5358384"/>
            <a:ext cx="4480560" cy="274320"/>
          </a:xfrm>
          <a:prstGeom prst="rect">
            <a:avLst/>
          </a:prstGeom>
          <a:noFill/>
          <a:ln/>
        </p:spPr>
        <p:txBody>
          <a:bodyPr wrap="square" lIns="0" tIns="0" rIns="0" bIns="0" rtlCol="0" anchor="ctr"/>
          <a:lstStyle/>
          <a:p>
            <a:pPr indent="0" marL="0">
              <a:buNone/>
            </a:pPr>
            <a:r>
              <a:rPr lang="en-US" sz="1400" b="1" dirty="0">
                <a:solidFill>
                  <a:srgbClr val="E4B363"/>
                </a:solidFill>
                <a:latin typeface="Calibri" pitchFamily="34" charset="0"/>
                <a:ea typeface="Calibri" pitchFamily="34" charset="-122"/>
                <a:cs typeface="Calibri" pitchFamily="34" charset="-120"/>
              </a:rPr>
              <a:t>PGR — Cardiology</a:t>
            </a:r>
            <a:endParaRPr lang="en-US" sz="1400" dirty="0"/>
          </a:p>
        </p:txBody>
      </p:sp>
      <p:sp>
        <p:nvSpPr>
          <p:cNvPr id="55" name="Text 51"/>
          <p:cNvSpPr txBox="1"/>
          <p:nvPr/>
        </p:nvSpPr>
        <p:spPr>
          <a:xfrm>
            <a:off x="2057400" y="5632704"/>
            <a:ext cx="4480560" cy="274320"/>
          </a:xfrm>
          <a:prstGeom prst="rect">
            <a:avLst/>
          </a:prstGeom>
          <a:noFill/>
          <a:ln/>
        </p:spPr>
        <p:txBody>
          <a:bodyPr wrap="square" lIns="0" tIns="0" rIns="0" bIns="0" rtlCol="0" anchor="ctr"/>
          <a:lstStyle/>
          <a:p>
            <a:pPr indent="0" marL="0">
              <a:buNone/>
            </a:pPr>
            <a:r>
              <a:rPr lang="en-US" sz="1350" dirty="0">
                <a:solidFill>
                  <a:srgbClr val="E9D8DB"/>
                </a:solidFill>
                <a:latin typeface="Calibri" pitchFamily="34" charset="0"/>
                <a:ea typeface="Calibri" pitchFamily="34" charset="-122"/>
                <a:cs typeface="Calibri" pitchFamily="34" charset="-120"/>
              </a:rPr>
              <a:t>Cardiac Centre, Bahawalpur</a:t>
            </a:r>
            <a:endParaRPr lang="en-US" sz="1350" dirty="0"/>
          </a:p>
        </p:txBody>
      </p:sp>
      <p:sp>
        <p:nvSpPr>
          <p:cNvPr id="56" name="Text 52"/>
          <p:cNvSpPr txBox="1"/>
          <p:nvPr/>
        </p:nvSpPr>
        <p:spPr>
          <a:xfrm>
            <a:off x="5120640" y="6327648"/>
            <a:ext cx="6492240" cy="274320"/>
          </a:xfrm>
          <a:prstGeom prst="rect">
            <a:avLst/>
          </a:prstGeom>
          <a:noFill/>
          <a:ln/>
        </p:spPr>
        <p:txBody>
          <a:bodyPr wrap="square" lIns="0" tIns="0" rIns="0" bIns="0" rtlCol="0" anchor="ctr"/>
          <a:lstStyle/>
          <a:p>
            <a:pPr algn="r" indent="0" marL="0">
              <a:buNone/>
            </a:pPr>
            <a:r>
              <a:rPr lang="en-US" sz="1000" dirty="0">
                <a:solidFill>
                  <a:srgbClr val="9C8489"/>
                </a:solidFill>
                <a:latin typeface="Calibri" pitchFamily="34" charset="0"/>
                <a:ea typeface="Calibri" pitchFamily="34" charset="-122"/>
                <a:cs typeface="Calibri" pitchFamily="34" charset="-120"/>
              </a:rPr>
              <a:t>Journal club presentation  ·  Eur Heart J 2025; doi:10.1093/eurheartj/ehaf685  ·  NCT05192941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BACKGROUND</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The LDL-C Goal-Attainment Gap</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2</a:t>
            </a:r>
            <a:endParaRPr lang="en-US" sz="950" dirty="0"/>
          </a:p>
        </p:txBody>
      </p:sp>
      <p:sp>
        <p:nvSpPr>
          <p:cNvPr id="6" name="Shape 4"/>
          <p:cNvSpPr/>
          <p:nvPr/>
        </p:nvSpPr>
        <p:spPr>
          <a:xfrm>
            <a:off x="566928" y="1572768"/>
            <a:ext cx="585216" cy="585216"/>
          </a:xfrm>
          <a:prstGeom prst="ellipse">
            <a:avLst/>
          </a:prstGeom>
          <a:solidFill>
            <a:srgbClr val="F7E7EA"/>
          </a:solidFill>
          <a:ln/>
        </p:spPr>
      </p:sp>
      <p:pic>
        <p:nvPicPr>
          <p:cNvPr id="7" name="Image 0" descr="preencoded.png">    </p:cNvPr>
          <p:cNvPicPr>
            <a:picLocks noChangeAspect="1"/>
          </p:cNvPicPr>
          <p:nvPr/>
        </p:nvPicPr>
        <p:blipFill>
          <a:blip r:embed="rId1"/>
          <a:stretch>
            <a:fillRect/>
          </a:stretch>
        </p:blipFill>
        <p:spPr>
          <a:xfrm>
            <a:off x="724936" y="1730776"/>
            <a:ext cx="269199" cy="269199"/>
          </a:xfrm>
          <a:prstGeom prst="rect">
            <a:avLst/>
          </a:prstGeom>
        </p:spPr>
      </p:pic>
      <p:sp>
        <p:nvSpPr>
          <p:cNvPr id="8" name="Text 5"/>
          <p:cNvSpPr txBox="1"/>
          <p:nvPr/>
        </p:nvSpPr>
        <p:spPr>
          <a:xfrm>
            <a:off x="1316736" y="1591056"/>
            <a:ext cx="5074920" cy="310896"/>
          </a:xfrm>
          <a:prstGeom prst="rect">
            <a:avLst/>
          </a:prstGeom>
          <a:noFill/>
          <a:ln/>
        </p:spPr>
        <p:txBody>
          <a:bodyPr wrap="square" lIns="0" tIns="0" rIns="0" bIns="0" rtlCol="0" anchor="ctr"/>
          <a:lstStyle/>
          <a:p>
            <a:pPr indent="0" marL="0">
              <a:buNone/>
            </a:pPr>
            <a:r>
              <a:rPr lang="en-US" sz="1650" b="1" dirty="0">
                <a:solidFill>
                  <a:srgbClr val="2B0A12"/>
                </a:solidFill>
                <a:latin typeface="Calibri" pitchFamily="34" charset="0"/>
                <a:ea typeface="Calibri" pitchFamily="34" charset="-122"/>
                <a:cs typeface="Calibri" pitchFamily="34" charset="-120"/>
              </a:rPr>
              <a:t>LDL-C is causal, and lower is better</a:t>
            </a:r>
            <a:endParaRPr lang="en-US" sz="1650" dirty="0"/>
          </a:p>
        </p:txBody>
      </p:sp>
      <p:sp>
        <p:nvSpPr>
          <p:cNvPr id="9" name="Text 6"/>
          <p:cNvSpPr txBox="1"/>
          <p:nvPr/>
        </p:nvSpPr>
        <p:spPr>
          <a:xfrm>
            <a:off x="1316736" y="1956816"/>
            <a:ext cx="5074920" cy="914400"/>
          </a:xfrm>
          <a:prstGeom prst="rect">
            <a:avLst/>
          </a:prstGeom>
          <a:noFill/>
          <a:ln/>
        </p:spPr>
        <p:txBody>
          <a:bodyPr wrap="square" lIns="0" tIns="0" rIns="0" bIns="0" rtlCol="0" anchor="ctr"/>
          <a:lstStyle/>
          <a:p>
            <a:pPr indent="0" marL="0">
              <a:lnSpc>
                <a:spcPct val="112000"/>
              </a:lnSpc>
              <a:buNone/>
            </a:pPr>
            <a:r>
              <a:rPr lang="en-US" sz="1300" dirty="0">
                <a:solidFill>
                  <a:srgbClr val="2E2A2B"/>
                </a:solidFill>
                <a:latin typeface="Calibri" pitchFamily="34" charset="0"/>
                <a:ea typeface="Calibri" pitchFamily="34" charset="-122"/>
                <a:cs typeface="Calibri" pitchFamily="34" charset="-120"/>
              </a:rPr>
              <a:t>Atherosclerotic risk tracks the cumulative burden of circulating LDL particles. Benefit follows the absolute LDL-C reduction achieved and how long it is maintained.</a:t>
            </a:r>
            <a:endParaRPr lang="en-US" sz="1300" dirty="0"/>
          </a:p>
        </p:txBody>
      </p:sp>
      <p:sp>
        <p:nvSpPr>
          <p:cNvPr id="10" name="Shape 7"/>
          <p:cNvSpPr/>
          <p:nvPr/>
        </p:nvSpPr>
        <p:spPr>
          <a:xfrm>
            <a:off x="566928" y="2907792"/>
            <a:ext cx="585216" cy="585216"/>
          </a:xfrm>
          <a:prstGeom prst="ellipse">
            <a:avLst/>
          </a:prstGeom>
          <a:solidFill>
            <a:srgbClr val="F7E7EA"/>
          </a:solidFill>
          <a:ln/>
        </p:spPr>
      </p:sp>
      <p:pic>
        <p:nvPicPr>
          <p:cNvPr id="11" name="Image 1" descr="preencoded.png">    </p:cNvPr>
          <p:cNvPicPr>
            <a:picLocks noChangeAspect="1"/>
          </p:cNvPicPr>
          <p:nvPr/>
        </p:nvPicPr>
        <p:blipFill>
          <a:blip r:embed="rId2"/>
          <a:stretch>
            <a:fillRect/>
          </a:stretch>
        </p:blipFill>
        <p:spPr>
          <a:xfrm>
            <a:off x="724936" y="3065800"/>
            <a:ext cx="269199" cy="269199"/>
          </a:xfrm>
          <a:prstGeom prst="rect">
            <a:avLst/>
          </a:prstGeom>
        </p:spPr>
      </p:pic>
      <p:sp>
        <p:nvSpPr>
          <p:cNvPr id="12" name="Text 8"/>
          <p:cNvSpPr txBox="1"/>
          <p:nvPr/>
        </p:nvSpPr>
        <p:spPr>
          <a:xfrm>
            <a:off x="1316736" y="2926080"/>
            <a:ext cx="5074920" cy="310896"/>
          </a:xfrm>
          <a:prstGeom prst="rect">
            <a:avLst/>
          </a:prstGeom>
          <a:noFill/>
          <a:ln/>
        </p:spPr>
        <p:txBody>
          <a:bodyPr wrap="square" lIns="0" tIns="0" rIns="0" bIns="0" rtlCol="0" anchor="ctr"/>
          <a:lstStyle/>
          <a:p>
            <a:pPr indent="0" marL="0">
              <a:buNone/>
            </a:pPr>
            <a:r>
              <a:rPr lang="en-US" sz="1650" b="1" dirty="0">
                <a:solidFill>
                  <a:srgbClr val="2B0A12"/>
                </a:solidFill>
                <a:latin typeface="Calibri" pitchFamily="34" charset="0"/>
                <a:ea typeface="Calibri" pitchFamily="34" charset="-122"/>
                <a:cs typeface="Calibri" pitchFamily="34" charset="-120"/>
              </a:rPr>
              <a:t>Guidelines set demanding targets</a:t>
            </a:r>
            <a:endParaRPr lang="en-US" sz="1650" dirty="0"/>
          </a:p>
        </p:txBody>
      </p:sp>
      <p:sp>
        <p:nvSpPr>
          <p:cNvPr id="13" name="Text 9"/>
          <p:cNvSpPr txBox="1"/>
          <p:nvPr/>
        </p:nvSpPr>
        <p:spPr>
          <a:xfrm>
            <a:off x="1316736" y="3291840"/>
            <a:ext cx="5074920" cy="914400"/>
          </a:xfrm>
          <a:prstGeom prst="rect">
            <a:avLst/>
          </a:prstGeom>
          <a:noFill/>
          <a:ln/>
        </p:spPr>
        <p:txBody>
          <a:bodyPr wrap="square" lIns="0" tIns="0" rIns="0" bIns="0" rtlCol="0" anchor="ctr"/>
          <a:lstStyle/>
          <a:p>
            <a:pPr indent="0" marL="0">
              <a:lnSpc>
                <a:spcPct val="112000"/>
              </a:lnSpc>
              <a:buNone/>
            </a:pPr>
            <a:r>
              <a:rPr lang="en-US" sz="1300" dirty="0">
                <a:solidFill>
                  <a:srgbClr val="2E2A2B"/>
                </a:solidFill>
                <a:latin typeface="Calibri" pitchFamily="34" charset="0"/>
                <a:ea typeface="Calibri" pitchFamily="34" charset="-122"/>
                <a:cs typeface="Calibri" pitchFamily="34" charset="-120"/>
              </a:rPr>
              <a:t>The 2019 ESC/EAS dyslipidaemia guideline asks for LDL-C below 55 mg/dL (1.4 mmol/L) at very high risk and below 70 mg/dL (1.8 mmol/L) at high risk.</a:t>
            </a:r>
            <a:endParaRPr lang="en-US" sz="1300" dirty="0"/>
          </a:p>
        </p:txBody>
      </p:sp>
      <p:sp>
        <p:nvSpPr>
          <p:cNvPr id="14" name="Shape 10"/>
          <p:cNvSpPr/>
          <p:nvPr/>
        </p:nvSpPr>
        <p:spPr>
          <a:xfrm>
            <a:off x="566928" y="4242816"/>
            <a:ext cx="585216" cy="585216"/>
          </a:xfrm>
          <a:prstGeom prst="ellipse">
            <a:avLst/>
          </a:prstGeom>
          <a:solidFill>
            <a:srgbClr val="F7E7EA"/>
          </a:solidFill>
          <a:ln/>
        </p:spPr>
      </p:sp>
      <p:pic>
        <p:nvPicPr>
          <p:cNvPr id="15" name="Image 2" descr="preencoded.png">    </p:cNvPr>
          <p:cNvPicPr>
            <a:picLocks noChangeAspect="1"/>
          </p:cNvPicPr>
          <p:nvPr/>
        </p:nvPicPr>
        <p:blipFill>
          <a:blip r:embed="rId3"/>
          <a:stretch>
            <a:fillRect/>
          </a:stretch>
        </p:blipFill>
        <p:spPr>
          <a:xfrm>
            <a:off x="724936" y="4400824"/>
            <a:ext cx="269199" cy="269199"/>
          </a:xfrm>
          <a:prstGeom prst="rect">
            <a:avLst/>
          </a:prstGeom>
        </p:spPr>
      </p:pic>
      <p:sp>
        <p:nvSpPr>
          <p:cNvPr id="16" name="Text 11"/>
          <p:cNvSpPr txBox="1"/>
          <p:nvPr/>
        </p:nvSpPr>
        <p:spPr>
          <a:xfrm>
            <a:off x="1316736" y="4261104"/>
            <a:ext cx="5074920" cy="310896"/>
          </a:xfrm>
          <a:prstGeom prst="rect">
            <a:avLst/>
          </a:prstGeom>
          <a:noFill/>
          <a:ln/>
        </p:spPr>
        <p:txBody>
          <a:bodyPr wrap="square" lIns="0" tIns="0" rIns="0" bIns="0" rtlCol="0" anchor="ctr"/>
          <a:lstStyle/>
          <a:p>
            <a:pPr indent="0" marL="0">
              <a:buNone/>
            </a:pPr>
            <a:r>
              <a:rPr lang="en-US" sz="1650" b="1" dirty="0">
                <a:solidFill>
                  <a:srgbClr val="2B0A12"/>
                </a:solidFill>
                <a:latin typeface="Calibri" pitchFamily="34" charset="0"/>
                <a:ea typeface="Calibri" pitchFamily="34" charset="-122"/>
                <a:cs typeface="Calibri" pitchFamily="34" charset="-120"/>
              </a:rPr>
              <a:t>Real-world attainment falls far short</a:t>
            </a:r>
            <a:endParaRPr lang="en-US" sz="1650" dirty="0"/>
          </a:p>
        </p:txBody>
      </p:sp>
      <p:sp>
        <p:nvSpPr>
          <p:cNvPr id="17" name="Text 12"/>
          <p:cNvSpPr txBox="1"/>
          <p:nvPr/>
        </p:nvSpPr>
        <p:spPr>
          <a:xfrm>
            <a:off x="1316736" y="4626864"/>
            <a:ext cx="5074920" cy="914400"/>
          </a:xfrm>
          <a:prstGeom prst="rect">
            <a:avLst/>
          </a:prstGeom>
          <a:noFill/>
          <a:ln/>
        </p:spPr>
        <p:txBody>
          <a:bodyPr wrap="square" lIns="0" tIns="0" rIns="0" bIns="0" rtlCol="0" anchor="ctr"/>
          <a:lstStyle/>
          <a:p>
            <a:pPr indent="0" marL="0">
              <a:lnSpc>
                <a:spcPct val="112000"/>
              </a:lnSpc>
              <a:buNone/>
            </a:pPr>
            <a:r>
              <a:rPr lang="en-US" sz="1300" dirty="0">
                <a:solidFill>
                  <a:srgbClr val="2E2A2B"/>
                </a:solidFill>
                <a:latin typeface="Calibri" pitchFamily="34" charset="0"/>
                <a:ea typeface="Calibri" pitchFamily="34" charset="-122"/>
                <a:cs typeface="Calibri" pitchFamily="34" charset="-120"/>
              </a:rPr>
              <a:t>In the pan-European DA VINCI registry only about one in three patients reached the risk-based goal recommended for them, despite being on lipid-lowering therapy.</a:t>
            </a:r>
            <a:endParaRPr lang="en-US" sz="1300" dirty="0"/>
          </a:p>
        </p:txBody>
      </p:sp>
      <p:sp>
        <p:nvSpPr>
          <p:cNvPr id="18" name="Shape 13"/>
          <p:cNvSpPr/>
          <p:nvPr/>
        </p:nvSpPr>
        <p:spPr>
          <a:xfrm>
            <a:off x="6812280" y="1572768"/>
            <a:ext cx="4809744" cy="3950208"/>
          </a:xfrm>
          <a:prstGeom prst="roundRect">
            <a:avLst>
              <a:gd name="adj" fmla="val 1852"/>
            </a:avLst>
          </a:prstGeom>
          <a:solidFill>
            <a:srgbClr val="FFFFFF"/>
          </a:solidFill>
          <a:ln/>
          <a:effectLst>
            <a:outerShdw sx="100000" sy="100000" kx="0" ky="0" algn="bl" rotWithShape="0" blurRad="127000" dist="25400" dir="5400000">
              <a:srgbClr val="3A2226">
                <a:alpha val="13000"/>
              </a:srgbClr>
            </a:outerShdw>
          </a:effectLst>
        </p:spPr>
      </p:sp>
      <p:sp>
        <p:nvSpPr>
          <p:cNvPr id="19" name="Text 14"/>
          <p:cNvSpPr txBox="1"/>
          <p:nvPr/>
        </p:nvSpPr>
        <p:spPr>
          <a:xfrm>
            <a:off x="7178040" y="1847088"/>
            <a:ext cx="4078224" cy="475488"/>
          </a:xfrm>
          <a:prstGeom prst="rect">
            <a:avLst/>
          </a:prstGeom>
          <a:noFill/>
          <a:ln/>
        </p:spPr>
        <p:txBody>
          <a:bodyPr wrap="square" lIns="0" tIns="0" rIns="0" bIns="0" rtlCol="0" anchor="ctr"/>
          <a:lstStyle/>
          <a:p>
            <a:pPr indent="0" marL="0">
              <a:lnSpc>
                <a:spcPct val="110000"/>
              </a:lnSpc>
              <a:buNone/>
            </a:pPr>
            <a:r>
              <a:rPr lang="en-US" sz="1050" b="1" spc="120" kern="0" dirty="0">
                <a:solidFill>
                  <a:srgbClr val="A11226"/>
                </a:solidFill>
                <a:latin typeface="Calibri" pitchFamily="34" charset="0"/>
                <a:ea typeface="Calibri" pitchFamily="34" charset="-122"/>
                <a:cs typeface="Calibri" pitchFamily="34" charset="-120"/>
              </a:rPr>
              <a:t>PATIENTS ON LIPID-LOWERING THERAPY AT HIGH OR VERY HIGH RISK</a:t>
            </a:r>
            <a:endParaRPr lang="en-US" sz="1050" dirty="0"/>
          </a:p>
        </p:txBody>
      </p:sp>
      <p:sp>
        <p:nvSpPr>
          <p:cNvPr id="20" name="Text 15"/>
          <p:cNvSpPr txBox="1"/>
          <p:nvPr/>
        </p:nvSpPr>
        <p:spPr>
          <a:xfrm>
            <a:off x="7178040" y="2359152"/>
            <a:ext cx="4078224" cy="914400"/>
          </a:xfrm>
          <a:prstGeom prst="rect">
            <a:avLst/>
          </a:prstGeom>
          <a:noFill/>
          <a:ln/>
        </p:spPr>
        <p:txBody>
          <a:bodyPr wrap="square" lIns="0" tIns="0" rIns="0" bIns="0" rtlCol="0" anchor="ctr"/>
          <a:lstStyle/>
          <a:p>
            <a:pPr indent="0" marL="0">
              <a:buNone/>
            </a:pPr>
            <a:r>
              <a:rPr lang="en-US" sz="6200" b="1" dirty="0">
                <a:solidFill>
                  <a:srgbClr val="A11226"/>
                </a:solidFill>
                <a:latin typeface="Cambria" pitchFamily="34" charset="0"/>
                <a:ea typeface="Cambria" pitchFamily="34" charset="-122"/>
                <a:cs typeface="Cambria" pitchFamily="34" charset="-120"/>
              </a:rPr>
              <a:t>1 in 3</a:t>
            </a:r>
            <a:endParaRPr lang="en-US" sz="6200" dirty="0"/>
          </a:p>
        </p:txBody>
      </p:sp>
      <p:sp>
        <p:nvSpPr>
          <p:cNvPr id="21" name="Text 16"/>
          <p:cNvSpPr txBox="1"/>
          <p:nvPr/>
        </p:nvSpPr>
        <p:spPr>
          <a:xfrm>
            <a:off x="7178040" y="3310128"/>
            <a:ext cx="4078224" cy="603504"/>
          </a:xfrm>
          <a:prstGeom prst="rect">
            <a:avLst/>
          </a:prstGeom>
          <a:noFill/>
          <a:ln/>
        </p:spPr>
        <p:txBody>
          <a:bodyPr wrap="square" lIns="0" tIns="0" rIns="0" bIns="0" rtlCol="0" anchor="ctr"/>
          <a:lstStyle/>
          <a:p>
            <a:pPr indent="0" marL="0">
              <a:lnSpc>
                <a:spcPct val="110000"/>
              </a:lnSpc>
              <a:buNone/>
            </a:pPr>
            <a:r>
              <a:rPr lang="en-US" sz="1500" dirty="0">
                <a:solidFill>
                  <a:srgbClr val="2E2A2B"/>
                </a:solidFill>
                <a:latin typeface="Calibri" pitchFamily="34" charset="0"/>
                <a:ea typeface="Calibri" pitchFamily="34" charset="-122"/>
                <a:cs typeface="Calibri" pitchFamily="34" charset="-120"/>
              </a:rPr>
              <a:t>reach the LDL-C goal their own risk category calls for</a:t>
            </a:r>
            <a:endParaRPr lang="en-US" sz="1500" dirty="0"/>
          </a:p>
        </p:txBody>
      </p:sp>
      <p:sp>
        <p:nvSpPr>
          <p:cNvPr id="22" name="Shape 17"/>
          <p:cNvSpPr/>
          <p:nvPr/>
        </p:nvSpPr>
        <p:spPr>
          <a:xfrm>
            <a:off x="7178040" y="4041648"/>
            <a:ext cx="4078224" cy="1207008"/>
          </a:xfrm>
          <a:prstGeom prst="roundRect">
            <a:avLst>
              <a:gd name="adj" fmla="val 6061"/>
            </a:avLst>
          </a:prstGeom>
          <a:solidFill>
            <a:srgbClr val="F7E7EA"/>
          </a:solidFill>
          <a:ln/>
        </p:spPr>
      </p:sp>
      <p:sp>
        <p:nvSpPr>
          <p:cNvPr id="23" name="Text 18"/>
          <p:cNvSpPr txBox="1"/>
          <p:nvPr/>
        </p:nvSpPr>
        <p:spPr>
          <a:xfrm>
            <a:off x="7424928" y="4224528"/>
            <a:ext cx="3584448" cy="868680"/>
          </a:xfrm>
          <a:prstGeom prst="rect">
            <a:avLst/>
          </a:prstGeom>
          <a:noFill/>
          <a:ln/>
        </p:spPr>
        <p:txBody>
          <a:bodyPr wrap="square" lIns="0" tIns="0" rIns="0" bIns="0" rtlCol="0" anchor="ctr"/>
          <a:lstStyle/>
          <a:p>
            <a:pPr indent="0" marL="0">
              <a:lnSpc>
                <a:spcPct val="110000"/>
              </a:lnSpc>
              <a:buNone/>
            </a:pPr>
            <a:r>
              <a:rPr lang="en-US" sz="1250" b="1" dirty="0">
                <a:solidFill>
                  <a:srgbClr val="2B0A12"/>
                </a:solidFill>
                <a:latin typeface="Calibri" pitchFamily="34" charset="0"/>
                <a:ea typeface="Calibri" pitchFamily="34" charset="-122"/>
                <a:cs typeface="Calibri" pitchFamily="34" charset="-120"/>
              </a:rPr>
              <a:t>VICTORION-Difference echoed this exactly: </a:t>
            </a:r>
            <a:pPr indent="0" marL="0">
              <a:lnSpc>
                <a:spcPct val="110000"/>
              </a:lnSpc>
              <a:buNone/>
            </a:pPr>
            <a:r>
              <a:rPr lang="en-US" sz="1250" dirty="0">
                <a:solidFill>
                  <a:srgbClr val="2B0A12"/>
                </a:solidFill>
                <a:latin typeface="Calibri" pitchFamily="34" charset="0"/>
                <a:ea typeface="Calibri" pitchFamily="34" charset="-122"/>
                <a:cs typeface="Calibri" pitchFamily="34" charset="-120"/>
              </a:rPr>
              <a:t>only 31.0% of the optimised-statin control arm were at goal by Day 90.</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THE CLINICAL PROBLEM</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Why Patients Miss Their LDL-C Goal</a:t>
            </a:r>
            <a:endParaRPr lang="en-US" sz="3200" dirty="0"/>
          </a:p>
        </p:txBody>
      </p:sp>
      <p:sp>
        <p:nvSpPr>
          <p:cNvPr id="4" name="Text 2"/>
          <p:cNvSpPr txBox="1"/>
          <p:nvPr/>
        </p:nvSpPr>
        <p:spPr>
          <a:xfrm>
            <a:off x="566928" y="1298448"/>
            <a:ext cx="11055096" cy="310896"/>
          </a:xfrm>
          <a:prstGeom prst="rect">
            <a:avLst/>
          </a:prstGeom>
          <a:noFill/>
          <a:ln/>
        </p:spPr>
        <p:txBody>
          <a:bodyPr wrap="square" lIns="0" tIns="0" rIns="0" bIns="0" rtlCol="0" anchor="ctr"/>
          <a:lstStyle/>
          <a:p>
            <a:pPr indent="0" marL="0">
              <a:buNone/>
            </a:pPr>
            <a:r>
              <a:rPr lang="en-US" sz="1400" i="1" dirty="0">
                <a:solidFill>
                  <a:srgbClr val="756B6D"/>
                </a:solidFill>
                <a:latin typeface="Calibri" pitchFamily="34" charset="0"/>
                <a:ea typeface="Calibri" pitchFamily="34" charset="-122"/>
                <a:cs typeface="Calibri" pitchFamily="34" charset="-120"/>
              </a:rPr>
              <a:t>Four recurring barriers stand between an evidence-based target and the number on the patient's report.</a:t>
            </a:r>
            <a:endParaRPr lang="en-US" sz="1400" dirty="0"/>
          </a:p>
        </p:txBody>
      </p:sp>
      <p:sp>
        <p:nvSpPr>
          <p:cNvPr id="5" name="Text 3"/>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6" name="Text 4"/>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3</a:t>
            </a:r>
            <a:endParaRPr lang="en-US" sz="950" dirty="0"/>
          </a:p>
        </p:txBody>
      </p:sp>
      <p:sp>
        <p:nvSpPr>
          <p:cNvPr id="7" name="Shape 5"/>
          <p:cNvSpPr/>
          <p:nvPr/>
        </p:nvSpPr>
        <p:spPr>
          <a:xfrm>
            <a:off x="566928" y="1737360"/>
            <a:ext cx="5266944" cy="1828800"/>
          </a:xfrm>
          <a:prstGeom prst="roundRect">
            <a:avLst>
              <a:gd name="adj" fmla="val 4000"/>
            </a:avLst>
          </a:prstGeom>
          <a:solidFill>
            <a:srgbClr val="FFFFFF"/>
          </a:solidFill>
          <a:ln/>
          <a:effectLst>
            <a:outerShdw sx="100000" sy="100000" kx="0" ky="0" algn="bl" rotWithShape="0" blurRad="127000" dist="25400" dir="5400000">
              <a:srgbClr val="3A2226">
                <a:alpha val="13000"/>
              </a:srgbClr>
            </a:outerShdw>
          </a:effectLst>
        </p:spPr>
      </p:sp>
      <p:sp>
        <p:nvSpPr>
          <p:cNvPr id="8" name="Shape 6"/>
          <p:cNvSpPr/>
          <p:nvPr/>
        </p:nvSpPr>
        <p:spPr>
          <a:xfrm>
            <a:off x="877824" y="2011680"/>
            <a:ext cx="603504" cy="603504"/>
          </a:xfrm>
          <a:prstGeom prst="ellipse">
            <a:avLst/>
          </a:prstGeom>
          <a:solidFill>
            <a:srgbClr val="F7E7EA"/>
          </a:solidFill>
          <a:ln/>
        </p:spPr>
      </p:sp>
      <p:pic>
        <p:nvPicPr>
          <p:cNvPr id="9" name="Image 0" descr="preencoded.png">    </p:cNvPr>
          <p:cNvPicPr>
            <a:picLocks noChangeAspect="1"/>
          </p:cNvPicPr>
          <p:nvPr/>
        </p:nvPicPr>
        <p:blipFill>
          <a:blip r:embed="rId1"/>
          <a:stretch>
            <a:fillRect/>
          </a:stretch>
        </p:blipFill>
        <p:spPr>
          <a:xfrm>
            <a:off x="1040770" y="2174626"/>
            <a:ext cx="277612" cy="277612"/>
          </a:xfrm>
          <a:prstGeom prst="rect">
            <a:avLst/>
          </a:prstGeom>
        </p:spPr>
      </p:pic>
      <p:sp>
        <p:nvSpPr>
          <p:cNvPr id="10" name="Text 7"/>
          <p:cNvSpPr txBox="1"/>
          <p:nvPr/>
        </p:nvSpPr>
        <p:spPr>
          <a:xfrm>
            <a:off x="1609344" y="2066544"/>
            <a:ext cx="3913632" cy="512064"/>
          </a:xfrm>
          <a:prstGeom prst="rect">
            <a:avLst/>
          </a:prstGeom>
          <a:noFill/>
          <a:ln/>
        </p:spPr>
        <p:txBody>
          <a:bodyPr wrap="square" lIns="0" tIns="0" rIns="0" bIns="0" rtlCol="0" anchor="ctr"/>
          <a:lstStyle/>
          <a:p>
            <a:pPr indent="0" marL="0">
              <a:buNone/>
            </a:pPr>
            <a:r>
              <a:rPr lang="en-US" sz="1600" b="1" dirty="0">
                <a:solidFill>
                  <a:srgbClr val="2B0A12"/>
                </a:solidFill>
                <a:latin typeface="Calibri" pitchFamily="34" charset="0"/>
                <a:ea typeface="Calibri" pitchFamily="34" charset="-122"/>
                <a:cs typeface="Calibri" pitchFamily="34" charset="-120"/>
              </a:rPr>
              <a:t>Clinical inertia and under-titration</a:t>
            </a:r>
            <a:endParaRPr lang="en-US" sz="1600" dirty="0"/>
          </a:p>
        </p:txBody>
      </p:sp>
      <p:sp>
        <p:nvSpPr>
          <p:cNvPr id="11" name="Text 8"/>
          <p:cNvSpPr txBox="1"/>
          <p:nvPr/>
        </p:nvSpPr>
        <p:spPr>
          <a:xfrm>
            <a:off x="877824" y="2761488"/>
            <a:ext cx="4645152" cy="658368"/>
          </a:xfrm>
          <a:prstGeom prst="rect">
            <a:avLst/>
          </a:prstGeom>
          <a:noFill/>
          <a:ln/>
        </p:spPr>
        <p:txBody>
          <a:bodyPr wrap="square" lIns="0" tIns="0" rIns="0" bIns="0" rtlCol="0" anchor="ctr"/>
          <a:lstStyle/>
          <a:p>
            <a:pPr indent="0" marL="0">
              <a:lnSpc>
                <a:spcPct val="110000"/>
              </a:lnSpc>
              <a:buNone/>
            </a:pPr>
            <a:r>
              <a:rPr lang="en-US" sz="1250" dirty="0">
                <a:solidFill>
                  <a:srgbClr val="2E2A2B"/>
                </a:solidFill>
                <a:latin typeface="Calibri" pitchFamily="34" charset="0"/>
                <a:ea typeface="Calibri" pitchFamily="34" charset="-122"/>
                <a:cs typeface="Calibri" pitchFamily="34" charset="-120"/>
              </a:rPr>
              <a:t>Statin doses are seldom pushed to the maximum tolerated level and combination therapy is added late, so LDL-C plateaus above goal.</a:t>
            </a:r>
            <a:endParaRPr lang="en-US" sz="1250" dirty="0"/>
          </a:p>
        </p:txBody>
      </p:sp>
      <p:sp>
        <p:nvSpPr>
          <p:cNvPr id="12" name="Shape 9"/>
          <p:cNvSpPr/>
          <p:nvPr/>
        </p:nvSpPr>
        <p:spPr>
          <a:xfrm>
            <a:off x="6355080" y="1737360"/>
            <a:ext cx="5266944" cy="1828800"/>
          </a:xfrm>
          <a:prstGeom prst="roundRect">
            <a:avLst>
              <a:gd name="adj" fmla="val 4000"/>
            </a:avLst>
          </a:prstGeom>
          <a:solidFill>
            <a:srgbClr val="FFFFFF"/>
          </a:solidFill>
          <a:ln/>
          <a:effectLst>
            <a:outerShdw sx="100000" sy="100000" kx="0" ky="0" algn="bl" rotWithShape="0" blurRad="127000" dist="25400" dir="5400000">
              <a:srgbClr val="3A2226">
                <a:alpha val="13000"/>
              </a:srgbClr>
            </a:outerShdw>
          </a:effectLst>
        </p:spPr>
      </p:sp>
      <p:sp>
        <p:nvSpPr>
          <p:cNvPr id="13" name="Shape 10"/>
          <p:cNvSpPr/>
          <p:nvPr/>
        </p:nvSpPr>
        <p:spPr>
          <a:xfrm>
            <a:off x="6665976" y="2011680"/>
            <a:ext cx="603504" cy="603504"/>
          </a:xfrm>
          <a:prstGeom prst="ellipse">
            <a:avLst/>
          </a:prstGeom>
          <a:solidFill>
            <a:srgbClr val="F7E7EA"/>
          </a:solidFill>
          <a:ln/>
        </p:spPr>
      </p:sp>
      <p:pic>
        <p:nvPicPr>
          <p:cNvPr id="14" name="Image 1" descr="preencoded.png">    </p:cNvPr>
          <p:cNvPicPr>
            <a:picLocks noChangeAspect="1"/>
          </p:cNvPicPr>
          <p:nvPr/>
        </p:nvPicPr>
        <p:blipFill>
          <a:blip r:embed="rId2"/>
          <a:stretch>
            <a:fillRect/>
          </a:stretch>
        </p:blipFill>
        <p:spPr>
          <a:xfrm>
            <a:off x="6828922" y="2174626"/>
            <a:ext cx="277612" cy="277612"/>
          </a:xfrm>
          <a:prstGeom prst="rect">
            <a:avLst/>
          </a:prstGeom>
        </p:spPr>
      </p:pic>
      <p:sp>
        <p:nvSpPr>
          <p:cNvPr id="15" name="Text 11"/>
          <p:cNvSpPr txBox="1"/>
          <p:nvPr/>
        </p:nvSpPr>
        <p:spPr>
          <a:xfrm>
            <a:off x="7397496" y="2066544"/>
            <a:ext cx="3913632" cy="512064"/>
          </a:xfrm>
          <a:prstGeom prst="rect">
            <a:avLst/>
          </a:prstGeom>
          <a:noFill/>
          <a:ln/>
        </p:spPr>
        <p:txBody>
          <a:bodyPr wrap="square" lIns="0" tIns="0" rIns="0" bIns="0" rtlCol="0" anchor="ctr"/>
          <a:lstStyle/>
          <a:p>
            <a:pPr indent="0" marL="0">
              <a:buNone/>
            </a:pPr>
            <a:r>
              <a:rPr lang="en-US" sz="1600" b="1" dirty="0">
                <a:solidFill>
                  <a:srgbClr val="2B0A12"/>
                </a:solidFill>
                <a:latin typeface="Calibri" pitchFamily="34" charset="0"/>
                <a:ea typeface="Calibri" pitchFamily="34" charset="-122"/>
                <a:cs typeface="Calibri" pitchFamily="34" charset="-120"/>
              </a:rPr>
              <a:t>Statin-associated muscle symptoms</a:t>
            </a:r>
            <a:endParaRPr lang="en-US" sz="1600" dirty="0"/>
          </a:p>
        </p:txBody>
      </p:sp>
      <p:sp>
        <p:nvSpPr>
          <p:cNvPr id="16" name="Text 12"/>
          <p:cNvSpPr txBox="1"/>
          <p:nvPr/>
        </p:nvSpPr>
        <p:spPr>
          <a:xfrm>
            <a:off x="6665976" y="2761488"/>
            <a:ext cx="4645152" cy="658368"/>
          </a:xfrm>
          <a:prstGeom prst="rect">
            <a:avLst/>
          </a:prstGeom>
          <a:noFill/>
          <a:ln/>
        </p:spPr>
        <p:txBody>
          <a:bodyPr wrap="square" lIns="0" tIns="0" rIns="0" bIns="0" rtlCol="0" anchor="ctr"/>
          <a:lstStyle/>
          <a:p>
            <a:pPr indent="0" marL="0">
              <a:lnSpc>
                <a:spcPct val="110000"/>
              </a:lnSpc>
              <a:buNone/>
            </a:pPr>
            <a:r>
              <a:rPr lang="en-US" sz="1250" dirty="0">
                <a:solidFill>
                  <a:srgbClr val="2E2A2B"/>
                </a:solidFill>
                <a:latin typeface="Calibri" pitchFamily="34" charset="0"/>
                <a:ea typeface="Calibri" pitchFamily="34" charset="-122"/>
                <a:cs typeface="Calibri" pitchFamily="34" charset="-120"/>
              </a:rPr>
              <a:t>Myalgia remains the commonest reason for dose reduction, drug switching or outright discontinuation of statin therapy.</a:t>
            </a:r>
            <a:endParaRPr lang="en-US" sz="1250" dirty="0"/>
          </a:p>
        </p:txBody>
      </p:sp>
      <p:sp>
        <p:nvSpPr>
          <p:cNvPr id="17" name="Shape 13"/>
          <p:cNvSpPr/>
          <p:nvPr/>
        </p:nvSpPr>
        <p:spPr>
          <a:xfrm>
            <a:off x="566928" y="3840480"/>
            <a:ext cx="5266944" cy="1828800"/>
          </a:xfrm>
          <a:prstGeom prst="roundRect">
            <a:avLst>
              <a:gd name="adj" fmla="val 4000"/>
            </a:avLst>
          </a:prstGeom>
          <a:solidFill>
            <a:srgbClr val="FFFFFF"/>
          </a:solidFill>
          <a:ln/>
          <a:effectLst>
            <a:outerShdw sx="100000" sy="100000" kx="0" ky="0" algn="bl" rotWithShape="0" blurRad="127000" dist="25400" dir="5400000">
              <a:srgbClr val="3A2226">
                <a:alpha val="13000"/>
              </a:srgbClr>
            </a:outerShdw>
          </a:effectLst>
        </p:spPr>
      </p:sp>
      <p:sp>
        <p:nvSpPr>
          <p:cNvPr id="18" name="Shape 14"/>
          <p:cNvSpPr/>
          <p:nvPr/>
        </p:nvSpPr>
        <p:spPr>
          <a:xfrm>
            <a:off x="877824" y="4114800"/>
            <a:ext cx="603504" cy="603504"/>
          </a:xfrm>
          <a:prstGeom prst="ellipse">
            <a:avLst/>
          </a:prstGeom>
          <a:solidFill>
            <a:srgbClr val="F7E7EA"/>
          </a:solidFill>
          <a:ln/>
        </p:spPr>
      </p:sp>
      <p:pic>
        <p:nvPicPr>
          <p:cNvPr id="19" name="Image 2" descr="preencoded.png">    </p:cNvPr>
          <p:cNvPicPr>
            <a:picLocks noChangeAspect="1"/>
          </p:cNvPicPr>
          <p:nvPr/>
        </p:nvPicPr>
        <p:blipFill>
          <a:blip r:embed="rId3"/>
          <a:stretch>
            <a:fillRect/>
          </a:stretch>
        </p:blipFill>
        <p:spPr>
          <a:xfrm>
            <a:off x="1040770" y="4277746"/>
            <a:ext cx="277612" cy="277612"/>
          </a:xfrm>
          <a:prstGeom prst="rect">
            <a:avLst/>
          </a:prstGeom>
        </p:spPr>
      </p:pic>
      <p:sp>
        <p:nvSpPr>
          <p:cNvPr id="20" name="Text 15"/>
          <p:cNvSpPr txBox="1"/>
          <p:nvPr/>
        </p:nvSpPr>
        <p:spPr>
          <a:xfrm>
            <a:off x="1609344" y="4169664"/>
            <a:ext cx="3913632" cy="512064"/>
          </a:xfrm>
          <a:prstGeom prst="rect">
            <a:avLst/>
          </a:prstGeom>
          <a:noFill/>
          <a:ln/>
        </p:spPr>
        <p:txBody>
          <a:bodyPr wrap="square" lIns="0" tIns="0" rIns="0" bIns="0" rtlCol="0" anchor="ctr"/>
          <a:lstStyle/>
          <a:p>
            <a:pPr indent="0" marL="0">
              <a:buNone/>
            </a:pPr>
            <a:r>
              <a:rPr lang="en-US" sz="1600" b="1" dirty="0">
                <a:solidFill>
                  <a:srgbClr val="2B0A12"/>
                </a:solidFill>
                <a:latin typeface="Calibri" pitchFamily="34" charset="0"/>
                <a:ea typeface="Calibri" pitchFamily="34" charset="-122"/>
                <a:cs typeface="Calibri" pitchFamily="34" charset="-120"/>
              </a:rPr>
              <a:t>Adherence to daily oral therapy</a:t>
            </a:r>
            <a:endParaRPr lang="en-US" sz="1600" dirty="0"/>
          </a:p>
        </p:txBody>
      </p:sp>
      <p:sp>
        <p:nvSpPr>
          <p:cNvPr id="21" name="Text 16"/>
          <p:cNvSpPr txBox="1"/>
          <p:nvPr/>
        </p:nvSpPr>
        <p:spPr>
          <a:xfrm>
            <a:off x="877824" y="4864608"/>
            <a:ext cx="4645152" cy="658368"/>
          </a:xfrm>
          <a:prstGeom prst="rect">
            <a:avLst/>
          </a:prstGeom>
          <a:noFill/>
          <a:ln/>
        </p:spPr>
        <p:txBody>
          <a:bodyPr wrap="square" lIns="0" tIns="0" rIns="0" bIns="0" rtlCol="0" anchor="ctr"/>
          <a:lstStyle/>
          <a:p>
            <a:pPr indent="0" marL="0">
              <a:lnSpc>
                <a:spcPct val="110000"/>
              </a:lnSpc>
              <a:buNone/>
            </a:pPr>
            <a:r>
              <a:rPr lang="en-US" sz="1250" dirty="0">
                <a:solidFill>
                  <a:srgbClr val="2E2A2B"/>
                </a:solidFill>
                <a:latin typeface="Calibri" pitchFamily="34" charset="0"/>
                <a:ea typeface="Calibri" pitchFamily="34" charset="-122"/>
                <a:cs typeface="Calibri" pitchFamily="34" charset="-120"/>
              </a:rPr>
              <a:t>Persistence with a daily tablet declines steadily after the first year, quietly eroding the LDL-C reduction originally achieved.</a:t>
            </a:r>
            <a:endParaRPr lang="en-US" sz="1250" dirty="0"/>
          </a:p>
        </p:txBody>
      </p:sp>
      <p:sp>
        <p:nvSpPr>
          <p:cNvPr id="22" name="Shape 17"/>
          <p:cNvSpPr/>
          <p:nvPr/>
        </p:nvSpPr>
        <p:spPr>
          <a:xfrm>
            <a:off x="6355080" y="3840480"/>
            <a:ext cx="5266944" cy="1828800"/>
          </a:xfrm>
          <a:prstGeom prst="roundRect">
            <a:avLst>
              <a:gd name="adj" fmla="val 4000"/>
            </a:avLst>
          </a:prstGeom>
          <a:solidFill>
            <a:srgbClr val="FFFFFF"/>
          </a:solidFill>
          <a:ln/>
          <a:effectLst>
            <a:outerShdw sx="100000" sy="100000" kx="0" ky="0" algn="bl" rotWithShape="0" blurRad="127000" dist="25400" dir="5400000">
              <a:srgbClr val="3A2226">
                <a:alpha val="13000"/>
              </a:srgbClr>
            </a:outerShdw>
          </a:effectLst>
        </p:spPr>
      </p:sp>
      <p:sp>
        <p:nvSpPr>
          <p:cNvPr id="23" name="Shape 18"/>
          <p:cNvSpPr/>
          <p:nvPr/>
        </p:nvSpPr>
        <p:spPr>
          <a:xfrm>
            <a:off x="6665976" y="4114800"/>
            <a:ext cx="603504" cy="603504"/>
          </a:xfrm>
          <a:prstGeom prst="ellipse">
            <a:avLst/>
          </a:prstGeom>
          <a:solidFill>
            <a:srgbClr val="F7E7EA"/>
          </a:solidFill>
          <a:ln/>
        </p:spPr>
      </p:sp>
      <p:pic>
        <p:nvPicPr>
          <p:cNvPr id="24" name="Image 3" descr="preencoded.png">    </p:cNvPr>
          <p:cNvPicPr>
            <a:picLocks noChangeAspect="1"/>
          </p:cNvPicPr>
          <p:nvPr/>
        </p:nvPicPr>
        <p:blipFill>
          <a:blip r:embed="rId4"/>
          <a:stretch>
            <a:fillRect/>
          </a:stretch>
        </p:blipFill>
        <p:spPr>
          <a:xfrm>
            <a:off x="6828922" y="4277746"/>
            <a:ext cx="277612" cy="277612"/>
          </a:xfrm>
          <a:prstGeom prst="rect">
            <a:avLst/>
          </a:prstGeom>
        </p:spPr>
      </p:pic>
      <p:sp>
        <p:nvSpPr>
          <p:cNvPr id="25" name="Text 19"/>
          <p:cNvSpPr txBox="1"/>
          <p:nvPr/>
        </p:nvSpPr>
        <p:spPr>
          <a:xfrm>
            <a:off x="7397496" y="4169664"/>
            <a:ext cx="3913632" cy="512064"/>
          </a:xfrm>
          <a:prstGeom prst="rect">
            <a:avLst/>
          </a:prstGeom>
          <a:noFill/>
          <a:ln/>
        </p:spPr>
        <p:txBody>
          <a:bodyPr wrap="square" lIns="0" tIns="0" rIns="0" bIns="0" rtlCol="0" anchor="ctr"/>
          <a:lstStyle/>
          <a:p>
            <a:pPr indent="0" marL="0">
              <a:buNone/>
            </a:pPr>
            <a:r>
              <a:rPr lang="en-US" sz="1600" b="1" dirty="0">
                <a:solidFill>
                  <a:srgbClr val="2B0A12"/>
                </a:solidFill>
                <a:latin typeface="Calibri" pitchFamily="34" charset="0"/>
                <a:ea typeface="Calibri" pitchFamily="34" charset="-122"/>
                <a:cs typeface="Calibri" pitchFamily="34" charset="-120"/>
              </a:rPr>
              <a:t>Burden of frequent injections</a:t>
            </a:r>
            <a:endParaRPr lang="en-US" sz="1600" dirty="0"/>
          </a:p>
        </p:txBody>
      </p:sp>
      <p:sp>
        <p:nvSpPr>
          <p:cNvPr id="26" name="Text 20"/>
          <p:cNvSpPr txBox="1"/>
          <p:nvPr/>
        </p:nvSpPr>
        <p:spPr>
          <a:xfrm>
            <a:off x="6665976" y="4864608"/>
            <a:ext cx="4645152" cy="658368"/>
          </a:xfrm>
          <a:prstGeom prst="rect">
            <a:avLst/>
          </a:prstGeom>
          <a:noFill/>
          <a:ln/>
        </p:spPr>
        <p:txBody>
          <a:bodyPr wrap="square" lIns="0" tIns="0" rIns="0" bIns="0" rtlCol="0" anchor="ctr"/>
          <a:lstStyle/>
          <a:p>
            <a:pPr indent="0" marL="0">
              <a:lnSpc>
                <a:spcPct val="110000"/>
              </a:lnSpc>
              <a:buNone/>
            </a:pPr>
            <a:r>
              <a:rPr lang="en-US" sz="1250" dirty="0">
                <a:solidFill>
                  <a:srgbClr val="2E2A2B"/>
                </a:solidFill>
                <a:latin typeface="Calibri" pitchFamily="34" charset="0"/>
                <a:ea typeface="Calibri" pitchFamily="34" charset="-122"/>
                <a:cs typeface="Calibri" pitchFamily="34" charset="-120"/>
              </a:rPr>
              <a:t>PCSK9 monoclonal antibodies lower LDL-C effectively, but two-weekly or monthly self-injection limits uptake and long-term persistence.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THE DRUG</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Inclisiran: How It Works</a:t>
            </a:r>
            <a:endParaRPr lang="en-US" sz="3200" dirty="0"/>
          </a:p>
        </p:txBody>
      </p:sp>
      <p:sp>
        <p:nvSpPr>
          <p:cNvPr id="4" name="Text 2"/>
          <p:cNvSpPr txBox="1"/>
          <p:nvPr/>
        </p:nvSpPr>
        <p:spPr>
          <a:xfrm>
            <a:off x="566928" y="1298448"/>
            <a:ext cx="11055096" cy="310896"/>
          </a:xfrm>
          <a:prstGeom prst="rect">
            <a:avLst/>
          </a:prstGeom>
          <a:noFill/>
          <a:ln/>
        </p:spPr>
        <p:txBody>
          <a:bodyPr wrap="square" lIns="0" tIns="0" rIns="0" bIns="0" rtlCol="0" anchor="ctr"/>
          <a:lstStyle/>
          <a:p>
            <a:pPr indent="0" marL="0">
              <a:buNone/>
            </a:pPr>
            <a:r>
              <a:rPr lang="en-US" sz="1400" i="1" dirty="0">
                <a:solidFill>
                  <a:srgbClr val="756B6D"/>
                </a:solidFill>
                <a:latin typeface="Calibri" pitchFamily="34" charset="0"/>
                <a:ea typeface="Calibri" pitchFamily="34" charset="-122"/>
                <a:cs typeface="Calibri" pitchFamily="34" charset="-120"/>
              </a:rPr>
              <a:t>A GalNAc-conjugated small interfering RNA that silences PCSK9 synthesis inside the hepatocyte.</a:t>
            </a:r>
            <a:endParaRPr lang="en-US" sz="1400" dirty="0"/>
          </a:p>
        </p:txBody>
      </p:sp>
      <p:sp>
        <p:nvSpPr>
          <p:cNvPr id="5" name="Text 3"/>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6" name="Text 4"/>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4</a:t>
            </a:r>
            <a:endParaRPr lang="en-US" sz="950" dirty="0"/>
          </a:p>
        </p:txBody>
      </p:sp>
      <p:sp>
        <p:nvSpPr>
          <p:cNvPr id="7" name="Shape 5"/>
          <p:cNvSpPr/>
          <p:nvPr/>
        </p:nvSpPr>
        <p:spPr>
          <a:xfrm>
            <a:off x="635508" y="1792224"/>
            <a:ext cx="1920240" cy="2267712"/>
          </a:xfrm>
          <a:prstGeom prst="roundRect">
            <a:avLst>
              <a:gd name="adj" fmla="val 3810"/>
            </a:avLst>
          </a:prstGeom>
          <a:solidFill>
            <a:srgbClr val="FFFFFF"/>
          </a:solidFill>
          <a:ln/>
          <a:effectLst>
            <a:outerShdw sx="100000" sy="100000" kx="0" ky="0" algn="bl" rotWithShape="0" blurRad="127000" dist="25400" dir="5400000">
              <a:srgbClr val="3A2226">
                <a:alpha val="13000"/>
              </a:srgbClr>
            </a:outerShdw>
          </a:effectLst>
        </p:spPr>
      </p:sp>
      <p:sp>
        <p:nvSpPr>
          <p:cNvPr id="8" name="Shape 6"/>
          <p:cNvSpPr/>
          <p:nvPr/>
        </p:nvSpPr>
        <p:spPr>
          <a:xfrm>
            <a:off x="1266444" y="2029968"/>
            <a:ext cx="658368" cy="658368"/>
          </a:xfrm>
          <a:prstGeom prst="ellipse">
            <a:avLst/>
          </a:prstGeom>
          <a:solidFill>
            <a:srgbClr val="F7E7EA"/>
          </a:solidFill>
          <a:ln/>
        </p:spPr>
      </p:sp>
      <p:pic>
        <p:nvPicPr>
          <p:cNvPr id="9" name="Image 0" descr="preencoded.png">    </p:cNvPr>
          <p:cNvPicPr>
            <a:picLocks noChangeAspect="1"/>
          </p:cNvPicPr>
          <p:nvPr/>
        </p:nvPicPr>
        <p:blipFill>
          <a:blip r:embed="rId1"/>
          <a:stretch>
            <a:fillRect/>
          </a:stretch>
        </p:blipFill>
        <p:spPr>
          <a:xfrm>
            <a:off x="1444203" y="2207727"/>
            <a:ext cx="302849" cy="302849"/>
          </a:xfrm>
          <a:prstGeom prst="rect">
            <a:avLst/>
          </a:prstGeom>
        </p:spPr>
      </p:pic>
      <p:sp>
        <p:nvSpPr>
          <p:cNvPr id="10" name="Text 7"/>
          <p:cNvSpPr txBox="1"/>
          <p:nvPr/>
        </p:nvSpPr>
        <p:spPr>
          <a:xfrm>
            <a:off x="781812" y="2798064"/>
            <a:ext cx="1627632" cy="438912"/>
          </a:xfrm>
          <a:prstGeom prst="rect">
            <a:avLst/>
          </a:prstGeom>
          <a:noFill/>
          <a:ln/>
        </p:spPr>
        <p:txBody>
          <a:bodyPr wrap="square" lIns="0" tIns="0" rIns="0" bIns="0" rtlCol="0" anchor="t"/>
          <a:lstStyle/>
          <a:p>
            <a:pPr algn="ctr" indent="0" marL="0">
              <a:buNone/>
            </a:pPr>
            <a:r>
              <a:rPr lang="en-US" sz="1300" b="1" dirty="0">
                <a:solidFill>
                  <a:srgbClr val="2B0A12"/>
                </a:solidFill>
                <a:latin typeface="Calibri" pitchFamily="34" charset="0"/>
                <a:ea typeface="Calibri" pitchFamily="34" charset="-122"/>
                <a:cs typeface="Calibri" pitchFamily="34" charset="-120"/>
              </a:rPr>
              <a:t>Subcutaneous dose</a:t>
            </a:r>
            <a:endParaRPr lang="en-US" sz="1300" dirty="0"/>
          </a:p>
        </p:txBody>
      </p:sp>
      <p:sp>
        <p:nvSpPr>
          <p:cNvPr id="11" name="Text 8"/>
          <p:cNvSpPr txBox="1"/>
          <p:nvPr/>
        </p:nvSpPr>
        <p:spPr>
          <a:xfrm>
            <a:off x="781812" y="3273552"/>
            <a:ext cx="1627632" cy="694944"/>
          </a:xfrm>
          <a:prstGeom prst="rect">
            <a:avLst/>
          </a:prstGeom>
          <a:noFill/>
          <a:ln/>
        </p:spPr>
        <p:txBody>
          <a:bodyPr wrap="square" lIns="0" tIns="0" rIns="0" bIns="0" rtlCol="0" anchor="ctr"/>
          <a:lstStyle/>
          <a:p>
            <a:pPr algn="ctr" indent="0" marL="0">
              <a:lnSpc>
                <a:spcPct val="108000"/>
              </a:lnSpc>
              <a:buNone/>
            </a:pPr>
            <a:r>
              <a:rPr lang="en-US" sz="1050" dirty="0">
                <a:solidFill>
                  <a:srgbClr val="756B6D"/>
                </a:solidFill>
                <a:latin typeface="Calibri" pitchFamily="34" charset="0"/>
                <a:ea typeface="Calibri" pitchFamily="34" charset="-122"/>
                <a:cs typeface="Calibri" pitchFamily="34" charset="-120"/>
              </a:rPr>
              <a:t>300 mg inclisiran sodium given under the skin</a:t>
            </a:r>
            <a:endParaRPr lang="en-US" sz="1050" dirty="0"/>
          </a:p>
        </p:txBody>
      </p:sp>
      <p:sp>
        <p:nvSpPr>
          <p:cNvPr id="12" name="Shape 9"/>
          <p:cNvSpPr/>
          <p:nvPr/>
        </p:nvSpPr>
        <p:spPr>
          <a:xfrm>
            <a:off x="2601468" y="2267712"/>
            <a:ext cx="237744" cy="182880"/>
          </a:xfrm>
          <a:prstGeom prst="rightArrow">
            <a:avLst/>
          </a:prstGeom>
          <a:solidFill>
            <a:srgbClr val="C8324A"/>
          </a:solidFill>
          <a:ln/>
        </p:spPr>
      </p:sp>
      <p:sp>
        <p:nvSpPr>
          <p:cNvPr id="13" name="Shape 10"/>
          <p:cNvSpPr/>
          <p:nvPr/>
        </p:nvSpPr>
        <p:spPr>
          <a:xfrm>
            <a:off x="2884932" y="1792224"/>
            <a:ext cx="1920240" cy="2267712"/>
          </a:xfrm>
          <a:prstGeom prst="roundRect">
            <a:avLst>
              <a:gd name="adj" fmla="val 3810"/>
            </a:avLst>
          </a:prstGeom>
          <a:solidFill>
            <a:srgbClr val="FFFFFF"/>
          </a:solidFill>
          <a:ln/>
          <a:effectLst>
            <a:outerShdw sx="100000" sy="100000" kx="0" ky="0" algn="bl" rotWithShape="0" blurRad="127000" dist="25400" dir="5400000">
              <a:srgbClr val="3A2226">
                <a:alpha val="13000"/>
              </a:srgbClr>
            </a:outerShdw>
          </a:effectLst>
        </p:spPr>
      </p:sp>
      <p:sp>
        <p:nvSpPr>
          <p:cNvPr id="14" name="Shape 11"/>
          <p:cNvSpPr/>
          <p:nvPr/>
        </p:nvSpPr>
        <p:spPr>
          <a:xfrm>
            <a:off x="3515868" y="2029968"/>
            <a:ext cx="658368" cy="658368"/>
          </a:xfrm>
          <a:prstGeom prst="ellipse">
            <a:avLst/>
          </a:prstGeom>
          <a:solidFill>
            <a:srgbClr val="F7E7EA"/>
          </a:solidFill>
          <a:ln/>
        </p:spPr>
      </p:sp>
      <p:pic>
        <p:nvPicPr>
          <p:cNvPr id="15" name="Image 1" descr="preencoded.png">    </p:cNvPr>
          <p:cNvPicPr>
            <a:picLocks noChangeAspect="1"/>
          </p:cNvPicPr>
          <p:nvPr/>
        </p:nvPicPr>
        <p:blipFill>
          <a:blip r:embed="rId2"/>
          <a:stretch>
            <a:fillRect/>
          </a:stretch>
        </p:blipFill>
        <p:spPr>
          <a:xfrm>
            <a:off x="3693627" y="2207727"/>
            <a:ext cx="302849" cy="302849"/>
          </a:xfrm>
          <a:prstGeom prst="rect">
            <a:avLst/>
          </a:prstGeom>
        </p:spPr>
      </p:pic>
      <p:sp>
        <p:nvSpPr>
          <p:cNvPr id="16" name="Text 12"/>
          <p:cNvSpPr txBox="1"/>
          <p:nvPr/>
        </p:nvSpPr>
        <p:spPr>
          <a:xfrm>
            <a:off x="3031236" y="2798064"/>
            <a:ext cx="1627632" cy="438912"/>
          </a:xfrm>
          <a:prstGeom prst="rect">
            <a:avLst/>
          </a:prstGeom>
          <a:noFill/>
          <a:ln/>
        </p:spPr>
        <p:txBody>
          <a:bodyPr wrap="square" lIns="0" tIns="0" rIns="0" bIns="0" rtlCol="0" anchor="t"/>
          <a:lstStyle/>
          <a:p>
            <a:pPr algn="ctr" indent="0" marL="0">
              <a:buNone/>
            </a:pPr>
            <a:r>
              <a:rPr lang="en-US" sz="1300" b="1" dirty="0">
                <a:solidFill>
                  <a:srgbClr val="2B0A12"/>
                </a:solidFill>
                <a:latin typeface="Calibri" pitchFamily="34" charset="0"/>
                <a:ea typeface="Calibri" pitchFamily="34" charset="-122"/>
                <a:cs typeface="Calibri" pitchFamily="34" charset="-120"/>
              </a:rPr>
              <a:t>Hepatocyte uptake</a:t>
            </a:r>
            <a:endParaRPr lang="en-US" sz="1300" dirty="0"/>
          </a:p>
        </p:txBody>
      </p:sp>
      <p:sp>
        <p:nvSpPr>
          <p:cNvPr id="17" name="Text 13"/>
          <p:cNvSpPr txBox="1"/>
          <p:nvPr/>
        </p:nvSpPr>
        <p:spPr>
          <a:xfrm>
            <a:off x="3031236" y="3273552"/>
            <a:ext cx="1627632" cy="694944"/>
          </a:xfrm>
          <a:prstGeom prst="rect">
            <a:avLst/>
          </a:prstGeom>
          <a:noFill/>
          <a:ln/>
        </p:spPr>
        <p:txBody>
          <a:bodyPr wrap="square" lIns="0" tIns="0" rIns="0" bIns="0" rtlCol="0" anchor="ctr"/>
          <a:lstStyle/>
          <a:p>
            <a:pPr algn="ctr" indent="0" marL="0">
              <a:lnSpc>
                <a:spcPct val="108000"/>
              </a:lnSpc>
              <a:buNone/>
            </a:pPr>
            <a:r>
              <a:rPr lang="en-US" sz="1050" dirty="0">
                <a:solidFill>
                  <a:srgbClr val="756B6D"/>
                </a:solidFill>
                <a:latin typeface="Calibri" pitchFamily="34" charset="0"/>
                <a:ea typeface="Calibri" pitchFamily="34" charset="-122"/>
                <a:cs typeface="Calibri" pitchFamily="34" charset="-120"/>
              </a:rPr>
              <a:t>The GalNAc tag binds asialoglycoprotein receptors on liver cells</a:t>
            </a:r>
            <a:endParaRPr lang="en-US" sz="1050" dirty="0"/>
          </a:p>
        </p:txBody>
      </p:sp>
      <p:sp>
        <p:nvSpPr>
          <p:cNvPr id="18" name="Shape 14"/>
          <p:cNvSpPr/>
          <p:nvPr/>
        </p:nvSpPr>
        <p:spPr>
          <a:xfrm>
            <a:off x="4850892" y="2267712"/>
            <a:ext cx="237744" cy="182880"/>
          </a:xfrm>
          <a:prstGeom prst="rightArrow">
            <a:avLst/>
          </a:prstGeom>
          <a:solidFill>
            <a:srgbClr val="C8324A"/>
          </a:solidFill>
          <a:ln/>
        </p:spPr>
      </p:sp>
      <p:sp>
        <p:nvSpPr>
          <p:cNvPr id="19" name="Shape 15"/>
          <p:cNvSpPr/>
          <p:nvPr/>
        </p:nvSpPr>
        <p:spPr>
          <a:xfrm>
            <a:off x="5134356" y="1792224"/>
            <a:ext cx="1920240" cy="2267712"/>
          </a:xfrm>
          <a:prstGeom prst="roundRect">
            <a:avLst>
              <a:gd name="adj" fmla="val 3810"/>
            </a:avLst>
          </a:prstGeom>
          <a:solidFill>
            <a:srgbClr val="FFFFFF"/>
          </a:solidFill>
          <a:ln/>
          <a:effectLst>
            <a:outerShdw sx="100000" sy="100000" kx="0" ky="0" algn="bl" rotWithShape="0" blurRad="127000" dist="25400" dir="5400000">
              <a:srgbClr val="3A2226">
                <a:alpha val="13000"/>
              </a:srgbClr>
            </a:outerShdw>
          </a:effectLst>
        </p:spPr>
      </p:sp>
      <p:sp>
        <p:nvSpPr>
          <p:cNvPr id="20" name="Shape 16"/>
          <p:cNvSpPr/>
          <p:nvPr/>
        </p:nvSpPr>
        <p:spPr>
          <a:xfrm>
            <a:off x="5765292" y="2029968"/>
            <a:ext cx="658368" cy="658368"/>
          </a:xfrm>
          <a:prstGeom prst="ellipse">
            <a:avLst/>
          </a:prstGeom>
          <a:solidFill>
            <a:srgbClr val="F7E7EA"/>
          </a:solidFill>
          <a:ln/>
        </p:spPr>
      </p:sp>
      <p:pic>
        <p:nvPicPr>
          <p:cNvPr id="21" name="Image 2" descr="preencoded.png">    </p:cNvPr>
          <p:cNvPicPr>
            <a:picLocks noChangeAspect="1"/>
          </p:cNvPicPr>
          <p:nvPr/>
        </p:nvPicPr>
        <p:blipFill>
          <a:blip r:embed="rId3"/>
          <a:stretch>
            <a:fillRect/>
          </a:stretch>
        </p:blipFill>
        <p:spPr>
          <a:xfrm>
            <a:off x="5943051" y="2207727"/>
            <a:ext cx="302849" cy="302849"/>
          </a:xfrm>
          <a:prstGeom prst="rect">
            <a:avLst/>
          </a:prstGeom>
        </p:spPr>
      </p:pic>
      <p:sp>
        <p:nvSpPr>
          <p:cNvPr id="22" name="Text 17"/>
          <p:cNvSpPr txBox="1"/>
          <p:nvPr/>
        </p:nvSpPr>
        <p:spPr>
          <a:xfrm>
            <a:off x="5280660" y="2798064"/>
            <a:ext cx="1627632" cy="438912"/>
          </a:xfrm>
          <a:prstGeom prst="rect">
            <a:avLst/>
          </a:prstGeom>
          <a:noFill/>
          <a:ln/>
        </p:spPr>
        <p:txBody>
          <a:bodyPr wrap="square" lIns="0" tIns="0" rIns="0" bIns="0" rtlCol="0" anchor="t"/>
          <a:lstStyle/>
          <a:p>
            <a:pPr algn="ctr" indent="0" marL="0">
              <a:buNone/>
            </a:pPr>
            <a:r>
              <a:rPr lang="en-US" sz="1300" b="1" dirty="0">
                <a:solidFill>
                  <a:srgbClr val="2B0A12"/>
                </a:solidFill>
                <a:latin typeface="Calibri" pitchFamily="34" charset="0"/>
                <a:ea typeface="Calibri" pitchFamily="34" charset="-122"/>
                <a:cs typeface="Calibri" pitchFamily="34" charset="-120"/>
              </a:rPr>
              <a:t>RISC engagement</a:t>
            </a:r>
            <a:endParaRPr lang="en-US" sz="1300" dirty="0"/>
          </a:p>
        </p:txBody>
      </p:sp>
      <p:sp>
        <p:nvSpPr>
          <p:cNvPr id="23" name="Text 18"/>
          <p:cNvSpPr txBox="1"/>
          <p:nvPr/>
        </p:nvSpPr>
        <p:spPr>
          <a:xfrm>
            <a:off x="5280660" y="3273552"/>
            <a:ext cx="1627632" cy="694944"/>
          </a:xfrm>
          <a:prstGeom prst="rect">
            <a:avLst/>
          </a:prstGeom>
          <a:noFill/>
          <a:ln/>
        </p:spPr>
        <p:txBody>
          <a:bodyPr wrap="square" lIns="0" tIns="0" rIns="0" bIns="0" rtlCol="0" anchor="ctr"/>
          <a:lstStyle/>
          <a:p>
            <a:pPr algn="ctr" indent="0" marL="0">
              <a:lnSpc>
                <a:spcPct val="108000"/>
              </a:lnSpc>
              <a:buNone/>
            </a:pPr>
            <a:r>
              <a:rPr lang="en-US" sz="1050" dirty="0">
                <a:solidFill>
                  <a:srgbClr val="756B6D"/>
                </a:solidFill>
                <a:latin typeface="Calibri" pitchFamily="34" charset="0"/>
                <a:ea typeface="Calibri" pitchFamily="34" charset="-122"/>
                <a:cs typeface="Calibri" pitchFamily="34" charset="-120"/>
              </a:rPr>
              <a:t>The siRNA is loaded into the RNA-induced silencing complex</a:t>
            </a:r>
            <a:endParaRPr lang="en-US" sz="1050" dirty="0"/>
          </a:p>
        </p:txBody>
      </p:sp>
      <p:sp>
        <p:nvSpPr>
          <p:cNvPr id="24" name="Shape 19"/>
          <p:cNvSpPr/>
          <p:nvPr/>
        </p:nvSpPr>
        <p:spPr>
          <a:xfrm>
            <a:off x="7100316" y="2267712"/>
            <a:ext cx="237744" cy="182880"/>
          </a:xfrm>
          <a:prstGeom prst="rightArrow">
            <a:avLst/>
          </a:prstGeom>
          <a:solidFill>
            <a:srgbClr val="C8324A"/>
          </a:solidFill>
          <a:ln/>
        </p:spPr>
      </p:sp>
      <p:sp>
        <p:nvSpPr>
          <p:cNvPr id="25" name="Shape 20"/>
          <p:cNvSpPr/>
          <p:nvPr/>
        </p:nvSpPr>
        <p:spPr>
          <a:xfrm>
            <a:off x="7383780" y="1792224"/>
            <a:ext cx="1920240" cy="2267712"/>
          </a:xfrm>
          <a:prstGeom prst="roundRect">
            <a:avLst>
              <a:gd name="adj" fmla="val 3810"/>
            </a:avLst>
          </a:prstGeom>
          <a:solidFill>
            <a:srgbClr val="FFFFFF"/>
          </a:solidFill>
          <a:ln/>
          <a:effectLst>
            <a:outerShdw sx="100000" sy="100000" kx="0" ky="0" algn="bl" rotWithShape="0" blurRad="127000" dist="25400" dir="5400000">
              <a:srgbClr val="3A2226">
                <a:alpha val="13000"/>
              </a:srgbClr>
            </a:outerShdw>
          </a:effectLst>
        </p:spPr>
      </p:sp>
      <p:sp>
        <p:nvSpPr>
          <p:cNvPr id="26" name="Shape 21"/>
          <p:cNvSpPr/>
          <p:nvPr/>
        </p:nvSpPr>
        <p:spPr>
          <a:xfrm>
            <a:off x="8014716" y="2029968"/>
            <a:ext cx="658368" cy="658368"/>
          </a:xfrm>
          <a:prstGeom prst="ellipse">
            <a:avLst/>
          </a:prstGeom>
          <a:solidFill>
            <a:srgbClr val="F7E7EA"/>
          </a:solidFill>
          <a:ln/>
        </p:spPr>
      </p:sp>
      <p:pic>
        <p:nvPicPr>
          <p:cNvPr id="27" name="Image 3" descr="preencoded.png">    </p:cNvPr>
          <p:cNvPicPr>
            <a:picLocks noChangeAspect="1"/>
          </p:cNvPicPr>
          <p:nvPr/>
        </p:nvPicPr>
        <p:blipFill>
          <a:blip r:embed="rId4"/>
          <a:stretch>
            <a:fillRect/>
          </a:stretch>
        </p:blipFill>
        <p:spPr>
          <a:xfrm>
            <a:off x="8192475" y="2207727"/>
            <a:ext cx="302849" cy="302849"/>
          </a:xfrm>
          <a:prstGeom prst="rect">
            <a:avLst/>
          </a:prstGeom>
        </p:spPr>
      </p:pic>
      <p:sp>
        <p:nvSpPr>
          <p:cNvPr id="28" name="Text 22"/>
          <p:cNvSpPr txBox="1"/>
          <p:nvPr/>
        </p:nvSpPr>
        <p:spPr>
          <a:xfrm>
            <a:off x="7530084" y="2798064"/>
            <a:ext cx="1627632" cy="438912"/>
          </a:xfrm>
          <a:prstGeom prst="rect">
            <a:avLst/>
          </a:prstGeom>
          <a:noFill/>
          <a:ln/>
        </p:spPr>
        <p:txBody>
          <a:bodyPr wrap="square" lIns="0" tIns="0" rIns="0" bIns="0" rtlCol="0" anchor="t"/>
          <a:lstStyle/>
          <a:p>
            <a:pPr algn="ctr" indent="0" marL="0">
              <a:buNone/>
            </a:pPr>
            <a:r>
              <a:rPr lang="en-US" sz="1300" b="1" dirty="0">
                <a:solidFill>
                  <a:srgbClr val="2B0A12"/>
                </a:solidFill>
                <a:latin typeface="Calibri" pitchFamily="34" charset="0"/>
                <a:ea typeface="Calibri" pitchFamily="34" charset="-122"/>
                <a:cs typeface="Calibri" pitchFamily="34" charset="-120"/>
              </a:rPr>
              <a:t>PCSK9 mRNA cleaved</a:t>
            </a:r>
            <a:endParaRPr lang="en-US" sz="1300" dirty="0"/>
          </a:p>
        </p:txBody>
      </p:sp>
      <p:sp>
        <p:nvSpPr>
          <p:cNvPr id="29" name="Text 23"/>
          <p:cNvSpPr txBox="1"/>
          <p:nvPr/>
        </p:nvSpPr>
        <p:spPr>
          <a:xfrm>
            <a:off x="7530084" y="3273552"/>
            <a:ext cx="1627632" cy="694944"/>
          </a:xfrm>
          <a:prstGeom prst="rect">
            <a:avLst/>
          </a:prstGeom>
          <a:noFill/>
          <a:ln/>
        </p:spPr>
        <p:txBody>
          <a:bodyPr wrap="square" lIns="0" tIns="0" rIns="0" bIns="0" rtlCol="0" anchor="ctr"/>
          <a:lstStyle/>
          <a:p>
            <a:pPr algn="ctr" indent="0" marL="0">
              <a:lnSpc>
                <a:spcPct val="108000"/>
              </a:lnSpc>
              <a:buNone/>
            </a:pPr>
            <a:r>
              <a:rPr lang="en-US" sz="1050" dirty="0">
                <a:solidFill>
                  <a:srgbClr val="756B6D"/>
                </a:solidFill>
                <a:latin typeface="Calibri" pitchFamily="34" charset="0"/>
                <a:ea typeface="Calibri" pitchFamily="34" charset="-122"/>
                <a:cs typeface="Calibri" pitchFamily="34" charset="-120"/>
              </a:rPr>
              <a:t>PCSK9 protein synthesis in the liver is switched off</a:t>
            </a:r>
            <a:endParaRPr lang="en-US" sz="1050" dirty="0"/>
          </a:p>
        </p:txBody>
      </p:sp>
      <p:sp>
        <p:nvSpPr>
          <p:cNvPr id="30" name="Shape 24"/>
          <p:cNvSpPr/>
          <p:nvPr/>
        </p:nvSpPr>
        <p:spPr>
          <a:xfrm>
            <a:off x="9349740" y="2267712"/>
            <a:ext cx="237744" cy="182880"/>
          </a:xfrm>
          <a:prstGeom prst="rightArrow">
            <a:avLst/>
          </a:prstGeom>
          <a:solidFill>
            <a:srgbClr val="C8324A"/>
          </a:solidFill>
          <a:ln/>
        </p:spPr>
      </p:sp>
      <p:sp>
        <p:nvSpPr>
          <p:cNvPr id="31" name="Shape 25"/>
          <p:cNvSpPr/>
          <p:nvPr/>
        </p:nvSpPr>
        <p:spPr>
          <a:xfrm>
            <a:off x="9633204" y="1792224"/>
            <a:ext cx="1920240" cy="2267712"/>
          </a:xfrm>
          <a:prstGeom prst="roundRect">
            <a:avLst>
              <a:gd name="adj" fmla="val 3810"/>
            </a:avLst>
          </a:prstGeom>
          <a:solidFill>
            <a:srgbClr val="FFFFFF"/>
          </a:solidFill>
          <a:ln/>
          <a:effectLst>
            <a:outerShdw sx="100000" sy="100000" kx="0" ky="0" algn="bl" rotWithShape="0" blurRad="127000" dist="25400" dir="5400000">
              <a:srgbClr val="3A2226">
                <a:alpha val="13000"/>
              </a:srgbClr>
            </a:outerShdw>
          </a:effectLst>
        </p:spPr>
      </p:sp>
      <p:sp>
        <p:nvSpPr>
          <p:cNvPr id="32" name="Shape 26"/>
          <p:cNvSpPr/>
          <p:nvPr/>
        </p:nvSpPr>
        <p:spPr>
          <a:xfrm>
            <a:off x="10264140" y="2029968"/>
            <a:ext cx="658368" cy="658368"/>
          </a:xfrm>
          <a:prstGeom prst="ellipse">
            <a:avLst/>
          </a:prstGeom>
          <a:solidFill>
            <a:srgbClr val="F7E7EA"/>
          </a:solidFill>
          <a:ln/>
        </p:spPr>
      </p:sp>
      <p:pic>
        <p:nvPicPr>
          <p:cNvPr id="33" name="Image 4" descr="preencoded.png">    </p:cNvPr>
          <p:cNvPicPr>
            <a:picLocks noChangeAspect="1"/>
          </p:cNvPicPr>
          <p:nvPr/>
        </p:nvPicPr>
        <p:blipFill>
          <a:blip r:embed="rId5"/>
          <a:stretch>
            <a:fillRect/>
          </a:stretch>
        </p:blipFill>
        <p:spPr>
          <a:xfrm>
            <a:off x="10441899" y="2207727"/>
            <a:ext cx="302849" cy="302849"/>
          </a:xfrm>
          <a:prstGeom prst="rect">
            <a:avLst/>
          </a:prstGeom>
        </p:spPr>
      </p:pic>
      <p:sp>
        <p:nvSpPr>
          <p:cNvPr id="34" name="Text 27"/>
          <p:cNvSpPr txBox="1"/>
          <p:nvPr/>
        </p:nvSpPr>
        <p:spPr>
          <a:xfrm>
            <a:off x="9779508" y="2798064"/>
            <a:ext cx="1627632" cy="438912"/>
          </a:xfrm>
          <a:prstGeom prst="rect">
            <a:avLst/>
          </a:prstGeom>
          <a:noFill/>
          <a:ln/>
        </p:spPr>
        <p:txBody>
          <a:bodyPr wrap="square" lIns="0" tIns="0" rIns="0" bIns="0" rtlCol="0" anchor="t"/>
          <a:lstStyle/>
          <a:p>
            <a:pPr algn="ctr" indent="0" marL="0">
              <a:buNone/>
            </a:pPr>
            <a:r>
              <a:rPr lang="en-US" sz="1300" b="1" dirty="0">
                <a:solidFill>
                  <a:srgbClr val="2B0A12"/>
                </a:solidFill>
                <a:latin typeface="Calibri" pitchFamily="34" charset="0"/>
                <a:ea typeface="Calibri" pitchFamily="34" charset="-122"/>
                <a:cs typeface="Calibri" pitchFamily="34" charset="-120"/>
              </a:rPr>
              <a:t>LDL-C falls</a:t>
            </a:r>
            <a:endParaRPr lang="en-US" sz="1300" dirty="0"/>
          </a:p>
        </p:txBody>
      </p:sp>
      <p:sp>
        <p:nvSpPr>
          <p:cNvPr id="35" name="Text 28"/>
          <p:cNvSpPr txBox="1"/>
          <p:nvPr/>
        </p:nvSpPr>
        <p:spPr>
          <a:xfrm>
            <a:off x="9779508" y="3273552"/>
            <a:ext cx="1627632" cy="694944"/>
          </a:xfrm>
          <a:prstGeom prst="rect">
            <a:avLst/>
          </a:prstGeom>
          <a:noFill/>
          <a:ln/>
        </p:spPr>
        <p:txBody>
          <a:bodyPr wrap="square" lIns="0" tIns="0" rIns="0" bIns="0" rtlCol="0" anchor="ctr"/>
          <a:lstStyle/>
          <a:p>
            <a:pPr algn="ctr" indent="0" marL="0">
              <a:lnSpc>
                <a:spcPct val="108000"/>
              </a:lnSpc>
              <a:buNone/>
            </a:pPr>
            <a:r>
              <a:rPr lang="en-US" sz="1050" dirty="0">
                <a:solidFill>
                  <a:srgbClr val="756B6D"/>
                </a:solidFill>
                <a:latin typeface="Calibri" pitchFamily="34" charset="0"/>
                <a:ea typeface="Calibri" pitchFamily="34" charset="-122"/>
                <a:cs typeface="Calibri" pitchFamily="34" charset="-120"/>
              </a:rPr>
              <a:t>More LDL receptors recycle to the surface and clear LDL particles</a:t>
            </a:r>
            <a:endParaRPr lang="en-US" sz="1050" dirty="0"/>
          </a:p>
        </p:txBody>
      </p:sp>
      <p:sp>
        <p:nvSpPr>
          <p:cNvPr id="36" name="Shape 29"/>
          <p:cNvSpPr/>
          <p:nvPr/>
        </p:nvSpPr>
        <p:spPr>
          <a:xfrm>
            <a:off x="566928" y="4370832"/>
            <a:ext cx="11055096" cy="1243584"/>
          </a:xfrm>
          <a:prstGeom prst="roundRect">
            <a:avLst>
              <a:gd name="adj" fmla="val 5882"/>
            </a:avLst>
          </a:prstGeom>
          <a:solidFill>
            <a:srgbClr val="F7E7EA"/>
          </a:solidFill>
          <a:ln/>
        </p:spPr>
      </p:sp>
      <p:sp>
        <p:nvSpPr>
          <p:cNvPr id="37" name="Shape 30"/>
          <p:cNvSpPr/>
          <p:nvPr/>
        </p:nvSpPr>
        <p:spPr>
          <a:xfrm>
            <a:off x="932688" y="4672584"/>
            <a:ext cx="640080" cy="640080"/>
          </a:xfrm>
          <a:prstGeom prst="ellipse">
            <a:avLst/>
          </a:prstGeom>
          <a:solidFill>
            <a:srgbClr val="A11226"/>
          </a:solidFill>
          <a:ln/>
        </p:spPr>
      </p:sp>
      <p:pic>
        <p:nvPicPr>
          <p:cNvPr id="38" name="Image 5" descr="preencoded.png">    </p:cNvPr>
          <p:cNvPicPr>
            <a:picLocks noChangeAspect="1"/>
          </p:cNvPicPr>
          <p:nvPr/>
        </p:nvPicPr>
        <p:blipFill>
          <a:blip r:embed="rId6"/>
          <a:stretch>
            <a:fillRect/>
          </a:stretch>
        </p:blipFill>
        <p:spPr>
          <a:xfrm>
            <a:off x="1105510" y="4845406"/>
            <a:ext cx="294437" cy="294437"/>
          </a:xfrm>
          <a:prstGeom prst="rect">
            <a:avLst/>
          </a:prstGeom>
        </p:spPr>
      </p:pic>
      <p:sp>
        <p:nvSpPr>
          <p:cNvPr id="39" name="Text 31"/>
          <p:cNvSpPr txBox="1"/>
          <p:nvPr/>
        </p:nvSpPr>
        <p:spPr>
          <a:xfrm>
            <a:off x="1810512" y="4553712"/>
            <a:ext cx="9509760" cy="896112"/>
          </a:xfrm>
          <a:prstGeom prst="rect">
            <a:avLst/>
          </a:prstGeom>
          <a:noFill/>
          <a:ln/>
        </p:spPr>
        <p:txBody>
          <a:bodyPr wrap="square" lIns="0" tIns="0" rIns="0" bIns="0" rtlCol="0" anchor="ctr"/>
          <a:lstStyle/>
          <a:p>
            <a:pPr indent="0" marL="0">
              <a:lnSpc>
                <a:spcPct val="112000"/>
              </a:lnSpc>
              <a:buNone/>
            </a:pPr>
            <a:r>
              <a:rPr lang="en-US" sz="1400" b="1" dirty="0">
                <a:solidFill>
                  <a:srgbClr val="2B0A12"/>
                </a:solidFill>
                <a:latin typeface="Calibri" pitchFamily="34" charset="0"/>
                <a:ea typeface="Calibri" pitchFamily="34" charset="-122"/>
                <a:cs typeface="Calibri" pitchFamily="34" charset="-120"/>
              </a:rPr>
              <a:t>Day 0, Day 90, then once every 6 months. </a:t>
            </a:r>
            <a:pPr indent="0" marL="0">
              <a:lnSpc>
                <a:spcPct val="112000"/>
              </a:lnSpc>
              <a:buNone/>
            </a:pPr>
            <a:r>
              <a:rPr lang="en-US" sz="1400" dirty="0">
                <a:solidFill>
                  <a:srgbClr val="2B0A12"/>
                </a:solidFill>
                <a:latin typeface="Calibri" pitchFamily="34" charset="0"/>
                <a:ea typeface="Calibri" pitchFamily="34" charset="-122"/>
                <a:cs typeface="Calibri" pitchFamily="34" charset="-120"/>
              </a:rPr>
              <a:t>After loading, LDL-C control becomes a twice-yearly clinic event rather than something the patient must remember every morning — which is precisely the adherence problem the trial set out to test.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RATIONALE AND OBJECTIVES</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Why This Trial Was Needed</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5</a:t>
            </a:r>
            <a:endParaRPr lang="en-US" sz="950" dirty="0"/>
          </a:p>
        </p:txBody>
      </p:sp>
      <p:sp>
        <p:nvSpPr>
          <p:cNvPr id="6" name="Shape 4"/>
          <p:cNvSpPr/>
          <p:nvPr/>
        </p:nvSpPr>
        <p:spPr>
          <a:xfrm>
            <a:off x="566928" y="1627632"/>
            <a:ext cx="5394960" cy="3986784"/>
          </a:xfrm>
          <a:prstGeom prst="roundRect">
            <a:avLst>
              <a:gd name="adj" fmla="val 1835"/>
            </a:avLst>
          </a:prstGeom>
          <a:solidFill>
            <a:srgbClr val="FFFFFF"/>
          </a:solidFill>
          <a:ln/>
          <a:effectLst>
            <a:outerShdw sx="100000" sy="100000" kx="0" ky="0" algn="bl" rotWithShape="0" blurRad="127000" dist="25400" dir="5400000">
              <a:srgbClr val="3A2226">
                <a:alpha val="13000"/>
              </a:srgbClr>
            </a:outerShdw>
          </a:effectLst>
        </p:spPr>
      </p:sp>
      <p:sp>
        <p:nvSpPr>
          <p:cNvPr id="7" name="Shape 5"/>
          <p:cNvSpPr/>
          <p:nvPr/>
        </p:nvSpPr>
        <p:spPr>
          <a:xfrm>
            <a:off x="914400" y="1920240"/>
            <a:ext cx="658368" cy="658368"/>
          </a:xfrm>
          <a:prstGeom prst="ellipse">
            <a:avLst/>
          </a:prstGeom>
          <a:solidFill>
            <a:srgbClr val="F7E7EA"/>
          </a:solidFill>
          <a:ln/>
        </p:spPr>
      </p:sp>
      <p:pic>
        <p:nvPicPr>
          <p:cNvPr id="8" name="Image 0" descr="preencoded.png">    </p:cNvPr>
          <p:cNvPicPr>
            <a:picLocks noChangeAspect="1"/>
          </p:cNvPicPr>
          <p:nvPr/>
        </p:nvPicPr>
        <p:blipFill>
          <a:blip r:embed="rId1"/>
          <a:stretch>
            <a:fillRect/>
          </a:stretch>
        </p:blipFill>
        <p:spPr>
          <a:xfrm>
            <a:off x="1092159" y="2097999"/>
            <a:ext cx="302849" cy="302849"/>
          </a:xfrm>
          <a:prstGeom prst="rect">
            <a:avLst/>
          </a:prstGeom>
        </p:spPr>
      </p:pic>
      <p:sp>
        <p:nvSpPr>
          <p:cNvPr id="9" name="Text 6"/>
          <p:cNvSpPr txBox="1"/>
          <p:nvPr/>
        </p:nvSpPr>
        <p:spPr>
          <a:xfrm>
            <a:off x="914400" y="2743200"/>
            <a:ext cx="4700016" cy="658368"/>
          </a:xfrm>
          <a:prstGeom prst="rect">
            <a:avLst/>
          </a:prstGeom>
          <a:noFill/>
          <a:ln/>
        </p:spPr>
        <p:txBody>
          <a:bodyPr wrap="square" lIns="0" tIns="0" rIns="0" bIns="0" rtlCol="0" anchor="ctr"/>
          <a:lstStyle/>
          <a:p>
            <a:pPr indent="0" marL="0">
              <a:lnSpc>
                <a:spcPct val="105000"/>
              </a:lnSpc>
              <a:buNone/>
            </a:pPr>
            <a:r>
              <a:rPr lang="en-US" sz="2000" b="1" dirty="0">
                <a:solidFill>
                  <a:srgbClr val="2B0A12"/>
                </a:solidFill>
                <a:latin typeface="Cambria" pitchFamily="34" charset="0"/>
                <a:ea typeface="Cambria" pitchFamily="34" charset="-122"/>
                <a:cs typeface="Cambria" pitchFamily="34" charset="-120"/>
              </a:rPr>
              <a:t>The question earlier trials did not ask</a:t>
            </a:r>
            <a:endParaRPr lang="en-US" sz="2000" dirty="0"/>
          </a:p>
        </p:txBody>
      </p:sp>
      <p:sp>
        <p:nvSpPr>
          <p:cNvPr id="10" name="Text 7"/>
          <p:cNvSpPr txBox="1"/>
          <p:nvPr/>
        </p:nvSpPr>
        <p:spPr>
          <a:xfrm>
            <a:off x="914400" y="3493008"/>
            <a:ext cx="4700016" cy="1920240"/>
          </a:xfrm>
          <a:prstGeom prst="rect">
            <a:avLst/>
          </a:prstGeom>
          <a:noFill/>
          <a:ln/>
        </p:spPr>
        <p:txBody>
          <a:bodyPr wrap="square" lIns="0" tIns="0" rIns="0" bIns="0" rtlCol="0" anchor="ctr"/>
          <a:lstStyle/>
          <a:p>
            <a:pPr indent="0" marL="0">
              <a:lnSpc>
                <a:spcPct val="114000"/>
              </a:lnSpc>
              <a:buNone/>
            </a:pPr>
            <a:r>
              <a:rPr lang="en-US" sz="1350" dirty="0">
                <a:solidFill>
                  <a:srgbClr val="2E2A2B"/>
                </a:solidFill>
                <a:latin typeface="Calibri" pitchFamily="34" charset="0"/>
                <a:ea typeface="Calibri" pitchFamily="34" charset="-122"/>
                <a:cs typeface="Calibri" pitchFamily="34" charset="-120"/>
              </a:rPr>
              <a:t>The ORION programme compared inclisiran with placebo while background lipid-lowering therapy was deliberately held constant. That answers a question about a molecule. VICTORION-Difference asks the question clinicians actually face at the bedside: is it better to add inclisiran, or to push the statin harder?</a:t>
            </a:r>
            <a:endParaRPr lang="en-US" sz="1350" dirty="0"/>
          </a:p>
        </p:txBody>
      </p:sp>
      <p:sp>
        <p:nvSpPr>
          <p:cNvPr id="11" name="Shape 8"/>
          <p:cNvSpPr/>
          <p:nvPr/>
        </p:nvSpPr>
        <p:spPr>
          <a:xfrm>
            <a:off x="6263640" y="1627632"/>
            <a:ext cx="5358384" cy="1280160"/>
          </a:xfrm>
          <a:prstGeom prst="roundRect">
            <a:avLst>
              <a:gd name="adj" fmla="val 5714"/>
            </a:avLst>
          </a:prstGeom>
          <a:solidFill>
            <a:srgbClr val="FFFFFF"/>
          </a:solidFill>
          <a:ln/>
          <a:effectLst>
            <a:outerShdw sx="100000" sy="100000" kx="0" ky="0" algn="bl" rotWithShape="0" blurRad="127000" dist="25400" dir="5400000">
              <a:srgbClr val="3A2226">
                <a:alpha val="13000"/>
              </a:srgbClr>
            </a:outerShdw>
          </a:effectLst>
        </p:spPr>
      </p:sp>
      <p:sp>
        <p:nvSpPr>
          <p:cNvPr id="12" name="Shape 9"/>
          <p:cNvSpPr/>
          <p:nvPr/>
        </p:nvSpPr>
        <p:spPr>
          <a:xfrm>
            <a:off x="6537960" y="1947672"/>
            <a:ext cx="640080" cy="640080"/>
          </a:xfrm>
          <a:prstGeom prst="ellipse">
            <a:avLst/>
          </a:prstGeom>
          <a:solidFill>
            <a:srgbClr val="A11226"/>
          </a:solidFill>
          <a:ln/>
        </p:spPr>
      </p:sp>
      <p:pic>
        <p:nvPicPr>
          <p:cNvPr id="13" name="Image 1" descr="preencoded.png">    </p:cNvPr>
          <p:cNvPicPr>
            <a:picLocks noChangeAspect="1"/>
          </p:cNvPicPr>
          <p:nvPr/>
        </p:nvPicPr>
        <p:blipFill>
          <a:blip r:embed="rId2"/>
          <a:stretch>
            <a:fillRect/>
          </a:stretch>
        </p:blipFill>
        <p:spPr>
          <a:xfrm>
            <a:off x="6710782" y="2120494"/>
            <a:ext cx="294437" cy="294437"/>
          </a:xfrm>
          <a:prstGeom prst="rect">
            <a:avLst/>
          </a:prstGeom>
        </p:spPr>
      </p:pic>
      <p:sp>
        <p:nvSpPr>
          <p:cNvPr id="14" name="Text 10"/>
          <p:cNvSpPr txBox="1"/>
          <p:nvPr/>
        </p:nvSpPr>
        <p:spPr>
          <a:xfrm>
            <a:off x="7333488" y="1810512"/>
            <a:ext cx="4041648" cy="292608"/>
          </a:xfrm>
          <a:prstGeom prst="rect">
            <a:avLst/>
          </a:prstGeom>
          <a:noFill/>
          <a:ln/>
        </p:spPr>
        <p:txBody>
          <a:bodyPr wrap="square" lIns="0" tIns="0" rIns="0" bIns="0" rtlCol="0" anchor="ctr"/>
          <a:lstStyle/>
          <a:p>
            <a:pPr indent="0" marL="0">
              <a:buNone/>
            </a:pPr>
            <a:r>
              <a:rPr lang="en-US" sz="1550" b="1" dirty="0">
                <a:solidFill>
                  <a:srgbClr val="2B0A12"/>
                </a:solidFill>
                <a:latin typeface="Calibri" pitchFamily="34" charset="0"/>
                <a:ea typeface="Calibri" pitchFamily="34" charset="-122"/>
                <a:cs typeface="Calibri" pitchFamily="34" charset="-120"/>
              </a:rPr>
              <a:t>Primary objective</a:t>
            </a:r>
            <a:endParaRPr lang="en-US" sz="1550" dirty="0"/>
          </a:p>
        </p:txBody>
      </p:sp>
      <p:sp>
        <p:nvSpPr>
          <p:cNvPr id="15" name="Text 11"/>
          <p:cNvSpPr txBox="1"/>
          <p:nvPr/>
        </p:nvSpPr>
        <p:spPr>
          <a:xfrm>
            <a:off x="7333488" y="2157984"/>
            <a:ext cx="4041648" cy="640080"/>
          </a:xfrm>
          <a:prstGeom prst="rect">
            <a:avLst/>
          </a:prstGeom>
          <a:noFill/>
          <a:ln/>
        </p:spPr>
        <p:txBody>
          <a:bodyPr wrap="square" lIns="0" tIns="0" rIns="0" bIns="0" rtlCol="0" anchor="ctr"/>
          <a:lstStyle/>
          <a:p>
            <a:pPr indent="0" marL="0">
              <a:lnSpc>
                <a:spcPct val="108000"/>
              </a:lnSpc>
              <a:buNone/>
            </a:pPr>
            <a:r>
              <a:rPr lang="en-US" sz="1200" dirty="0">
                <a:solidFill>
                  <a:srgbClr val="2E2A2B"/>
                </a:solidFill>
                <a:latin typeface="Calibri" pitchFamily="34" charset="0"/>
                <a:ea typeface="Calibri" pitchFamily="34" charset="-122"/>
                <a:cs typeface="Calibri" pitchFamily="34" charset="-120"/>
              </a:rPr>
              <a:t>Compare LDL-C goal attainment at Day 90 between an inclisiran-based strategy and individually optimised lipid-lowering therapy.</a:t>
            </a:r>
            <a:endParaRPr lang="en-US" sz="1200" dirty="0"/>
          </a:p>
        </p:txBody>
      </p:sp>
      <p:sp>
        <p:nvSpPr>
          <p:cNvPr id="16" name="Shape 12"/>
          <p:cNvSpPr/>
          <p:nvPr/>
        </p:nvSpPr>
        <p:spPr>
          <a:xfrm>
            <a:off x="6263640" y="2999232"/>
            <a:ext cx="5358384" cy="1280160"/>
          </a:xfrm>
          <a:prstGeom prst="roundRect">
            <a:avLst>
              <a:gd name="adj" fmla="val 5714"/>
            </a:avLst>
          </a:prstGeom>
          <a:solidFill>
            <a:srgbClr val="FFFFFF"/>
          </a:solidFill>
          <a:ln/>
          <a:effectLst>
            <a:outerShdw sx="100000" sy="100000" kx="0" ky="0" algn="bl" rotWithShape="0" blurRad="127000" dist="25400" dir="5400000">
              <a:srgbClr val="3A2226">
                <a:alpha val="13000"/>
              </a:srgbClr>
            </a:outerShdw>
          </a:effectLst>
        </p:spPr>
      </p:sp>
      <p:sp>
        <p:nvSpPr>
          <p:cNvPr id="17" name="Shape 13"/>
          <p:cNvSpPr/>
          <p:nvPr/>
        </p:nvSpPr>
        <p:spPr>
          <a:xfrm>
            <a:off x="6537960" y="3319272"/>
            <a:ext cx="640080" cy="640080"/>
          </a:xfrm>
          <a:prstGeom prst="ellipse">
            <a:avLst/>
          </a:prstGeom>
          <a:solidFill>
            <a:srgbClr val="A11226"/>
          </a:solidFill>
          <a:ln/>
        </p:spPr>
      </p:sp>
      <p:pic>
        <p:nvPicPr>
          <p:cNvPr id="18" name="Image 2" descr="preencoded.png">    </p:cNvPr>
          <p:cNvPicPr>
            <a:picLocks noChangeAspect="1"/>
          </p:cNvPicPr>
          <p:nvPr/>
        </p:nvPicPr>
        <p:blipFill>
          <a:blip r:embed="rId3"/>
          <a:stretch>
            <a:fillRect/>
          </a:stretch>
        </p:blipFill>
        <p:spPr>
          <a:xfrm>
            <a:off x="6710782" y="3492094"/>
            <a:ext cx="294437" cy="294437"/>
          </a:xfrm>
          <a:prstGeom prst="rect">
            <a:avLst/>
          </a:prstGeom>
        </p:spPr>
      </p:pic>
      <p:sp>
        <p:nvSpPr>
          <p:cNvPr id="19" name="Text 14"/>
          <p:cNvSpPr txBox="1"/>
          <p:nvPr/>
        </p:nvSpPr>
        <p:spPr>
          <a:xfrm>
            <a:off x="7333488" y="3182112"/>
            <a:ext cx="4041648" cy="292608"/>
          </a:xfrm>
          <a:prstGeom prst="rect">
            <a:avLst/>
          </a:prstGeom>
          <a:noFill/>
          <a:ln/>
        </p:spPr>
        <p:txBody>
          <a:bodyPr wrap="square" lIns="0" tIns="0" rIns="0" bIns="0" rtlCol="0" anchor="ctr"/>
          <a:lstStyle/>
          <a:p>
            <a:pPr indent="0" marL="0">
              <a:buNone/>
            </a:pPr>
            <a:r>
              <a:rPr lang="en-US" sz="1550" b="1" dirty="0">
                <a:solidFill>
                  <a:srgbClr val="2B0A12"/>
                </a:solidFill>
                <a:latin typeface="Calibri" pitchFamily="34" charset="0"/>
                <a:ea typeface="Calibri" pitchFamily="34" charset="-122"/>
                <a:cs typeface="Calibri" pitchFamily="34" charset="-120"/>
              </a:rPr>
              <a:t>Muscle tolerability</a:t>
            </a:r>
            <a:endParaRPr lang="en-US" sz="1550" dirty="0"/>
          </a:p>
        </p:txBody>
      </p:sp>
      <p:sp>
        <p:nvSpPr>
          <p:cNvPr id="20" name="Text 15"/>
          <p:cNvSpPr txBox="1"/>
          <p:nvPr/>
        </p:nvSpPr>
        <p:spPr>
          <a:xfrm>
            <a:off x="7333488" y="3529584"/>
            <a:ext cx="4041648" cy="640080"/>
          </a:xfrm>
          <a:prstGeom prst="rect">
            <a:avLst/>
          </a:prstGeom>
          <a:noFill/>
          <a:ln/>
        </p:spPr>
        <p:txBody>
          <a:bodyPr wrap="square" lIns="0" tIns="0" rIns="0" bIns="0" rtlCol="0" anchor="ctr"/>
          <a:lstStyle/>
          <a:p>
            <a:pPr indent="0" marL="0">
              <a:lnSpc>
                <a:spcPct val="108000"/>
              </a:lnSpc>
              <a:buNone/>
            </a:pPr>
            <a:r>
              <a:rPr lang="en-US" sz="1200" dirty="0">
                <a:solidFill>
                  <a:srgbClr val="2E2A2B"/>
                </a:solidFill>
                <a:latin typeface="Calibri" pitchFamily="34" charset="0"/>
                <a:ea typeface="Calibri" pitchFamily="34" charset="-122"/>
                <a:cs typeface="Calibri" pitchFamily="34" charset="-120"/>
              </a:rPr>
              <a:t>Prospectively capture muscle-related adverse events — rarely a pre-specified endpoint in a lipid trial.</a:t>
            </a:r>
            <a:endParaRPr lang="en-US" sz="1200" dirty="0"/>
          </a:p>
        </p:txBody>
      </p:sp>
      <p:sp>
        <p:nvSpPr>
          <p:cNvPr id="21" name="Shape 16"/>
          <p:cNvSpPr/>
          <p:nvPr/>
        </p:nvSpPr>
        <p:spPr>
          <a:xfrm>
            <a:off x="6263640" y="4370832"/>
            <a:ext cx="5358384" cy="1280160"/>
          </a:xfrm>
          <a:prstGeom prst="roundRect">
            <a:avLst>
              <a:gd name="adj" fmla="val 5714"/>
            </a:avLst>
          </a:prstGeom>
          <a:solidFill>
            <a:srgbClr val="FFFFFF"/>
          </a:solidFill>
          <a:ln/>
          <a:effectLst>
            <a:outerShdw sx="100000" sy="100000" kx="0" ky="0" algn="bl" rotWithShape="0" blurRad="127000" dist="25400" dir="5400000">
              <a:srgbClr val="3A2226">
                <a:alpha val="13000"/>
              </a:srgbClr>
            </a:outerShdw>
          </a:effectLst>
        </p:spPr>
      </p:sp>
      <p:sp>
        <p:nvSpPr>
          <p:cNvPr id="22" name="Shape 17"/>
          <p:cNvSpPr/>
          <p:nvPr/>
        </p:nvSpPr>
        <p:spPr>
          <a:xfrm>
            <a:off x="6537960" y="4690872"/>
            <a:ext cx="640080" cy="640080"/>
          </a:xfrm>
          <a:prstGeom prst="ellipse">
            <a:avLst/>
          </a:prstGeom>
          <a:solidFill>
            <a:srgbClr val="A11226"/>
          </a:solidFill>
          <a:ln/>
        </p:spPr>
      </p:sp>
      <p:pic>
        <p:nvPicPr>
          <p:cNvPr id="23" name="Image 3" descr="preencoded.png">    </p:cNvPr>
          <p:cNvPicPr>
            <a:picLocks noChangeAspect="1"/>
          </p:cNvPicPr>
          <p:nvPr/>
        </p:nvPicPr>
        <p:blipFill>
          <a:blip r:embed="rId4"/>
          <a:stretch>
            <a:fillRect/>
          </a:stretch>
        </p:blipFill>
        <p:spPr>
          <a:xfrm>
            <a:off x="6710782" y="4863694"/>
            <a:ext cx="294437" cy="294437"/>
          </a:xfrm>
          <a:prstGeom prst="rect">
            <a:avLst/>
          </a:prstGeom>
        </p:spPr>
      </p:pic>
      <p:sp>
        <p:nvSpPr>
          <p:cNvPr id="24" name="Text 18"/>
          <p:cNvSpPr txBox="1"/>
          <p:nvPr/>
        </p:nvSpPr>
        <p:spPr>
          <a:xfrm>
            <a:off x="7333488" y="4553712"/>
            <a:ext cx="4041648" cy="292608"/>
          </a:xfrm>
          <a:prstGeom prst="rect">
            <a:avLst/>
          </a:prstGeom>
          <a:noFill/>
          <a:ln/>
        </p:spPr>
        <p:txBody>
          <a:bodyPr wrap="square" lIns="0" tIns="0" rIns="0" bIns="0" rtlCol="0" anchor="ctr"/>
          <a:lstStyle/>
          <a:p>
            <a:pPr indent="0" marL="0">
              <a:buNone/>
            </a:pPr>
            <a:r>
              <a:rPr lang="en-US" sz="1550" b="1" dirty="0">
                <a:solidFill>
                  <a:srgbClr val="2B0A12"/>
                </a:solidFill>
                <a:latin typeface="Calibri" pitchFamily="34" charset="0"/>
                <a:ea typeface="Calibri" pitchFamily="34" charset="-122"/>
                <a:cs typeface="Calibri" pitchFamily="34" charset="-120"/>
              </a:rPr>
              <a:t>Patient experience</a:t>
            </a:r>
            <a:endParaRPr lang="en-US" sz="1550" dirty="0"/>
          </a:p>
        </p:txBody>
      </p:sp>
      <p:sp>
        <p:nvSpPr>
          <p:cNvPr id="25" name="Text 19"/>
          <p:cNvSpPr txBox="1"/>
          <p:nvPr/>
        </p:nvSpPr>
        <p:spPr>
          <a:xfrm>
            <a:off x="7333488" y="4901184"/>
            <a:ext cx="4041648" cy="640080"/>
          </a:xfrm>
          <a:prstGeom prst="rect">
            <a:avLst/>
          </a:prstGeom>
          <a:noFill/>
          <a:ln/>
        </p:spPr>
        <p:txBody>
          <a:bodyPr wrap="square" lIns="0" tIns="0" rIns="0" bIns="0" rtlCol="0" anchor="ctr"/>
          <a:lstStyle/>
          <a:p>
            <a:pPr indent="0" marL="0">
              <a:lnSpc>
                <a:spcPct val="108000"/>
              </a:lnSpc>
              <a:buNone/>
            </a:pPr>
            <a:r>
              <a:rPr lang="en-US" sz="1200" dirty="0">
                <a:solidFill>
                  <a:srgbClr val="2E2A2B"/>
                </a:solidFill>
                <a:latin typeface="Calibri" pitchFamily="34" charset="0"/>
                <a:ea typeface="Calibri" pitchFamily="34" charset="-122"/>
                <a:cs typeface="Calibri" pitchFamily="34" charset="-120"/>
              </a:rPr>
              <a:t>Measure pain-related quality of life with the Short Form-Brief Pain Inventory.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Study Design</a:t>
            </a:r>
            <a:endParaRPr lang="en-US" sz="3200" dirty="0"/>
          </a:p>
        </p:txBody>
      </p:sp>
      <p:sp>
        <p:nvSpPr>
          <p:cNvPr id="4" name="Text 2"/>
          <p:cNvSpPr txBox="1"/>
          <p:nvPr/>
        </p:nvSpPr>
        <p:spPr>
          <a:xfrm>
            <a:off x="566928" y="1298448"/>
            <a:ext cx="11055096" cy="310896"/>
          </a:xfrm>
          <a:prstGeom prst="rect">
            <a:avLst/>
          </a:prstGeom>
          <a:noFill/>
          <a:ln/>
        </p:spPr>
        <p:txBody>
          <a:bodyPr wrap="square" lIns="0" tIns="0" rIns="0" bIns="0" rtlCol="0" anchor="ctr"/>
          <a:lstStyle/>
          <a:p>
            <a:pPr indent="0" marL="0">
              <a:buNone/>
            </a:pPr>
            <a:r>
              <a:rPr lang="en-US" sz="1400" i="1" dirty="0">
                <a:solidFill>
                  <a:srgbClr val="756B6D"/>
                </a:solidFill>
                <a:latin typeface="Calibri" pitchFamily="34" charset="0"/>
                <a:ea typeface="Calibri" pitchFamily="34" charset="-122"/>
                <a:cs typeface="Calibri" pitchFamily="34" charset="-120"/>
              </a:rPr>
              <a:t>Phase 4, randomised 1:1, double-blind, placebo-controlled  ·  133 centres in 8 European countries  ·  NCT05192941</a:t>
            </a:r>
            <a:endParaRPr lang="en-US" sz="1400" dirty="0"/>
          </a:p>
        </p:txBody>
      </p:sp>
      <p:sp>
        <p:nvSpPr>
          <p:cNvPr id="5" name="Text 3"/>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6" name="Text 4"/>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6</a:t>
            </a:r>
            <a:endParaRPr lang="en-US" sz="950" dirty="0"/>
          </a:p>
        </p:txBody>
      </p:sp>
      <p:sp>
        <p:nvSpPr>
          <p:cNvPr id="7" name="Shape 5"/>
          <p:cNvSpPr/>
          <p:nvPr/>
        </p:nvSpPr>
        <p:spPr>
          <a:xfrm>
            <a:off x="2377440" y="1682496"/>
            <a:ext cx="7434072" cy="640080"/>
          </a:xfrm>
          <a:prstGeom prst="roundRect">
            <a:avLst>
              <a:gd name="adj" fmla="val 11429"/>
            </a:avLst>
          </a:prstGeom>
          <a:solidFill>
            <a:srgbClr val="2B0A12"/>
          </a:solidFill>
          <a:ln/>
        </p:spPr>
      </p:sp>
      <p:sp>
        <p:nvSpPr>
          <p:cNvPr id="8" name="Text 6"/>
          <p:cNvSpPr txBox="1"/>
          <p:nvPr/>
        </p:nvSpPr>
        <p:spPr>
          <a:xfrm>
            <a:off x="2606040" y="1682496"/>
            <a:ext cx="6976872" cy="640080"/>
          </a:xfrm>
          <a:prstGeom prst="rect">
            <a:avLst/>
          </a:prstGeom>
          <a:noFill/>
          <a:ln/>
        </p:spPr>
        <p:txBody>
          <a:bodyPr wrap="square" lIns="0" tIns="0" rIns="0" bIns="0" rtlCol="0" anchor="ctr"/>
          <a:lstStyle/>
          <a:p>
            <a:pPr algn="ctr" indent="0" marL="0">
              <a:lnSpc>
                <a:spcPct val="105000"/>
              </a:lnSpc>
              <a:buNone/>
            </a:pPr>
            <a:r>
              <a:rPr lang="en-US" sz="1350" b="1" dirty="0">
                <a:solidFill>
                  <a:srgbClr val="FFFFFF"/>
                </a:solidFill>
                <a:latin typeface="Calibri" pitchFamily="34" charset="0"/>
                <a:ea typeface="Calibri" pitchFamily="34" charset="-122"/>
                <a:cs typeface="Calibri" pitchFamily="34" charset="-120"/>
              </a:rPr>
              <a:t>1,770 adults with hypercholesterolaemia at high or very high cardiovascular risk, already on a stable statin dose</a:t>
            </a:r>
            <a:endParaRPr lang="en-US" sz="1350" dirty="0"/>
          </a:p>
        </p:txBody>
      </p:sp>
      <p:sp>
        <p:nvSpPr>
          <p:cNvPr id="9" name="Shape 7"/>
          <p:cNvSpPr/>
          <p:nvPr/>
        </p:nvSpPr>
        <p:spPr>
          <a:xfrm>
            <a:off x="3374136" y="2359152"/>
            <a:ext cx="201168" cy="256032"/>
          </a:xfrm>
          <a:prstGeom prst="downArrow">
            <a:avLst/>
          </a:prstGeom>
          <a:solidFill>
            <a:srgbClr val="C8324A"/>
          </a:solidFill>
          <a:ln/>
        </p:spPr>
      </p:sp>
      <p:sp>
        <p:nvSpPr>
          <p:cNvPr id="10" name="Shape 8"/>
          <p:cNvSpPr/>
          <p:nvPr/>
        </p:nvSpPr>
        <p:spPr>
          <a:xfrm>
            <a:off x="8586216" y="2359152"/>
            <a:ext cx="201168" cy="256032"/>
          </a:xfrm>
          <a:prstGeom prst="downArrow">
            <a:avLst/>
          </a:prstGeom>
          <a:solidFill>
            <a:srgbClr val="C8324A"/>
          </a:solidFill>
          <a:ln/>
        </p:spPr>
      </p:sp>
      <p:sp>
        <p:nvSpPr>
          <p:cNvPr id="11" name="Shape 9"/>
          <p:cNvSpPr/>
          <p:nvPr/>
        </p:nvSpPr>
        <p:spPr>
          <a:xfrm>
            <a:off x="1234440" y="2670048"/>
            <a:ext cx="4480560" cy="1499616"/>
          </a:xfrm>
          <a:prstGeom prst="roundRect">
            <a:avLst>
              <a:gd name="adj" fmla="val 4878"/>
            </a:avLst>
          </a:prstGeom>
          <a:solidFill>
            <a:srgbClr val="A11226"/>
          </a:solidFill>
          <a:ln/>
        </p:spPr>
      </p:sp>
      <p:sp>
        <p:nvSpPr>
          <p:cNvPr id="12" name="Text 10"/>
          <p:cNvSpPr txBox="1"/>
          <p:nvPr/>
        </p:nvSpPr>
        <p:spPr>
          <a:xfrm>
            <a:off x="1508760" y="2798064"/>
            <a:ext cx="3931920" cy="237744"/>
          </a:xfrm>
          <a:prstGeom prst="rect">
            <a:avLst/>
          </a:prstGeom>
          <a:noFill/>
          <a:ln/>
        </p:spPr>
        <p:txBody>
          <a:bodyPr wrap="square" lIns="0" tIns="0" rIns="0" bIns="0" rtlCol="0" anchor="ctr"/>
          <a:lstStyle/>
          <a:p>
            <a:pPr indent="0" marL="0">
              <a:buNone/>
            </a:pPr>
            <a:r>
              <a:rPr lang="en-US" sz="1050" b="1" spc="160" kern="0" dirty="0">
                <a:solidFill>
                  <a:srgbClr val="FFFFFF"/>
                </a:solidFill>
                <a:latin typeface="Calibri" pitchFamily="34" charset="0"/>
                <a:ea typeface="Calibri" pitchFamily="34" charset="-122"/>
                <a:cs typeface="Calibri" pitchFamily="34" charset="-120"/>
              </a:rPr>
              <a:t>INCLISIRAN-BASED STRATEGY</a:t>
            </a:r>
            <a:endParaRPr lang="en-US" sz="1050" dirty="0"/>
          </a:p>
        </p:txBody>
      </p:sp>
      <p:sp>
        <p:nvSpPr>
          <p:cNvPr id="13" name="Text 11"/>
          <p:cNvSpPr txBox="1"/>
          <p:nvPr/>
        </p:nvSpPr>
        <p:spPr>
          <a:xfrm>
            <a:off x="1508760" y="3035808"/>
            <a:ext cx="3931920"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n = 898</a:t>
            </a:r>
            <a:endParaRPr lang="en-US" sz="2200" dirty="0"/>
          </a:p>
        </p:txBody>
      </p:sp>
      <p:sp>
        <p:nvSpPr>
          <p:cNvPr id="14" name="Text 12"/>
          <p:cNvSpPr txBox="1"/>
          <p:nvPr/>
        </p:nvSpPr>
        <p:spPr>
          <a:xfrm>
            <a:off x="1508760" y="3456432"/>
            <a:ext cx="3931920" cy="640080"/>
          </a:xfrm>
          <a:prstGeom prst="rect">
            <a:avLst/>
          </a:prstGeom>
          <a:noFill/>
          <a:ln/>
        </p:spPr>
        <p:txBody>
          <a:bodyPr wrap="square" lIns="0" tIns="0" rIns="0" bIns="0" rtlCol="0" anchor="ctr"/>
          <a:lstStyle/>
          <a:p>
            <a:pPr indent="0" marL="0">
              <a:lnSpc>
                <a:spcPct val="105000"/>
              </a:lnSpc>
              <a:buNone/>
            </a:pPr>
            <a:r>
              <a:rPr lang="en-US" sz="1100" dirty="0">
                <a:solidFill>
                  <a:srgbClr val="FFFFFF"/>
                </a:solidFill>
                <a:latin typeface="Calibri" pitchFamily="34" charset="0"/>
                <a:ea typeface="Calibri" pitchFamily="34" charset="-122"/>
                <a:cs typeface="Calibri" pitchFamily="34" charset="-120"/>
              </a:rPr>
              <a:t>Inclisiran sodium 300 mg SC (equivalent to 284 mg inclisiran) plus individually optimised lipid-lowering therapy</a:t>
            </a:r>
            <a:endParaRPr lang="en-US" sz="1100" dirty="0"/>
          </a:p>
        </p:txBody>
      </p:sp>
      <p:sp>
        <p:nvSpPr>
          <p:cNvPr id="15" name="Shape 13"/>
          <p:cNvSpPr/>
          <p:nvPr/>
        </p:nvSpPr>
        <p:spPr>
          <a:xfrm>
            <a:off x="6446520" y="2670048"/>
            <a:ext cx="4480560" cy="1499616"/>
          </a:xfrm>
          <a:prstGeom prst="roundRect">
            <a:avLst>
              <a:gd name="adj" fmla="val 4878"/>
            </a:avLst>
          </a:prstGeom>
          <a:solidFill>
            <a:srgbClr val="4E5766"/>
          </a:solidFill>
          <a:ln/>
        </p:spPr>
      </p:sp>
      <p:sp>
        <p:nvSpPr>
          <p:cNvPr id="16" name="Text 14"/>
          <p:cNvSpPr txBox="1"/>
          <p:nvPr/>
        </p:nvSpPr>
        <p:spPr>
          <a:xfrm>
            <a:off x="6720840" y="2798064"/>
            <a:ext cx="3931920" cy="237744"/>
          </a:xfrm>
          <a:prstGeom prst="rect">
            <a:avLst/>
          </a:prstGeom>
          <a:noFill/>
          <a:ln/>
        </p:spPr>
        <p:txBody>
          <a:bodyPr wrap="square" lIns="0" tIns="0" rIns="0" bIns="0" rtlCol="0" anchor="ctr"/>
          <a:lstStyle/>
          <a:p>
            <a:pPr indent="0" marL="0">
              <a:buNone/>
            </a:pPr>
            <a:r>
              <a:rPr lang="en-US" sz="1050" b="1" spc="160" kern="0" dirty="0">
                <a:solidFill>
                  <a:srgbClr val="FFFFFF"/>
                </a:solidFill>
                <a:latin typeface="Calibri" pitchFamily="34" charset="0"/>
                <a:ea typeface="Calibri" pitchFamily="34" charset="-122"/>
                <a:cs typeface="Calibri" pitchFamily="34" charset="-120"/>
              </a:rPr>
              <a:t>CONTROL STRATEGY</a:t>
            </a:r>
            <a:endParaRPr lang="en-US" sz="1050" dirty="0"/>
          </a:p>
        </p:txBody>
      </p:sp>
      <p:sp>
        <p:nvSpPr>
          <p:cNvPr id="17" name="Text 15"/>
          <p:cNvSpPr txBox="1"/>
          <p:nvPr/>
        </p:nvSpPr>
        <p:spPr>
          <a:xfrm>
            <a:off x="6720840" y="3035808"/>
            <a:ext cx="3931920"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n = 872</a:t>
            </a:r>
            <a:endParaRPr lang="en-US" sz="2200" dirty="0"/>
          </a:p>
        </p:txBody>
      </p:sp>
      <p:sp>
        <p:nvSpPr>
          <p:cNvPr id="18" name="Text 16"/>
          <p:cNvSpPr txBox="1"/>
          <p:nvPr/>
        </p:nvSpPr>
        <p:spPr>
          <a:xfrm>
            <a:off x="6720840" y="3456432"/>
            <a:ext cx="3931920" cy="640080"/>
          </a:xfrm>
          <a:prstGeom prst="rect">
            <a:avLst/>
          </a:prstGeom>
          <a:noFill/>
          <a:ln/>
        </p:spPr>
        <p:txBody>
          <a:bodyPr wrap="square" lIns="0" tIns="0" rIns="0" bIns="0" rtlCol="0" anchor="ctr"/>
          <a:lstStyle/>
          <a:p>
            <a:pPr indent="0" marL="0">
              <a:lnSpc>
                <a:spcPct val="105000"/>
              </a:lnSpc>
              <a:buNone/>
            </a:pPr>
            <a:r>
              <a:rPr lang="en-US" sz="1100" dirty="0">
                <a:solidFill>
                  <a:srgbClr val="FFFFFF"/>
                </a:solidFill>
                <a:latin typeface="Calibri" pitchFamily="34" charset="0"/>
                <a:ea typeface="Calibri" pitchFamily="34" charset="-122"/>
                <a:cs typeface="Calibri" pitchFamily="34" charset="-120"/>
              </a:rPr>
              <a:t>Matching placebo subcutaneously plus individually optimised lipid-lowering therapy</a:t>
            </a:r>
            <a:endParaRPr lang="en-US" sz="1100" dirty="0"/>
          </a:p>
        </p:txBody>
      </p:sp>
      <p:sp>
        <p:nvSpPr>
          <p:cNvPr id="19" name="Shape 17"/>
          <p:cNvSpPr/>
          <p:nvPr/>
        </p:nvSpPr>
        <p:spPr>
          <a:xfrm>
            <a:off x="1234440" y="4297680"/>
            <a:ext cx="9692640" cy="658368"/>
          </a:xfrm>
          <a:prstGeom prst="roundRect">
            <a:avLst>
              <a:gd name="adj" fmla="val 11111"/>
            </a:avLst>
          </a:prstGeom>
          <a:solidFill>
            <a:srgbClr val="ECEEF2"/>
          </a:solidFill>
          <a:ln/>
        </p:spPr>
      </p:sp>
      <p:sp>
        <p:nvSpPr>
          <p:cNvPr id="20" name="Text 18"/>
          <p:cNvSpPr txBox="1"/>
          <p:nvPr/>
        </p:nvSpPr>
        <p:spPr>
          <a:xfrm>
            <a:off x="1508760" y="4297680"/>
            <a:ext cx="9144000" cy="658368"/>
          </a:xfrm>
          <a:prstGeom prst="rect">
            <a:avLst/>
          </a:prstGeom>
          <a:noFill/>
          <a:ln/>
        </p:spPr>
        <p:txBody>
          <a:bodyPr wrap="square" lIns="0" tIns="0" rIns="0" bIns="0" rtlCol="0" anchor="ctr"/>
          <a:lstStyle/>
          <a:p>
            <a:pPr algn="ctr" indent="0" marL="0">
              <a:lnSpc>
                <a:spcPct val="105000"/>
              </a:lnSpc>
              <a:buNone/>
            </a:pPr>
            <a:r>
              <a:rPr lang="en-US" sz="1250" b="1" dirty="0">
                <a:solidFill>
                  <a:srgbClr val="2B0A12"/>
                </a:solidFill>
                <a:latin typeface="Calibri" pitchFamily="34" charset="0"/>
                <a:ea typeface="Calibri" pitchFamily="34" charset="-122"/>
                <a:cs typeface="Calibri" pitchFamily="34" charset="-120"/>
              </a:rPr>
              <a:t>Both arms: </a:t>
            </a:r>
            <a:pPr algn="ctr" indent="0" marL="0">
              <a:lnSpc>
                <a:spcPct val="105000"/>
              </a:lnSpc>
              <a:buNone/>
            </a:pPr>
            <a:r>
              <a:rPr lang="en-US" sz="1250" dirty="0">
                <a:solidFill>
                  <a:srgbClr val="2B0A12"/>
                </a:solidFill>
                <a:latin typeface="Calibri" pitchFamily="34" charset="0"/>
                <a:ea typeface="Calibri" pitchFamily="34" charset="-122"/>
                <a:cs typeface="Calibri" pitchFamily="34" charset="-120"/>
              </a:rPr>
              <a:t>open-label rosuvastatin was up-titrated until the participant reached their individual LDL-C goal or their maximally tolerated statin dose.</a:t>
            </a:r>
            <a:endParaRPr lang="en-US" sz="1250" dirty="0"/>
          </a:p>
        </p:txBody>
      </p:sp>
      <p:sp>
        <p:nvSpPr>
          <p:cNvPr id="21" name="Shape 19"/>
          <p:cNvSpPr/>
          <p:nvPr/>
        </p:nvSpPr>
        <p:spPr>
          <a:xfrm>
            <a:off x="1737360" y="5321808"/>
            <a:ext cx="8503920" cy="3658"/>
          </a:xfrm>
          <a:prstGeom prst="line">
            <a:avLst/>
          </a:prstGeom>
          <a:noFill/>
          <a:ln w="19050">
            <a:solidFill>
              <a:srgbClr val="D8CFD1"/>
            </a:solidFill>
            <a:prstDash val="solid"/>
          </a:ln>
        </p:spPr>
      </p:sp>
      <p:sp>
        <p:nvSpPr>
          <p:cNvPr id="22" name="Shape 20"/>
          <p:cNvSpPr/>
          <p:nvPr/>
        </p:nvSpPr>
        <p:spPr>
          <a:xfrm>
            <a:off x="1636776" y="5221224"/>
            <a:ext cx="201168" cy="201168"/>
          </a:xfrm>
          <a:prstGeom prst="ellipse">
            <a:avLst/>
          </a:prstGeom>
          <a:solidFill>
            <a:srgbClr val="A11226"/>
          </a:solidFill>
          <a:ln/>
        </p:spPr>
      </p:sp>
      <p:sp>
        <p:nvSpPr>
          <p:cNvPr id="23" name="Text 21"/>
          <p:cNvSpPr txBox="1"/>
          <p:nvPr/>
        </p:nvSpPr>
        <p:spPr>
          <a:xfrm>
            <a:off x="548640" y="5486400"/>
            <a:ext cx="2377440" cy="256032"/>
          </a:xfrm>
          <a:prstGeom prst="rect">
            <a:avLst/>
          </a:prstGeom>
          <a:noFill/>
          <a:ln/>
        </p:spPr>
        <p:txBody>
          <a:bodyPr wrap="square" lIns="0" tIns="0" rIns="0" bIns="0" rtlCol="0" anchor="ctr"/>
          <a:lstStyle/>
          <a:p>
            <a:pPr algn="ctr" indent="0" marL="0">
              <a:buNone/>
            </a:pPr>
            <a:r>
              <a:rPr lang="en-US" sz="1300" b="1" dirty="0">
                <a:solidFill>
                  <a:srgbClr val="2B0A12"/>
                </a:solidFill>
                <a:latin typeface="Calibri" pitchFamily="34" charset="0"/>
                <a:ea typeface="Calibri" pitchFamily="34" charset="-122"/>
                <a:cs typeface="Calibri" pitchFamily="34" charset="-120"/>
              </a:rPr>
              <a:t>Day 0</a:t>
            </a:r>
            <a:endParaRPr lang="en-US" sz="1300" dirty="0"/>
          </a:p>
        </p:txBody>
      </p:sp>
      <p:sp>
        <p:nvSpPr>
          <p:cNvPr id="24" name="Text 22"/>
          <p:cNvSpPr txBox="1"/>
          <p:nvPr/>
        </p:nvSpPr>
        <p:spPr>
          <a:xfrm>
            <a:off x="548640" y="5742432"/>
            <a:ext cx="2377440" cy="274320"/>
          </a:xfrm>
          <a:prstGeom prst="rect">
            <a:avLst/>
          </a:prstGeom>
          <a:noFill/>
          <a:ln/>
        </p:spPr>
        <p:txBody>
          <a:bodyPr wrap="square" lIns="0" tIns="0" rIns="0" bIns="0" rtlCol="0" anchor="ctr"/>
          <a:lstStyle/>
          <a:p>
            <a:pPr algn="ctr" indent="0" marL="0">
              <a:buNone/>
            </a:pPr>
            <a:r>
              <a:rPr lang="en-US" sz="1050" dirty="0">
                <a:solidFill>
                  <a:srgbClr val="756B6D"/>
                </a:solidFill>
                <a:latin typeface="Calibri" pitchFamily="34" charset="0"/>
                <a:ea typeface="Calibri" pitchFamily="34" charset="-122"/>
                <a:cs typeface="Calibri" pitchFamily="34" charset="-120"/>
              </a:rPr>
              <a:t>Randomisation and first dose</a:t>
            </a:r>
            <a:endParaRPr lang="en-US" sz="1050" dirty="0"/>
          </a:p>
        </p:txBody>
      </p:sp>
      <p:sp>
        <p:nvSpPr>
          <p:cNvPr id="25" name="Shape 23"/>
          <p:cNvSpPr/>
          <p:nvPr/>
        </p:nvSpPr>
        <p:spPr>
          <a:xfrm>
            <a:off x="4471416" y="5221224"/>
            <a:ext cx="201168" cy="201168"/>
          </a:xfrm>
          <a:prstGeom prst="ellipse">
            <a:avLst/>
          </a:prstGeom>
          <a:solidFill>
            <a:srgbClr val="A11226"/>
          </a:solidFill>
          <a:ln/>
        </p:spPr>
      </p:sp>
      <p:sp>
        <p:nvSpPr>
          <p:cNvPr id="26" name="Text 24"/>
          <p:cNvSpPr txBox="1"/>
          <p:nvPr/>
        </p:nvSpPr>
        <p:spPr>
          <a:xfrm>
            <a:off x="3383280" y="5486400"/>
            <a:ext cx="2377440" cy="256032"/>
          </a:xfrm>
          <a:prstGeom prst="rect">
            <a:avLst/>
          </a:prstGeom>
          <a:noFill/>
          <a:ln/>
        </p:spPr>
        <p:txBody>
          <a:bodyPr wrap="square" lIns="0" tIns="0" rIns="0" bIns="0" rtlCol="0" anchor="ctr"/>
          <a:lstStyle/>
          <a:p>
            <a:pPr algn="ctr" indent="0" marL="0">
              <a:buNone/>
            </a:pPr>
            <a:r>
              <a:rPr lang="en-US" sz="1300" b="1" dirty="0">
                <a:solidFill>
                  <a:srgbClr val="2B0A12"/>
                </a:solidFill>
                <a:latin typeface="Calibri" pitchFamily="34" charset="0"/>
                <a:ea typeface="Calibri" pitchFamily="34" charset="-122"/>
                <a:cs typeface="Calibri" pitchFamily="34" charset="-120"/>
              </a:rPr>
              <a:t>Day 90</a:t>
            </a:r>
            <a:endParaRPr lang="en-US" sz="1300" dirty="0"/>
          </a:p>
        </p:txBody>
      </p:sp>
      <p:sp>
        <p:nvSpPr>
          <p:cNvPr id="27" name="Text 25"/>
          <p:cNvSpPr txBox="1"/>
          <p:nvPr/>
        </p:nvSpPr>
        <p:spPr>
          <a:xfrm>
            <a:off x="3383280" y="5742432"/>
            <a:ext cx="2377440" cy="274320"/>
          </a:xfrm>
          <a:prstGeom prst="rect">
            <a:avLst/>
          </a:prstGeom>
          <a:noFill/>
          <a:ln/>
        </p:spPr>
        <p:txBody>
          <a:bodyPr wrap="square" lIns="0" tIns="0" rIns="0" bIns="0" rtlCol="0" anchor="ctr"/>
          <a:lstStyle/>
          <a:p>
            <a:pPr algn="ctr" indent="0" marL="0">
              <a:buNone/>
            </a:pPr>
            <a:r>
              <a:rPr lang="en-US" sz="1050" dirty="0">
                <a:solidFill>
                  <a:srgbClr val="756B6D"/>
                </a:solidFill>
                <a:latin typeface="Calibri" pitchFamily="34" charset="0"/>
                <a:ea typeface="Calibri" pitchFamily="34" charset="-122"/>
                <a:cs typeface="Calibri" pitchFamily="34" charset="-120"/>
              </a:rPr>
              <a:t>Second dose  ·  primary endpoint</a:t>
            </a:r>
            <a:endParaRPr lang="en-US" sz="1050" dirty="0"/>
          </a:p>
        </p:txBody>
      </p:sp>
      <p:sp>
        <p:nvSpPr>
          <p:cNvPr id="28" name="Shape 26"/>
          <p:cNvSpPr/>
          <p:nvPr/>
        </p:nvSpPr>
        <p:spPr>
          <a:xfrm>
            <a:off x="7306056" y="5221224"/>
            <a:ext cx="201168" cy="201168"/>
          </a:xfrm>
          <a:prstGeom prst="ellipse">
            <a:avLst/>
          </a:prstGeom>
          <a:solidFill>
            <a:srgbClr val="A11226"/>
          </a:solidFill>
          <a:ln/>
        </p:spPr>
      </p:sp>
      <p:sp>
        <p:nvSpPr>
          <p:cNvPr id="29" name="Text 27"/>
          <p:cNvSpPr txBox="1"/>
          <p:nvPr/>
        </p:nvSpPr>
        <p:spPr>
          <a:xfrm>
            <a:off x="6217920" y="5486400"/>
            <a:ext cx="2377440" cy="256032"/>
          </a:xfrm>
          <a:prstGeom prst="rect">
            <a:avLst/>
          </a:prstGeom>
          <a:noFill/>
          <a:ln/>
        </p:spPr>
        <p:txBody>
          <a:bodyPr wrap="square" lIns="0" tIns="0" rIns="0" bIns="0" rtlCol="0" anchor="ctr"/>
          <a:lstStyle/>
          <a:p>
            <a:pPr algn="ctr" indent="0" marL="0">
              <a:buNone/>
            </a:pPr>
            <a:r>
              <a:rPr lang="en-US" sz="1300" b="1" dirty="0">
                <a:solidFill>
                  <a:srgbClr val="2B0A12"/>
                </a:solidFill>
                <a:latin typeface="Calibri" pitchFamily="34" charset="0"/>
                <a:ea typeface="Calibri" pitchFamily="34" charset="-122"/>
                <a:cs typeface="Calibri" pitchFamily="34" charset="-120"/>
              </a:rPr>
              <a:t>Day 270</a:t>
            </a:r>
            <a:endParaRPr lang="en-US" sz="1300" dirty="0"/>
          </a:p>
        </p:txBody>
      </p:sp>
      <p:sp>
        <p:nvSpPr>
          <p:cNvPr id="30" name="Text 28"/>
          <p:cNvSpPr txBox="1"/>
          <p:nvPr/>
        </p:nvSpPr>
        <p:spPr>
          <a:xfrm>
            <a:off x="6217920" y="5742432"/>
            <a:ext cx="2377440" cy="274320"/>
          </a:xfrm>
          <a:prstGeom prst="rect">
            <a:avLst/>
          </a:prstGeom>
          <a:noFill/>
          <a:ln/>
        </p:spPr>
        <p:txBody>
          <a:bodyPr wrap="square" lIns="0" tIns="0" rIns="0" bIns="0" rtlCol="0" anchor="ctr"/>
          <a:lstStyle/>
          <a:p>
            <a:pPr algn="ctr" indent="0" marL="0">
              <a:buNone/>
            </a:pPr>
            <a:r>
              <a:rPr lang="en-US" sz="1050" dirty="0">
                <a:solidFill>
                  <a:srgbClr val="756B6D"/>
                </a:solidFill>
                <a:latin typeface="Calibri" pitchFamily="34" charset="0"/>
                <a:ea typeface="Calibri" pitchFamily="34" charset="-122"/>
                <a:cs typeface="Calibri" pitchFamily="34" charset="-120"/>
              </a:rPr>
              <a:t>Third dose</a:t>
            </a:r>
            <a:endParaRPr lang="en-US" sz="1050" dirty="0"/>
          </a:p>
        </p:txBody>
      </p:sp>
      <p:sp>
        <p:nvSpPr>
          <p:cNvPr id="31" name="Shape 29"/>
          <p:cNvSpPr/>
          <p:nvPr/>
        </p:nvSpPr>
        <p:spPr>
          <a:xfrm>
            <a:off x="10140696" y="5221224"/>
            <a:ext cx="201168" cy="201168"/>
          </a:xfrm>
          <a:prstGeom prst="ellipse">
            <a:avLst/>
          </a:prstGeom>
          <a:solidFill>
            <a:srgbClr val="A11226"/>
          </a:solidFill>
          <a:ln/>
        </p:spPr>
      </p:sp>
      <p:sp>
        <p:nvSpPr>
          <p:cNvPr id="32" name="Text 30"/>
          <p:cNvSpPr txBox="1"/>
          <p:nvPr/>
        </p:nvSpPr>
        <p:spPr>
          <a:xfrm>
            <a:off x="9052560" y="5486400"/>
            <a:ext cx="2377440" cy="256032"/>
          </a:xfrm>
          <a:prstGeom prst="rect">
            <a:avLst/>
          </a:prstGeom>
          <a:noFill/>
          <a:ln/>
        </p:spPr>
        <p:txBody>
          <a:bodyPr wrap="square" lIns="0" tIns="0" rIns="0" bIns="0" rtlCol="0" anchor="ctr"/>
          <a:lstStyle/>
          <a:p>
            <a:pPr algn="ctr" indent="0" marL="0">
              <a:buNone/>
            </a:pPr>
            <a:r>
              <a:rPr lang="en-US" sz="1300" b="1" dirty="0">
                <a:solidFill>
                  <a:srgbClr val="2B0A12"/>
                </a:solidFill>
                <a:latin typeface="Calibri" pitchFamily="34" charset="0"/>
                <a:ea typeface="Calibri" pitchFamily="34" charset="-122"/>
                <a:cs typeface="Calibri" pitchFamily="34" charset="-120"/>
              </a:rPr>
              <a:t>Day 360</a:t>
            </a:r>
            <a:endParaRPr lang="en-US" sz="1300" dirty="0"/>
          </a:p>
        </p:txBody>
      </p:sp>
      <p:sp>
        <p:nvSpPr>
          <p:cNvPr id="33" name="Text 31"/>
          <p:cNvSpPr txBox="1"/>
          <p:nvPr/>
        </p:nvSpPr>
        <p:spPr>
          <a:xfrm>
            <a:off x="9052560" y="5742432"/>
            <a:ext cx="2377440" cy="274320"/>
          </a:xfrm>
          <a:prstGeom prst="rect">
            <a:avLst/>
          </a:prstGeom>
          <a:noFill/>
          <a:ln/>
        </p:spPr>
        <p:txBody>
          <a:bodyPr wrap="square" lIns="0" tIns="0" rIns="0" bIns="0" rtlCol="0" anchor="ctr"/>
          <a:lstStyle/>
          <a:p>
            <a:pPr algn="ctr" indent="0" marL="0">
              <a:buNone/>
            </a:pPr>
            <a:r>
              <a:rPr lang="en-US" sz="1050" dirty="0">
                <a:solidFill>
                  <a:srgbClr val="756B6D"/>
                </a:solidFill>
                <a:latin typeface="Calibri" pitchFamily="34" charset="0"/>
                <a:ea typeface="Calibri" pitchFamily="34" charset="-122"/>
                <a:cs typeface="Calibri" pitchFamily="34" charset="-120"/>
              </a:rPr>
              <a:t>End of study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Eligibility and Treatment Goals</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7</a:t>
            </a:r>
            <a:endParaRPr lang="en-US" sz="950" dirty="0"/>
          </a:p>
        </p:txBody>
      </p:sp>
      <p:sp>
        <p:nvSpPr>
          <p:cNvPr id="6" name="Shape 4"/>
          <p:cNvSpPr/>
          <p:nvPr/>
        </p:nvSpPr>
        <p:spPr>
          <a:xfrm>
            <a:off x="566928" y="1627632"/>
            <a:ext cx="5577840" cy="4005072"/>
          </a:xfrm>
          <a:prstGeom prst="roundRect">
            <a:avLst>
              <a:gd name="adj" fmla="val 1826"/>
            </a:avLst>
          </a:prstGeom>
          <a:solidFill>
            <a:srgbClr val="FFFFFF"/>
          </a:solidFill>
          <a:ln/>
          <a:effectLst>
            <a:outerShdw sx="100000" sy="100000" kx="0" ky="0" algn="bl" rotWithShape="0" blurRad="127000" dist="25400" dir="5400000">
              <a:srgbClr val="3A2226">
                <a:alpha val="13000"/>
              </a:srgbClr>
            </a:outerShdw>
          </a:effectLst>
        </p:spPr>
      </p:sp>
      <p:sp>
        <p:nvSpPr>
          <p:cNvPr id="7" name="Shape 5"/>
          <p:cNvSpPr/>
          <p:nvPr/>
        </p:nvSpPr>
        <p:spPr>
          <a:xfrm>
            <a:off x="914400" y="1865376"/>
            <a:ext cx="566928" cy="566928"/>
          </a:xfrm>
          <a:prstGeom prst="ellipse">
            <a:avLst/>
          </a:prstGeom>
          <a:solidFill>
            <a:srgbClr val="F7E7EA"/>
          </a:solidFill>
          <a:ln/>
        </p:spPr>
      </p:sp>
      <p:pic>
        <p:nvPicPr>
          <p:cNvPr id="8" name="Image 0" descr="preencoded.png">    </p:cNvPr>
          <p:cNvPicPr>
            <a:picLocks noChangeAspect="1"/>
          </p:cNvPicPr>
          <p:nvPr/>
        </p:nvPicPr>
        <p:blipFill>
          <a:blip r:embed="rId1"/>
          <a:stretch>
            <a:fillRect/>
          </a:stretch>
        </p:blipFill>
        <p:spPr>
          <a:xfrm>
            <a:off x="1067471" y="2018447"/>
            <a:ext cx="260787" cy="260787"/>
          </a:xfrm>
          <a:prstGeom prst="rect">
            <a:avLst/>
          </a:prstGeom>
        </p:spPr>
      </p:pic>
      <p:sp>
        <p:nvSpPr>
          <p:cNvPr id="9" name="Text 6"/>
          <p:cNvSpPr txBox="1"/>
          <p:nvPr/>
        </p:nvSpPr>
        <p:spPr>
          <a:xfrm>
            <a:off x="1627632" y="1920240"/>
            <a:ext cx="4206240" cy="384048"/>
          </a:xfrm>
          <a:prstGeom prst="rect">
            <a:avLst/>
          </a:prstGeom>
          <a:noFill/>
          <a:ln/>
        </p:spPr>
        <p:txBody>
          <a:bodyPr wrap="square" lIns="0" tIns="0" rIns="0" bIns="0" rtlCol="0" anchor="ctr"/>
          <a:lstStyle/>
          <a:p>
            <a:pPr indent="0" marL="0">
              <a:buNone/>
            </a:pPr>
            <a:r>
              <a:rPr lang="en-US" sz="2000" b="1" dirty="0">
                <a:solidFill>
                  <a:srgbClr val="2B0A12"/>
                </a:solidFill>
                <a:latin typeface="Cambria" pitchFamily="34" charset="0"/>
                <a:ea typeface="Cambria" pitchFamily="34" charset="-122"/>
                <a:cs typeface="Cambria" pitchFamily="34" charset="-120"/>
              </a:rPr>
              <a:t>Key inclusion criteria</a:t>
            </a:r>
            <a:endParaRPr lang="en-US" sz="2000" dirty="0"/>
          </a:p>
        </p:txBody>
      </p:sp>
      <p:pic>
        <p:nvPicPr>
          <p:cNvPr id="10" name="Image 1" descr="preencoded.png">    </p:cNvPr>
          <p:cNvPicPr>
            <a:picLocks noChangeAspect="1"/>
          </p:cNvPicPr>
          <p:nvPr/>
        </p:nvPicPr>
        <p:blipFill>
          <a:blip r:embed="rId2"/>
          <a:stretch>
            <a:fillRect/>
          </a:stretch>
        </p:blipFill>
        <p:spPr>
          <a:xfrm>
            <a:off x="914400" y="2624328"/>
            <a:ext cx="237744" cy="237744"/>
          </a:xfrm>
          <a:prstGeom prst="rect">
            <a:avLst/>
          </a:prstGeom>
        </p:spPr>
      </p:pic>
      <p:sp>
        <p:nvSpPr>
          <p:cNvPr id="11" name="Text 7"/>
          <p:cNvSpPr txBox="1"/>
          <p:nvPr/>
        </p:nvSpPr>
        <p:spPr>
          <a:xfrm>
            <a:off x="1353312" y="2578608"/>
            <a:ext cx="4480560" cy="512064"/>
          </a:xfrm>
          <a:prstGeom prst="rect">
            <a:avLst/>
          </a:prstGeom>
          <a:noFill/>
          <a:ln/>
        </p:spPr>
        <p:txBody>
          <a:bodyPr wrap="square" lIns="0" tIns="0" rIns="0" bIns="0" rtlCol="0" anchor="ctr"/>
          <a:lstStyle/>
          <a:p>
            <a:pPr indent="0" marL="0">
              <a:lnSpc>
                <a:spcPct val="108000"/>
              </a:lnSpc>
              <a:buNone/>
            </a:pPr>
            <a:r>
              <a:rPr lang="en-US" sz="1350" dirty="0">
                <a:solidFill>
                  <a:srgbClr val="2E2A2B"/>
                </a:solidFill>
                <a:latin typeface="Calibri" pitchFamily="34" charset="0"/>
                <a:ea typeface="Calibri" pitchFamily="34" charset="-122"/>
                <a:cs typeface="Calibri" pitchFamily="34" charset="-120"/>
              </a:rPr>
              <a:t>Adults aged 18 years or older</a:t>
            </a:r>
            <a:endParaRPr lang="en-US" sz="1350" dirty="0"/>
          </a:p>
        </p:txBody>
      </p:sp>
      <p:pic>
        <p:nvPicPr>
          <p:cNvPr id="12" name="Image 2" descr="preencoded.png">    </p:cNvPr>
          <p:cNvPicPr>
            <a:picLocks noChangeAspect="1"/>
          </p:cNvPicPr>
          <p:nvPr/>
        </p:nvPicPr>
        <p:blipFill>
          <a:blip r:embed="rId3"/>
          <a:stretch>
            <a:fillRect/>
          </a:stretch>
        </p:blipFill>
        <p:spPr>
          <a:xfrm>
            <a:off x="914400" y="3246120"/>
            <a:ext cx="237744" cy="237744"/>
          </a:xfrm>
          <a:prstGeom prst="rect">
            <a:avLst/>
          </a:prstGeom>
        </p:spPr>
      </p:pic>
      <p:sp>
        <p:nvSpPr>
          <p:cNvPr id="13" name="Text 8"/>
          <p:cNvSpPr txBox="1"/>
          <p:nvPr/>
        </p:nvSpPr>
        <p:spPr>
          <a:xfrm>
            <a:off x="1353312" y="3200400"/>
            <a:ext cx="4480560" cy="512064"/>
          </a:xfrm>
          <a:prstGeom prst="rect">
            <a:avLst/>
          </a:prstGeom>
          <a:noFill/>
          <a:ln/>
        </p:spPr>
        <p:txBody>
          <a:bodyPr wrap="square" lIns="0" tIns="0" rIns="0" bIns="0" rtlCol="0" anchor="ctr"/>
          <a:lstStyle/>
          <a:p>
            <a:pPr indent="0" marL="0">
              <a:lnSpc>
                <a:spcPct val="108000"/>
              </a:lnSpc>
              <a:buNone/>
            </a:pPr>
            <a:r>
              <a:rPr lang="en-US" sz="1350" dirty="0">
                <a:solidFill>
                  <a:srgbClr val="2E2A2B"/>
                </a:solidFill>
                <a:latin typeface="Calibri" pitchFamily="34" charset="0"/>
                <a:ea typeface="Calibri" pitchFamily="34" charset="-122"/>
                <a:cs typeface="Calibri" pitchFamily="34" charset="-120"/>
              </a:rPr>
              <a:t>High or very high cardiovascular risk</a:t>
            </a:r>
            <a:endParaRPr lang="en-US" sz="1350" dirty="0"/>
          </a:p>
        </p:txBody>
      </p:sp>
      <p:pic>
        <p:nvPicPr>
          <p:cNvPr id="14" name="Image 3" descr="preencoded.png">    </p:cNvPr>
          <p:cNvPicPr>
            <a:picLocks noChangeAspect="1"/>
          </p:cNvPicPr>
          <p:nvPr/>
        </p:nvPicPr>
        <p:blipFill>
          <a:blip r:embed="rId4"/>
          <a:stretch>
            <a:fillRect/>
          </a:stretch>
        </p:blipFill>
        <p:spPr>
          <a:xfrm>
            <a:off x="914400" y="3867912"/>
            <a:ext cx="237744" cy="237744"/>
          </a:xfrm>
          <a:prstGeom prst="rect">
            <a:avLst/>
          </a:prstGeom>
        </p:spPr>
      </p:pic>
      <p:sp>
        <p:nvSpPr>
          <p:cNvPr id="15" name="Text 9"/>
          <p:cNvSpPr txBox="1"/>
          <p:nvPr/>
        </p:nvSpPr>
        <p:spPr>
          <a:xfrm>
            <a:off x="1353312" y="3822192"/>
            <a:ext cx="4480560" cy="512064"/>
          </a:xfrm>
          <a:prstGeom prst="rect">
            <a:avLst/>
          </a:prstGeom>
          <a:noFill/>
          <a:ln/>
        </p:spPr>
        <p:txBody>
          <a:bodyPr wrap="square" lIns="0" tIns="0" rIns="0" bIns="0" rtlCol="0" anchor="ctr"/>
          <a:lstStyle/>
          <a:p>
            <a:pPr indent="0" marL="0">
              <a:lnSpc>
                <a:spcPct val="108000"/>
              </a:lnSpc>
              <a:buNone/>
            </a:pPr>
            <a:r>
              <a:rPr lang="en-US" sz="1350" dirty="0">
                <a:solidFill>
                  <a:srgbClr val="2E2A2B"/>
                </a:solidFill>
                <a:latin typeface="Calibri" pitchFamily="34" charset="0"/>
                <a:ea typeface="Calibri" pitchFamily="34" charset="-122"/>
                <a:cs typeface="Calibri" pitchFamily="34" charset="-120"/>
              </a:rPr>
              <a:t>LDL-C above their individual risk-based goal despite therapy</a:t>
            </a:r>
            <a:endParaRPr lang="en-US" sz="1350" dirty="0"/>
          </a:p>
        </p:txBody>
      </p:sp>
      <p:pic>
        <p:nvPicPr>
          <p:cNvPr id="16" name="Image 4" descr="preencoded.png">    </p:cNvPr>
          <p:cNvPicPr>
            <a:picLocks noChangeAspect="1"/>
          </p:cNvPicPr>
          <p:nvPr/>
        </p:nvPicPr>
        <p:blipFill>
          <a:blip r:embed="rId5"/>
          <a:stretch>
            <a:fillRect/>
          </a:stretch>
        </p:blipFill>
        <p:spPr>
          <a:xfrm>
            <a:off x="914400" y="4489704"/>
            <a:ext cx="237744" cy="237744"/>
          </a:xfrm>
          <a:prstGeom prst="rect">
            <a:avLst/>
          </a:prstGeom>
        </p:spPr>
      </p:pic>
      <p:sp>
        <p:nvSpPr>
          <p:cNvPr id="17" name="Text 10"/>
          <p:cNvSpPr txBox="1"/>
          <p:nvPr/>
        </p:nvSpPr>
        <p:spPr>
          <a:xfrm>
            <a:off x="1353312" y="4443984"/>
            <a:ext cx="4480560" cy="512064"/>
          </a:xfrm>
          <a:prstGeom prst="rect">
            <a:avLst/>
          </a:prstGeom>
          <a:noFill/>
          <a:ln/>
        </p:spPr>
        <p:txBody>
          <a:bodyPr wrap="square" lIns="0" tIns="0" rIns="0" bIns="0" rtlCol="0" anchor="ctr"/>
          <a:lstStyle/>
          <a:p>
            <a:pPr indent="0" marL="0">
              <a:lnSpc>
                <a:spcPct val="108000"/>
              </a:lnSpc>
              <a:buNone/>
            </a:pPr>
            <a:r>
              <a:rPr lang="en-US" sz="1350" dirty="0">
                <a:solidFill>
                  <a:srgbClr val="2E2A2B"/>
                </a:solidFill>
                <a:latin typeface="Calibri" pitchFamily="34" charset="0"/>
                <a:ea typeface="Calibri" pitchFamily="34" charset="-122"/>
                <a:cs typeface="Calibri" pitchFamily="34" charset="-120"/>
              </a:rPr>
              <a:t>On a stable statin dose for at least 30 days</a:t>
            </a:r>
            <a:endParaRPr lang="en-US" sz="1350" dirty="0"/>
          </a:p>
        </p:txBody>
      </p:sp>
      <p:pic>
        <p:nvPicPr>
          <p:cNvPr id="18" name="Image 5" descr="preencoded.png">    </p:cNvPr>
          <p:cNvPicPr>
            <a:picLocks noChangeAspect="1"/>
          </p:cNvPicPr>
          <p:nvPr/>
        </p:nvPicPr>
        <p:blipFill>
          <a:blip r:embed="rId6"/>
          <a:stretch>
            <a:fillRect/>
          </a:stretch>
        </p:blipFill>
        <p:spPr>
          <a:xfrm>
            <a:off x="914400" y="5111496"/>
            <a:ext cx="237744" cy="237744"/>
          </a:xfrm>
          <a:prstGeom prst="rect">
            <a:avLst/>
          </a:prstGeom>
        </p:spPr>
      </p:pic>
      <p:sp>
        <p:nvSpPr>
          <p:cNvPr id="19" name="Text 11"/>
          <p:cNvSpPr txBox="1"/>
          <p:nvPr/>
        </p:nvSpPr>
        <p:spPr>
          <a:xfrm>
            <a:off x="1353312" y="5065776"/>
            <a:ext cx="4480560" cy="512064"/>
          </a:xfrm>
          <a:prstGeom prst="rect">
            <a:avLst/>
          </a:prstGeom>
          <a:noFill/>
          <a:ln/>
        </p:spPr>
        <p:txBody>
          <a:bodyPr wrap="square" lIns="0" tIns="0" rIns="0" bIns="0" rtlCol="0" anchor="ctr"/>
          <a:lstStyle/>
          <a:p>
            <a:pPr indent="0" marL="0">
              <a:lnSpc>
                <a:spcPct val="108000"/>
              </a:lnSpc>
              <a:buNone/>
            </a:pPr>
            <a:r>
              <a:rPr lang="en-US" sz="1350" dirty="0">
                <a:solidFill>
                  <a:srgbClr val="2E2A2B"/>
                </a:solidFill>
                <a:latin typeface="Calibri" pitchFamily="34" charset="0"/>
                <a:ea typeface="Calibri" pitchFamily="34" charset="-122"/>
                <a:cs typeface="Calibri" pitchFamily="34" charset="-120"/>
              </a:rPr>
              <a:t>Fasting triglycerides below 400 mg/dL</a:t>
            </a:r>
            <a:endParaRPr lang="en-US" sz="1350" dirty="0"/>
          </a:p>
        </p:txBody>
      </p:sp>
      <p:sp>
        <p:nvSpPr>
          <p:cNvPr id="20" name="Shape 12"/>
          <p:cNvSpPr/>
          <p:nvPr/>
        </p:nvSpPr>
        <p:spPr>
          <a:xfrm>
            <a:off x="6446520" y="1627632"/>
            <a:ext cx="5175504" cy="1389888"/>
          </a:xfrm>
          <a:prstGeom prst="roundRect">
            <a:avLst>
              <a:gd name="adj" fmla="val 5263"/>
            </a:avLst>
          </a:prstGeom>
          <a:solidFill>
            <a:srgbClr val="A11226"/>
          </a:solidFill>
          <a:ln/>
        </p:spPr>
      </p:sp>
      <p:sp>
        <p:nvSpPr>
          <p:cNvPr id="21" name="Text 13"/>
          <p:cNvSpPr txBox="1"/>
          <p:nvPr/>
        </p:nvSpPr>
        <p:spPr>
          <a:xfrm>
            <a:off x="6766560" y="1828800"/>
            <a:ext cx="4535424" cy="256032"/>
          </a:xfrm>
          <a:prstGeom prst="rect">
            <a:avLst/>
          </a:prstGeom>
          <a:noFill/>
          <a:ln/>
        </p:spPr>
        <p:txBody>
          <a:bodyPr wrap="square" lIns="0" tIns="0" rIns="0" bIns="0" rtlCol="0" anchor="ctr"/>
          <a:lstStyle/>
          <a:p>
            <a:pPr indent="0" marL="0">
              <a:buNone/>
            </a:pPr>
            <a:r>
              <a:rPr lang="en-US" sz="1050" b="1" spc="160" kern="0" dirty="0">
                <a:solidFill>
                  <a:srgbClr val="FFFFFF"/>
                </a:solidFill>
                <a:latin typeface="Calibri" pitchFamily="34" charset="0"/>
                <a:ea typeface="Calibri" pitchFamily="34" charset="-122"/>
                <a:cs typeface="Calibri" pitchFamily="34" charset="-120"/>
              </a:rPr>
              <a:t>VERY HIGH CARDIOVASCULAR RISK</a:t>
            </a:r>
            <a:endParaRPr lang="en-US" sz="1050" dirty="0"/>
          </a:p>
        </p:txBody>
      </p:sp>
      <p:sp>
        <p:nvSpPr>
          <p:cNvPr id="22" name="Text 14"/>
          <p:cNvSpPr txBox="1"/>
          <p:nvPr/>
        </p:nvSpPr>
        <p:spPr>
          <a:xfrm>
            <a:off x="6766560" y="2121408"/>
            <a:ext cx="2834640"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&lt; 55 mg/dL</a:t>
            </a:r>
            <a:endParaRPr lang="en-US" sz="3200" dirty="0"/>
          </a:p>
        </p:txBody>
      </p:sp>
      <p:sp>
        <p:nvSpPr>
          <p:cNvPr id="23" name="Text 15"/>
          <p:cNvSpPr txBox="1"/>
          <p:nvPr/>
        </p:nvSpPr>
        <p:spPr>
          <a:xfrm>
            <a:off x="9418320" y="2322576"/>
            <a:ext cx="1883664" cy="292608"/>
          </a:xfrm>
          <a:prstGeom prst="rect">
            <a:avLst/>
          </a:prstGeom>
          <a:noFill/>
          <a:ln/>
        </p:spPr>
        <p:txBody>
          <a:bodyPr wrap="square" lIns="0" tIns="0" rIns="0" bIns="0" rtlCol="0" anchor="ctr"/>
          <a:lstStyle/>
          <a:p>
            <a:pPr algn="r" indent="0" marL="0">
              <a:buNone/>
            </a:pPr>
            <a:r>
              <a:rPr lang="en-US" sz="1250" dirty="0">
                <a:solidFill>
                  <a:srgbClr val="FFFFFF"/>
                </a:solidFill>
                <a:latin typeface="Calibri" pitchFamily="34" charset="0"/>
                <a:ea typeface="Calibri" pitchFamily="34" charset="-122"/>
                <a:cs typeface="Calibri" pitchFamily="34" charset="-120"/>
              </a:rPr>
              <a:t>(below 1.4 mmol/L)</a:t>
            </a:r>
            <a:endParaRPr lang="en-US" sz="1250" dirty="0"/>
          </a:p>
        </p:txBody>
      </p:sp>
      <p:sp>
        <p:nvSpPr>
          <p:cNvPr id="24" name="Shape 16"/>
          <p:cNvSpPr/>
          <p:nvPr/>
        </p:nvSpPr>
        <p:spPr>
          <a:xfrm>
            <a:off x="6446520" y="3182112"/>
            <a:ext cx="5175504" cy="1389888"/>
          </a:xfrm>
          <a:prstGeom prst="roundRect">
            <a:avLst>
              <a:gd name="adj" fmla="val 5263"/>
            </a:avLst>
          </a:prstGeom>
          <a:solidFill>
            <a:srgbClr val="4E5766"/>
          </a:solidFill>
          <a:ln/>
        </p:spPr>
      </p:sp>
      <p:sp>
        <p:nvSpPr>
          <p:cNvPr id="25" name="Text 17"/>
          <p:cNvSpPr txBox="1"/>
          <p:nvPr/>
        </p:nvSpPr>
        <p:spPr>
          <a:xfrm>
            <a:off x="6766560" y="3383280"/>
            <a:ext cx="4535424" cy="256032"/>
          </a:xfrm>
          <a:prstGeom prst="rect">
            <a:avLst/>
          </a:prstGeom>
          <a:noFill/>
          <a:ln/>
        </p:spPr>
        <p:txBody>
          <a:bodyPr wrap="square" lIns="0" tIns="0" rIns="0" bIns="0" rtlCol="0" anchor="ctr"/>
          <a:lstStyle/>
          <a:p>
            <a:pPr indent="0" marL="0">
              <a:buNone/>
            </a:pPr>
            <a:r>
              <a:rPr lang="en-US" sz="1050" b="1" spc="160" kern="0" dirty="0">
                <a:solidFill>
                  <a:srgbClr val="FFFFFF"/>
                </a:solidFill>
                <a:latin typeface="Calibri" pitchFamily="34" charset="0"/>
                <a:ea typeface="Calibri" pitchFamily="34" charset="-122"/>
                <a:cs typeface="Calibri" pitchFamily="34" charset="-120"/>
              </a:rPr>
              <a:t>HIGH CARDIOVASCULAR RISK</a:t>
            </a:r>
            <a:endParaRPr lang="en-US" sz="1050" dirty="0"/>
          </a:p>
        </p:txBody>
      </p:sp>
      <p:sp>
        <p:nvSpPr>
          <p:cNvPr id="26" name="Text 18"/>
          <p:cNvSpPr txBox="1"/>
          <p:nvPr/>
        </p:nvSpPr>
        <p:spPr>
          <a:xfrm>
            <a:off x="6766560" y="3675888"/>
            <a:ext cx="2834640"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&lt; 70 mg/dL</a:t>
            </a:r>
            <a:endParaRPr lang="en-US" sz="3200" dirty="0"/>
          </a:p>
        </p:txBody>
      </p:sp>
      <p:sp>
        <p:nvSpPr>
          <p:cNvPr id="27" name="Text 19"/>
          <p:cNvSpPr txBox="1"/>
          <p:nvPr/>
        </p:nvSpPr>
        <p:spPr>
          <a:xfrm>
            <a:off x="9418320" y="3877056"/>
            <a:ext cx="1883664" cy="292608"/>
          </a:xfrm>
          <a:prstGeom prst="rect">
            <a:avLst/>
          </a:prstGeom>
          <a:noFill/>
          <a:ln/>
        </p:spPr>
        <p:txBody>
          <a:bodyPr wrap="square" lIns="0" tIns="0" rIns="0" bIns="0" rtlCol="0" anchor="ctr"/>
          <a:lstStyle/>
          <a:p>
            <a:pPr algn="r" indent="0" marL="0">
              <a:buNone/>
            </a:pPr>
            <a:r>
              <a:rPr lang="en-US" sz="1250" dirty="0">
                <a:solidFill>
                  <a:srgbClr val="FFFFFF"/>
                </a:solidFill>
                <a:latin typeface="Calibri" pitchFamily="34" charset="0"/>
                <a:ea typeface="Calibri" pitchFamily="34" charset="-122"/>
                <a:cs typeface="Calibri" pitchFamily="34" charset="-120"/>
              </a:rPr>
              <a:t>(below 1.8 mmol/L)</a:t>
            </a:r>
            <a:endParaRPr lang="en-US" sz="1250" dirty="0"/>
          </a:p>
        </p:txBody>
      </p:sp>
      <p:sp>
        <p:nvSpPr>
          <p:cNvPr id="28" name="Shape 20"/>
          <p:cNvSpPr/>
          <p:nvPr/>
        </p:nvSpPr>
        <p:spPr>
          <a:xfrm>
            <a:off x="6446520" y="4754880"/>
            <a:ext cx="5175504" cy="877824"/>
          </a:xfrm>
          <a:prstGeom prst="roundRect">
            <a:avLst>
              <a:gd name="adj" fmla="val 8333"/>
            </a:avLst>
          </a:prstGeom>
          <a:solidFill>
            <a:srgbClr val="ECEEF2"/>
          </a:solidFill>
          <a:ln/>
        </p:spPr>
      </p:sp>
      <p:sp>
        <p:nvSpPr>
          <p:cNvPr id="29" name="Text 21"/>
          <p:cNvSpPr txBox="1"/>
          <p:nvPr/>
        </p:nvSpPr>
        <p:spPr>
          <a:xfrm>
            <a:off x="6748272" y="4754880"/>
            <a:ext cx="4572000" cy="877824"/>
          </a:xfrm>
          <a:prstGeom prst="rect">
            <a:avLst/>
          </a:prstGeom>
          <a:noFill/>
          <a:ln/>
        </p:spPr>
        <p:txBody>
          <a:bodyPr wrap="square" lIns="0" tIns="0" rIns="0" bIns="0" rtlCol="0" anchor="ctr"/>
          <a:lstStyle/>
          <a:p>
            <a:pPr indent="0" marL="0">
              <a:lnSpc>
                <a:spcPct val="110000"/>
              </a:lnSpc>
              <a:buNone/>
            </a:pPr>
            <a:r>
              <a:rPr lang="en-US" sz="1250" dirty="0">
                <a:solidFill>
                  <a:srgbClr val="2B0A12"/>
                </a:solidFill>
                <a:latin typeface="Calibri" pitchFamily="34" charset="0"/>
                <a:ea typeface="Calibri" pitchFamily="34" charset="-122"/>
                <a:cs typeface="Calibri" pitchFamily="34" charset="-120"/>
              </a:rPr>
              <a:t>Goal attainment was judged against each participant's own 2019 ESC/EAS risk-based target, not a single fixed threshold.</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METHODS</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Endpoints</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8</a:t>
            </a:r>
            <a:endParaRPr lang="en-US" sz="950" dirty="0"/>
          </a:p>
        </p:txBody>
      </p:sp>
      <p:sp>
        <p:nvSpPr>
          <p:cNvPr id="6" name="Shape 4"/>
          <p:cNvSpPr/>
          <p:nvPr/>
        </p:nvSpPr>
        <p:spPr>
          <a:xfrm>
            <a:off x="566928" y="1627632"/>
            <a:ext cx="11055096" cy="1609344"/>
          </a:xfrm>
          <a:prstGeom prst="roundRect">
            <a:avLst>
              <a:gd name="adj" fmla="val 4545"/>
            </a:avLst>
          </a:prstGeom>
          <a:solidFill>
            <a:srgbClr val="A11226"/>
          </a:solidFill>
          <a:ln/>
        </p:spPr>
      </p:sp>
      <p:sp>
        <p:nvSpPr>
          <p:cNvPr id="7" name="Shape 5"/>
          <p:cNvSpPr/>
          <p:nvPr/>
        </p:nvSpPr>
        <p:spPr>
          <a:xfrm>
            <a:off x="960120" y="2084832"/>
            <a:ext cx="731520" cy="73152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1157630" y="2282342"/>
            <a:ext cx="336499" cy="336499"/>
          </a:xfrm>
          <a:prstGeom prst="rect">
            <a:avLst/>
          </a:prstGeom>
        </p:spPr>
      </p:pic>
      <p:sp>
        <p:nvSpPr>
          <p:cNvPr id="9" name="Text 6"/>
          <p:cNvSpPr txBox="1"/>
          <p:nvPr/>
        </p:nvSpPr>
        <p:spPr>
          <a:xfrm>
            <a:off x="2011680" y="1847088"/>
            <a:ext cx="9052560" cy="256032"/>
          </a:xfrm>
          <a:prstGeom prst="rect">
            <a:avLst/>
          </a:prstGeom>
          <a:noFill/>
          <a:ln/>
        </p:spPr>
        <p:txBody>
          <a:bodyPr wrap="square" lIns="0" tIns="0" rIns="0" bIns="0" rtlCol="0" anchor="ctr"/>
          <a:lstStyle/>
          <a:p>
            <a:pPr indent="0" marL="0">
              <a:buNone/>
            </a:pPr>
            <a:r>
              <a:rPr lang="en-US" sz="1100" b="1" spc="220" kern="0" dirty="0">
                <a:solidFill>
                  <a:srgbClr val="E4B363"/>
                </a:solidFill>
                <a:latin typeface="Calibri" pitchFamily="34" charset="0"/>
                <a:ea typeface="Calibri" pitchFamily="34" charset="-122"/>
                <a:cs typeface="Calibri" pitchFamily="34" charset="-120"/>
              </a:rPr>
              <a:t>PRIMARY ENDPOINT</a:t>
            </a:r>
            <a:endParaRPr lang="en-US" sz="1100" dirty="0"/>
          </a:p>
        </p:txBody>
      </p:sp>
      <p:sp>
        <p:nvSpPr>
          <p:cNvPr id="10" name="Text 7"/>
          <p:cNvSpPr txBox="1"/>
          <p:nvPr/>
        </p:nvSpPr>
        <p:spPr>
          <a:xfrm>
            <a:off x="2011680" y="2139696"/>
            <a:ext cx="9052560" cy="56692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Proportion of participants achieving their individual guideline-recommended LDL-C goal at Day 90</a:t>
            </a:r>
            <a:endParaRPr lang="en-US" sz="1900" dirty="0"/>
          </a:p>
        </p:txBody>
      </p:sp>
      <p:sp>
        <p:nvSpPr>
          <p:cNvPr id="11" name="Text 8"/>
          <p:cNvSpPr txBox="1"/>
          <p:nvPr/>
        </p:nvSpPr>
        <p:spPr>
          <a:xfrm>
            <a:off x="2011680" y="2743200"/>
            <a:ext cx="9052560" cy="310896"/>
          </a:xfrm>
          <a:prstGeom prst="rect">
            <a:avLst/>
          </a:prstGeom>
          <a:noFill/>
          <a:ln/>
        </p:spPr>
        <p:txBody>
          <a:bodyPr wrap="square" lIns="0" tIns="0" rIns="0" bIns="0" rtlCol="0" anchor="ctr"/>
          <a:lstStyle/>
          <a:p>
            <a:pPr indent="0" marL="0">
              <a:buNone/>
            </a:pPr>
            <a:r>
              <a:rPr lang="en-US" sz="1250" dirty="0">
                <a:solidFill>
                  <a:srgbClr val="E9D8DB"/>
                </a:solidFill>
                <a:latin typeface="Calibri" pitchFamily="34" charset="0"/>
                <a:ea typeface="Calibri" pitchFamily="34" charset="-122"/>
                <a:cs typeface="Calibri" pitchFamily="34" charset="-120"/>
              </a:rPr>
              <a:t>2019 ESC/EAS targets — below 55 mg/dL at very high risk, below 70 mg/dL at high risk</a:t>
            </a:r>
            <a:endParaRPr lang="en-US" sz="1250" dirty="0"/>
          </a:p>
        </p:txBody>
      </p:sp>
      <p:sp>
        <p:nvSpPr>
          <p:cNvPr id="12" name="Text 9"/>
          <p:cNvSpPr txBox="1"/>
          <p:nvPr/>
        </p:nvSpPr>
        <p:spPr>
          <a:xfrm>
            <a:off x="566928" y="3383280"/>
            <a:ext cx="73152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KEY SECONDARY ENDPOINTS</a:t>
            </a:r>
            <a:endParaRPr lang="en-US" sz="1100" dirty="0"/>
          </a:p>
        </p:txBody>
      </p:sp>
      <p:sp>
        <p:nvSpPr>
          <p:cNvPr id="13" name="Shape 10"/>
          <p:cNvSpPr/>
          <p:nvPr/>
        </p:nvSpPr>
        <p:spPr>
          <a:xfrm>
            <a:off x="566928" y="3694176"/>
            <a:ext cx="3502152" cy="1956816"/>
          </a:xfrm>
          <a:prstGeom prst="roundRect">
            <a:avLst>
              <a:gd name="adj" fmla="val 3738"/>
            </a:avLst>
          </a:prstGeom>
          <a:solidFill>
            <a:srgbClr val="FFFFFF"/>
          </a:solidFill>
          <a:ln/>
          <a:effectLst>
            <a:outerShdw sx="100000" sy="100000" kx="0" ky="0" algn="bl" rotWithShape="0" blurRad="127000" dist="25400" dir="5400000">
              <a:srgbClr val="3A2226">
                <a:alpha val="13000"/>
              </a:srgbClr>
            </a:outerShdw>
          </a:effectLst>
        </p:spPr>
      </p:sp>
      <p:sp>
        <p:nvSpPr>
          <p:cNvPr id="14" name="Shape 11"/>
          <p:cNvSpPr/>
          <p:nvPr/>
        </p:nvSpPr>
        <p:spPr>
          <a:xfrm>
            <a:off x="859536" y="3913632"/>
            <a:ext cx="566928" cy="566928"/>
          </a:xfrm>
          <a:prstGeom prst="ellipse">
            <a:avLst/>
          </a:prstGeom>
          <a:solidFill>
            <a:srgbClr val="F7E7EA"/>
          </a:solidFill>
          <a:ln/>
        </p:spPr>
      </p:sp>
      <p:pic>
        <p:nvPicPr>
          <p:cNvPr id="15" name="Image 1" descr="preencoded.png">    </p:cNvPr>
          <p:cNvPicPr>
            <a:picLocks noChangeAspect="1"/>
          </p:cNvPicPr>
          <p:nvPr/>
        </p:nvPicPr>
        <p:blipFill>
          <a:blip r:embed="rId2"/>
          <a:stretch>
            <a:fillRect/>
          </a:stretch>
        </p:blipFill>
        <p:spPr>
          <a:xfrm>
            <a:off x="1012607" y="4066703"/>
            <a:ext cx="260787" cy="260787"/>
          </a:xfrm>
          <a:prstGeom prst="rect">
            <a:avLst/>
          </a:prstGeom>
        </p:spPr>
      </p:pic>
      <p:sp>
        <p:nvSpPr>
          <p:cNvPr id="16" name="Text 12"/>
          <p:cNvSpPr txBox="1"/>
          <p:nvPr/>
        </p:nvSpPr>
        <p:spPr>
          <a:xfrm>
            <a:off x="859536" y="4553712"/>
            <a:ext cx="2916936" cy="512064"/>
          </a:xfrm>
          <a:prstGeom prst="rect">
            <a:avLst/>
          </a:prstGeom>
          <a:noFill/>
          <a:ln/>
        </p:spPr>
        <p:txBody>
          <a:bodyPr wrap="square" lIns="0" tIns="0" rIns="0" bIns="0" rtlCol="0" anchor="ctr"/>
          <a:lstStyle/>
          <a:p>
            <a:pPr indent="0" marL="0">
              <a:lnSpc>
                <a:spcPct val="100000"/>
              </a:lnSpc>
              <a:buNone/>
            </a:pPr>
            <a:r>
              <a:rPr lang="en-US" sz="1400" b="1" dirty="0">
                <a:solidFill>
                  <a:srgbClr val="2B0A12"/>
                </a:solidFill>
                <a:latin typeface="Calibri" pitchFamily="34" charset="0"/>
                <a:ea typeface="Calibri" pitchFamily="34" charset="-122"/>
                <a:cs typeface="Calibri" pitchFamily="34" charset="-120"/>
              </a:rPr>
              <a:t>LDL-C lowering</a:t>
            </a:r>
            <a:endParaRPr lang="en-US" sz="1400" dirty="0"/>
          </a:p>
        </p:txBody>
      </p:sp>
      <p:sp>
        <p:nvSpPr>
          <p:cNvPr id="17" name="Text 13"/>
          <p:cNvSpPr txBox="1"/>
          <p:nvPr/>
        </p:nvSpPr>
        <p:spPr>
          <a:xfrm>
            <a:off x="859536" y="5102352"/>
            <a:ext cx="2916936" cy="475488"/>
          </a:xfrm>
          <a:prstGeom prst="rect">
            <a:avLst/>
          </a:prstGeom>
          <a:noFill/>
          <a:ln/>
        </p:spPr>
        <p:txBody>
          <a:bodyPr wrap="square" lIns="0" tIns="0" rIns="0" bIns="0" rtlCol="0" anchor="ctr"/>
          <a:lstStyle/>
          <a:p>
            <a:pPr indent="0" marL="0">
              <a:lnSpc>
                <a:spcPct val="106000"/>
              </a:lnSpc>
              <a:buNone/>
            </a:pPr>
            <a:r>
              <a:rPr lang="en-US" sz="1150" dirty="0">
                <a:solidFill>
                  <a:srgbClr val="2E2A2B"/>
                </a:solidFill>
                <a:latin typeface="Calibri" pitchFamily="34" charset="0"/>
                <a:ea typeface="Calibri" pitchFamily="34" charset="-122"/>
                <a:cs typeface="Calibri" pitchFamily="34" charset="-120"/>
              </a:rPr>
              <a:t>Time-averaged percentage change in LDL-C from baseline through to Day 360.</a:t>
            </a:r>
            <a:endParaRPr lang="en-US" sz="1150" dirty="0"/>
          </a:p>
        </p:txBody>
      </p:sp>
      <p:sp>
        <p:nvSpPr>
          <p:cNvPr id="18" name="Shape 14"/>
          <p:cNvSpPr/>
          <p:nvPr/>
        </p:nvSpPr>
        <p:spPr>
          <a:xfrm>
            <a:off x="4343400" y="3694176"/>
            <a:ext cx="3502152" cy="1956816"/>
          </a:xfrm>
          <a:prstGeom prst="roundRect">
            <a:avLst>
              <a:gd name="adj" fmla="val 3738"/>
            </a:avLst>
          </a:prstGeom>
          <a:solidFill>
            <a:srgbClr val="FFFFFF"/>
          </a:solidFill>
          <a:ln/>
          <a:effectLst>
            <a:outerShdw sx="100000" sy="100000" kx="0" ky="0" algn="bl" rotWithShape="0" blurRad="127000" dist="25400" dir="5400000">
              <a:srgbClr val="3A2226">
                <a:alpha val="13000"/>
              </a:srgbClr>
            </a:outerShdw>
          </a:effectLst>
        </p:spPr>
      </p:sp>
      <p:sp>
        <p:nvSpPr>
          <p:cNvPr id="19" name="Shape 15"/>
          <p:cNvSpPr/>
          <p:nvPr/>
        </p:nvSpPr>
        <p:spPr>
          <a:xfrm>
            <a:off x="4636008" y="3913632"/>
            <a:ext cx="566928" cy="566928"/>
          </a:xfrm>
          <a:prstGeom prst="ellipse">
            <a:avLst/>
          </a:prstGeom>
          <a:solidFill>
            <a:srgbClr val="F7E7EA"/>
          </a:solidFill>
          <a:ln/>
        </p:spPr>
      </p:sp>
      <p:pic>
        <p:nvPicPr>
          <p:cNvPr id="20" name="Image 2" descr="preencoded.png">    </p:cNvPr>
          <p:cNvPicPr>
            <a:picLocks noChangeAspect="1"/>
          </p:cNvPicPr>
          <p:nvPr/>
        </p:nvPicPr>
        <p:blipFill>
          <a:blip r:embed="rId3"/>
          <a:stretch>
            <a:fillRect/>
          </a:stretch>
        </p:blipFill>
        <p:spPr>
          <a:xfrm>
            <a:off x="4789079" y="4066703"/>
            <a:ext cx="260787" cy="260787"/>
          </a:xfrm>
          <a:prstGeom prst="rect">
            <a:avLst/>
          </a:prstGeom>
        </p:spPr>
      </p:pic>
      <p:sp>
        <p:nvSpPr>
          <p:cNvPr id="21" name="Text 16"/>
          <p:cNvSpPr txBox="1"/>
          <p:nvPr/>
        </p:nvSpPr>
        <p:spPr>
          <a:xfrm>
            <a:off x="4636008" y="4553712"/>
            <a:ext cx="2916936" cy="512064"/>
          </a:xfrm>
          <a:prstGeom prst="rect">
            <a:avLst/>
          </a:prstGeom>
          <a:noFill/>
          <a:ln/>
        </p:spPr>
        <p:txBody>
          <a:bodyPr wrap="square" lIns="0" tIns="0" rIns="0" bIns="0" rtlCol="0" anchor="ctr"/>
          <a:lstStyle/>
          <a:p>
            <a:pPr indent="0" marL="0">
              <a:lnSpc>
                <a:spcPct val="100000"/>
              </a:lnSpc>
              <a:buNone/>
            </a:pPr>
            <a:r>
              <a:rPr lang="en-US" sz="1400" b="1" dirty="0">
                <a:solidFill>
                  <a:srgbClr val="2B0A12"/>
                </a:solidFill>
                <a:latin typeface="Calibri" pitchFamily="34" charset="0"/>
                <a:ea typeface="Calibri" pitchFamily="34" charset="-122"/>
                <a:cs typeface="Calibri" pitchFamily="34" charset="-120"/>
              </a:rPr>
              <a:t>Muscle-related adverse events</a:t>
            </a:r>
            <a:endParaRPr lang="en-US" sz="1400" dirty="0"/>
          </a:p>
        </p:txBody>
      </p:sp>
      <p:sp>
        <p:nvSpPr>
          <p:cNvPr id="22" name="Text 17"/>
          <p:cNvSpPr txBox="1"/>
          <p:nvPr/>
        </p:nvSpPr>
        <p:spPr>
          <a:xfrm>
            <a:off x="4636008" y="5102352"/>
            <a:ext cx="2916936" cy="475488"/>
          </a:xfrm>
          <a:prstGeom prst="rect">
            <a:avLst/>
          </a:prstGeom>
          <a:noFill/>
          <a:ln/>
        </p:spPr>
        <p:txBody>
          <a:bodyPr wrap="square" lIns="0" tIns="0" rIns="0" bIns="0" rtlCol="0" anchor="ctr"/>
          <a:lstStyle/>
          <a:p>
            <a:pPr indent="0" marL="0">
              <a:lnSpc>
                <a:spcPct val="106000"/>
              </a:lnSpc>
              <a:buNone/>
            </a:pPr>
            <a:r>
              <a:rPr lang="en-US" sz="1150" dirty="0">
                <a:solidFill>
                  <a:srgbClr val="2E2A2B"/>
                </a:solidFill>
                <a:latin typeface="Calibri" pitchFamily="34" charset="0"/>
                <a:ea typeface="Calibri" pitchFamily="34" charset="-122"/>
                <a:cs typeface="Calibri" pitchFamily="34" charset="-120"/>
              </a:rPr>
              <a:t>Proportion of participants reporting at least one muscle-related adverse event by Day 360.</a:t>
            </a:r>
            <a:endParaRPr lang="en-US" sz="1150" dirty="0"/>
          </a:p>
        </p:txBody>
      </p:sp>
      <p:sp>
        <p:nvSpPr>
          <p:cNvPr id="23" name="Shape 18"/>
          <p:cNvSpPr/>
          <p:nvPr/>
        </p:nvSpPr>
        <p:spPr>
          <a:xfrm>
            <a:off x="8119872" y="3694176"/>
            <a:ext cx="3502152" cy="1956816"/>
          </a:xfrm>
          <a:prstGeom prst="roundRect">
            <a:avLst>
              <a:gd name="adj" fmla="val 3738"/>
            </a:avLst>
          </a:prstGeom>
          <a:solidFill>
            <a:srgbClr val="FFFFFF"/>
          </a:solidFill>
          <a:ln/>
          <a:effectLst>
            <a:outerShdw sx="100000" sy="100000" kx="0" ky="0" algn="bl" rotWithShape="0" blurRad="127000" dist="25400" dir="5400000">
              <a:srgbClr val="3A2226">
                <a:alpha val="13000"/>
              </a:srgbClr>
            </a:outerShdw>
          </a:effectLst>
        </p:spPr>
      </p:sp>
      <p:sp>
        <p:nvSpPr>
          <p:cNvPr id="24" name="Shape 19"/>
          <p:cNvSpPr/>
          <p:nvPr/>
        </p:nvSpPr>
        <p:spPr>
          <a:xfrm>
            <a:off x="8412480" y="3913632"/>
            <a:ext cx="566928" cy="566928"/>
          </a:xfrm>
          <a:prstGeom prst="ellipse">
            <a:avLst/>
          </a:prstGeom>
          <a:solidFill>
            <a:srgbClr val="F7E7EA"/>
          </a:solidFill>
          <a:ln/>
        </p:spPr>
      </p:sp>
      <p:pic>
        <p:nvPicPr>
          <p:cNvPr id="25" name="Image 3" descr="preencoded.png">    </p:cNvPr>
          <p:cNvPicPr>
            <a:picLocks noChangeAspect="1"/>
          </p:cNvPicPr>
          <p:nvPr/>
        </p:nvPicPr>
        <p:blipFill>
          <a:blip r:embed="rId4"/>
          <a:stretch>
            <a:fillRect/>
          </a:stretch>
        </p:blipFill>
        <p:spPr>
          <a:xfrm>
            <a:off x="8565551" y="4066703"/>
            <a:ext cx="260787" cy="260787"/>
          </a:xfrm>
          <a:prstGeom prst="rect">
            <a:avLst/>
          </a:prstGeom>
        </p:spPr>
      </p:pic>
      <p:sp>
        <p:nvSpPr>
          <p:cNvPr id="26" name="Text 20"/>
          <p:cNvSpPr txBox="1"/>
          <p:nvPr/>
        </p:nvSpPr>
        <p:spPr>
          <a:xfrm>
            <a:off x="8412480" y="4553712"/>
            <a:ext cx="2916936" cy="512064"/>
          </a:xfrm>
          <a:prstGeom prst="rect">
            <a:avLst/>
          </a:prstGeom>
          <a:noFill/>
          <a:ln/>
        </p:spPr>
        <p:txBody>
          <a:bodyPr wrap="square" lIns="0" tIns="0" rIns="0" bIns="0" rtlCol="0" anchor="ctr"/>
          <a:lstStyle/>
          <a:p>
            <a:pPr indent="0" marL="0">
              <a:lnSpc>
                <a:spcPct val="100000"/>
              </a:lnSpc>
              <a:buNone/>
            </a:pPr>
            <a:r>
              <a:rPr lang="en-US" sz="1400" b="1" dirty="0">
                <a:solidFill>
                  <a:srgbClr val="2B0A12"/>
                </a:solidFill>
                <a:latin typeface="Calibri" pitchFamily="34" charset="0"/>
                <a:ea typeface="Calibri" pitchFamily="34" charset="-122"/>
                <a:cs typeface="Calibri" pitchFamily="34" charset="-120"/>
              </a:rPr>
              <a:t>Pain-related quality of life</a:t>
            </a:r>
            <a:endParaRPr lang="en-US" sz="1400" dirty="0"/>
          </a:p>
        </p:txBody>
      </p:sp>
      <p:sp>
        <p:nvSpPr>
          <p:cNvPr id="27" name="Text 21"/>
          <p:cNvSpPr txBox="1"/>
          <p:nvPr/>
        </p:nvSpPr>
        <p:spPr>
          <a:xfrm>
            <a:off x="8412480" y="5102352"/>
            <a:ext cx="2916936" cy="475488"/>
          </a:xfrm>
          <a:prstGeom prst="rect">
            <a:avLst/>
          </a:prstGeom>
          <a:noFill/>
          <a:ln/>
        </p:spPr>
        <p:txBody>
          <a:bodyPr wrap="square" lIns="0" tIns="0" rIns="0" bIns="0" rtlCol="0" anchor="ctr"/>
          <a:lstStyle/>
          <a:p>
            <a:pPr indent="0" marL="0">
              <a:lnSpc>
                <a:spcPct val="106000"/>
              </a:lnSpc>
              <a:buNone/>
            </a:pPr>
            <a:r>
              <a:rPr lang="en-US" sz="1150" dirty="0">
                <a:solidFill>
                  <a:srgbClr val="2E2A2B"/>
                </a:solidFill>
                <a:latin typeface="Calibri" pitchFamily="34" charset="0"/>
                <a:ea typeface="Calibri" pitchFamily="34" charset="-122"/>
                <a:cs typeface="Calibri" pitchFamily="34" charset="-120"/>
              </a:rPr>
              <a:t>Change in Short Form-Brief Pain Inventory pain severity and pain interference scores.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RESULTS</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The Population</a:t>
            </a:r>
            <a:endParaRPr lang="en-US" sz="3200" dirty="0"/>
          </a:p>
        </p:txBody>
      </p:sp>
      <p:sp>
        <p:nvSpPr>
          <p:cNvPr id="4" name="Text 2"/>
          <p:cNvSpPr txBox="1"/>
          <p:nvPr/>
        </p:nvSpPr>
        <p:spPr>
          <a:xfrm>
            <a:off x="566928" y="1298448"/>
            <a:ext cx="11055096" cy="310896"/>
          </a:xfrm>
          <a:prstGeom prst="rect">
            <a:avLst/>
          </a:prstGeom>
          <a:noFill/>
          <a:ln/>
        </p:spPr>
        <p:txBody>
          <a:bodyPr wrap="square" lIns="0" tIns="0" rIns="0" bIns="0" rtlCol="0" anchor="ctr"/>
          <a:lstStyle/>
          <a:p>
            <a:pPr indent="0" marL="0">
              <a:buNone/>
            </a:pPr>
            <a:r>
              <a:rPr lang="en-US" sz="1400" i="1" dirty="0">
                <a:solidFill>
                  <a:srgbClr val="756B6D"/>
                </a:solidFill>
                <a:latin typeface="Calibri" pitchFamily="34" charset="0"/>
                <a:ea typeface="Calibri" pitchFamily="34" charset="-122"/>
                <a:cs typeface="Calibri" pitchFamily="34" charset="-120"/>
              </a:rPr>
              <a:t>1,770 participants randomised 1:1, all on lipid-lowering therapy and above their individual LDL-C goal at entry.</a:t>
            </a:r>
            <a:endParaRPr lang="en-US" sz="1400" dirty="0"/>
          </a:p>
        </p:txBody>
      </p:sp>
      <p:sp>
        <p:nvSpPr>
          <p:cNvPr id="5" name="Text 3"/>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6" name="Text 4"/>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9</a:t>
            </a:r>
            <a:endParaRPr lang="en-US" sz="950" dirty="0"/>
          </a:p>
        </p:txBody>
      </p:sp>
      <p:sp>
        <p:nvSpPr>
          <p:cNvPr id="7" name="Shape 5"/>
          <p:cNvSpPr/>
          <p:nvPr/>
        </p:nvSpPr>
        <p:spPr>
          <a:xfrm>
            <a:off x="566928" y="1783080"/>
            <a:ext cx="2551176" cy="1700784"/>
          </a:xfrm>
          <a:prstGeom prst="roundRect">
            <a:avLst>
              <a:gd name="adj" fmla="val 4301"/>
            </a:avLst>
          </a:prstGeom>
          <a:solidFill>
            <a:srgbClr val="FFFFFF"/>
          </a:solidFill>
          <a:ln/>
          <a:effectLst>
            <a:outerShdw sx="100000" sy="100000" kx="0" ky="0" algn="bl" rotWithShape="0" blurRad="127000" dist="25400" dir="5400000">
              <a:srgbClr val="3A2226">
                <a:alpha val="13000"/>
              </a:srgbClr>
            </a:outerShdw>
          </a:effectLst>
        </p:spPr>
      </p:sp>
      <p:sp>
        <p:nvSpPr>
          <p:cNvPr id="8" name="Shape 6"/>
          <p:cNvSpPr/>
          <p:nvPr/>
        </p:nvSpPr>
        <p:spPr>
          <a:xfrm>
            <a:off x="822960" y="2020824"/>
            <a:ext cx="530352" cy="530352"/>
          </a:xfrm>
          <a:prstGeom prst="ellipse">
            <a:avLst/>
          </a:prstGeom>
          <a:solidFill>
            <a:srgbClr val="F7E7EA"/>
          </a:solidFill>
          <a:ln/>
        </p:spPr>
      </p:sp>
      <p:pic>
        <p:nvPicPr>
          <p:cNvPr id="9" name="Image 0" descr="preencoded.png">    </p:cNvPr>
          <p:cNvPicPr>
            <a:picLocks noChangeAspect="1"/>
          </p:cNvPicPr>
          <p:nvPr/>
        </p:nvPicPr>
        <p:blipFill>
          <a:blip r:embed="rId1"/>
          <a:stretch>
            <a:fillRect/>
          </a:stretch>
        </p:blipFill>
        <p:spPr>
          <a:xfrm>
            <a:off x="966155" y="2164019"/>
            <a:ext cx="243962" cy="243962"/>
          </a:xfrm>
          <a:prstGeom prst="rect">
            <a:avLst/>
          </a:prstGeom>
        </p:spPr>
      </p:pic>
      <p:sp>
        <p:nvSpPr>
          <p:cNvPr id="10" name="Text 7"/>
          <p:cNvSpPr txBox="1"/>
          <p:nvPr/>
        </p:nvSpPr>
        <p:spPr>
          <a:xfrm>
            <a:off x="822960" y="2615184"/>
            <a:ext cx="2039112" cy="493776"/>
          </a:xfrm>
          <a:prstGeom prst="rect">
            <a:avLst/>
          </a:prstGeom>
          <a:noFill/>
          <a:ln/>
        </p:spPr>
        <p:txBody>
          <a:bodyPr wrap="square" lIns="0" tIns="0" rIns="0" bIns="0" rtlCol="0" anchor="ctr"/>
          <a:lstStyle/>
          <a:p>
            <a:pPr indent="0" marL="0">
              <a:buNone/>
            </a:pPr>
            <a:r>
              <a:rPr lang="en-US" sz="3400" b="1" dirty="0">
                <a:solidFill>
                  <a:srgbClr val="A11226"/>
                </a:solidFill>
                <a:latin typeface="Cambria" pitchFamily="34" charset="0"/>
                <a:ea typeface="Cambria" pitchFamily="34" charset="-122"/>
                <a:cs typeface="Cambria" pitchFamily="34" charset="-120"/>
              </a:rPr>
              <a:t>1,770</a:t>
            </a:r>
            <a:endParaRPr lang="en-US" sz="3400" dirty="0"/>
          </a:p>
        </p:txBody>
      </p:sp>
      <p:sp>
        <p:nvSpPr>
          <p:cNvPr id="11" name="Text 8"/>
          <p:cNvSpPr txBox="1"/>
          <p:nvPr/>
        </p:nvSpPr>
        <p:spPr>
          <a:xfrm>
            <a:off x="822960" y="3163824"/>
            <a:ext cx="2039112" cy="274320"/>
          </a:xfrm>
          <a:prstGeom prst="rect">
            <a:avLst/>
          </a:prstGeom>
          <a:noFill/>
          <a:ln/>
        </p:spPr>
        <p:txBody>
          <a:bodyPr wrap="square" lIns="0" tIns="0" rIns="0" bIns="0" rtlCol="0" anchor="ctr"/>
          <a:lstStyle/>
          <a:p>
            <a:pPr indent="0" marL="0">
              <a:buNone/>
            </a:pPr>
            <a:r>
              <a:rPr lang="en-US" sz="1150" dirty="0">
                <a:solidFill>
                  <a:srgbClr val="756B6D"/>
                </a:solidFill>
                <a:latin typeface="Calibri" pitchFamily="34" charset="0"/>
                <a:ea typeface="Calibri" pitchFamily="34" charset="-122"/>
                <a:cs typeface="Calibri" pitchFamily="34" charset="-120"/>
              </a:rPr>
              <a:t>participants randomised</a:t>
            </a:r>
            <a:endParaRPr lang="en-US" sz="1150" dirty="0"/>
          </a:p>
        </p:txBody>
      </p:sp>
      <p:sp>
        <p:nvSpPr>
          <p:cNvPr id="12" name="Shape 9"/>
          <p:cNvSpPr/>
          <p:nvPr/>
        </p:nvSpPr>
        <p:spPr>
          <a:xfrm>
            <a:off x="3392424" y="1783080"/>
            <a:ext cx="2551176" cy="1700784"/>
          </a:xfrm>
          <a:prstGeom prst="roundRect">
            <a:avLst>
              <a:gd name="adj" fmla="val 4301"/>
            </a:avLst>
          </a:prstGeom>
          <a:solidFill>
            <a:srgbClr val="FFFFFF"/>
          </a:solidFill>
          <a:ln/>
          <a:effectLst>
            <a:outerShdw sx="100000" sy="100000" kx="0" ky="0" algn="bl" rotWithShape="0" blurRad="127000" dist="25400" dir="5400000">
              <a:srgbClr val="3A2226">
                <a:alpha val="13000"/>
              </a:srgbClr>
            </a:outerShdw>
          </a:effectLst>
        </p:spPr>
      </p:sp>
      <p:sp>
        <p:nvSpPr>
          <p:cNvPr id="13" name="Shape 10"/>
          <p:cNvSpPr/>
          <p:nvPr/>
        </p:nvSpPr>
        <p:spPr>
          <a:xfrm>
            <a:off x="3648456" y="2020824"/>
            <a:ext cx="530352" cy="530352"/>
          </a:xfrm>
          <a:prstGeom prst="ellipse">
            <a:avLst/>
          </a:prstGeom>
          <a:solidFill>
            <a:srgbClr val="F7E7EA"/>
          </a:solidFill>
          <a:ln/>
        </p:spPr>
      </p:sp>
      <p:pic>
        <p:nvPicPr>
          <p:cNvPr id="14" name="Image 1" descr="preencoded.png">    </p:cNvPr>
          <p:cNvPicPr>
            <a:picLocks noChangeAspect="1"/>
          </p:cNvPicPr>
          <p:nvPr/>
        </p:nvPicPr>
        <p:blipFill>
          <a:blip r:embed="rId2"/>
          <a:stretch>
            <a:fillRect/>
          </a:stretch>
        </p:blipFill>
        <p:spPr>
          <a:xfrm>
            <a:off x="3791651" y="2164019"/>
            <a:ext cx="243962" cy="243962"/>
          </a:xfrm>
          <a:prstGeom prst="rect">
            <a:avLst/>
          </a:prstGeom>
        </p:spPr>
      </p:pic>
      <p:sp>
        <p:nvSpPr>
          <p:cNvPr id="15" name="Text 11"/>
          <p:cNvSpPr txBox="1"/>
          <p:nvPr/>
        </p:nvSpPr>
        <p:spPr>
          <a:xfrm>
            <a:off x="3648456" y="2615184"/>
            <a:ext cx="2039112" cy="493776"/>
          </a:xfrm>
          <a:prstGeom prst="rect">
            <a:avLst/>
          </a:prstGeom>
          <a:noFill/>
          <a:ln/>
        </p:spPr>
        <p:txBody>
          <a:bodyPr wrap="square" lIns="0" tIns="0" rIns="0" bIns="0" rtlCol="0" anchor="ctr"/>
          <a:lstStyle/>
          <a:p>
            <a:pPr indent="0" marL="0">
              <a:buNone/>
            </a:pPr>
            <a:r>
              <a:rPr lang="en-US" sz="3400" b="1" dirty="0">
                <a:solidFill>
                  <a:srgbClr val="A11226"/>
                </a:solidFill>
                <a:latin typeface="Cambria" pitchFamily="34" charset="0"/>
                <a:ea typeface="Cambria" pitchFamily="34" charset="-122"/>
                <a:cs typeface="Cambria" pitchFamily="34" charset="-120"/>
              </a:rPr>
              <a:t>63.7 y</a:t>
            </a:r>
            <a:endParaRPr lang="en-US" sz="3400" dirty="0"/>
          </a:p>
        </p:txBody>
      </p:sp>
      <p:sp>
        <p:nvSpPr>
          <p:cNvPr id="16" name="Text 12"/>
          <p:cNvSpPr txBox="1"/>
          <p:nvPr/>
        </p:nvSpPr>
        <p:spPr>
          <a:xfrm>
            <a:off x="3648456" y="3163824"/>
            <a:ext cx="2039112" cy="274320"/>
          </a:xfrm>
          <a:prstGeom prst="rect">
            <a:avLst/>
          </a:prstGeom>
          <a:noFill/>
          <a:ln/>
        </p:spPr>
        <p:txBody>
          <a:bodyPr wrap="square" lIns="0" tIns="0" rIns="0" bIns="0" rtlCol="0" anchor="ctr"/>
          <a:lstStyle/>
          <a:p>
            <a:pPr indent="0" marL="0">
              <a:buNone/>
            </a:pPr>
            <a:r>
              <a:rPr lang="en-US" sz="1150" dirty="0">
                <a:solidFill>
                  <a:srgbClr val="756B6D"/>
                </a:solidFill>
                <a:latin typeface="Calibri" pitchFamily="34" charset="0"/>
                <a:ea typeface="Calibri" pitchFamily="34" charset="-122"/>
                <a:cs typeface="Calibri" pitchFamily="34" charset="-120"/>
              </a:rPr>
              <a:t>mean age at entry</a:t>
            </a:r>
            <a:endParaRPr lang="en-US" sz="1150" dirty="0"/>
          </a:p>
        </p:txBody>
      </p:sp>
      <p:sp>
        <p:nvSpPr>
          <p:cNvPr id="17" name="Shape 13"/>
          <p:cNvSpPr/>
          <p:nvPr/>
        </p:nvSpPr>
        <p:spPr>
          <a:xfrm>
            <a:off x="6217920" y="1783080"/>
            <a:ext cx="2551176" cy="1700784"/>
          </a:xfrm>
          <a:prstGeom prst="roundRect">
            <a:avLst>
              <a:gd name="adj" fmla="val 4301"/>
            </a:avLst>
          </a:prstGeom>
          <a:solidFill>
            <a:srgbClr val="FFFFFF"/>
          </a:solidFill>
          <a:ln/>
          <a:effectLst>
            <a:outerShdw sx="100000" sy="100000" kx="0" ky="0" algn="bl" rotWithShape="0" blurRad="127000" dist="25400" dir="5400000">
              <a:srgbClr val="3A2226">
                <a:alpha val="13000"/>
              </a:srgbClr>
            </a:outerShdw>
          </a:effectLst>
        </p:spPr>
      </p:sp>
      <p:sp>
        <p:nvSpPr>
          <p:cNvPr id="18" name="Shape 14"/>
          <p:cNvSpPr/>
          <p:nvPr/>
        </p:nvSpPr>
        <p:spPr>
          <a:xfrm>
            <a:off x="6473952" y="2020824"/>
            <a:ext cx="530352" cy="530352"/>
          </a:xfrm>
          <a:prstGeom prst="ellipse">
            <a:avLst/>
          </a:prstGeom>
          <a:solidFill>
            <a:srgbClr val="F7E7EA"/>
          </a:solidFill>
          <a:ln/>
        </p:spPr>
      </p:sp>
      <p:pic>
        <p:nvPicPr>
          <p:cNvPr id="19" name="Image 2" descr="preencoded.png">    </p:cNvPr>
          <p:cNvPicPr>
            <a:picLocks noChangeAspect="1"/>
          </p:cNvPicPr>
          <p:nvPr/>
        </p:nvPicPr>
        <p:blipFill>
          <a:blip r:embed="rId3"/>
          <a:stretch>
            <a:fillRect/>
          </a:stretch>
        </p:blipFill>
        <p:spPr>
          <a:xfrm>
            <a:off x="6617147" y="2164019"/>
            <a:ext cx="243962" cy="243962"/>
          </a:xfrm>
          <a:prstGeom prst="rect">
            <a:avLst/>
          </a:prstGeom>
        </p:spPr>
      </p:pic>
      <p:sp>
        <p:nvSpPr>
          <p:cNvPr id="20" name="Text 15"/>
          <p:cNvSpPr txBox="1"/>
          <p:nvPr/>
        </p:nvSpPr>
        <p:spPr>
          <a:xfrm>
            <a:off x="6473952" y="2615184"/>
            <a:ext cx="2039112" cy="493776"/>
          </a:xfrm>
          <a:prstGeom prst="rect">
            <a:avLst/>
          </a:prstGeom>
          <a:noFill/>
          <a:ln/>
        </p:spPr>
        <p:txBody>
          <a:bodyPr wrap="square" lIns="0" tIns="0" rIns="0" bIns="0" rtlCol="0" anchor="ctr"/>
          <a:lstStyle/>
          <a:p>
            <a:pPr indent="0" marL="0">
              <a:buNone/>
            </a:pPr>
            <a:r>
              <a:rPr lang="en-US" sz="3400" b="1" dirty="0">
                <a:solidFill>
                  <a:srgbClr val="A11226"/>
                </a:solidFill>
                <a:latin typeface="Cambria" pitchFamily="34" charset="0"/>
                <a:ea typeface="Cambria" pitchFamily="34" charset="-122"/>
                <a:cs typeface="Cambria" pitchFamily="34" charset="-120"/>
              </a:rPr>
              <a:t>133</a:t>
            </a:r>
            <a:endParaRPr lang="en-US" sz="3400" dirty="0"/>
          </a:p>
        </p:txBody>
      </p:sp>
      <p:sp>
        <p:nvSpPr>
          <p:cNvPr id="21" name="Text 16"/>
          <p:cNvSpPr txBox="1"/>
          <p:nvPr/>
        </p:nvSpPr>
        <p:spPr>
          <a:xfrm>
            <a:off x="6473952" y="3163824"/>
            <a:ext cx="2039112" cy="274320"/>
          </a:xfrm>
          <a:prstGeom prst="rect">
            <a:avLst/>
          </a:prstGeom>
          <a:noFill/>
          <a:ln/>
        </p:spPr>
        <p:txBody>
          <a:bodyPr wrap="square" lIns="0" tIns="0" rIns="0" bIns="0" rtlCol="0" anchor="ctr"/>
          <a:lstStyle/>
          <a:p>
            <a:pPr indent="0" marL="0">
              <a:buNone/>
            </a:pPr>
            <a:r>
              <a:rPr lang="en-US" sz="1150" dirty="0">
                <a:solidFill>
                  <a:srgbClr val="756B6D"/>
                </a:solidFill>
                <a:latin typeface="Calibri" pitchFamily="34" charset="0"/>
                <a:ea typeface="Calibri" pitchFamily="34" charset="-122"/>
                <a:cs typeface="Calibri" pitchFamily="34" charset="-120"/>
              </a:rPr>
              <a:t>investigator centres</a:t>
            </a:r>
            <a:endParaRPr lang="en-US" sz="1150" dirty="0"/>
          </a:p>
        </p:txBody>
      </p:sp>
      <p:sp>
        <p:nvSpPr>
          <p:cNvPr id="22" name="Shape 17"/>
          <p:cNvSpPr/>
          <p:nvPr/>
        </p:nvSpPr>
        <p:spPr>
          <a:xfrm>
            <a:off x="9043416" y="1783080"/>
            <a:ext cx="2551176" cy="1700784"/>
          </a:xfrm>
          <a:prstGeom prst="roundRect">
            <a:avLst>
              <a:gd name="adj" fmla="val 4301"/>
            </a:avLst>
          </a:prstGeom>
          <a:solidFill>
            <a:srgbClr val="FFFFFF"/>
          </a:solidFill>
          <a:ln/>
          <a:effectLst>
            <a:outerShdw sx="100000" sy="100000" kx="0" ky="0" algn="bl" rotWithShape="0" blurRad="127000" dist="25400" dir="5400000">
              <a:srgbClr val="3A2226">
                <a:alpha val="13000"/>
              </a:srgbClr>
            </a:outerShdw>
          </a:effectLst>
        </p:spPr>
      </p:sp>
      <p:sp>
        <p:nvSpPr>
          <p:cNvPr id="23" name="Shape 18"/>
          <p:cNvSpPr/>
          <p:nvPr/>
        </p:nvSpPr>
        <p:spPr>
          <a:xfrm>
            <a:off x="9299448" y="2020824"/>
            <a:ext cx="530352" cy="530352"/>
          </a:xfrm>
          <a:prstGeom prst="ellipse">
            <a:avLst/>
          </a:prstGeom>
          <a:solidFill>
            <a:srgbClr val="F7E7EA"/>
          </a:solidFill>
          <a:ln/>
        </p:spPr>
      </p:sp>
      <p:pic>
        <p:nvPicPr>
          <p:cNvPr id="24" name="Image 3" descr="preencoded.png">    </p:cNvPr>
          <p:cNvPicPr>
            <a:picLocks noChangeAspect="1"/>
          </p:cNvPicPr>
          <p:nvPr/>
        </p:nvPicPr>
        <p:blipFill>
          <a:blip r:embed="rId4"/>
          <a:stretch>
            <a:fillRect/>
          </a:stretch>
        </p:blipFill>
        <p:spPr>
          <a:xfrm>
            <a:off x="9442643" y="2164019"/>
            <a:ext cx="243962" cy="243962"/>
          </a:xfrm>
          <a:prstGeom prst="rect">
            <a:avLst/>
          </a:prstGeom>
        </p:spPr>
      </p:pic>
      <p:sp>
        <p:nvSpPr>
          <p:cNvPr id="25" name="Text 19"/>
          <p:cNvSpPr txBox="1"/>
          <p:nvPr/>
        </p:nvSpPr>
        <p:spPr>
          <a:xfrm>
            <a:off x="9299448" y="2615184"/>
            <a:ext cx="2039112" cy="493776"/>
          </a:xfrm>
          <a:prstGeom prst="rect">
            <a:avLst/>
          </a:prstGeom>
          <a:noFill/>
          <a:ln/>
        </p:spPr>
        <p:txBody>
          <a:bodyPr wrap="square" lIns="0" tIns="0" rIns="0" bIns="0" rtlCol="0" anchor="ctr"/>
          <a:lstStyle/>
          <a:p>
            <a:pPr indent="0" marL="0">
              <a:buNone/>
            </a:pPr>
            <a:r>
              <a:rPr lang="en-US" sz="3400" b="1" dirty="0">
                <a:solidFill>
                  <a:srgbClr val="A11226"/>
                </a:solidFill>
                <a:latin typeface="Cambria" pitchFamily="34" charset="0"/>
                <a:ea typeface="Cambria" pitchFamily="34" charset="-122"/>
                <a:cs typeface="Cambria" pitchFamily="34" charset="-120"/>
              </a:rPr>
              <a:t>8</a:t>
            </a:r>
            <a:endParaRPr lang="en-US" sz="3400" dirty="0"/>
          </a:p>
        </p:txBody>
      </p:sp>
      <p:sp>
        <p:nvSpPr>
          <p:cNvPr id="26" name="Text 20"/>
          <p:cNvSpPr txBox="1"/>
          <p:nvPr/>
        </p:nvSpPr>
        <p:spPr>
          <a:xfrm>
            <a:off x="9299448" y="3163824"/>
            <a:ext cx="2039112" cy="274320"/>
          </a:xfrm>
          <a:prstGeom prst="rect">
            <a:avLst/>
          </a:prstGeom>
          <a:noFill/>
          <a:ln/>
        </p:spPr>
        <p:txBody>
          <a:bodyPr wrap="square" lIns="0" tIns="0" rIns="0" bIns="0" rtlCol="0" anchor="ctr"/>
          <a:lstStyle/>
          <a:p>
            <a:pPr indent="0" marL="0">
              <a:buNone/>
            </a:pPr>
            <a:r>
              <a:rPr lang="en-US" sz="1150" dirty="0">
                <a:solidFill>
                  <a:srgbClr val="756B6D"/>
                </a:solidFill>
                <a:latin typeface="Calibri" pitchFamily="34" charset="0"/>
                <a:ea typeface="Calibri" pitchFamily="34" charset="-122"/>
                <a:cs typeface="Calibri" pitchFamily="34" charset="-120"/>
              </a:rPr>
              <a:t>European countries</a:t>
            </a:r>
            <a:endParaRPr lang="en-US" sz="1150" dirty="0"/>
          </a:p>
        </p:txBody>
      </p:sp>
      <p:sp>
        <p:nvSpPr>
          <p:cNvPr id="27" name="Shape 21"/>
          <p:cNvSpPr/>
          <p:nvPr/>
        </p:nvSpPr>
        <p:spPr>
          <a:xfrm>
            <a:off x="566928" y="3794760"/>
            <a:ext cx="5394960" cy="1828800"/>
          </a:xfrm>
          <a:prstGeom prst="roundRect">
            <a:avLst>
              <a:gd name="adj" fmla="val 4000"/>
            </a:avLst>
          </a:prstGeom>
          <a:solidFill>
            <a:srgbClr val="FFFFFF"/>
          </a:solidFill>
          <a:ln/>
          <a:effectLst>
            <a:outerShdw sx="100000" sy="100000" kx="0" ky="0" algn="bl" rotWithShape="0" blurRad="127000" dist="25400" dir="5400000">
              <a:srgbClr val="3A2226">
                <a:alpha val="13000"/>
              </a:srgbClr>
            </a:outerShdw>
          </a:effectLst>
        </p:spPr>
      </p:sp>
      <p:sp>
        <p:nvSpPr>
          <p:cNvPr id="28" name="Text 22"/>
          <p:cNvSpPr txBox="1"/>
          <p:nvPr/>
        </p:nvSpPr>
        <p:spPr>
          <a:xfrm>
            <a:off x="886968" y="4041648"/>
            <a:ext cx="4754880" cy="310896"/>
          </a:xfrm>
          <a:prstGeom prst="rect">
            <a:avLst/>
          </a:prstGeom>
          <a:noFill/>
          <a:ln/>
        </p:spPr>
        <p:txBody>
          <a:bodyPr wrap="square" lIns="0" tIns="0" rIns="0" bIns="0" rtlCol="0" anchor="ctr"/>
          <a:lstStyle/>
          <a:p>
            <a:pPr indent="0" marL="0">
              <a:buNone/>
            </a:pPr>
            <a:r>
              <a:rPr lang="en-US" sz="1550" b="1" dirty="0">
                <a:solidFill>
                  <a:srgbClr val="2B0A12"/>
                </a:solidFill>
                <a:latin typeface="Calibri" pitchFamily="34" charset="0"/>
                <a:ea typeface="Calibri" pitchFamily="34" charset="-122"/>
                <a:cs typeface="Calibri" pitchFamily="34" charset="-120"/>
              </a:rPr>
              <a:t>Allocation</a:t>
            </a:r>
            <a:endParaRPr lang="en-US" sz="1550" dirty="0"/>
          </a:p>
        </p:txBody>
      </p:sp>
      <p:sp>
        <p:nvSpPr>
          <p:cNvPr id="29" name="Shape 23"/>
          <p:cNvSpPr/>
          <p:nvPr/>
        </p:nvSpPr>
        <p:spPr>
          <a:xfrm>
            <a:off x="886968" y="4498848"/>
            <a:ext cx="457200" cy="457200"/>
          </a:xfrm>
          <a:prstGeom prst="ellipse">
            <a:avLst/>
          </a:prstGeom>
          <a:solidFill>
            <a:srgbClr val="F7E7EA"/>
          </a:solidFill>
          <a:ln/>
        </p:spPr>
      </p:sp>
      <p:pic>
        <p:nvPicPr>
          <p:cNvPr id="30" name="Image 4" descr="preencoded.png">    </p:cNvPr>
          <p:cNvPicPr>
            <a:picLocks noChangeAspect="1"/>
          </p:cNvPicPr>
          <p:nvPr/>
        </p:nvPicPr>
        <p:blipFill>
          <a:blip r:embed="rId5"/>
          <a:stretch>
            <a:fillRect/>
          </a:stretch>
        </p:blipFill>
        <p:spPr>
          <a:xfrm>
            <a:off x="1010412" y="4622292"/>
            <a:ext cx="210312" cy="210312"/>
          </a:xfrm>
          <a:prstGeom prst="rect">
            <a:avLst/>
          </a:prstGeom>
        </p:spPr>
      </p:pic>
      <p:sp>
        <p:nvSpPr>
          <p:cNvPr id="31" name="Text 24"/>
          <p:cNvSpPr txBox="1"/>
          <p:nvPr/>
        </p:nvSpPr>
        <p:spPr>
          <a:xfrm>
            <a:off x="1463040" y="4572000"/>
            <a:ext cx="2377440" cy="310896"/>
          </a:xfrm>
          <a:prstGeom prst="rect">
            <a:avLst/>
          </a:prstGeom>
          <a:noFill/>
          <a:ln/>
        </p:spPr>
        <p:txBody>
          <a:bodyPr wrap="square" lIns="0" tIns="0" rIns="0" bIns="0" rtlCol="0" anchor="ctr"/>
          <a:lstStyle/>
          <a:p>
            <a:pPr indent="0" marL="0">
              <a:buNone/>
            </a:pPr>
            <a:r>
              <a:rPr lang="en-US" sz="1300" b="1" dirty="0">
                <a:solidFill>
                  <a:srgbClr val="2B0A12"/>
                </a:solidFill>
                <a:latin typeface="Calibri" pitchFamily="34" charset="0"/>
                <a:ea typeface="Calibri" pitchFamily="34" charset="-122"/>
                <a:cs typeface="Calibri" pitchFamily="34" charset="-120"/>
              </a:rPr>
              <a:t>Inclisiran + optimised LLT</a:t>
            </a:r>
            <a:endParaRPr lang="en-US" sz="1300" dirty="0"/>
          </a:p>
        </p:txBody>
      </p:sp>
      <p:sp>
        <p:nvSpPr>
          <p:cNvPr id="32" name="Text 25"/>
          <p:cNvSpPr txBox="1"/>
          <p:nvPr/>
        </p:nvSpPr>
        <p:spPr>
          <a:xfrm>
            <a:off x="3840480" y="4517136"/>
            <a:ext cx="1783080" cy="402336"/>
          </a:xfrm>
          <a:prstGeom prst="rect">
            <a:avLst/>
          </a:prstGeom>
          <a:noFill/>
          <a:ln/>
        </p:spPr>
        <p:txBody>
          <a:bodyPr wrap="square" lIns="0" tIns="0" rIns="0" bIns="0" rtlCol="0" anchor="ctr"/>
          <a:lstStyle/>
          <a:p>
            <a:pPr algn="r" indent="0" marL="0">
              <a:buNone/>
            </a:pPr>
            <a:r>
              <a:rPr lang="en-US" sz="2000" b="1" dirty="0">
                <a:solidFill>
                  <a:srgbClr val="A11226"/>
                </a:solidFill>
                <a:latin typeface="Cambria" pitchFamily="34" charset="0"/>
                <a:ea typeface="Cambria" pitchFamily="34" charset="-122"/>
                <a:cs typeface="Cambria" pitchFamily="34" charset="-120"/>
              </a:rPr>
              <a:t>n = 898</a:t>
            </a:r>
            <a:endParaRPr lang="en-US" sz="2000" dirty="0"/>
          </a:p>
        </p:txBody>
      </p:sp>
      <p:sp>
        <p:nvSpPr>
          <p:cNvPr id="33" name="Shape 26"/>
          <p:cNvSpPr/>
          <p:nvPr/>
        </p:nvSpPr>
        <p:spPr>
          <a:xfrm>
            <a:off x="886968" y="5084064"/>
            <a:ext cx="457200" cy="457200"/>
          </a:xfrm>
          <a:prstGeom prst="ellipse">
            <a:avLst/>
          </a:prstGeom>
          <a:solidFill>
            <a:srgbClr val="ECEEF2"/>
          </a:solidFill>
          <a:ln/>
        </p:spPr>
      </p:sp>
      <p:pic>
        <p:nvPicPr>
          <p:cNvPr id="34" name="Image 5" descr="preencoded.png">    </p:cNvPr>
          <p:cNvPicPr>
            <a:picLocks noChangeAspect="1"/>
          </p:cNvPicPr>
          <p:nvPr/>
        </p:nvPicPr>
        <p:blipFill>
          <a:blip r:embed="rId6"/>
          <a:stretch>
            <a:fillRect/>
          </a:stretch>
        </p:blipFill>
        <p:spPr>
          <a:xfrm>
            <a:off x="1010412" y="5207508"/>
            <a:ext cx="210312" cy="210312"/>
          </a:xfrm>
          <a:prstGeom prst="rect">
            <a:avLst/>
          </a:prstGeom>
        </p:spPr>
      </p:pic>
      <p:sp>
        <p:nvSpPr>
          <p:cNvPr id="35" name="Text 27"/>
          <p:cNvSpPr txBox="1"/>
          <p:nvPr/>
        </p:nvSpPr>
        <p:spPr>
          <a:xfrm>
            <a:off x="1463040" y="5157216"/>
            <a:ext cx="2377440" cy="310896"/>
          </a:xfrm>
          <a:prstGeom prst="rect">
            <a:avLst/>
          </a:prstGeom>
          <a:noFill/>
          <a:ln/>
        </p:spPr>
        <p:txBody>
          <a:bodyPr wrap="square" lIns="0" tIns="0" rIns="0" bIns="0" rtlCol="0" anchor="ctr"/>
          <a:lstStyle/>
          <a:p>
            <a:pPr indent="0" marL="0">
              <a:buNone/>
            </a:pPr>
            <a:r>
              <a:rPr lang="en-US" sz="1300" b="1" dirty="0">
                <a:solidFill>
                  <a:srgbClr val="2B0A12"/>
                </a:solidFill>
                <a:latin typeface="Calibri" pitchFamily="34" charset="0"/>
                <a:ea typeface="Calibri" pitchFamily="34" charset="-122"/>
                <a:cs typeface="Calibri" pitchFamily="34" charset="-120"/>
              </a:rPr>
              <a:t>Placebo + optimised LLT</a:t>
            </a:r>
            <a:endParaRPr lang="en-US" sz="1300" dirty="0"/>
          </a:p>
        </p:txBody>
      </p:sp>
      <p:sp>
        <p:nvSpPr>
          <p:cNvPr id="36" name="Text 28"/>
          <p:cNvSpPr txBox="1"/>
          <p:nvPr/>
        </p:nvSpPr>
        <p:spPr>
          <a:xfrm>
            <a:off x="3840480" y="5102352"/>
            <a:ext cx="1783080" cy="402336"/>
          </a:xfrm>
          <a:prstGeom prst="rect">
            <a:avLst/>
          </a:prstGeom>
          <a:noFill/>
          <a:ln/>
        </p:spPr>
        <p:txBody>
          <a:bodyPr wrap="square" lIns="0" tIns="0" rIns="0" bIns="0" rtlCol="0" anchor="ctr"/>
          <a:lstStyle/>
          <a:p>
            <a:pPr algn="r" indent="0" marL="0">
              <a:buNone/>
            </a:pPr>
            <a:r>
              <a:rPr lang="en-US" sz="2000" b="1" dirty="0">
                <a:solidFill>
                  <a:srgbClr val="4E5766"/>
                </a:solidFill>
                <a:latin typeface="Cambria" pitchFamily="34" charset="0"/>
                <a:ea typeface="Cambria" pitchFamily="34" charset="-122"/>
                <a:cs typeface="Cambria" pitchFamily="34" charset="-120"/>
              </a:rPr>
              <a:t>n = 872</a:t>
            </a:r>
            <a:endParaRPr lang="en-US" sz="2000" dirty="0"/>
          </a:p>
        </p:txBody>
      </p:sp>
      <p:sp>
        <p:nvSpPr>
          <p:cNvPr id="37" name="Shape 29"/>
          <p:cNvSpPr/>
          <p:nvPr/>
        </p:nvSpPr>
        <p:spPr>
          <a:xfrm>
            <a:off x="6227064" y="3794760"/>
            <a:ext cx="5394960" cy="1828800"/>
          </a:xfrm>
          <a:prstGeom prst="roundRect">
            <a:avLst>
              <a:gd name="adj" fmla="val 4000"/>
            </a:avLst>
          </a:prstGeom>
          <a:solidFill>
            <a:srgbClr val="FFFFFF"/>
          </a:solidFill>
          <a:ln/>
          <a:effectLst>
            <a:outerShdw sx="100000" sy="100000" kx="0" ky="0" algn="bl" rotWithShape="0" blurRad="127000" dist="25400" dir="5400000">
              <a:srgbClr val="3A2226">
                <a:alpha val="13000"/>
              </a:srgbClr>
            </a:outerShdw>
          </a:effectLst>
        </p:spPr>
      </p:sp>
      <p:sp>
        <p:nvSpPr>
          <p:cNvPr id="38" name="Shape 30"/>
          <p:cNvSpPr/>
          <p:nvPr/>
        </p:nvSpPr>
        <p:spPr>
          <a:xfrm>
            <a:off x="6537960" y="4041648"/>
            <a:ext cx="566928" cy="566928"/>
          </a:xfrm>
          <a:prstGeom prst="ellipse">
            <a:avLst/>
          </a:prstGeom>
          <a:solidFill>
            <a:srgbClr val="F7E7EA"/>
          </a:solidFill>
          <a:ln/>
        </p:spPr>
      </p:sp>
      <p:pic>
        <p:nvPicPr>
          <p:cNvPr id="39" name="Image 6" descr="preencoded.png">    </p:cNvPr>
          <p:cNvPicPr>
            <a:picLocks noChangeAspect="1"/>
          </p:cNvPicPr>
          <p:nvPr/>
        </p:nvPicPr>
        <p:blipFill>
          <a:blip r:embed="rId7"/>
          <a:stretch>
            <a:fillRect/>
          </a:stretch>
        </p:blipFill>
        <p:spPr>
          <a:xfrm>
            <a:off x="6691031" y="4194719"/>
            <a:ext cx="260787" cy="260787"/>
          </a:xfrm>
          <a:prstGeom prst="rect">
            <a:avLst/>
          </a:prstGeom>
        </p:spPr>
      </p:pic>
      <p:sp>
        <p:nvSpPr>
          <p:cNvPr id="40" name="Text 31"/>
          <p:cNvSpPr txBox="1"/>
          <p:nvPr/>
        </p:nvSpPr>
        <p:spPr>
          <a:xfrm>
            <a:off x="7269480" y="4114800"/>
            <a:ext cx="4041648" cy="329184"/>
          </a:xfrm>
          <a:prstGeom prst="rect">
            <a:avLst/>
          </a:prstGeom>
          <a:noFill/>
          <a:ln/>
        </p:spPr>
        <p:txBody>
          <a:bodyPr wrap="square" lIns="0" tIns="0" rIns="0" bIns="0" rtlCol="0" anchor="ctr"/>
          <a:lstStyle/>
          <a:p>
            <a:pPr indent="0" marL="0">
              <a:buNone/>
            </a:pPr>
            <a:r>
              <a:rPr lang="en-US" sz="1550" b="1" dirty="0">
                <a:solidFill>
                  <a:srgbClr val="2B0A12"/>
                </a:solidFill>
                <a:latin typeface="Calibri" pitchFamily="34" charset="0"/>
                <a:ea typeface="Calibri" pitchFamily="34" charset="-122"/>
                <a:cs typeface="Calibri" pitchFamily="34" charset="-120"/>
              </a:rPr>
              <a:t>Where the trial ran</a:t>
            </a:r>
            <a:endParaRPr lang="en-US" sz="1550" dirty="0"/>
          </a:p>
        </p:txBody>
      </p:sp>
      <p:sp>
        <p:nvSpPr>
          <p:cNvPr id="41" name="Text 32"/>
          <p:cNvSpPr txBox="1"/>
          <p:nvPr/>
        </p:nvSpPr>
        <p:spPr>
          <a:xfrm>
            <a:off x="6537960" y="4773168"/>
            <a:ext cx="4773168" cy="658368"/>
          </a:xfrm>
          <a:prstGeom prst="rect">
            <a:avLst/>
          </a:prstGeom>
          <a:noFill/>
          <a:ln/>
        </p:spPr>
        <p:txBody>
          <a:bodyPr wrap="square" lIns="0" tIns="0" rIns="0" bIns="0" rtlCol="0" anchor="ctr"/>
          <a:lstStyle/>
          <a:p>
            <a:pPr indent="0" marL="0">
              <a:lnSpc>
                <a:spcPct val="112000"/>
              </a:lnSpc>
              <a:buNone/>
            </a:pPr>
            <a:r>
              <a:rPr lang="en-US" sz="1350" dirty="0">
                <a:solidFill>
                  <a:srgbClr val="2E2A2B"/>
                </a:solidFill>
                <a:latin typeface="Calibri" pitchFamily="34" charset="0"/>
                <a:ea typeface="Calibri" pitchFamily="34" charset="-122"/>
                <a:cs typeface="Calibri" pitchFamily="34" charset="-120"/>
              </a:rPr>
              <a:t>Bulgaria · Czechia · Estonia · France · Germany · Latvia · Poland · Spain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PRIMARY ENDPOINT</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Goal Attainment at Day 90</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10</a:t>
            </a:r>
            <a:endParaRPr lang="en-US" sz="950" dirty="0"/>
          </a:p>
        </p:txBody>
      </p:sp>
      <p:graphicFrame>
        <p:nvGraphicFramePr>
          <p:cNvPr id="6" name="Chart 0" descr=""/>
          <p:cNvGraphicFramePr/>
          <p:nvPr/>
        </p:nvGraphicFramePr>
        <p:xfrm>
          <a:off x="566928" y="1572768"/>
          <a:ext cx="6492240" cy="3986784"/>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69480" y="1572768"/>
            <a:ext cx="4352544" cy="1792224"/>
          </a:xfrm>
          <a:prstGeom prst="roundRect">
            <a:avLst>
              <a:gd name="adj" fmla="val 4082"/>
            </a:avLst>
          </a:prstGeom>
          <a:solidFill>
            <a:srgbClr val="A11226"/>
          </a:solidFill>
          <a:ln/>
        </p:spPr>
      </p:sp>
      <p:sp>
        <p:nvSpPr>
          <p:cNvPr id="8" name="Text 5"/>
          <p:cNvSpPr txBox="1"/>
          <p:nvPr/>
        </p:nvSpPr>
        <p:spPr>
          <a:xfrm>
            <a:off x="7589520" y="1737360"/>
            <a:ext cx="3712464" cy="256032"/>
          </a:xfrm>
          <a:prstGeom prst="rect">
            <a:avLst/>
          </a:prstGeom>
          <a:noFill/>
          <a:ln/>
        </p:spPr>
        <p:txBody>
          <a:bodyPr wrap="square" lIns="0" tIns="0" rIns="0" bIns="0" rtlCol="0" anchor="ctr"/>
          <a:lstStyle/>
          <a:p>
            <a:pPr indent="0" marL="0">
              <a:buNone/>
            </a:pPr>
            <a:r>
              <a:rPr lang="en-US" sz="1100" b="1" spc="220" kern="0" dirty="0">
                <a:solidFill>
                  <a:srgbClr val="E4B363"/>
                </a:solidFill>
                <a:latin typeface="Calibri" pitchFamily="34" charset="0"/>
                <a:ea typeface="Calibri" pitchFamily="34" charset="-122"/>
                <a:cs typeface="Calibri" pitchFamily="34" charset="-120"/>
              </a:rPr>
              <a:t>ODDS RATIO</a:t>
            </a:r>
            <a:endParaRPr lang="en-US" sz="1100" dirty="0"/>
          </a:p>
        </p:txBody>
      </p:sp>
      <p:sp>
        <p:nvSpPr>
          <p:cNvPr id="9" name="Text 6"/>
          <p:cNvSpPr txBox="1"/>
          <p:nvPr/>
        </p:nvSpPr>
        <p:spPr>
          <a:xfrm>
            <a:off x="7589520" y="1993392"/>
            <a:ext cx="3712464" cy="713232"/>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12.09</a:t>
            </a:r>
            <a:endParaRPr lang="en-US" sz="4600" dirty="0"/>
          </a:p>
        </p:txBody>
      </p:sp>
      <p:sp>
        <p:nvSpPr>
          <p:cNvPr id="10" name="Text 7"/>
          <p:cNvSpPr txBox="1"/>
          <p:nvPr/>
        </p:nvSpPr>
        <p:spPr>
          <a:xfrm>
            <a:off x="7589520" y="2724912"/>
            <a:ext cx="3712464" cy="256032"/>
          </a:xfrm>
          <a:prstGeom prst="rect">
            <a:avLst/>
          </a:prstGeom>
          <a:noFill/>
          <a:ln/>
        </p:spPr>
        <p:txBody>
          <a:bodyPr wrap="square" lIns="0" tIns="0" rIns="0" bIns="0" rtlCol="0" anchor="ctr"/>
          <a:lstStyle/>
          <a:p>
            <a:pPr indent="0" marL="0">
              <a:buNone/>
            </a:pPr>
            <a:r>
              <a:rPr lang="en-US" sz="1250" dirty="0">
                <a:solidFill>
                  <a:srgbClr val="E9D8DB"/>
                </a:solidFill>
                <a:latin typeface="Calibri" pitchFamily="34" charset="0"/>
                <a:ea typeface="Calibri" pitchFamily="34" charset="-122"/>
                <a:cs typeface="Calibri" pitchFamily="34" charset="-120"/>
              </a:rPr>
              <a:t>95% CI 9.59 to 15.24</a:t>
            </a:r>
            <a:endParaRPr lang="en-US" sz="1250" dirty="0"/>
          </a:p>
        </p:txBody>
      </p:sp>
      <p:sp>
        <p:nvSpPr>
          <p:cNvPr id="11" name="Text 8"/>
          <p:cNvSpPr txBox="1"/>
          <p:nvPr/>
        </p:nvSpPr>
        <p:spPr>
          <a:xfrm>
            <a:off x="7589520" y="2990088"/>
            <a:ext cx="3712464" cy="274320"/>
          </a:xfrm>
          <a:prstGeom prst="rect">
            <a:avLst/>
          </a:prstGeom>
          <a:noFill/>
          <a:ln/>
        </p:spPr>
        <p:txBody>
          <a:bodyPr wrap="square" lIns="0" tIns="0" rIns="0" bIns="0" rtlCol="0" anchor="ctr"/>
          <a:lstStyle/>
          <a:p>
            <a:pPr indent="0" marL="0">
              <a:buNone/>
            </a:pPr>
            <a:r>
              <a:rPr lang="en-US" sz="1400" b="1" dirty="0">
                <a:solidFill>
                  <a:srgbClr val="E4B363"/>
                </a:solidFill>
                <a:latin typeface="Calibri" pitchFamily="34" charset="0"/>
                <a:ea typeface="Calibri" pitchFamily="34" charset="-122"/>
                <a:cs typeface="Calibri" pitchFamily="34" charset="-120"/>
              </a:rPr>
              <a:t>p &lt; 0.0001</a:t>
            </a:r>
            <a:endParaRPr lang="en-US" sz="1400" dirty="0"/>
          </a:p>
        </p:txBody>
      </p:sp>
      <p:sp>
        <p:nvSpPr>
          <p:cNvPr id="12" name="Shape 9"/>
          <p:cNvSpPr/>
          <p:nvPr/>
        </p:nvSpPr>
        <p:spPr>
          <a:xfrm>
            <a:off x="7269480" y="3639312"/>
            <a:ext cx="4352544" cy="2011680"/>
          </a:xfrm>
          <a:prstGeom prst="roundRect">
            <a:avLst>
              <a:gd name="adj" fmla="val 3636"/>
            </a:avLst>
          </a:prstGeom>
          <a:solidFill>
            <a:srgbClr val="FFFFFF"/>
          </a:solidFill>
          <a:ln/>
          <a:effectLst>
            <a:outerShdw sx="100000" sy="100000" kx="0" ky="0" algn="bl" rotWithShape="0" blurRad="127000" dist="25400" dir="5400000">
              <a:srgbClr val="3A2226">
                <a:alpha val="13000"/>
              </a:srgbClr>
            </a:outerShdw>
          </a:effectLst>
        </p:spPr>
      </p:sp>
      <p:sp>
        <p:nvSpPr>
          <p:cNvPr id="13" name="Shape 10"/>
          <p:cNvSpPr/>
          <p:nvPr/>
        </p:nvSpPr>
        <p:spPr>
          <a:xfrm>
            <a:off x="7589520" y="3877056"/>
            <a:ext cx="548640" cy="548640"/>
          </a:xfrm>
          <a:prstGeom prst="ellipse">
            <a:avLst/>
          </a:prstGeom>
          <a:solidFill>
            <a:srgbClr val="F7E7EA"/>
          </a:solidFill>
          <a:ln/>
        </p:spPr>
      </p:sp>
      <p:pic>
        <p:nvPicPr>
          <p:cNvPr id="14" name="Image 0" descr="preencoded.png">    </p:cNvPr>
          <p:cNvPicPr>
            <a:picLocks noChangeAspect="1"/>
          </p:cNvPicPr>
          <p:nvPr/>
        </p:nvPicPr>
        <p:blipFill>
          <a:blip r:embed="rId2"/>
          <a:stretch>
            <a:fillRect/>
          </a:stretch>
        </p:blipFill>
        <p:spPr>
          <a:xfrm>
            <a:off x="7737653" y="4025189"/>
            <a:ext cx="252374" cy="252374"/>
          </a:xfrm>
          <a:prstGeom prst="rect">
            <a:avLst/>
          </a:prstGeom>
        </p:spPr>
      </p:pic>
      <p:sp>
        <p:nvSpPr>
          <p:cNvPr id="15" name="Text 11"/>
          <p:cNvSpPr txBox="1"/>
          <p:nvPr/>
        </p:nvSpPr>
        <p:spPr>
          <a:xfrm>
            <a:off x="8275320" y="3931920"/>
            <a:ext cx="3026664" cy="402336"/>
          </a:xfrm>
          <a:prstGeom prst="rect">
            <a:avLst/>
          </a:prstGeom>
          <a:noFill/>
          <a:ln/>
        </p:spPr>
        <p:txBody>
          <a:bodyPr wrap="square" lIns="0" tIns="0" rIns="0" bIns="0" rtlCol="0" anchor="ctr"/>
          <a:lstStyle/>
          <a:p>
            <a:pPr indent="0" marL="0">
              <a:buNone/>
            </a:pPr>
            <a:r>
              <a:rPr lang="en-US" sz="1500" b="1" dirty="0">
                <a:solidFill>
                  <a:srgbClr val="2B0A12"/>
                </a:solidFill>
                <a:latin typeface="Calibri" pitchFamily="34" charset="0"/>
                <a:ea typeface="Calibri" pitchFamily="34" charset="-122"/>
                <a:cs typeface="Calibri" pitchFamily="34" charset="-120"/>
              </a:rPr>
              <a:t>What this means</a:t>
            </a:r>
            <a:endParaRPr lang="en-US" sz="1500" dirty="0"/>
          </a:p>
        </p:txBody>
      </p:sp>
      <p:sp>
        <p:nvSpPr>
          <p:cNvPr id="16" name="Text 12"/>
          <p:cNvSpPr txBox="1"/>
          <p:nvPr/>
        </p:nvSpPr>
        <p:spPr>
          <a:xfrm>
            <a:off x="7589520" y="4535424"/>
            <a:ext cx="3712464" cy="969264"/>
          </a:xfrm>
          <a:prstGeom prst="rect">
            <a:avLst/>
          </a:prstGeom>
          <a:noFill/>
          <a:ln/>
        </p:spPr>
        <p:txBody>
          <a:bodyPr wrap="square" lIns="0" tIns="0" rIns="0" bIns="0" rtlCol="0" anchor="ctr"/>
          <a:lstStyle/>
          <a:p>
            <a:pPr indent="0" marL="0">
              <a:lnSpc>
                <a:spcPct val="110000"/>
              </a:lnSpc>
              <a:buNone/>
            </a:pPr>
            <a:r>
              <a:rPr lang="en-US" sz="1250" dirty="0">
                <a:solidFill>
                  <a:srgbClr val="2E2A2B"/>
                </a:solidFill>
                <a:latin typeface="Calibri" pitchFamily="34" charset="0"/>
                <a:ea typeface="Calibri" pitchFamily="34" charset="-122"/>
                <a:cs typeface="Calibri" pitchFamily="34" charset="-120"/>
              </a:rPr>
              <a:t>About five in every six participants on the inclisiran-based strategy reached the LDL-C goal set for their own risk category, against fewer than one in three on optimised statin therapy alone.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KEY SECONDARY ENDPOINT</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LDL-C Lowering Through Day 360</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11</a:t>
            </a:r>
            <a:endParaRPr lang="en-US" sz="950" dirty="0"/>
          </a:p>
        </p:txBody>
      </p:sp>
      <p:graphicFrame>
        <p:nvGraphicFramePr>
          <p:cNvPr id="6" name="Chart 0" descr=""/>
          <p:cNvGraphicFramePr/>
          <p:nvPr/>
        </p:nvGraphicFramePr>
        <p:xfrm>
          <a:off x="566928" y="1572768"/>
          <a:ext cx="6492240" cy="3986784"/>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269480" y="1572768"/>
            <a:ext cx="4352544" cy="1792224"/>
          </a:xfrm>
          <a:prstGeom prst="roundRect">
            <a:avLst>
              <a:gd name="adj" fmla="val 4082"/>
            </a:avLst>
          </a:prstGeom>
          <a:solidFill>
            <a:srgbClr val="A11226"/>
          </a:solidFill>
          <a:ln/>
        </p:spPr>
      </p:sp>
      <p:sp>
        <p:nvSpPr>
          <p:cNvPr id="8" name="Text 5"/>
          <p:cNvSpPr txBox="1"/>
          <p:nvPr/>
        </p:nvSpPr>
        <p:spPr>
          <a:xfrm>
            <a:off x="7589520" y="1737360"/>
            <a:ext cx="3712464" cy="256032"/>
          </a:xfrm>
          <a:prstGeom prst="rect">
            <a:avLst/>
          </a:prstGeom>
          <a:noFill/>
          <a:ln/>
        </p:spPr>
        <p:txBody>
          <a:bodyPr wrap="square" lIns="0" tIns="0" rIns="0" bIns="0" rtlCol="0" anchor="ctr"/>
          <a:lstStyle/>
          <a:p>
            <a:pPr indent="0" marL="0">
              <a:buNone/>
            </a:pPr>
            <a:r>
              <a:rPr lang="en-US" sz="1100" b="1" spc="220" kern="0" dirty="0">
                <a:solidFill>
                  <a:srgbClr val="E4B363"/>
                </a:solidFill>
                <a:latin typeface="Calibri" pitchFamily="34" charset="0"/>
                <a:ea typeface="Calibri" pitchFamily="34" charset="-122"/>
                <a:cs typeface="Calibri" pitchFamily="34" charset="-120"/>
              </a:rPr>
              <a:t>TREATMENT DIFFERENCE</a:t>
            </a:r>
            <a:endParaRPr lang="en-US" sz="1100" dirty="0"/>
          </a:p>
        </p:txBody>
      </p:sp>
      <p:sp>
        <p:nvSpPr>
          <p:cNvPr id="9" name="Text 6"/>
          <p:cNvSpPr txBox="1"/>
          <p:nvPr/>
        </p:nvSpPr>
        <p:spPr>
          <a:xfrm>
            <a:off x="7589520" y="1993392"/>
            <a:ext cx="3712464" cy="713232"/>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35.14</a:t>
            </a:r>
            <a:endParaRPr lang="en-US" sz="4600" dirty="0"/>
          </a:p>
        </p:txBody>
      </p:sp>
      <p:sp>
        <p:nvSpPr>
          <p:cNvPr id="10" name="Text 7"/>
          <p:cNvSpPr txBox="1"/>
          <p:nvPr/>
        </p:nvSpPr>
        <p:spPr>
          <a:xfrm>
            <a:off x="7589520" y="2724912"/>
            <a:ext cx="3712464" cy="256032"/>
          </a:xfrm>
          <a:prstGeom prst="rect">
            <a:avLst/>
          </a:prstGeom>
          <a:noFill/>
          <a:ln/>
        </p:spPr>
        <p:txBody>
          <a:bodyPr wrap="square" lIns="0" tIns="0" rIns="0" bIns="0" rtlCol="0" anchor="ctr"/>
          <a:lstStyle/>
          <a:p>
            <a:pPr indent="0" marL="0">
              <a:buNone/>
            </a:pPr>
            <a:r>
              <a:rPr lang="en-US" sz="1250" dirty="0">
                <a:solidFill>
                  <a:srgbClr val="E9D8DB"/>
                </a:solidFill>
                <a:latin typeface="Calibri" pitchFamily="34" charset="0"/>
                <a:ea typeface="Calibri" pitchFamily="34" charset="-122"/>
                <a:cs typeface="Calibri" pitchFamily="34" charset="-120"/>
              </a:rPr>
              <a:t>percentage points, LS mean</a:t>
            </a:r>
            <a:endParaRPr lang="en-US" sz="1250" dirty="0"/>
          </a:p>
        </p:txBody>
      </p:sp>
      <p:sp>
        <p:nvSpPr>
          <p:cNvPr id="11" name="Text 8"/>
          <p:cNvSpPr txBox="1"/>
          <p:nvPr/>
        </p:nvSpPr>
        <p:spPr>
          <a:xfrm>
            <a:off x="7589520" y="2990088"/>
            <a:ext cx="3712464" cy="274320"/>
          </a:xfrm>
          <a:prstGeom prst="rect">
            <a:avLst/>
          </a:prstGeom>
          <a:noFill/>
          <a:ln/>
        </p:spPr>
        <p:txBody>
          <a:bodyPr wrap="square" lIns="0" tIns="0" rIns="0" bIns="0" rtlCol="0" anchor="ctr"/>
          <a:lstStyle/>
          <a:p>
            <a:pPr indent="0" marL="0">
              <a:buNone/>
            </a:pPr>
            <a:r>
              <a:rPr lang="en-US" sz="1400" b="1" dirty="0">
                <a:solidFill>
                  <a:srgbClr val="E4B363"/>
                </a:solidFill>
                <a:latin typeface="Calibri" pitchFamily="34" charset="0"/>
                <a:ea typeface="Calibri" pitchFamily="34" charset="-122"/>
                <a:cs typeface="Calibri" pitchFamily="34" charset="-120"/>
              </a:rPr>
              <a:t>p &lt; 0.0001</a:t>
            </a:r>
            <a:endParaRPr lang="en-US" sz="1400" dirty="0"/>
          </a:p>
        </p:txBody>
      </p:sp>
      <p:sp>
        <p:nvSpPr>
          <p:cNvPr id="12" name="Shape 9"/>
          <p:cNvSpPr/>
          <p:nvPr/>
        </p:nvSpPr>
        <p:spPr>
          <a:xfrm>
            <a:off x="7269480" y="3639312"/>
            <a:ext cx="4352544" cy="2011680"/>
          </a:xfrm>
          <a:prstGeom prst="roundRect">
            <a:avLst>
              <a:gd name="adj" fmla="val 3636"/>
            </a:avLst>
          </a:prstGeom>
          <a:solidFill>
            <a:srgbClr val="FFFFFF"/>
          </a:solidFill>
          <a:ln/>
          <a:effectLst>
            <a:outerShdw sx="100000" sy="100000" kx="0" ky="0" algn="bl" rotWithShape="0" blurRad="127000" dist="25400" dir="5400000">
              <a:srgbClr val="3A2226">
                <a:alpha val="13000"/>
              </a:srgbClr>
            </a:outerShdw>
          </a:effectLst>
        </p:spPr>
      </p:sp>
      <p:sp>
        <p:nvSpPr>
          <p:cNvPr id="13" name="Shape 10"/>
          <p:cNvSpPr/>
          <p:nvPr/>
        </p:nvSpPr>
        <p:spPr>
          <a:xfrm>
            <a:off x="7589520" y="3877056"/>
            <a:ext cx="548640" cy="548640"/>
          </a:xfrm>
          <a:prstGeom prst="ellipse">
            <a:avLst/>
          </a:prstGeom>
          <a:solidFill>
            <a:srgbClr val="F7E7EA"/>
          </a:solidFill>
          <a:ln/>
        </p:spPr>
      </p:sp>
      <p:pic>
        <p:nvPicPr>
          <p:cNvPr id="14" name="Image 0" descr="preencoded.png">    </p:cNvPr>
          <p:cNvPicPr>
            <a:picLocks noChangeAspect="1"/>
          </p:cNvPicPr>
          <p:nvPr/>
        </p:nvPicPr>
        <p:blipFill>
          <a:blip r:embed="rId2"/>
          <a:stretch>
            <a:fillRect/>
          </a:stretch>
        </p:blipFill>
        <p:spPr>
          <a:xfrm>
            <a:off x="7737653" y="4025189"/>
            <a:ext cx="252374" cy="252374"/>
          </a:xfrm>
          <a:prstGeom prst="rect">
            <a:avLst/>
          </a:prstGeom>
        </p:spPr>
      </p:pic>
      <p:sp>
        <p:nvSpPr>
          <p:cNvPr id="15" name="Text 11"/>
          <p:cNvSpPr txBox="1"/>
          <p:nvPr/>
        </p:nvSpPr>
        <p:spPr>
          <a:xfrm>
            <a:off x="8275320" y="3931920"/>
            <a:ext cx="3026664" cy="402336"/>
          </a:xfrm>
          <a:prstGeom prst="rect">
            <a:avLst/>
          </a:prstGeom>
          <a:noFill/>
          <a:ln/>
        </p:spPr>
        <p:txBody>
          <a:bodyPr wrap="square" lIns="0" tIns="0" rIns="0" bIns="0" rtlCol="0" anchor="ctr"/>
          <a:lstStyle/>
          <a:p>
            <a:pPr indent="0" marL="0">
              <a:buNone/>
            </a:pPr>
            <a:r>
              <a:rPr lang="en-US" sz="1500" b="1" dirty="0">
                <a:solidFill>
                  <a:srgbClr val="2B0A12"/>
                </a:solidFill>
                <a:latin typeface="Calibri" pitchFamily="34" charset="0"/>
                <a:ea typeface="Calibri" pitchFamily="34" charset="-122"/>
                <a:cs typeface="Calibri" pitchFamily="34" charset="-120"/>
              </a:rPr>
              <a:t>What this means</a:t>
            </a:r>
            <a:endParaRPr lang="en-US" sz="1500" dirty="0"/>
          </a:p>
        </p:txBody>
      </p:sp>
      <p:sp>
        <p:nvSpPr>
          <p:cNvPr id="16" name="Text 12"/>
          <p:cNvSpPr txBox="1"/>
          <p:nvPr/>
        </p:nvSpPr>
        <p:spPr>
          <a:xfrm>
            <a:off x="7589520" y="4535424"/>
            <a:ext cx="3712464" cy="969264"/>
          </a:xfrm>
          <a:prstGeom prst="rect">
            <a:avLst/>
          </a:prstGeom>
          <a:noFill/>
          <a:ln/>
        </p:spPr>
        <p:txBody>
          <a:bodyPr wrap="square" lIns="0" tIns="0" rIns="0" bIns="0" rtlCol="0" anchor="ctr"/>
          <a:lstStyle/>
          <a:p>
            <a:pPr indent="0" marL="0">
              <a:lnSpc>
                <a:spcPct val="110000"/>
              </a:lnSpc>
              <a:buNone/>
            </a:pPr>
            <a:r>
              <a:rPr lang="en-US" sz="1250" dirty="0">
                <a:solidFill>
                  <a:srgbClr val="2E2A2B"/>
                </a:solidFill>
                <a:latin typeface="Calibri" pitchFamily="34" charset="0"/>
                <a:ea typeface="Calibri" pitchFamily="34" charset="-122"/>
                <a:cs typeface="Calibri" pitchFamily="34" charset="-120"/>
              </a:rPr>
              <a:t>Adding inclisiran to an optimised statin more than doubled the average LDL-C reduction, and the figure is time-averaged, so it reflects control held across the whole year.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SAFETY-RELATED SECONDARY ENDPOINTS</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Muscle Symptoms and Quality of Life</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12</a:t>
            </a:r>
            <a:endParaRPr lang="en-US" sz="950" dirty="0"/>
          </a:p>
        </p:txBody>
      </p:sp>
      <p:graphicFrame>
        <p:nvGraphicFramePr>
          <p:cNvPr id="6" name="Chart 0" descr=""/>
          <p:cNvGraphicFramePr/>
          <p:nvPr/>
        </p:nvGraphicFramePr>
        <p:xfrm>
          <a:off x="566928" y="1572768"/>
          <a:ext cx="5989320" cy="3986784"/>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766560" y="1572768"/>
            <a:ext cx="4855464" cy="1792224"/>
          </a:xfrm>
          <a:prstGeom prst="roundRect">
            <a:avLst>
              <a:gd name="adj" fmla="val 4082"/>
            </a:avLst>
          </a:prstGeom>
          <a:solidFill>
            <a:srgbClr val="A11226"/>
          </a:solidFill>
          <a:ln/>
        </p:spPr>
      </p:sp>
      <p:sp>
        <p:nvSpPr>
          <p:cNvPr id="8" name="Text 5"/>
          <p:cNvSpPr txBox="1"/>
          <p:nvPr/>
        </p:nvSpPr>
        <p:spPr>
          <a:xfrm>
            <a:off x="7086600" y="1737360"/>
            <a:ext cx="4215384" cy="256032"/>
          </a:xfrm>
          <a:prstGeom prst="rect">
            <a:avLst/>
          </a:prstGeom>
          <a:noFill/>
          <a:ln/>
        </p:spPr>
        <p:txBody>
          <a:bodyPr wrap="square" lIns="0" tIns="0" rIns="0" bIns="0" rtlCol="0" anchor="ctr"/>
          <a:lstStyle/>
          <a:p>
            <a:pPr indent="0" marL="0">
              <a:buNone/>
            </a:pPr>
            <a:r>
              <a:rPr lang="en-US" sz="1100" b="1" spc="220" kern="0" dirty="0">
                <a:solidFill>
                  <a:srgbClr val="E4B363"/>
                </a:solidFill>
                <a:latin typeface="Calibri" pitchFamily="34" charset="0"/>
                <a:ea typeface="Calibri" pitchFamily="34" charset="-122"/>
                <a:cs typeface="Calibri" pitchFamily="34" charset="-120"/>
              </a:rPr>
              <a:t>ODDS RATIO</a:t>
            </a:r>
            <a:endParaRPr lang="en-US" sz="1100" dirty="0"/>
          </a:p>
        </p:txBody>
      </p:sp>
      <p:sp>
        <p:nvSpPr>
          <p:cNvPr id="9" name="Text 6"/>
          <p:cNvSpPr txBox="1"/>
          <p:nvPr/>
        </p:nvSpPr>
        <p:spPr>
          <a:xfrm>
            <a:off x="7086600" y="1993392"/>
            <a:ext cx="4215384" cy="713232"/>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0.57</a:t>
            </a:r>
            <a:endParaRPr lang="en-US" sz="4600" dirty="0"/>
          </a:p>
        </p:txBody>
      </p:sp>
      <p:sp>
        <p:nvSpPr>
          <p:cNvPr id="10" name="Text 7"/>
          <p:cNvSpPr txBox="1"/>
          <p:nvPr/>
        </p:nvSpPr>
        <p:spPr>
          <a:xfrm>
            <a:off x="7086600" y="2724912"/>
            <a:ext cx="4215384" cy="256032"/>
          </a:xfrm>
          <a:prstGeom prst="rect">
            <a:avLst/>
          </a:prstGeom>
          <a:noFill/>
          <a:ln/>
        </p:spPr>
        <p:txBody>
          <a:bodyPr wrap="square" lIns="0" tIns="0" rIns="0" bIns="0" rtlCol="0" anchor="ctr"/>
          <a:lstStyle/>
          <a:p>
            <a:pPr indent="0" marL="0">
              <a:buNone/>
            </a:pPr>
            <a:r>
              <a:rPr lang="en-US" sz="1250" dirty="0">
                <a:solidFill>
                  <a:srgbClr val="E9D8DB"/>
                </a:solidFill>
                <a:latin typeface="Calibri" pitchFamily="34" charset="0"/>
                <a:ea typeface="Calibri" pitchFamily="34" charset="-122"/>
                <a:cs typeface="Calibri" pitchFamily="34" charset="-120"/>
              </a:rPr>
              <a:t>for at least one muscle-related adverse event</a:t>
            </a:r>
            <a:endParaRPr lang="en-US" sz="1250" dirty="0"/>
          </a:p>
        </p:txBody>
      </p:sp>
      <p:sp>
        <p:nvSpPr>
          <p:cNvPr id="11" name="Text 8"/>
          <p:cNvSpPr txBox="1"/>
          <p:nvPr/>
        </p:nvSpPr>
        <p:spPr>
          <a:xfrm>
            <a:off x="7086600" y="2990088"/>
            <a:ext cx="4215384" cy="274320"/>
          </a:xfrm>
          <a:prstGeom prst="rect">
            <a:avLst/>
          </a:prstGeom>
          <a:noFill/>
          <a:ln/>
        </p:spPr>
        <p:txBody>
          <a:bodyPr wrap="square" lIns="0" tIns="0" rIns="0" bIns="0" rtlCol="0" anchor="ctr"/>
          <a:lstStyle/>
          <a:p>
            <a:pPr indent="0" marL="0">
              <a:buNone/>
            </a:pPr>
            <a:r>
              <a:rPr lang="en-US" sz="1400" b="1" dirty="0">
                <a:solidFill>
                  <a:srgbClr val="E4B363"/>
                </a:solidFill>
                <a:latin typeface="Calibri" pitchFamily="34" charset="0"/>
                <a:ea typeface="Calibri" pitchFamily="34" charset="-122"/>
                <a:cs typeface="Calibri" pitchFamily="34" charset="-120"/>
              </a:rPr>
              <a:t>p &lt; 0.001</a:t>
            </a:r>
            <a:endParaRPr lang="en-US" sz="1400" dirty="0"/>
          </a:p>
        </p:txBody>
      </p:sp>
      <p:sp>
        <p:nvSpPr>
          <p:cNvPr id="12" name="Shape 9"/>
          <p:cNvSpPr/>
          <p:nvPr/>
        </p:nvSpPr>
        <p:spPr>
          <a:xfrm>
            <a:off x="6766560" y="3639312"/>
            <a:ext cx="4855464" cy="2011680"/>
          </a:xfrm>
          <a:prstGeom prst="roundRect">
            <a:avLst>
              <a:gd name="adj" fmla="val 3636"/>
            </a:avLst>
          </a:prstGeom>
          <a:solidFill>
            <a:srgbClr val="FFFFFF"/>
          </a:solidFill>
          <a:ln/>
          <a:effectLst>
            <a:outerShdw sx="100000" sy="100000" kx="0" ky="0" algn="bl" rotWithShape="0" blurRad="127000" dist="25400" dir="5400000">
              <a:srgbClr val="3A2226">
                <a:alpha val="13000"/>
              </a:srgbClr>
            </a:outerShdw>
          </a:effectLst>
        </p:spPr>
      </p:sp>
      <p:sp>
        <p:nvSpPr>
          <p:cNvPr id="13" name="Shape 10"/>
          <p:cNvSpPr/>
          <p:nvPr/>
        </p:nvSpPr>
        <p:spPr>
          <a:xfrm>
            <a:off x="7086600" y="3877056"/>
            <a:ext cx="548640" cy="548640"/>
          </a:xfrm>
          <a:prstGeom prst="ellipse">
            <a:avLst/>
          </a:prstGeom>
          <a:solidFill>
            <a:srgbClr val="F7E7EA"/>
          </a:solidFill>
          <a:ln/>
        </p:spPr>
      </p:sp>
      <p:pic>
        <p:nvPicPr>
          <p:cNvPr id="14" name="Image 0" descr="preencoded.png">    </p:cNvPr>
          <p:cNvPicPr>
            <a:picLocks noChangeAspect="1"/>
          </p:cNvPicPr>
          <p:nvPr/>
        </p:nvPicPr>
        <p:blipFill>
          <a:blip r:embed="rId2"/>
          <a:stretch>
            <a:fillRect/>
          </a:stretch>
        </p:blipFill>
        <p:spPr>
          <a:xfrm>
            <a:off x="7234733" y="4025189"/>
            <a:ext cx="252374" cy="252374"/>
          </a:xfrm>
          <a:prstGeom prst="rect">
            <a:avLst/>
          </a:prstGeom>
        </p:spPr>
      </p:pic>
      <p:sp>
        <p:nvSpPr>
          <p:cNvPr id="15" name="Text 11"/>
          <p:cNvSpPr txBox="1"/>
          <p:nvPr/>
        </p:nvSpPr>
        <p:spPr>
          <a:xfrm>
            <a:off x="7772400" y="3931920"/>
            <a:ext cx="3529584" cy="402336"/>
          </a:xfrm>
          <a:prstGeom prst="rect">
            <a:avLst/>
          </a:prstGeom>
          <a:noFill/>
          <a:ln/>
        </p:spPr>
        <p:txBody>
          <a:bodyPr wrap="square" lIns="0" tIns="0" rIns="0" bIns="0" rtlCol="0" anchor="ctr"/>
          <a:lstStyle/>
          <a:p>
            <a:pPr indent="0" marL="0">
              <a:buNone/>
            </a:pPr>
            <a:r>
              <a:rPr lang="en-US" sz="1500" b="1" dirty="0">
                <a:solidFill>
                  <a:srgbClr val="2B0A12"/>
                </a:solidFill>
                <a:latin typeface="Calibri" pitchFamily="34" charset="0"/>
                <a:ea typeface="Calibri" pitchFamily="34" charset="-122"/>
                <a:cs typeface="Calibri" pitchFamily="34" charset="-120"/>
              </a:rPr>
              <a:t>Short Form-Brief Pain Inventory</a:t>
            </a:r>
            <a:endParaRPr lang="en-US" sz="1500" dirty="0"/>
          </a:p>
        </p:txBody>
      </p:sp>
      <p:sp>
        <p:nvSpPr>
          <p:cNvPr id="16" name="Text 12"/>
          <p:cNvSpPr txBox="1"/>
          <p:nvPr/>
        </p:nvSpPr>
        <p:spPr>
          <a:xfrm>
            <a:off x="7086600" y="4535424"/>
            <a:ext cx="4215384" cy="969264"/>
          </a:xfrm>
          <a:prstGeom prst="rect">
            <a:avLst/>
          </a:prstGeom>
          <a:noFill/>
          <a:ln/>
        </p:spPr>
        <p:txBody>
          <a:bodyPr wrap="square" lIns="0" tIns="0" rIns="0" bIns="0" rtlCol="0" anchor="ctr"/>
          <a:lstStyle/>
          <a:p>
            <a:pPr indent="0" marL="0">
              <a:lnSpc>
                <a:spcPct val="110000"/>
              </a:lnSpc>
              <a:buNone/>
            </a:pPr>
            <a:r>
              <a:rPr lang="en-US" sz="1250" dirty="0">
                <a:solidFill>
                  <a:srgbClr val="2E2A2B"/>
                </a:solidFill>
                <a:latin typeface="Calibri" pitchFamily="34" charset="0"/>
                <a:ea typeface="Calibri" pitchFamily="34" charset="-122"/>
                <a:cs typeface="Calibri" pitchFamily="34" charset="-120"/>
              </a:rPr>
              <a:t>Mean reductions in both pain severity and pain interference scores favoured the inclisiran-based strategy over optimised lipid-lowering therapy.</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INTERPRETATION</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Safety, Tolerability and Limitations</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566928" y="1554480"/>
            <a:ext cx="5440680" cy="4078224"/>
          </a:xfrm>
          <a:prstGeom prst="roundRect">
            <a:avLst>
              <a:gd name="adj" fmla="val 1794"/>
            </a:avLst>
          </a:prstGeom>
          <a:solidFill>
            <a:srgbClr val="FFFFFF"/>
          </a:solidFill>
          <a:ln/>
          <a:effectLst>
            <a:outerShdw sx="100000" sy="100000" kx="0" ky="0" algn="bl" rotWithShape="0" blurRad="127000" dist="25400" dir="5400000">
              <a:srgbClr val="3A2226">
                <a:alpha val="13000"/>
              </a:srgbClr>
            </a:outerShdw>
          </a:effectLst>
        </p:spPr>
      </p:sp>
      <p:sp>
        <p:nvSpPr>
          <p:cNvPr id="7" name="Shape 5"/>
          <p:cNvSpPr/>
          <p:nvPr/>
        </p:nvSpPr>
        <p:spPr>
          <a:xfrm>
            <a:off x="886968" y="1792224"/>
            <a:ext cx="512064" cy="512064"/>
          </a:xfrm>
          <a:prstGeom prst="ellipse">
            <a:avLst/>
          </a:prstGeom>
          <a:solidFill>
            <a:srgbClr val="F7E7EA"/>
          </a:solidFill>
          <a:ln/>
        </p:spPr>
      </p:sp>
      <p:pic>
        <p:nvPicPr>
          <p:cNvPr id="8" name="Image 0" descr="preencoded.png">    </p:cNvPr>
          <p:cNvPicPr>
            <a:picLocks noChangeAspect="1"/>
          </p:cNvPicPr>
          <p:nvPr/>
        </p:nvPicPr>
        <p:blipFill>
          <a:blip r:embed="rId1"/>
          <a:stretch>
            <a:fillRect/>
          </a:stretch>
        </p:blipFill>
        <p:spPr>
          <a:xfrm>
            <a:off x="1025225" y="1930481"/>
            <a:ext cx="235549" cy="235549"/>
          </a:xfrm>
          <a:prstGeom prst="rect">
            <a:avLst/>
          </a:prstGeom>
        </p:spPr>
      </p:pic>
      <p:sp>
        <p:nvSpPr>
          <p:cNvPr id="9" name="Text 6"/>
          <p:cNvSpPr txBox="1"/>
          <p:nvPr/>
        </p:nvSpPr>
        <p:spPr>
          <a:xfrm>
            <a:off x="1536192" y="1828800"/>
            <a:ext cx="4206240" cy="365760"/>
          </a:xfrm>
          <a:prstGeom prst="rect">
            <a:avLst/>
          </a:prstGeom>
          <a:noFill/>
          <a:ln/>
        </p:spPr>
        <p:txBody>
          <a:bodyPr wrap="square" lIns="0" tIns="0" rIns="0" bIns="0" rtlCol="0" anchor="ctr"/>
          <a:lstStyle/>
          <a:p>
            <a:pPr indent="0" marL="0">
              <a:buNone/>
            </a:pPr>
            <a:r>
              <a:rPr lang="en-US" sz="1900" b="1" dirty="0">
                <a:solidFill>
                  <a:srgbClr val="2B0A12"/>
                </a:solidFill>
                <a:latin typeface="Cambria" pitchFamily="34" charset="0"/>
                <a:ea typeface="Cambria" pitchFamily="34" charset="-122"/>
                <a:cs typeface="Cambria" pitchFamily="34" charset="-120"/>
              </a:rPr>
              <a:t>Safety and tolerability</a:t>
            </a:r>
            <a:endParaRPr lang="en-US" sz="1900" dirty="0"/>
          </a:p>
        </p:txBody>
      </p:sp>
      <p:sp>
        <p:nvSpPr>
          <p:cNvPr id="10" name="Shape 7"/>
          <p:cNvSpPr/>
          <p:nvPr/>
        </p:nvSpPr>
        <p:spPr>
          <a:xfrm>
            <a:off x="886968" y="2432304"/>
            <a:ext cx="493776" cy="493776"/>
          </a:xfrm>
          <a:prstGeom prst="ellipse">
            <a:avLst/>
          </a:prstGeom>
          <a:solidFill>
            <a:srgbClr val="F7E7EA"/>
          </a:solidFill>
          <a:ln/>
        </p:spPr>
      </p:sp>
      <p:pic>
        <p:nvPicPr>
          <p:cNvPr id="11" name="Image 1" descr="preencoded.png">    </p:cNvPr>
          <p:cNvPicPr>
            <a:picLocks noChangeAspect="1"/>
          </p:cNvPicPr>
          <p:nvPr/>
        </p:nvPicPr>
        <p:blipFill>
          <a:blip r:embed="rId2"/>
          <a:stretch>
            <a:fillRect/>
          </a:stretch>
        </p:blipFill>
        <p:spPr>
          <a:xfrm>
            <a:off x="1020288" y="2565624"/>
            <a:ext cx="227137" cy="227137"/>
          </a:xfrm>
          <a:prstGeom prst="rect">
            <a:avLst/>
          </a:prstGeom>
        </p:spPr>
      </p:pic>
      <p:sp>
        <p:nvSpPr>
          <p:cNvPr id="12" name="Text 8"/>
          <p:cNvSpPr txBox="1"/>
          <p:nvPr/>
        </p:nvSpPr>
        <p:spPr>
          <a:xfrm>
            <a:off x="1572768" y="2414016"/>
            <a:ext cx="4114800" cy="914400"/>
          </a:xfrm>
          <a:prstGeom prst="rect">
            <a:avLst/>
          </a:prstGeom>
          <a:noFill/>
          <a:ln/>
        </p:spPr>
        <p:txBody>
          <a:bodyPr wrap="square" lIns="0" tIns="0" rIns="0" bIns="0" rtlCol="0" anchor="ctr"/>
          <a:lstStyle/>
          <a:p>
            <a:pPr indent="0" marL="0">
              <a:lnSpc>
                <a:spcPct val="112000"/>
              </a:lnSpc>
              <a:buNone/>
            </a:pPr>
            <a:r>
              <a:rPr lang="en-US" sz="1350" b="1" dirty="0">
                <a:solidFill>
                  <a:srgbClr val="2E2A2B"/>
                </a:solidFill>
                <a:latin typeface="Calibri" pitchFamily="34" charset="0"/>
                <a:ea typeface="Calibri" pitchFamily="34" charset="-122"/>
                <a:cs typeface="Calibri" pitchFamily="34" charset="-120"/>
              </a:rPr>
              <a:t>No new safety concerns </a:t>
            </a:r>
            <a:pPr indent="0" marL="0">
              <a:lnSpc>
                <a:spcPct val="112000"/>
              </a:lnSpc>
              <a:buNone/>
            </a:pPr>
            <a:r>
              <a:rPr lang="en-US" sz="1350" dirty="0">
                <a:solidFill>
                  <a:srgbClr val="2E2A2B"/>
                </a:solidFill>
                <a:latin typeface="Calibri" pitchFamily="34" charset="0"/>
                <a:ea typeface="Calibri" pitchFamily="34" charset="-122"/>
                <a:cs typeface="Calibri" pitchFamily="34" charset="-120"/>
              </a:rPr>
              <a:t>were identified across the 360 days of follow-up.</a:t>
            </a:r>
            <a:endParaRPr lang="en-US" sz="1350" dirty="0"/>
          </a:p>
        </p:txBody>
      </p:sp>
      <p:sp>
        <p:nvSpPr>
          <p:cNvPr id="13" name="Shape 9"/>
          <p:cNvSpPr/>
          <p:nvPr/>
        </p:nvSpPr>
        <p:spPr>
          <a:xfrm>
            <a:off x="886968" y="3511296"/>
            <a:ext cx="493776" cy="493776"/>
          </a:xfrm>
          <a:prstGeom prst="ellipse">
            <a:avLst/>
          </a:prstGeom>
          <a:solidFill>
            <a:srgbClr val="F7E7EA"/>
          </a:solidFill>
          <a:ln/>
        </p:spPr>
      </p:sp>
      <p:pic>
        <p:nvPicPr>
          <p:cNvPr id="14" name="Image 2" descr="preencoded.png">    </p:cNvPr>
          <p:cNvPicPr>
            <a:picLocks noChangeAspect="1"/>
          </p:cNvPicPr>
          <p:nvPr/>
        </p:nvPicPr>
        <p:blipFill>
          <a:blip r:embed="rId3"/>
          <a:stretch>
            <a:fillRect/>
          </a:stretch>
        </p:blipFill>
        <p:spPr>
          <a:xfrm>
            <a:off x="1020288" y="3644616"/>
            <a:ext cx="227137" cy="227137"/>
          </a:xfrm>
          <a:prstGeom prst="rect">
            <a:avLst/>
          </a:prstGeom>
        </p:spPr>
      </p:pic>
      <p:sp>
        <p:nvSpPr>
          <p:cNvPr id="15" name="Text 10"/>
          <p:cNvSpPr txBox="1"/>
          <p:nvPr/>
        </p:nvSpPr>
        <p:spPr>
          <a:xfrm>
            <a:off x="1572768" y="3493008"/>
            <a:ext cx="4114800" cy="914400"/>
          </a:xfrm>
          <a:prstGeom prst="rect">
            <a:avLst/>
          </a:prstGeom>
          <a:noFill/>
          <a:ln/>
        </p:spPr>
        <p:txBody>
          <a:bodyPr wrap="square" lIns="0" tIns="0" rIns="0" bIns="0" rtlCol="0" anchor="ctr"/>
          <a:lstStyle/>
          <a:p>
            <a:pPr indent="0" marL="0">
              <a:lnSpc>
                <a:spcPct val="112000"/>
              </a:lnSpc>
              <a:buNone/>
            </a:pPr>
            <a:r>
              <a:rPr lang="en-US" sz="1350" b="1" dirty="0">
                <a:solidFill>
                  <a:srgbClr val="2E2A2B"/>
                </a:solidFill>
                <a:latin typeface="Calibri" pitchFamily="34" charset="0"/>
                <a:ea typeface="Calibri" pitchFamily="34" charset="-122"/>
                <a:cs typeface="Calibri" pitchFamily="34" charset="-120"/>
              </a:rPr>
              <a:t>Injection-site reactions </a:t>
            </a:r>
            <a:pPr indent="0" marL="0">
              <a:lnSpc>
                <a:spcPct val="112000"/>
              </a:lnSpc>
              <a:buNone/>
            </a:pPr>
            <a:r>
              <a:rPr lang="en-US" sz="1350" dirty="0">
                <a:solidFill>
                  <a:srgbClr val="2E2A2B"/>
                </a:solidFill>
                <a:latin typeface="Calibri" pitchFamily="34" charset="0"/>
                <a:ea typeface="Calibri" pitchFamily="34" charset="-122"/>
                <a:cs typeface="Calibri" pitchFamily="34" charset="-120"/>
              </a:rPr>
              <a:t>remain the characteristic adverse drug reaction — typically mild, transient and self-limiting.</a:t>
            </a:r>
            <a:endParaRPr lang="en-US" sz="1350" dirty="0"/>
          </a:p>
        </p:txBody>
      </p:sp>
      <p:sp>
        <p:nvSpPr>
          <p:cNvPr id="16" name="Shape 11"/>
          <p:cNvSpPr/>
          <p:nvPr/>
        </p:nvSpPr>
        <p:spPr>
          <a:xfrm>
            <a:off x="886968" y="4590288"/>
            <a:ext cx="493776" cy="493776"/>
          </a:xfrm>
          <a:prstGeom prst="ellipse">
            <a:avLst/>
          </a:prstGeom>
          <a:solidFill>
            <a:srgbClr val="F7E7EA"/>
          </a:solidFill>
          <a:ln/>
        </p:spPr>
      </p:sp>
      <p:pic>
        <p:nvPicPr>
          <p:cNvPr id="17" name="Image 3" descr="preencoded.png">    </p:cNvPr>
          <p:cNvPicPr>
            <a:picLocks noChangeAspect="1"/>
          </p:cNvPicPr>
          <p:nvPr/>
        </p:nvPicPr>
        <p:blipFill>
          <a:blip r:embed="rId4"/>
          <a:stretch>
            <a:fillRect/>
          </a:stretch>
        </p:blipFill>
        <p:spPr>
          <a:xfrm>
            <a:off x="1020288" y="4723608"/>
            <a:ext cx="227137" cy="227137"/>
          </a:xfrm>
          <a:prstGeom prst="rect">
            <a:avLst/>
          </a:prstGeom>
        </p:spPr>
      </p:pic>
      <p:sp>
        <p:nvSpPr>
          <p:cNvPr id="18" name="Text 12"/>
          <p:cNvSpPr txBox="1"/>
          <p:nvPr/>
        </p:nvSpPr>
        <p:spPr>
          <a:xfrm>
            <a:off x="1572768" y="4572000"/>
            <a:ext cx="4114800" cy="914400"/>
          </a:xfrm>
          <a:prstGeom prst="rect">
            <a:avLst/>
          </a:prstGeom>
          <a:noFill/>
          <a:ln/>
        </p:spPr>
        <p:txBody>
          <a:bodyPr wrap="square" lIns="0" tIns="0" rIns="0" bIns="0" rtlCol="0" anchor="ctr"/>
          <a:lstStyle/>
          <a:p>
            <a:pPr indent="0" marL="0">
              <a:lnSpc>
                <a:spcPct val="112000"/>
              </a:lnSpc>
              <a:buNone/>
            </a:pPr>
            <a:r>
              <a:rPr lang="en-US" sz="1350" b="1" dirty="0">
                <a:solidFill>
                  <a:srgbClr val="2E2A2B"/>
                </a:solidFill>
                <a:latin typeface="Calibri" pitchFamily="34" charset="0"/>
                <a:ea typeface="Calibri" pitchFamily="34" charset="-122"/>
                <a:cs typeface="Calibri" pitchFamily="34" charset="-120"/>
              </a:rPr>
              <a:t>Fewer muscle-related events </a:t>
            </a:r>
            <a:pPr indent="0" marL="0">
              <a:lnSpc>
                <a:spcPct val="112000"/>
              </a:lnSpc>
              <a:buNone/>
            </a:pPr>
            <a:r>
              <a:rPr lang="en-US" sz="1350" dirty="0">
                <a:solidFill>
                  <a:srgbClr val="2E2A2B"/>
                </a:solidFill>
                <a:latin typeface="Calibri" pitchFamily="34" charset="0"/>
                <a:ea typeface="Calibri" pitchFamily="34" charset="-122"/>
                <a:cs typeface="Calibri" pitchFamily="34" charset="-120"/>
              </a:rPr>
              <a:t>than in the actively titrated statin comparator arm.</a:t>
            </a:r>
            <a:endParaRPr lang="en-US" sz="1350" dirty="0"/>
          </a:p>
        </p:txBody>
      </p:sp>
      <p:sp>
        <p:nvSpPr>
          <p:cNvPr id="19" name="Shape 13"/>
          <p:cNvSpPr/>
          <p:nvPr/>
        </p:nvSpPr>
        <p:spPr>
          <a:xfrm>
            <a:off x="6309360" y="1554480"/>
            <a:ext cx="5312664" cy="4078224"/>
          </a:xfrm>
          <a:prstGeom prst="roundRect">
            <a:avLst>
              <a:gd name="adj" fmla="val 1794"/>
            </a:avLst>
          </a:prstGeom>
          <a:solidFill>
            <a:srgbClr val="ECEEF2"/>
          </a:solidFill>
          <a:ln/>
        </p:spPr>
      </p:sp>
      <p:sp>
        <p:nvSpPr>
          <p:cNvPr id="20" name="Shape 14"/>
          <p:cNvSpPr/>
          <p:nvPr/>
        </p:nvSpPr>
        <p:spPr>
          <a:xfrm>
            <a:off x="6629400" y="1792224"/>
            <a:ext cx="512064" cy="512064"/>
          </a:xfrm>
          <a:prstGeom prst="ellipse">
            <a:avLst/>
          </a:prstGeom>
          <a:solidFill>
            <a:srgbClr val="4E5766"/>
          </a:solidFill>
          <a:ln/>
        </p:spPr>
      </p:sp>
      <p:pic>
        <p:nvPicPr>
          <p:cNvPr id="21" name="Image 4" descr="preencoded.png">    </p:cNvPr>
          <p:cNvPicPr>
            <a:picLocks noChangeAspect="1"/>
          </p:cNvPicPr>
          <p:nvPr/>
        </p:nvPicPr>
        <p:blipFill>
          <a:blip r:embed="rId5"/>
          <a:stretch>
            <a:fillRect/>
          </a:stretch>
        </p:blipFill>
        <p:spPr>
          <a:xfrm>
            <a:off x="6767657" y="1930481"/>
            <a:ext cx="235549" cy="235549"/>
          </a:xfrm>
          <a:prstGeom prst="rect">
            <a:avLst/>
          </a:prstGeom>
        </p:spPr>
      </p:pic>
      <p:sp>
        <p:nvSpPr>
          <p:cNvPr id="22" name="Text 15"/>
          <p:cNvSpPr txBox="1"/>
          <p:nvPr/>
        </p:nvSpPr>
        <p:spPr>
          <a:xfrm>
            <a:off x="7278624" y="1828800"/>
            <a:ext cx="4114800" cy="365760"/>
          </a:xfrm>
          <a:prstGeom prst="rect">
            <a:avLst/>
          </a:prstGeom>
          <a:noFill/>
          <a:ln/>
        </p:spPr>
        <p:txBody>
          <a:bodyPr wrap="square" lIns="0" tIns="0" rIns="0" bIns="0" rtlCol="0" anchor="ctr"/>
          <a:lstStyle/>
          <a:p>
            <a:pPr indent="0" marL="0">
              <a:buNone/>
            </a:pPr>
            <a:r>
              <a:rPr lang="en-US" sz="1900" b="1" dirty="0">
                <a:solidFill>
                  <a:srgbClr val="2B0A12"/>
                </a:solidFill>
                <a:latin typeface="Cambria" pitchFamily="34" charset="0"/>
                <a:ea typeface="Cambria" pitchFamily="34" charset="-122"/>
                <a:cs typeface="Cambria" pitchFamily="34" charset="-120"/>
              </a:rPr>
              <a:t>Limitations to keep in mind</a:t>
            </a:r>
            <a:endParaRPr lang="en-US" sz="1900" dirty="0"/>
          </a:p>
        </p:txBody>
      </p:sp>
      <p:sp>
        <p:nvSpPr>
          <p:cNvPr id="23" name="Shape 16"/>
          <p:cNvSpPr/>
          <p:nvPr/>
        </p:nvSpPr>
        <p:spPr>
          <a:xfrm>
            <a:off x="6629400" y="2432304"/>
            <a:ext cx="493776" cy="493776"/>
          </a:xfrm>
          <a:prstGeom prst="ellipse">
            <a:avLst/>
          </a:prstGeom>
          <a:solidFill>
            <a:srgbClr val="4E5766"/>
          </a:solidFill>
          <a:ln/>
        </p:spPr>
      </p:sp>
      <p:pic>
        <p:nvPicPr>
          <p:cNvPr id="24" name="Image 5" descr="preencoded.png">    </p:cNvPr>
          <p:cNvPicPr>
            <a:picLocks noChangeAspect="1"/>
          </p:cNvPicPr>
          <p:nvPr/>
        </p:nvPicPr>
        <p:blipFill>
          <a:blip r:embed="rId6"/>
          <a:stretch>
            <a:fillRect/>
          </a:stretch>
        </p:blipFill>
        <p:spPr>
          <a:xfrm>
            <a:off x="6762720" y="2565624"/>
            <a:ext cx="227137" cy="227137"/>
          </a:xfrm>
          <a:prstGeom prst="rect">
            <a:avLst/>
          </a:prstGeom>
        </p:spPr>
      </p:pic>
      <p:sp>
        <p:nvSpPr>
          <p:cNvPr id="25" name="Text 17"/>
          <p:cNvSpPr txBox="1"/>
          <p:nvPr/>
        </p:nvSpPr>
        <p:spPr>
          <a:xfrm>
            <a:off x="7315200" y="2414016"/>
            <a:ext cx="3986784" cy="914400"/>
          </a:xfrm>
          <a:prstGeom prst="rect">
            <a:avLst/>
          </a:prstGeom>
          <a:noFill/>
          <a:ln/>
        </p:spPr>
        <p:txBody>
          <a:bodyPr wrap="square" lIns="0" tIns="0" rIns="0" bIns="0" rtlCol="0" anchor="ctr"/>
          <a:lstStyle/>
          <a:p>
            <a:pPr indent="0" marL="0">
              <a:lnSpc>
                <a:spcPct val="112000"/>
              </a:lnSpc>
              <a:buNone/>
            </a:pPr>
            <a:r>
              <a:rPr lang="en-US" sz="1350" b="1" dirty="0">
                <a:solidFill>
                  <a:srgbClr val="2E2A2B"/>
                </a:solidFill>
                <a:latin typeface="Calibri" pitchFamily="34" charset="0"/>
                <a:ea typeface="Calibri" pitchFamily="34" charset="-122"/>
                <a:cs typeface="Calibri" pitchFamily="34" charset="-120"/>
              </a:rPr>
              <a:t>A surrogate endpoint. </a:t>
            </a:r>
            <a:pPr indent="0" marL="0">
              <a:lnSpc>
                <a:spcPct val="112000"/>
              </a:lnSpc>
              <a:buNone/>
            </a:pPr>
            <a:r>
              <a:rPr lang="en-US" sz="1350" dirty="0">
                <a:solidFill>
                  <a:srgbClr val="2E2A2B"/>
                </a:solidFill>
                <a:latin typeface="Calibri" pitchFamily="34" charset="0"/>
                <a:ea typeface="Calibri" pitchFamily="34" charset="-122"/>
                <a:cs typeface="Calibri" pitchFamily="34" charset="-120"/>
              </a:rPr>
              <a:t>Goal attainment is not a cardiovascular outcome; hard event data await VICTORION-2-PREVENT.</a:t>
            </a:r>
            <a:endParaRPr lang="en-US" sz="1350" dirty="0"/>
          </a:p>
        </p:txBody>
      </p:sp>
      <p:sp>
        <p:nvSpPr>
          <p:cNvPr id="26" name="Shape 18"/>
          <p:cNvSpPr/>
          <p:nvPr/>
        </p:nvSpPr>
        <p:spPr>
          <a:xfrm>
            <a:off x="6629400" y="3511296"/>
            <a:ext cx="493776" cy="493776"/>
          </a:xfrm>
          <a:prstGeom prst="ellipse">
            <a:avLst/>
          </a:prstGeom>
          <a:solidFill>
            <a:srgbClr val="4E5766"/>
          </a:solidFill>
          <a:ln/>
        </p:spPr>
      </p:sp>
      <p:pic>
        <p:nvPicPr>
          <p:cNvPr id="27" name="Image 6" descr="preencoded.png">    </p:cNvPr>
          <p:cNvPicPr>
            <a:picLocks noChangeAspect="1"/>
          </p:cNvPicPr>
          <p:nvPr/>
        </p:nvPicPr>
        <p:blipFill>
          <a:blip r:embed="rId7"/>
          <a:stretch>
            <a:fillRect/>
          </a:stretch>
        </p:blipFill>
        <p:spPr>
          <a:xfrm>
            <a:off x="6762720" y="3644616"/>
            <a:ext cx="227137" cy="227137"/>
          </a:xfrm>
          <a:prstGeom prst="rect">
            <a:avLst/>
          </a:prstGeom>
        </p:spPr>
      </p:pic>
      <p:sp>
        <p:nvSpPr>
          <p:cNvPr id="28" name="Text 19"/>
          <p:cNvSpPr txBox="1"/>
          <p:nvPr/>
        </p:nvSpPr>
        <p:spPr>
          <a:xfrm>
            <a:off x="7315200" y="3493008"/>
            <a:ext cx="3986784" cy="914400"/>
          </a:xfrm>
          <a:prstGeom prst="rect">
            <a:avLst/>
          </a:prstGeom>
          <a:noFill/>
          <a:ln/>
        </p:spPr>
        <p:txBody>
          <a:bodyPr wrap="square" lIns="0" tIns="0" rIns="0" bIns="0" rtlCol="0" anchor="ctr"/>
          <a:lstStyle/>
          <a:p>
            <a:pPr indent="0" marL="0">
              <a:lnSpc>
                <a:spcPct val="112000"/>
              </a:lnSpc>
              <a:buNone/>
            </a:pPr>
            <a:r>
              <a:rPr lang="en-US" sz="1350" b="1" dirty="0">
                <a:solidFill>
                  <a:srgbClr val="2E2A2B"/>
                </a:solidFill>
                <a:latin typeface="Calibri" pitchFamily="34" charset="0"/>
                <a:ea typeface="Calibri" pitchFamily="34" charset="-122"/>
                <a:cs typeface="Calibri" pitchFamily="34" charset="-120"/>
              </a:rPr>
              <a:t>Short follow-up. </a:t>
            </a:r>
            <a:pPr indent="0" marL="0">
              <a:lnSpc>
                <a:spcPct val="112000"/>
              </a:lnSpc>
              <a:buNone/>
            </a:pPr>
            <a:r>
              <a:rPr lang="en-US" sz="1350" dirty="0">
                <a:solidFill>
                  <a:srgbClr val="2E2A2B"/>
                </a:solidFill>
                <a:latin typeface="Calibri" pitchFamily="34" charset="0"/>
                <a:ea typeface="Calibri" pitchFamily="34" charset="-122"/>
                <a:cs typeface="Calibri" pitchFamily="34" charset="-120"/>
              </a:rPr>
              <a:t>360 days is brief against the lifetime LDL exposure that actually drives atherosclerosis.</a:t>
            </a:r>
            <a:endParaRPr lang="en-US" sz="1350" dirty="0"/>
          </a:p>
        </p:txBody>
      </p:sp>
      <p:sp>
        <p:nvSpPr>
          <p:cNvPr id="29" name="Shape 20"/>
          <p:cNvSpPr/>
          <p:nvPr/>
        </p:nvSpPr>
        <p:spPr>
          <a:xfrm>
            <a:off x="6629400" y="4590288"/>
            <a:ext cx="493776" cy="493776"/>
          </a:xfrm>
          <a:prstGeom prst="ellipse">
            <a:avLst/>
          </a:prstGeom>
          <a:solidFill>
            <a:srgbClr val="4E5766"/>
          </a:solidFill>
          <a:ln/>
        </p:spPr>
      </p:sp>
      <p:pic>
        <p:nvPicPr>
          <p:cNvPr id="30" name="Image 7" descr="preencoded.png">    </p:cNvPr>
          <p:cNvPicPr>
            <a:picLocks noChangeAspect="1"/>
          </p:cNvPicPr>
          <p:nvPr/>
        </p:nvPicPr>
        <p:blipFill>
          <a:blip r:embed="rId8"/>
          <a:stretch>
            <a:fillRect/>
          </a:stretch>
        </p:blipFill>
        <p:spPr>
          <a:xfrm>
            <a:off x="6762720" y="4723608"/>
            <a:ext cx="227137" cy="227137"/>
          </a:xfrm>
          <a:prstGeom prst="rect">
            <a:avLst/>
          </a:prstGeom>
        </p:spPr>
      </p:pic>
      <p:sp>
        <p:nvSpPr>
          <p:cNvPr id="31" name="Text 21"/>
          <p:cNvSpPr txBox="1"/>
          <p:nvPr/>
        </p:nvSpPr>
        <p:spPr>
          <a:xfrm>
            <a:off x="7315200" y="4572000"/>
            <a:ext cx="3986784" cy="914400"/>
          </a:xfrm>
          <a:prstGeom prst="rect">
            <a:avLst/>
          </a:prstGeom>
          <a:noFill/>
          <a:ln/>
        </p:spPr>
        <p:txBody>
          <a:bodyPr wrap="square" lIns="0" tIns="0" rIns="0" bIns="0" rtlCol="0" anchor="ctr"/>
          <a:lstStyle/>
          <a:p>
            <a:pPr indent="0" marL="0">
              <a:lnSpc>
                <a:spcPct val="112000"/>
              </a:lnSpc>
              <a:buNone/>
            </a:pPr>
            <a:r>
              <a:rPr lang="en-US" sz="1350" b="1" dirty="0">
                <a:solidFill>
                  <a:srgbClr val="2E2A2B"/>
                </a:solidFill>
                <a:latin typeface="Calibri" pitchFamily="34" charset="0"/>
                <a:ea typeface="Calibri" pitchFamily="34" charset="-122"/>
                <a:cs typeface="Calibri" pitchFamily="34" charset="-120"/>
              </a:rPr>
              <a:t>European centres only. </a:t>
            </a:r>
            <a:pPr indent="0" marL="0">
              <a:lnSpc>
                <a:spcPct val="112000"/>
              </a:lnSpc>
              <a:buNone/>
            </a:pPr>
            <a:r>
              <a:rPr lang="en-US" sz="1350" dirty="0">
                <a:solidFill>
                  <a:srgbClr val="2E2A2B"/>
                </a:solidFill>
                <a:latin typeface="Calibri" pitchFamily="34" charset="0"/>
                <a:ea typeface="Calibri" pitchFamily="34" charset="-122"/>
                <a:cs typeface="Calibri" pitchFamily="34" charset="-120"/>
              </a:rPr>
              <a:t>Applicability to South Asian patients, and cost in our setting, still need local answers.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6F5"/>
        </a:solidFill>
      </p:bgPr>
    </p:bg>
    <p:spTree>
      <p:nvGrpSpPr>
        <p:cNvPr id="1" name=""/>
        <p:cNvGrpSpPr/>
        <p:nvPr/>
      </p:nvGrpSpPr>
      <p:grpSpPr>
        <a:xfrm>
          <a:off x="0" y="0"/>
          <a:ext cx="0" cy="0"/>
          <a:chOff x="0" y="0"/>
          <a:chExt cx="0" cy="0"/>
        </a:xfrm>
      </p:grpSpPr>
      <p:sp>
        <p:nvSpPr>
          <p:cNvPr id="2" name="Text 0"/>
          <p:cNvSpPr txBox="1"/>
          <p:nvPr/>
        </p:nvSpPr>
        <p:spPr>
          <a:xfrm>
            <a:off x="566928" y="402336"/>
            <a:ext cx="10515600" cy="237744"/>
          </a:xfrm>
          <a:prstGeom prst="rect">
            <a:avLst/>
          </a:prstGeom>
          <a:noFill/>
          <a:ln/>
        </p:spPr>
        <p:txBody>
          <a:bodyPr wrap="square" lIns="0" tIns="0" rIns="0" bIns="0" rtlCol="0" anchor="ctr"/>
          <a:lstStyle/>
          <a:p>
            <a:pPr indent="0" marL="0">
              <a:buNone/>
            </a:pPr>
            <a:r>
              <a:rPr lang="en-US" sz="1100" b="1" spc="220" kern="0" dirty="0">
                <a:solidFill>
                  <a:srgbClr val="A1122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566928" y="658368"/>
            <a:ext cx="11055096" cy="603504"/>
          </a:xfrm>
          <a:prstGeom prst="rect">
            <a:avLst/>
          </a:prstGeom>
          <a:noFill/>
          <a:ln/>
        </p:spPr>
        <p:txBody>
          <a:bodyPr wrap="square" lIns="0" tIns="0" rIns="0" bIns="0" rtlCol="0" anchor="ctr"/>
          <a:lstStyle/>
          <a:p>
            <a:pPr indent="0" marL="0">
              <a:buNone/>
            </a:pPr>
            <a:r>
              <a:rPr lang="en-US" sz="3200" b="1" dirty="0">
                <a:solidFill>
                  <a:srgbClr val="2B0A12"/>
                </a:solidFill>
                <a:latin typeface="Cambria" pitchFamily="34" charset="0"/>
                <a:ea typeface="Cambria" pitchFamily="34" charset="-122"/>
                <a:cs typeface="Cambria" pitchFamily="34" charset="-120"/>
              </a:rPr>
              <a:t>Take-Home Messages</a:t>
            </a:r>
            <a:endParaRPr lang="en-US" sz="3200" dirty="0"/>
          </a:p>
        </p:txBody>
      </p:sp>
      <p:sp>
        <p:nvSpPr>
          <p:cNvPr id="4" name="Text 2"/>
          <p:cNvSpPr txBox="1"/>
          <p:nvPr/>
        </p:nvSpPr>
        <p:spPr>
          <a:xfrm>
            <a:off x="566928" y="6291072"/>
            <a:ext cx="7772400" cy="237744"/>
          </a:xfrm>
          <a:prstGeom prst="rect">
            <a:avLst/>
          </a:prstGeom>
          <a:noFill/>
          <a:ln/>
        </p:spPr>
        <p:txBody>
          <a:bodyPr wrap="square" lIns="0" tIns="0" rIns="0" bIns="0" rtlCol="0" anchor="ctr"/>
          <a:lstStyle/>
          <a:p>
            <a:pPr indent="0" marL="0">
              <a:buNone/>
            </a:pPr>
            <a:r>
              <a:rPr lang="en-US" sz="950" dirty="0">
                <a:solidFill>
                  <a:srgbClr val="756B6D"/>
                </a:solidFill>
                <a:latin typeface="Calibri" pitchFamily="34" charset="0"/>
                <a:ea typeface="Calibri" pitchFamily="34" charset="-122"/>
                <a:cs typeface="Calibri" pitchFamily="34" charset="-120"/>
              </a:rPr>
              <a:t>VICTORION-Difference  ·  ESC Congress 2025  ·  European Heart Journal</a:t>
            </a:r>
            <a:endParaRPr lang="en-US" sz="950" dirty="0"/>
          </a:p>
        </p:txBody>
      </p:sp>
      <p:sp>
        <p:nvSpPr>
          <p:cNvPr id="5" name="Text 3"/>
          <p:cNvSpPr txBox="1"/>
          <p:nvPr/>
        </p:nvSpPr>
        <p:spPr>
          <a:xfrm>
            <a:off x="10972800" y="6291072"/>
            <a:ext cx="649224" cy="237744"/>
          </a:xfrm>
          <a:prstGeom prst="rect">
            <a:avLst/>
          </a:prstGeom>
          <a:noFill/>
          <a:ln/>
        </p:spPr>
        <p:txBody>
          <a:bodyPr wrap="square" lIns="0" tIns="0" rIns="0" bIns="0" rtlCol="0" anchor="ctr"/>
          <a:lstStyle/>
          <a:p>
            <a:pPr algn="r" indent="0" marL="0">
              <a:buNone/>
            </a:pPr>
            <a:r>
              <a:rPr lang="en-US" sz="950" dirty="0">
                <a:solidFill>
                  <a:srgbClr val="756B6D"/>
                </a:solidFill>
                <a:latin typeface="Calibri" pitchFamily="34" charset="0"/>
                <a:ea typeface="Calibri" pitchFamily="34" charset="-122"/>
                <a:cs typeface="Calibri" pitchFamily="34" charset="-120"/>
              </a:rPr>
              <a:t>14</a:t>
            </a:r>
            <a:endParaRPr lang="en-US" sz="950" dirty="0"/>
          </a:p>
        </p:txBody>
      </p:sp>
      <p:sp>
        <p:nvSpPr>
          <p:cNvPr id="6" name="Shape 4"/>
          <p:cNvSpPr/>
          <p:nvPr/>
        </p:nvSpPr>
        <p:spPr>
          <a:xfrm>
            <a:off x="566928" y="1572768"/>
            <a:ext cx="11055096" cy="859536"/>
          </a:xfrm>
          <a:prstGeom prst="roundRect">
            <a:avLst>
              <a:gd name="adj" fmla="val 8511"/>
            </a:avLst>
          </a:prstGeom>
          <a:solidFill>
            <a:srgbClr val="FFFFFF"/>
          </a:solidFill>
          <a:ln/>
          <a:effectLst>
            <a:outerShdw sx="100000" sy="100000" kx="0" ky="0" algn="bl" rotWithShape="0" blurRad="127000" dist="25400" dir="5400000">
              <a:srgbClr val="3A2226">
                <a:alpha val="13000"/>
              </a:srgbClr>
            </a:outerShdw>
          </a:effectLst>
        </p:spPr>
      </p:sp>
      <p:sp>
        <p:nvSpPr>
          <p:cNvPr id="7" name="Shape 5"/>
          <p:cNvSpPr/>
          <p:nvPr/>
        </p:nvSpPr>
        <p:spPr>
          <a:xfrm>
            <a:off x="822960" y="1728216"/>
            <a:ext cx="548640" cy="548640"/>
          </a:xfrm>
          <a:prstGeom prst="ellipse">
            <a:avLst/>
          </a:prstGeom>
          <a:solidFill>
            <a:srgbClr val="A11226"/>
          </a:solidFill>
          <a:ln/>
        </p:spPr>
      </p:sp>
      <p:sp>
        <p:nvSpPr>
          <p:cNvPr id="8" name="Text 6"/>
          <p:cNvSpPr txBox="1"/>
          <p:nvPr/>
        </p:nvSpPr>
        <p:spPr>
          <a:xfrm>
            <a:off x="822960" y="1728216"/>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txBox="1"/>
          <p:nvPr/>
        </p:nvSpPr>
        <p:spPr>
          <a:xfrm>
            <a:off x="1554480" y="1682496"/>
            <a:ext cx="9784080" cy="292608"/>
          </a:xfrm>
          <a:prstGeom prst="rect">
            <a:avLst/>
          </a:prstGeom>
          <a:noFill/>
          <a:ln/>
        </p:spPr>
        <p:txBody>
          <a:bodyPr wrap="square" lIns="0" tIns="0" rIns="0" bIns="0" rtlCol="0" anchor="ctr"/>
          <a:lstStyle/>
          <a:p>
            <a:pPr indent="0" marL="0">
              <a:buNone/>
            </a:pPr>
            <a:r>
              <a:rPr lang="en-US" sz="1500" b="1" dirty="0">
                <a:solidFill>
                  <a:srgbClr val="2B0A12"/>
                </a:solidFill>
                <a:latin typeface="Calibri" pitchFamily="34" charset="0"/>
                <a:ea typeface="Calibri" pitchFamily="34" charset="-122"/>
                <a:cs typeface="Calibri" pitchFamily="34" charset="-120"/>
              </a:rPr>
              <a:t>A strategy, not just a molecule.</a:t>
            </a:r>
            <a:endParaRPr lang="en-US" sz="1500" dirty="0"/>
          </a:p>
        </p:txBody>
      </p:sp>
      <p:sp>
        <p:nvSpPr>
          <p:cNvPr id="10" name="Text 8"/>
          <p:cNvSpPr txBox="1"/>
          <p:nvPr/>
        </p:nvSpPr>
        <p:spPr>
          <a:xfrm>
            <a:off x="1554480" y="1993392"/>
            <a:ext cx="9784080" cy="329184"/>
          </a:xfrm>
          <a:prstGeom prst="rect">
            <a:avLst/>
          </a:prstGeom>
          <a:noFill/>
          <a:ln/>
        </p:spPr>
        <p:txBody>
          <a:bodyPr wrap="square" lIns="0" tIns="0" rIns="0" bIns="0" rtlCol="0" anchor="ctr"/>
          <a:lstStyle/>
          <a:p>
            <a:pPr indent="0" marL="0">
              <a:buNone/>
            </a:pPr>
            <a:r>
              <a:rPr lang="en-US" sz="1250" dirty="0">
                <a:solidFill>
                  <a:srgbClr val="2E2A2B"/>
                </a:solidFill>
                <a:latin typeface="Calibri" pitchFamily="34" charset="0"/>
                <a:ea typeface="Calibri" pitchFamily="34" charset="-122"/>
                <a:cs typeface="Calibri" pitchFamily="34" charset="-120"/>
              </a:rPr>
              <a:t>Against an actively optimised statin comparator, 84.9% reached their own risk-based LDL-C goal at Day 90 versus 31.0%.</a:t>
            </a:r>
            <a:endParaRPr lang="en-US" sz="1250" dirty="0"/>
          </a:p>
        </p:txBody>
      </p:sp>
      <p:sp>
        <p:nvSpPr>
          <p:cNvPr id="11" name="Shape 9"/>
          <p:cNvSpPr/>
          <p:nvPr/>
        </p:nvSpPr>
        <p:spPr>
          <a:xfrm>
            <a:off x="566928" y="2487168"/>
            <a:ext cx="11055096" cy="859536"/>
          </a:xfrm>
          <a:prstGeom prst="roundRect">
            <a:avLst>
              <a:gd name="adj" fmla="val 8511"/>
            </a:avLst>
          </a:prstGeom>
          <a:solidFill>
            <a:srgbClr val="FFFFFF"/>
          </a:solidFill>
          <a:ln/>
          <a:effectLst>
            <a:outerShdw sx="100000" sy="100000" kx="0" ky="0" algn="bl" rotWithShape="0" blurRad="127000" dist="25400" dir="5400000">
              <a:srgbClr val="3A2226">
                <a:alpha val="13000"/>
              </a:srgbClr>
            </a:outerShdw>
          </a:effectLst>
        </p:spPr>
      </p:sp>
      <p:sp>
        <p:nvSpPr>
          <p:cNvPr id="12" name="Shape 10"/>
          <p:cNvSpPr/>
          <p:nvPr/>
        </p:nvSpPr>
        <p:spPr>
          <a:xfrm>
            <a:off x="822960" y="2642616"/>
            <a:ext cx="548640" cy="548640"/>
          </a:xfrm>
          <a:prstGeom prst="ellipse">
            <a:avLst/>
          </a:prstGeom>
          <a:solidFill>
            <a:srgbClr val="A11226"/>
          </a:solidFill>
          <a:ln/>
        </p:spPr>
      </p:sp>
      <p:sp>
        <p:nvSpPr>
          <p:cNvPr id="13" name="Text 11"/>
          <p:cNvSpPr txBox="1"/>
          <p:nvPr/>
        </p:nvSpPr>
        <p:spPr>
          <a:xfrm>
            <a:off x="822960" y="2642616"/>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2"/>
          <p:cNvSpPr txBox="1"/>
          <p:nvPr/>
        </p:nvSpPr>
        <p:spPr>
          <a:xfrm>
            <a:off x="1554480" y="2596896"/>
            <a:ext cx="9784080" cy="292608"/>
          </a:xfrm>
          <a:prstGeom prst="rect">
            <a:avLst/>
          </a:prstGeom>
          <a:noFill/>
          <a:ln/>
        </p:spPr>
        <p:txBody>
          <a:bodyPr wrap="square" lIns="0" tIns="0" rIns="0" bIns="0" rtlCol="0" anchor="ctr"/>
          <a:lstStyle/>
          <a:p>
            <a:pPr indent="0" marL="0">
              <a:buNone/>
            </a:pPr>
            <a:r>
              <a:rPr lang="en-US" sz="1500" b="1" dirty="0">
                <a:solidFill>
                  <a:srgbClr val="2B0A12"/>
                </a:solidFill>
                <a:latin typeface="Calibri" pitchFamily="34" charset="0"/>
                <a:ea typeface="Calibri" pitchFamily="34" charset="-122"/>
                <a:cs typeface="Calibri" pitchFamily="34" charset="-120"/>
              </a:rPr>
              <a:t>Depth and durability together.</a:t>
            </a:r>
            <a:endParaRPr lang="en-US" sz="1500" dirty="0"/>
          </a:p>
        </p:txBody>
      </p:sp>
      <p:sp>
        <p:nvSpPr>
          <p:cNvPr id="15" name="Text 13"/>
          <p:cNvSpPr txBox="1"/>
          <p:nvPr/>
        </p:nvSpPr>
        <p:spPr>
          <a:xfrm>
            <a:off x="1554480" y="2907792"/>
            <a:ext cx="9784080" cy="329184"/>
          </a:xfrm>
          <a:prstGeom prst="rect">
            <a:avLst/>
          </a:prstGeom>
          <a:noFill/>
          <a:ln/>
        </p:spPr>
        <p:txBody>
          <a:bodyPr wrap="square" lIns="0" tIns="0" rIns="0" bIns="0" rtlCol="0" anchor="ctr"/>
          <a:lstStyle/>
          <a:p>
            <a:pPr indent="0" marL="0">
              <a:buNone/>
            </a:pPr>
            <a:r>
              <a:rPr lang="en-US" sz="1250" dirty="0">
                <a:solidFill>
                  <a:srgbClr val="2E2A2B"/>
                </a:solidFill>
                <a:latin typeface="Calibri" pitchFamily="34" charset="0"/>
                <a:ea typeface="Calibri" pitchFamily="34" charset="-122"/>
                <a:cs typeface="Calibri" pitchFamily="34" charset="-120"/>
              </a:rPr>
              <a:t>A time-averaged 59.45% LDL-C reduction sustained across 360 days, on twice-yearly dosing after loading.</a:t>
            </a:r>
            <a:endParaRPr lang="en-US" sz="1250" dirty="0"/>
          </a:p>
        </p:txBody>
      </p:sp>
      <p:sp>
        <p:nvSpPr>
          <p:cNvPr id="16" name="Shape 14"/>
          <p:cNvSpPr/>
          <p:nvPr/>
        </p:nvSpPr>
        <p:spPr>
          <a:xfrm>
            <a:off x="566928" y="3401568"/>
            <a:ext cx="11055096" cy="859536"/>
          </a:xfrm>
          <a:prstGeom prst="roundRect">
            <a:avLst>
              <a:gd name="adj" fmla="val 8511"/>
            </a:avLst>
          </a:prstGeom>
          <a:solidFill>
            <a:srgbClr val="FFFFFF"/>
          </a:solidFill>
          <a:ln/>
          <a:effectLst>
            <a:outerShdw sx="100000" sy="100000" kx="0" ky="0" algn="bl" rotWithShape="0" blurRad="127000" dist="25400" dir="5400000">
              <a:srgbClr val="3A2226">
                <a:alpha val="13000"/>
              </a:srgbClr>
            </a:outerShdw>
          </a:effectLst>
        </p:spPr>
      </p:sp>
      <p:sp>
        <p:nvSpPr>
          <p:cNvPr id="17" name="Shape 15"/>
          <p:cNvSpPr/>
          <p:nvPr/>
        </p:nvSpPr>
        <p:spPr>
          <a:xfrm>
            <a:off x="822960" y="3557016"/>
            <a:ext cx="548640" cy="548640"/>
          </a:xfrm>
          <a:prstGeom prst="ellipse">
            <a:avLst/>
          </a:prstGeom>
          <a:solidFill>
            <a:srgbClr val="A11226"/>
          </a:solidFill>
          <a:ln/>
        </p:spPr>
      </p:sp>
      <p:sp>
        <p:nvSpPr>
          <p:cNvPr id="18" name="Text 16"/>
          <p:cNvSpPr txBox="1"/>
          <p:nvPr/>
        </p:nvSpPr>
        <p:spPr>
          <a:xfrm>
            <a:off x="822960" y="3557016"/>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txBox="1"/>
          <p:nvPr/>
        </p:nvSpPr>
        <p:spPr>
          <a:xfrm>
            <a:off x="1554480" y="3511296"/>
            <a:ext cx="9784080" cy="292608"/>
          </a:xfrm>
          <a:prstGeom prst="rect">
            <a:avLst/>
          </a:prstGeom>
          <a:noFill/>
          <a:ln/>
        </p:spPr>
        <p:txBody>
          <a:bodyPr wrap="square" lIns="0" tIns="0" rIns="0" bIns="0" rtlCol="0" anchor="ctr"/>
          <a:lstStyle/>
          <a:p>
            <a:pPr indent="0" marL="0">
              <a:buNone/>
            </a:pPr>
            <a:r>
              <a:rPr lang="en-US" sz="1500" b="1" dirty="0">
                <a:solidFill>
                  <a:srgbClr val="2B0A12"/>
                </a:solidFill>
                <a:latin typeface="Calibri" pitchFamily="34" charset="0"/>
                <a:ea typeface="Calibri" pitchFamily="34" charset="-122"/>
                <a:cs typeface="Calibri" pitchFamily="34" charset="-120"/>
              </a:rPr>
              <a:t>Fewer muscle symptoms, not more.</a:t>
            </a:r>
            <a:endParaRPr lang="en-US" sz="1500" dirty="0"/>
          </a:p>
        </p:txBody>
      </p:sp>
      <p:sp>
        <p:nvSpPr>
          <p:cNvPr id="20" name="Text 18"/>
          <p:cNvSpPr txBox="1"/>
          <p:nvPr/>
        </p:nvSpPr>
        <p:spPr>
          <a:xfrm>
            <a:off x="1554480" y="3822192"/>
            <a:ext cx="9784080" cy="329184"/>
          </a:xfrm>
          <a:prstGeom prst="rect">
            <a:avLst/>
          </a:prstGeom>
          <a:noFill/>
          <a:ln/>
        </p:spPr>
        <p:txBody>
          <a:bodyPr wrap="square" lIns="0" tIns="0" rIns="0" bIns="0" rtlCol="0" anchor="ctr"/>
          <a:lstStyle/>
          <a:p>
            <a:pPr indent="0" marL="0">
              <a:buNone/>
            </a:pPr>
            <a:r>
              <a:rPr lang="en-US" sz="1250" dirty="0">
                <a:solidFill>
                  <a:srgbClr val="2E2A2B"/>
                </a:solidFill>
                <a:latin typeface="Calibri" pitchFamily="34" charset="0"/>
                <a:ea typeface="Calibri" pitchFamily="34" charset="-122"/>
                <a:cs typeface="Calibri" pitchFamily="34" charset="-120"/>
              </a:rPr>
              <a:t>11.9% versus 19.2% had at least one muscle-related adverse event; pain scores also favoured inclisiran.</a:t>
            </a:r>
            <a:endParaRPr lang="en-US" sz="1250" dirty="0"/>
          </a:p>
        </p:txBody>
      </p:sp>
      <p:sp>
        <p:nvSpPr>
          <p:cNvPr id="21" name="Shape 19"/>
          <p:cNvSpPr/>
          <p:nvPr/>
        </p:nvSpPr>
        <p:spPr>
          <a:xfrm>
            <a:off x="566928" y="4315968"/>
            <a:ext cx="11055096" cy="859536"/>
          </a:xfrm>
          <a:prstGeom prst="roundRect">
            <a:avLst>
              <a:gd name="adj" fmla="val 8511"/>
            </a:avLst>
          </a:prstGeom>
          <a:solidFill>
            <a:srgbClr val="FFFFFF"/>
          </a:solidFill>
          <a:ln/>
          <a:effectLst>
            <a:outerShdw sx="100000" sy="100000" kx="0" ky="0" algn="bl" rotWithShape="0" blurRad="127000" dist="25400" dir="5400000">
              <a:srgbClr val="3A2226">
                <a:alpha val="13000"/>
              </a:srgbClr>
            </a:outerShdw>
          </a:effectLst>
        </p:spPr>
      </p:sp>
      <p:sp>
        <p:nvSpPr>
          <p:cNvPr id="22" name="Shape 20"/>
          <p:cNvSpPr/>
          <p:nvPr/>
        </p:nvSpPr>
        <p:spPr>
          <a:xfrm>
            <a:off x="822960" y="4471416"/>
            <a:ext cx="548640" cy="548640"/>
          </a:xfrm>
          <a:prstGeom prst="ellipse">
            <a:avLst/>
          </a:prstGeom>
          <a:solidFill>
            <a:srgbClr val="A11226"/>
          </a:solidFill>
          <a:ln/>
        </p:spPr>
      </p:sp>
      <p:sp>
        <p:nvSpPr>
          <p:cNvPr id="23" name="Text 21"/>
          <p:cNvSpPr txBox="1"/>
          <p:nvPr/>
        </p:nvSpPr>
        <p:spPr>
          <a:xfrm>
            <a:off x="822960" y="4471416"/>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4" name="Text 22"/>
          <p:cNvSpPr txBox="1"/>
          <p:nvPr/>
        </p:nvSpPr>
        <p:spPr>
          <a:xfrm>
            <a:off x="1554480" y="4425696"/>
            <a:ext cx="9784080" cy="292608"/>
          </a:xfrm>
          <a:prstGeom prst="rect">
            <a:avLst/>
          </a:prstGeom>
          <a:noFill/>
          <a:ln/>
        </p:spPr>
        <p:txBody>
          <a:bodyPr wrap="square" lIns="0" tIns="0" rIns="0" bIns="0" rtlCol="0" anchor="ctr"/>
          <a:lstStyle/>
          <a:p>
            <a:pPr indent="0" marL="0">
              <a:buNone/>
            </a:pPr>
            <a:r>
              <a:rPr lang="en-US" sz="1500" b="1" dirty="0">
                <a:solidFill>
                  <a:srgbClr val="2B0A12"/>
                </a:solidFill>
                <a:latin typeface="Calibri" pitchFamily="34" charset="0"/>
                <a:ea typeface="Calibri" pitchFamily="34" charset="-122"/>
                <a:cs typeface="Calibri" pitchFamily="34" charset="-120"/>
              </a:rPr>
              <a:t>Outcome evidence is still pending.</a:t>
            </a:r>
            <a:endParaRPr lang="en-US" sz="1500" dirty="0"/>
          </a:p>
        </p:txBody>
      </p:sp>
      <p:sp>
        <p:nvSpPr>
          <p:cNvPr id="25" name="Text 23"/>
          <p:cNvSpPr txBox="1"/>
          <p:nvPr/>
        </p:nvSpPr>
        <p:spPr>
          <a:xfrm>
            <a:off x="1554480" y="4736592"/>
            <a:ext cx="9784080" cy="329184"/>
          </a:xfrm>
          <a:prstGeom prst="rect">
            <a:avLst/>
          </a:prstGeom>
          <a:noFill/>
          <a:ln/>
        </p:spPr>
        <p:txBody>
          <a:bodyPr wrap="square" lIns="0" tIns="0" rIns="0" bIns="0" rtlCol="0" anchor="ctr"/>
          <a:lstStyle/>
          <a:p>
            <a:pPr indent="0" marL="0">
              <a:buNone/>
            </a:pPr>
            <a:r>
              <a:rPr lang="en-US" sz="1250" dirty="0">
                <a:solidFill>
                  <a:srgbClr val="2E2A2B"/>
                </a:solidFill>
                <a:latin typeface="Calibri" pitchFamily="34" charset="0"/>
                <a:ea typeface="Calibri" pitchFamily="34" charset="-122"/>
                <a:cs typeface="Calibri" pitchFamily="34" charset="-120"/>
              </a:rPr>
              <a:t>Goal attainment is a surrogate; cardiovascular event data from VICTORION-2-PREVENT are still awaited.</a:t>
            </a:r>
            <a:endParaRPr lang="en-US" sz="1250" dirty="0"/>
          </a:p>
        </p:txBody>
      </p:sp>
      <p:sp>
        <p:nvSpPr>
          <p:cNvPr id="26" name="Shape 24"/>
          <p:cNvSpPr/>
          <p:nvPr/>
        </p:nvSpPr>
        <p:spPr>
          <a:xfrm>
            <a:off x="566928" y="5413248"/>
            <a:ext cx="11055096" cy="530352"/>
          </a:xfrm>
          <a:prstGeom prst="roundRect">
            <a:avLst>
              <a:gd name="adj" fmla="val 13793"/>
            </a:avLst>
          </a:prstGeom>
          <a:solidFill>
            <a:srgbClr val="2B0A12"/>
          </a:solidFill>
          <a:ln/>
        </p:spPr>
      </p:sp>
      <p:sp>
        <p:nvSpPr>
          <p:cNvPr id="27" name="Shape 25"/>
          <p:cNvSpPr/>
          <p:nvPr/>
        </p:nvSpPr>
        <p:spPr>
          <a:xfrm>
            <a:off x="822960" y="5513832"/>
            <a:ext cx="347472" cy="347472"/>
          </a:xfrm>
          <a:prstGeom prst="ellipse">
            <a:avLst/>
          </a:prstGeom>
          <a:solidFill>
            <a:srgbClr val="A11226"/>
          </a:solidFill>
          <a:ln/>
        </p:spPr>
      </p:sp>
      <p:pic>
        <p:nvPicPr>
          <p:cNvPr id="28" name="Image 0" descr="preencoded.png">    </p:cNvPr>
          <p:cNvPicPr>
            <a:picLocks noChangeAspect="1"/>
          </p:cNvPicPr>
          <p:nvPr/>
        </p:nvPicPr>
        <p:blipFill>
          <a:blip r:embed="rId1"/>
          <a:stretch>
            <a:fillRect/>
          </a:stretch>
        </p:blipFill>
        <p:spPr>
          <a:xfrm>
            <a:off x="916777" y="5607649"/>
            <a:ext cx="159837" cy="159837"/>
          </a:xfrm>
          <a:prstGeom prst="rect">
            <a:avLst/>
          </a:prstGeom>
        </p:spPr>
      </p:pic>
      <p:sp>
        <p:nvSpPr>
          <p:cNvPr id="29" name="Text 26"/>
          <p:cNvSpPr txBox="1"/>
          <p:nvPr/>
        </p:nvSpPr>
        <p:spPr>
          <a:xfrm>
            <a:off x="1389888" y="5413248"/>
            <a:ext cx="9966960" cy="53035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For a busy cardiology service, the appeal is a lipid strategy that survives the gap between clinic visits.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B0A1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0000"/>
          </a:blip>
          <a:stretch>
            <a:fillRect/>
          </a:stretch>
        </p:blipFill>
        <p:spPr>
          <a:xfrm>
            <a:off x="365760" y="1051560"/>
            <a:ext cx="2743200" cy="2743200"/>
          </a:xfrm>
          <a:prstGeom prst="rect">
            <a:avLst/>
          </a:prstGeom>
        </p:spPr>
      </p:pic>
      <p:pic>
        <p:nvPicPr>
          <p:cNvPr id="3" name="Image 1" descr="preencoded.png">    </p:cNvPr>
          <p:cNvPicPr>
            <a:picLocks noChangeAspect="1"/>
          </p:cNvPicPr>
          <p:nvPr/>
        </p:nvPicPr>
        <p:blipFill>
          <a:blip r:embed="rId2">
            <a:alphaModFix amt="10000"/>
          </a:blip>
          <a:stretch>
            <a:fillRect/>
          </a:stretch>
        </p:blipFill>
        <p:spPr>
          <a:xfrm>
            <a:off x="9098280" y="3154680"/>
            <a:ext cx="2743200" cy="2743200"/>
          </a:xfrm>
          <a:prstGeom prst="rect">
            <a:avLst/>
          </a:prstGeom>
        </p:spPr>
      </p:pic>
      <p:sp>
        <p:nvSpPr>
          <p:cNvPr id="4" name="Text 0"/>
          <p:cNvSpPr txBox="1"/>
          <p:nvPr/>
        </p:nvSpPr>
        <p:spPr>
          <a:xfrm>
            <a:off x="0" y="1874520"/>
            <a:ext cx="12188952" cy="105156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Thank You</a:t>
            </a:r>
            <a:endParaRPr lang="en-US" sz="6000" dirty="0"/>
          </a:p>
        </p:txBody>
      </p:sp>
      <p:sp>
        <p:nvSpPr>
          <p:cNvPr id="5" name="Text 1"/>
          <p:cNvSpPr txBox="1"/>
          <p:nvPr/>
        </p:nvSpPr>
        <p:spPr>
          <a:xfrm>
            <a:off x="0" y="3017520"/>
            <a:ext cx="12188952" cy="457200"/>
          </a:xfrm>
          <a:prstGeom prst="rect">
            <a:avLst/>
          </a:prstGeom>
          <a:noFill/>
          <a:ln/>
        </p:spPr>
        <p:txBody>
          <a:bodyPr wrap="square" lIns="0" tIns="0" rIns="0" bIns="0" rtlCol="0" anchor="ctr"/>
          <a:lstStyle/>
          <a:p>
            <a:pPr algn="ctr" indent="0" marL="0">
              <a:buNone/>
            </a:pPr>
            <a:r>
              <a:rPr lang="en-US" sz="2200" dirty="0">
                <a:solidFill>
                  <a:srgbClr val="E4B363"/>
                </a:solidFill>
                <a:latin typeface="Calibri" pitchFamily="34" charset="0"/>
                <a:ea typeface="Calibri" pitchFamily="34" charset="-122"/>
                <a:cs typeface="Calibri" pitchFamily="34" charset="-120"/>
              </a:rPr>
              <a:t>Questions and Discussion</a:t>
            </a:r>
            <a:endParaRPr lang="en-US" sz="2200" dirty="0"/>
          </a:p>
        </p:txBody>
      </p:sp>
      <p:sp>
        <p:nvSpPr>
          <p:cNvPr id="6" name="Shape 2"/>
          <p:cNvSpPr/>
          <p:nvPr/>
        </p:nvSpPr>
        <p:spPr>
          <a:xfrm>
            <a:off x="3127248" y="4069080"/>
            <a:ext cx="158496" cy="3658"/>
          </a:xfrm>
          <a:prstGeom prst="line">
            <a:avLst/>
          </a:prstGeom>
          <a:noFill/>
          <a:ln w="28575">
            <a:solidFill>
              <a:srgbClr val="C8324A"/>
            </a:solidFill>
            <a:prstDash val="solid"/>
            <a:tailEnd type="none"/>
          </a:ln>
        </p:spPr>
      </p:sp>
      <p:sp>
        <p:nvSpPr>
          <p:cNvPr id="7" name="Shape 3"/>
          <p:cNvSpPr/>
          <p:nvPr/>
        </p:nvSpPr>
        <p:spPr>
          <a:xfrm flipV="1">
            <a:off x="3285744" y="4008730"/>
            <a:ext cx="99060" cy="60350"/>
          </a:xfrm>
          <a:prstGeom prst="line">
            <a:avLst/>
          </a:prstGeom>
          <a:noFill/>
          <a:ln w="28575">
            <a:solidFill>
              <a:srgbClr val="C8324A"/>
            </a:solidFill>
            <a:prstDash val="solid"/>
            <a:tailEnd type="none"/>
          </a:ln>
        </p:spPr>
      </p:sp>
      <p:sp>
        <p:nvSpPr>
          <p:cNvPr id="8" name="Shape 4"/>
          <p:cNvSpPr/>
          <p:nvPr/>
        </p:nvSpPr>
        <p:spPr>
          <a:xfrm>
            <a:off x="3384804" y="4008730"/>
            <a:ext cx="99060" cy="60350"/>
          </a:xfrm>
          <a:prstGeom prst="line">
            <a:avLst/>
          </a:prstGeom>
          <a:noFill/>
          <a:ln w="28575">
            <a:solidFill>
              <a:srgbClr val="C8324A"/>
            </a:solidFill>
            <a:prstDash val="solid"/>
            <a:tailEnd type="none"/>
          </a:ln>
        </p:spPr>
      </p:sp>
      <p:sp>
        <p:nvSpPr>
          <p:cNvPr id="9" name="Shape 5"/>
          <p:cNvSpPr/>
          <p:nvPr/>
        </p:nvSpPr>
        <p:spPr>
          <a:xfrm>
            <a:off x="3483864" y="4069080"/>
            <a:ext cx="237744" cy="3658"/>
          </a:xfrm>
          <a:prstGeom prst="line">
            <a:avLst/>
          </a:prstGeom>
          <a:noFill/>
          <a:ln w="28575">
            <a:solidFill>
              <a:srgbClr val="C8324A"/>
            </a:solidFill>
            <a:prstDash val="solid"/>
            <a:tailEnd type="none"/>
          </a:ln>
        </p:spPr>
      </p:sp>
      <p:sp>
        <p:nvSpPr>
          <p:cNvPr id="10" name="Shape 6"/>
          <p:cNvSpPr/>
          <p:nvPr/>
        </p:nvSpPr>
        <p:spPr>
          <a:xfrm>
            <a:off x="3721608" y="4069080"/>
            <a:ext cx="79248" cy="49378"/>
          </a:xfrm>
          <a:prstGeom prst="line">
            <a:avLst/>
          </a:prstGeom>
          <a:noFill/>
          <a:ln w="28575">
            <a:solidFill>
              <a:srgbClr val="C8324A"/>
            </a:solidFill>
            <a:prstDash val="solid"/>
            <a:tailEnd type="none"/>
          </a:ln>
        </p:spPr>
      </p:sp>
      <p:sp>
        <p:nvSpPr>
          <p:cNvPr id="11" name="Shape 7"/>
          <p:cNvSpPr/>
          <p:nvPr/>
        </p:nvSpPr>
        <p:spPr>
          <a:xfrm flipV="1">
            <a:off x="3800856" y="3794760"/>
            <a:ext cx="79248" cy="323698"/>
          </a:xfrm>
          <a:prstGeom prst="line">
            <a:avLst/>
          </a:prstGeom>
          <a:noFill/>
          <a:ln w="28575">
            <a:solidFill>
              <a:srgbClr val="C8324A"/>
            </a:solidFill>
            <a:prstDash val="solid"/>
            <a:tailEnd type="none"/>
          </a:ln>
        </p:spPr>
      </p:sp>
      <p:sp>
        <p:nvSpPr>
          <p:cNvPr id="12" name="Shape 8"/>
          <p:cNvSpPr/>
          <p:nvPr/>
        </p:nvSpPr>
        <p:spPr>
          <a:xfrm>
            <a:off x="3880104" y="3794760"/>
            <a:ext cx="79248" cy="397764"/>
          </a:xfrm>
          <a:prstGeom prst="line">
            <a:avLst/>
          </a:prstGeom>
          <a:noFill/>
          <a:ln w="28575">
            <a:solidFill>
              <a:srgbClr val="C8324A"/>
            </a:solidFill>
            <a:prstDash val="solid"/>
            <a:tailEnd type="none"/>
          </a:ln>
        </p:spPr>
      </p:sp>
      <p:sp>
        <p:nvSpPr>
          <p:cNvPr id="13" name="Shape 9"/>
          <p:cNvSpPr/>
          <p:nvPr/>
        </p:nvSpPr>
        <p:spPr>
          <a:xfrm flipV="1">
            <a:off x="3959352" y="4069080"/>
            <a:ext cx="79248" cy="123444"/>
          </a:xfrm>
          <a:prstGeom prst="line">
            <a:avLst/>
          </a:prstGeom>
          <a:noFill/>
          <a:ln w="28575">
            <a:solidFill>
              <a:srgbClr val="C8324A"/>
            </a:solidFill>
            <a:prstDash val="solid"/>
            <a:tailEnd type="none"/>
          </a:ln>
        </p:spPr>
      </p:sp>
      <p:sp>
        <p:nvSpPr>
          <p:cNvPr id="14" name="Shape 10"/>
          <p:cNvSpPr/>
          <p:nvPr/>
        </p:nvSpPr>
        <p:spPr>
          <a:xfrm>
            <a:off x="4038600" y="4069080"/>
            <a:ext cx="277368" cy="3658"/>
          </a:xfrm>
          <a:prstGeom prst="line">
            <a:avLst/>
          </a:prstGeom>
          <a:noFill/>
          <a:ln w="28575">
            <a:solidFill>
              <a:srgbClr val="C8324A"/>
            </a:solidFill>
            <a:prstDash val="solid"/>
            <a:tailEnd type="none"/>
          </a:ln>
        </p:spPr>
      </p:sp>
      <p:sp>
        <p:nvSpPr>
          <p:cNvPr id="15" name="Shape 11"/>
          <p:cNvSpPr/>
          <p:nvPr/>
        </p:nvSpPr>
        <p:spPr>
          <a:xfrm flipV="1">
            <a:off x="4315968" y="3975811"/>
            <a:ext cx="158496" cy="93269"/>
          </a:xfrm>
          <a:prstGeom prst="line">
            <a:avLst/>
          </a:prstGeom>
          <a:noFill/>
          <a:ln w="28575">
            <a:solidFill>
              <a:srgbClr val="C8324A"/>
            </a:solidFill>
            <a:prstDash val="solid"/>
            <a:tailEnd type="none"/>
          </a:ln>
        </p:spPr>
      </p:sp>
      <p:sp>
        <p:nvSpPr>
          <p:cNvPr id="16" name="Shape 12"/>
          <p:cNvSpPr/>
          <p:nvPr/>
        </p:nvSpPr>
        <p:spPr>
          <a:xfrm>
            <a:off x="4474464" y="3975811"/>
            <a:ext cx="158496" cy="93269"/>
          </a:xfrm>
          <a:prstGeom prst="line">
            <a:avLst/>
          </a:prstGeom>
          <a:noFill/>
          <a:ln w="28575">
            <a:solidFill>
              <a:srgbClr val="C8324A"/>
            </a:solidFill>
            <a:prstDash val="solid"/>
            <a:tailEnd type="none"/>
          </a:ln>
        </p:spPr>
      </p:sp>
      <p:sp>
        <p:nvSpPr>
          <p:cNvPr id="17" name="Shape 13"/>
          <p:cNvSpPr/>
          <p:nvPr/>
        </p:nvSpPr>
        <p:spPr>
          <a:xfrm>
            <a:off x="4632960" y="4069080"/>
            <a:ext cx="475488" cy="3658"/>
          </a:xfrm>
          <a:prstGeom prst="line">
            <a:avLst/>
          </a:prstGeom>
          <a:noFill/>
          <a:ln w="28575">
            <a:solidFill>
              <a:srgbClr val="C8324A"/>
            </a:solidFill>
            <a:prstDash val="solid"/>
            <a:tailEnd type="none"/>
          </a:ln>
        </p:spPr>
      </p:sp>
      <p:sp>
        <p:nvSpPr>
          <p:cNvPr id="18" name="Shape 14"/>
          <p:cNvSpPr/>
          <p:nvPr/>
        </p:nvSpPr>
        <p:spPr>
          <a:xfrm>
            <a:off x="5108448" y="4069080"/>
            <a:ext cx="3658" cy="3658"/>
          </a:xfrm>
          <a:prstGeom prst="line">
            <a:avLst/>
          </a:prstGeom>
          <a:noFill/>
          <a:ln w="28575">
            <a:solidFill>
              <a:srgbClr val="C8324A"/>
            </a:solidFill>
            <a:prstDash val="solid"/>
            <a:tailEnd type="none"/>
          </a:ln>
        </p:spPr>
      </p:sp>
      <p:sp>
        <p:nvSpPr>
          <p:cNvPr id="19" name="Shape 15"/>
          <p:cNvSpPr/>
          <p:nvPr/>
        </p:nvSpPr>
        <p:spPr>
          <a:xfrm>
            <a:off x="5108448" y="4069080"/>
            <a:ext cx="158496" cy="3658"/>
          </a:xfrm>
          <a:prstGeom prst="line">
            <a:avLst/>
          </a:prstGeom>
          <a:noFill/>
          <a:ln w="28575">
            <a:solidFill>
              <a:srgbClr val="C8324A"/>
            </a:solidFill>
            <a:prstDash val="solid"/>
            <a:tailEnd type="none"/>
          </a:ln>
        </p:spPr>
      </p:sp>
      <p:sp>
        <p:nvSpPr>
          <p:cNvPr id="20" name="Shape 16"/>
          <p:cNvSpPr/>
          <p:nvPr/>
        </p:nvSpPr>
        <p:spPr>
          <a:xfrm flipV="1">
            <a:off x="5266944" y="4008730"/>
            <a:ext cx="99060" cy="60350"/>
          </a:xfrm>
          <a:prstGeom prst="line">
            <a:avLst/>
          </a:prstGeom>
          <a:noFill/>
          <a:ln w="28575">
            <a:solidFill>
              <a:srgbClr val="C8324A"/>
            </a:solidFill>
            <a:prstDash val="solid"/>
            <a:tailEnd type="none"/>
          </a:ln>
        </p:spPr>
      </p:sp>
      <p:sp>
        <p:nvSpPr>
          <p:cNvPr id="21" name="Shape 17"/>
          <p:cNvSpPr/>
          <p:nvPr/>
        </p:nvSpPr>
        <p:spPr>
          <a:xfrm>
            <a:off x="5366004" y="4008730"/>
            <a:ext cx="99060" cy="60350"/>
          </a:xfrm>
          <a:prstGeom prst="line">
            <a:avLst/>
          </a:prstGeom>
          <a:noFill/>
          <a:ln w="28575">
            <a:solidFill>
              <a:srgbClr val="C8324A"/>
            </a:solidFill>
            <a:prstDash val="solid"/>
            <a:tailEnd type="none"/>
          </a:ln>
        </p:spPr>
      </p:sp>
      <p:sp>
        <p:nvSpPr>
          <p:cNvPr id="22" name="Shape 18"/>
          <p:cNvSpPr/>
          <p:nvPr/>
        </p:nvSpPr>
        <p:spPr>
          <a:xfrm>
            <a:off x="5465064" y="4069080"/>
            <a:ext cx="237744" cy="3658"/>
          </a:xfrm>
          <a:prstGeom prst="line">
            <a:avLst/>
          </a:prstGeom>
          <a:noFill/>
          <a:ln w="28575">
            <a:solidFill>
              <a:srgbClr val="C8324A"/>
            </a:solidFill>
            <a:prstDash val="solid"/>
            <a:tailEnd type="none"/>
          </a:ln>
        </p:spPr>
      </p:sp>
      <p:sp>
        <p:nvSpPr>
          <p:cNvPr id="23" name="Shape 19"/>
          <p:cNvSpPr/>
          <p:nvPr/>
        </p:nvSpPr>
        <p:spPr>
          <a:xfrm>
            <a:off x="5702808" y="4069080"/>
            <a:ext cx="79248" cy="49378"/>
          </a:xfrm>
          <a:prstGeom prst="line">
            <a:avLst/>
          </a:prstGeom>
          <a:noFill/>
          <a:ln w="28575">
            <a:solidFill>
              <a:srgbClr val="C8324A"/>
            </a:solidFill>
            <a:prstDash val="solid"/>
            <a:tailEnd type="none"/>
          </a:ln>
        </p:spPr>
      </p:sp>
      <p:sp>
        <p:nvSpPr>
          <p:cNvPr id="24" name="Shape 20"/>
          <p:cNvSpPr/>
          <p:nvPr/>
        </p:nvSpPr>
        <p:spPr>
          <a:xfrm flipV="1">
            <a:off x="5782056" y="3794760"/>
            <a:ext cx="79248" cy="323698"/>
          </a:xfrm>
          <a:prstGeom prst="line">
            <a:avLst/>
          </a:prstGeom>
          <a:noFill/>
          <a:ln w="28575">
            <a:solidFill>
              <a:srgbClr val="C8324A"/>
            </a:solidFill>
            <a:prstDash val="solid"/>
            <a:tailEnd type="none"/>
          </a:ln>
        </p:spPr>
      </p:sp>
      <p:sp>
        <p:nvSpPr>
          <p:cNvPr id="25" name="Shape 21"/>
          <p:cNvSpPr/>
          <p:nvPr/>
        </p:nvSpPr>
        <p:spPr>
          <a:xfrm>
            <a:off x="5861304" y="3794760"/>
            <a:ext cx="79248" cy="397764"/>
          </a:xfrm>
          <a:prstGeom prst="line">
            <a:avLst/>
          </a:prstGeom>
          <a:noFill/>
          <a:ln w="28575">
            <a:solidFill>
              <a:srgbClr val="C8324A"/>
            </a:solidFill>
            <a:prstDash val="solid"/>
            <a:tailEnd type="none"/>
          </a:ln>
        </p:spPr>
      </p:sp>
      <p:sp>
        <p:nvSpPr>
          <p:cNvPr id="26" name="Shape 22"/>
          <p:cNvSpPr/>
          <p:nvPr/>
        </p:nvSpPr>
        <p:spPr>
          <a:xfrm flipV="1">
            <a:off x="5940552" y="4069080"/>
            <a:ext cx="79248" cy="123444"/>
          </a:xfrm>
          <a:prstGeom prst="line">
            <a:avLst/>
          </a:prstGeom>
          <a:noFill/>
          <a:ln w="28575">
            <a:solidFill>
              <a:srgbClr val="C8324A"/>
            </a:solidFill>
            <a:prstDash val="solid"/>
            <a:tailEnd type="none"/>
          </a:ln>
        </p:spPr>
      </p:sp>
      <p:sp>
        <p:nvSpPr>
          <p:cNvPr id="27" name="Shape 23"/>
          <p:cNvSpPr/>
          <p:nvPr/>
        </p:nvSpPr>
        <p:spPr>
          <a:xfrm>
            <a:off x="6019800" y="4069080"/>
            <a:ext cx="277368" cy="3658"/>
          </a:xfrm>
          <a:prstGeom prst="line">
            <a:avLst/>
          </a:prstGeom>
          <a:noFill/>
          <a:ln w="28575">
            <a:solidFill>
              <a:srgbClr val="C8324A"/>
            </a:solidFill>
            <a:prstDash val="solid"/>
            <a:tailEnd type="none"/>
          </a:ln>
        </p:spPr>
      </p:sp>
      <p:sp>
        <p:nvSpPr>
          <p:cNvPr id="28" name="Shape 24"/>
          <p:cNvSpPr/>
          <p:nvPr/>
        </p:nvSpPr>
        <p:spPr>
          <a:xfrm flipV="1">
            <a:off x="6297168" y="3975811"/>
            <a:ext cx="158496" cy="93269"/>
          </a:xfrm>
          <a:prstGeom prst="line">
            <a:avLst/>
          </a:prstGeom>
          <a:noFill/>
          <a:ln w="28575">
            <a:solidFill>
              <a:srgbClr val="C8324A"/>
            </a:solidFill>
            <a:prstDash val="solid"/>
            <a:tailEnd type="none"/>
          </a:ln>
        </p:spPr>
      </p:sp>
      <p:sp>
        <p:nvSpPr>
          <p:cNvPr id="29" name="Shape 25"/>
          <p:cNvSpPr/>
          <p:nvPr/>
        </p:nvSpPr>
        <p:spPr>
          <a:xfrm>
            <a:off x="6455664" y="3975811"/>
            <a:ext cx="158496" cy="93269"/>
          </a:xfrm>
          <a:prstGeom prst="line">
            <a:avLst/>
          </a:prstGeom>
          <a:noFill/>
          <a:ln w="28575">
            <a:solidFill>
              <a:srgbClr val="C8324A"/>
            </a:solidFill>
            <a:prstDash val="solid"/>
            <a:tailEnd type="none"/>
          </a:ln>
        </p:spPr>
      </p:sp>
      <p:sp>
        <p:nvSpPr>
          <p:cNvPr id="30" name="Shape 26"/>
          <p:cNvSpPr/>
          <p:nvPr/>
        </p:nvSpPr>
        <p:spPr>
          <a:xfrm>
            <a:off x="6614160" y="4069080"/>
            <a:ext cx="475488" cy="3658"/>
          </a:xfrm>
          <a:prstGeom prst="line">
            <a:avLst/>
          </a:prstGeom>
          <a:noFill/>
          <a:ln w="28575">
            <a:solidFill>
              <a:srgbClr val="C8324A"/>
            </a:solidFill>
            <a:prstDash val="solid"/>
            <a:tailEnd type="none"/>
          </a:ln>
        </p:spPr>
      </p:sp>
      <p:sp>
        <p:nvSpPr>
          <p:cNvPr id="31" name="Shape 27"/>
          <p:cNvSpPr/>
          <p:nvPr/>
        </p:nvSpPr>
        <p:spPr>
          <a:xfrm>
            <a:off x="7089648" y="4069080"/>
            <a:ext cx="3658" cy="3658"/>
          </a:xfrm>
          <a:prstGeom prst="line">
            <a:avLst/>
          </a:prstGeom>
          <a:noFill/>
          <a:ln w="28575">
            <a:solidFill>
              <a:srgbClr val="C8324A"/>
            </a:solidFill>
            <a:prstDash val="solid"/>
            <a:tailEnd type="none"/>
          </a:ln>
        </p:spPr>
      </p:sp>
      <p:sp>
        <p:nvSpPr>
          <p:cNvPr id="32" name="Shape 28"/>
          <p:cNvSpPr/>
          <p:nvPr/>
        </p:nvSpPr>
        <p:spPr>
          <a:xfrm>
            <a:off x="7089648" y="4069080"/>
            <a:ext cx="158496" cy="3658"/>
          </a:xfrm>
          <a:prstGeom prst="line">
            <a:avLst/>
          </a:prstGeom>
          <a:noFill/>
          <a:ln w="28575">
            <a:solidFill>
              <a:srgbClr val="C8324A"/>
            </a:solidFill>
            <a:prstDash val="solid"/>
            <a:tailEnd type="none"/>
          </a:ln>
        </p:spPr>
      </p:sp>
      <p:sp>
        <p:nvSpPr>
          <p:cNvPr id="33" name="Shape 29"/>
          <p:cNvSpPr/>
          <p:nvPr/>
        </p:nvSpPr>
        <p:spPr>
          <a:xfrm flipV="1">
            <a:off x="7248144" y="4008730"/>
            <a:ext cx="99060" cy="60350"/>
          </a:xfrm>
          <a:prstGeom prst="line">
            <a:avLst/>
          </a:prstGeom>
          <a:noFill/>
          <a:ln w="28575">
            <a:solidFill>
              <a:srgbClr val="C8324A"/>
            </a:solidFill>
            <a:prstDash val="solid"/>
            <a:tailEnd type="none"/>
          </a:ln>
        </p:spPr>
      </p:sp>
      <p:sp>
        <p:nvSpPr>
          <p:cNvPr id="34" name="Shape 30"/>
          <p:cNvSpPr/>
          <p:nvPr/>
        </p:nvSpPr>
        <p:spPr>
          <a:xfrm>
            <a:off x="7347204" y="4008730"/>
            <a:ext cx="99060" cy="60350"/>
          </a:xfrm>
          <a:prstGeom prst="line">
            <a:avLst/>
          </a:prstGeom>
          <a:noFill/>
          <a:ln w="28575">
            <a:solidFill>
              <a:srgbClr val="C8324A"/>
            </a:solidFill>
            <a:prstDash val="solid"/>
            <a:tailEnd type="none"/>
          </a:ln>
        </p:spPr>
      </p:sp>
      <p:sp>
        <p:nvSpPr>
          <p:cNvPr id="35" name="Shape 31"/>
          <p:cNvSpPr/>
          <p:nvPr/>
        </p:nvSpPr>
        <p:spPr>
          <a:xfrm>
            <a:off x="7446264" y="4069080"/>
            <a:ext cx="237744" cy="3658"/>
          </a:xfrm>
          <a:prstGeom prst="line">
            <a:avLst/>
          </a:prstGeom>
          <a:noFill/>
          <a:ln w="28575">
            <a:solidFill>
              <a:srgbClr val="C8324A"/>
            </a:solidFill>
            <a:prstDash val="solid"/>
            <a:tailEnd type="none"/>
          </a:ln>
        </p:spPr>
      </p:sp>
      <p:sp>
        <p:nvSpPr>
          <p:cNvPr id="36" name="Shape 32"/>
          <p:cNvSpPr/>
          <p:nvPr/>
        </p:nvSpPr>
        <p:spPr>
          <a:xfrm>
            <a:off x="7684008" y="4069080"/>
            <a:ext cx="79248" cy="49378"/>
          </a:xfrm>
          <a:prstGeom prst="line">
            <a:avLst/>
          </a:prstGeom>
          <a:noFill/>
          <a:ln w="28575">
            <a:solidFill>
              <a:srgbClr val="C8324A"/>
            </a:solidFill>
            <a:prstDash val="solid"/>
            <a:tailEnd type="none"/>
          </a:ln>
        </p:spPr>
      </p:sp>
      <p:sp>
        <p:nvSpPr>
          <p:cNvPr id="37" name="Shape 33"/>
          <p:cNvSpPr/>
          <p:nvPr/>
        </p:nvSpPr>
        <p:spPr>
          <a:xfrm flipV="1">
            <a:off x="7763256" y="3794760"/>
            <a:ext cx="79248" cy="323698"/>
          </a:xfrm>
          <a:prstGeom prst="line">
            <a:avLst/>
          </a:prstGeom>
          <a:noFill/>
          <a:ln w="28575">
            <a:solidFill>
              <a:srgbClr val="C8324A"/>
            </a:solidFill>
            <a:prstDash val="solid"/>
            <a:tailEnd type="none"/>
          </a:ln>
        </p:spPr>
      </p:sp>
      <p:sp>
        <p:nvSpPr>
          <p:cNvPr id="38" name="Shape 34"/>
          <p:cNvSpPr/>
          <p:nvPr/>
        </p:nvSpPr>
        <p:spPr>
          <a:xfrm>
            <a:off x="7842504" y="3794760"/>
            <a:ext cx="79248" cy="397764"/>
          </a:xfrm>
          <a:prstGeom prst="line">
            <a:avLst/>
          </a:prstGeom>
          <a:noFill/>
          <a:ln w="28575">
            <a:solidFill>
              <a:srgbClr val="C8324A"/>
            </a:solidFill>
            <a:prstDash val="solid"/>
            <a:tailEnd type="none"/>
          </a:ln>
        </p:spPr>
      </p:sp>
      <p:sp>
        <p:nvSpPr>
          <p:cNvPr id="39" name="Shape 35"/>
          <p:cNvSpPr/>
          <p:nvPr/>
        </p:nvSpPr>
        <p:spPr>
          <a:xfrm flipV="1">
            <a:off x="7921752" y="4069080"/>
            <a:ext cx="79248" cy="123444"/>
          </a:xfrm>
          <a:prstGeom prst="line">
            <a:avLst/>
          </a:prstGeom>
          <a:noFill/>
          <a:ln w="28575">
            <a:solidFill>
              <a:srgbClr val="C8324A"/>
            </a:solidFill>
            <a:prstDash val="solid"/>
            <a:tailEnd type="none"/>
          </a:ln>
        </p:spPr>
      </p:sp>
      <p:sp>
        <p:nvSpPr>
          <p:cNvPr id="40" name="Shape 36"/>
          <p:cNvSpPr/>
          <p:nvPr/>
        </p:nvSpPr>
        <p:spPr>
          <a:xfrm>
            <a:off x="8001000" y="4069080"/>
            <a:ext cx="277368" cy="3658"/>
          </a:xfrm>
          <a:prstGeom prst="line">
            <a:avLst/>
          </a:prstGeom>
          <a:noFill/>
          <a:ln w="28575">
            <a:solidFill>
              <a:srgbClr val="C8324A"/>
            </a:solidFill>
            <a:prstDash val="solid"/>
            <a:tailEnd type="none"/>
          </a:ln>
        </p:spPr>
      </p:sp>
      <p:sp>
        <p:nvSpPr>
          <p:cNvPr id="41" name="Shape 37"/>
          <p:cNvSpPr/>
          <p:nvPr/>
        </p:nvSpPr>
        <p:spPr>
          <a:xfrm flipV="1">
            <a:off x="8278368" y="3975811"/>
            <a:ext cx="158496" cy="93269"/>
          </a:xfrm>
          <a:prstGeom prst="line">
            <a:avLst/>
          </a:prstGeom>
          <a:noFill/>
          <a:ln w="28575">
            <a:solidFill>
              <a:srgbClr val="C8324A"/>
            </a:solidFill>
            <a:prstDash val="solid"/>
            <a:tailEnd type="none"/>
          </a:ln>
        </p:spPr>
      </p:sp>
      <p:sp>
        <p:nvSpPr>
          <p:cNvPr id="42" name="Shape 38"/>
          <p:cNvSpPr/>
          <p:nvPr/>
        </p:nvSpPr>
        <p:spPr>
          <a:xfrm>
            <a:off x="8436864" y="3975811"/>
            <a:ext cx="158496" cy="93269"/>
          </a:xfrm>
          <a:prstGeom prst="line">
            <a:avLst/>
          </a:prstGeom>
          <a:noFill/>
          <a:ln w="28575">
            <a:solidFill>
              <a:srgbClr val="C8324A"/>
            </a:solidFill>
            <a:prstDash val="solid"/>
            <a:tailEnd type="none"/>
          </a:ln>
        </p:spPr>
      </p:sp>
      <p:sp>
        <p:nvSpPr>
          <p:cNvPr id="43" name="Shape 39"/>
          <p:cNvSpPr/>
          <p:nvPr/>
        </p:nvSpPr>
        <p:spPr>
          <a:xfrm>
            <a:off x="8595360" y="4069080"/>
            <a:ext cx="475488" cy="3658"/>
          </a:xfrm>
          <a:prstGeom prst="line">
            <a:avLst/>
          </a:prstGeom>
          <a:noFill/>
          <a:ln w="28575">
            <a:solidFill>
              <a:srgbClr val="C8324A"/>
            </a:solidFill>
            <a:prstDash val="solid"/>
            <a:tailEnd type="none"/>
          </a:ln>
        </p:spPr>
      </p:sp>
      <p:sp>
        <p:nvSpPr>
          <p:cNvPr id="44" name="Text 40"/>
          <p:cNvSpPr txBox="1"/>
          <p:nvPr/>
        </p:nvSpPr>
        <p:spPr>
          <a:xfrm>
            <a:off x="0" y="4590288"/>
            <a:ext cx="12188952" cy="384048"/>
          </a:xfrm>
          <a:prstGeom prst="rect">
            <a:avLst/>
          </a:prstGeom>
          <a:noFill/>
          <a:ln/>
        </p:spPr>
        <p:txBody>
          <a:bodyPr wrap="square" lIns="0" tIns="0" rIns="0" bIns="0" rtlCol="0" anchor="ctr"/>
          <a:lstStyle/>
          <a:p>
            <a:pPr algn="ctr" indent="0" marL="0">
              <a:buNone/>
            </a:pPr>
            <a:r>
              <a:rPr lang="en-US" sz="2200" b="1" spc="150" kern="0" dirty="0">
                <a:solidFill>
                  <a:srgbClr val="FFFFFF"/>
                </a:solidFill>
                <a:latin typeface="Cambria" pitchFamily="34" charset="0"/>
                <a:ea typeface="Cambria" pitchFamily="34" charset="-122"/>
                <a:cs typeface="Cambria" pitchFamily="34" charset="-120"/>
              </a:rPr>
              <a:t>DR. HASSAN</a:t>
            </a:r>
            <a:endParaRPr lang="en-US" sz="2200" dirty="0"/>
          </a:p>
        </p:txBody>
      </p:sp>
      <p:sp>
        <p:nvSpPr>
          <p:cNvPr id="45" name="Text 41"/>
          <p:cNvSpPr txBox="1"/>
          <p:nvPr/>
        </p:nvSpPr>
        <p:spPr>
          <a:xfrm>
            <a:off x="0" y="4992624"/>
            <a:ext cx="12188952" cy="310896"/>
          </a:xfrm>
          <a:prstGeom prst="rect">
            <a:avLst/>
          </a:prstGeom>
          <a:noFill/>
          <a:ln/>
        </p:spPr>
        <p:txBody>
          <a:bodyPr wrap="square" lIns="0" tIns="0" rIns="0" bIns="0" rtlCol="0" anchor="ctr"/>
          <a:lstStyle/>
          <a:p>
            <a:pPr algn="ctr" indent="0" marL="0">
              <a:buNone/>
            </a:pPr>
            <a:r>
              <a:rPr lang="en-US" sz="1450" dirty="0">
                <a:solidFill>
                  <a:srgbClr val="E9D8DB"/>
                </a:solidFill>
                <a:latin typeface="Calibri" pitchFamily="34" charset="0"/>
                <a:ea typeface="Calibri" pitchFamily="34" charset="-122"/>
                <a:cs typeface="Calibri" pitchFamily="34" charset="-120"/>
              </a:rPr>
              <a:t>PGR — Cardiology  ·  Cardiac Centre, Bahawalpur</a:t>
            </a:r>
            <a:endParaRPr lang="en-US" sz="1450" dirty="0"/>
          </a:p>
        </p:txBody>
      </p:sp>
      <p:sp>
        <p:nvSpPr>
          <p:cNvPr id="46" name="Text 42"/>
          <p:cNvSpPr txBox="1"/>
          <p:nvPr/>
        </p:nvSpPr>
        <p:spPr>
          <a:xfrm>
            <a:off x="0" y="5943600"/>
            <a:ext cx="12188952" cy="274320"/>
          </a:xfrm>
          <a:prstGeom prst="rect">
            <a:avLst/>
          </a:prstGeom>
          <a:noFill/>
          <a:ln/>
        </p:spPr>
        <p:txBody>
          <a:bodyPr wrap="square" lIns="0" tIns="0" rIns="0" bIns="0" rtlCol="0" anchor="ctr"/>
          <a:lstStyle/>
          <a:p>
            <a:pPr algn="ctr" indent="0" marL="0">
              <a:buNone/>
            </a:pPr>
            <a:r>
              <a:rPr lang="en-US" sz="1100" dirty="0">
                <a:solidFill>
                  <a:srgbClr val="9C8489"/>
                </a:solidFill>
                <a:latin typeface="Calibri" pitchFamily="34" charset="0"/>
                <a:ea typeface="Calibri" pitchFamily="34" charset="-122"/>
                <a:cs typeface="Calibri" pitchFamily="34" charset="-120"/>
              </a:rPr>
              <a:t>VICTORION-Difference  ·  ESC Congress 2025  ·  European Heart Journal 2025  ·  NCT05192941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VICTORION-Difference Trial</dc:title>
  <dc:subject>PptxGenJS Presentation</dc:subject>
  <dc:creator>Dr. Hassan, PGR Cardiology, Cardiac Centre Bahawalpur</dc:creator>
  <cp:lastModifiedBy>Dr. Hassan, PGR Cardiology, Cardiac Centre Bahawalpur</cp:lastModifiedBy>
  <cp:revision>1</cp:revision>
  <dcterms:created xsi:type="dcterms:W3CDTF">2026-08-26T17:17:31Z</dcterms:created>
  <dcterms:modified xsi:type="dcterms:W3CDTF">2026-08-26T17:17:31Z</dcterms:modified>
</cp:coreProperties>
</file>